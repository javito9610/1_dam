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87" r:id="rId3"/>
    <p:sldId id="291" r:id="rId4"/>
    <p:sldId id="299" r:id="rId5"/>
    <p:sldId id="300" r:id="rId6"/>
    <p:sldId id="301" r:id="rId7"/>
    <p:sldId id="302" r:id="rId8"/>
    <p:sldId id="289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1" userDrawn="1">
          <p15:clr>
            <a:srgbClr val="A4A3A4"/>
          </p15:clr>
        </p15:guide>
        <p15:guide id="2" pos="41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002F"/>
    <a:srgbClr val="C103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43" autoAdjust="0"/>
    <p:restoredTop sz="95906"/>
  </p:normalViewPr>
  <p:slideViewPr>
    <p:cSldViewPr snapToGrid="0" showGuides="1">
      <p:cViewPr varScale="1">
        <p:scale>
          <a:sx n="111" d="100"/>
          <a:sy n="111" d="100"/>
        </p:scale>
        <p:origin x="366" y="102"/>
      </p:cViewPr>
      <p:guideLst>
        <p:guide orient="horz" pos="1071"/>
        <p:guide pos="411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82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9A02B-56D9-4DF4-9BE0-3F6FEA960F7A}" type="datetimeFigureOut">
              <a:rPr lang="es-ES" smtClean="0"/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492BE4-C7A9-48CC-A29C-EAF026290BE2}" type="slidenum">
              <a:rPr lang="es-ES" smtClean="0"/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18:03: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1.000 1.000 24575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5T18:03:5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1.000 1.000 24575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8F67BA-2E0C-6249-ADAE-C684EBC071E3}" type="datetimeFigureOut">
              <a:rPr lang="es-ES_tradnl" smtClean="0"/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94F875-0603-3A4B-9548-62CD0D21EBA1}" type="slidenum">
              <a:rPr lang="es-ES_tradnl" smtClean="0"/>
            </a:fld>
            <a:endParaRPr lang="es-ES_trad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7219" y="5764320"/>
            <a:ext cx="2475945" cy="835869"/>
          </a:xfrm>
          <a:prstGeom prst="rect">
            <a:avLst/>
          </a:prstGeom>
        </p:spPr>
      </p:pic>
      <p:sp>
        <p:nvSpPr>
          <p:cNvPr id="9" name="Rectángulo 8"/>
          <p:cNvSpPr/>
          <p:nvPr userDrawn="1"/>
        </p:nvSpPr>
        <p:spPr>
          <a:xfrm>
            <a:off x="0" y="0"/>
            <a:ext cx="12192000" cy="5486400"/>
          </a:xfrm>
          <a:prstGeom prst="rect">
            <a:avLst/>
          </a:prstGeom>
          <a:solidFill>
            <a:srgbClr val="C2002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0" tIns="1440000" rIns="1440000" bIns="1440000" rtlCol="0" anchor="ctr"/>
          <a:lstStyle/>
          <a:p>
            <a:pPr algn="ctr"/>
            <a:endParaRPr lang="es-E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970606"/>
            <a:ext cx="8380039" cy="36137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28711"/>
            <a:ext cx="12192000" cy="924998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0199" y="365125"/>
            <a:ext cx="11145986" cy="449383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30200" y="1321654"/>
            <a:ext cx="11145985" cy="4234026"/>
          </a:xfrm>
        </p:spPr>
        <p:txBody>
          <a:bodyPr/>
          <a:lstStyle>
            <a:lvl1pPr marL="228600" indent="-228600">
              <a:spcBef>
                <a:spcPts val="1600"/>
              </a:spcBef>
              <a:buClr>
                <a:schemeClr val="tx2"/>
              </a:buClr>
              <a:buFont typeface="LucidaGrande" charset="0"/>
              <a:buChar char="●"/>
              <a:defRPr sz="2000"/>
            </a:lvl1pPr>
            <a:lvl2pPr marL="685800" indent="-228600">
              <a:buClr>
                <a:schemeClr val="tx2"/>
              </a:buClr>
              <a:buFont typeface="LucidaGrande" charset="0"/>
              <a:buChar char="-"/>
              <a:defRPr sz="2000"/>
            </a:lvl2pPr>
            <a:lvl3pPr>
              <a:defRPr sz="2000"/>
            </a:lvl3pPr>
            <a:lvl4pPr marL="1600200" indent="-228600">
              <a:buFont typeface="LucidaGrande" charset="0"/>
              <a:buChar char="-"/>
              <a:defRPr sz="2000"/>
            </a:lvl4pPr>
            <a:lvl5pPr>
              <a:defRPr sz="2000"/>
            </a:lvl5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 userDrawn="1"/>
        </p:nvSpPr>
        <p:spPr>
          <a:xfrm>
            <a:off x="0" y="0"/>
            <a:ext cx="12192000" cy="6993924"/>
          </a:xfrm>
          <a:prstGeom prst="rect">
            <a:avLst/>
          </a:prstGeom>
          <a:solidFill>
            <a:srgbClr val="C2002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40000" tIns="1440000" rIns="1440000" bIns="1440000" rtlCol="0" anchor="ctr"/>
          <a:lstStyle/>
          <a:p>
            <a:pPr algn="ctr"/>
            <a:endParaRPr lang="es-ES" dirty="0"/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352" y="2577730"/>
            <a:ext cx="5083296" cy="170253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D2739-C74D-CA49-BBC2-5C36F0C10476}" type="datetime1">
              <a:rPr lang="es-ES" smtClean="0"/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Resumen de la memoria del curso 2017-2018</a:t>
            </a:r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2A9AA-55AA-4F14-AFC8-EF3595AA24C1}" type="slidenum">
              <a:rPr lang="es-ES" smtClean="0"/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Programas informáticos</a:t>
            </a:r>
            <a:endParaRPr lang="es-E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Índice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ES" dirty="0"/>
              <a:t>1.- Programas informáticos</a:t>
            </a:r>
            <a:endParaRPr lang="es-ES" dirty="0"/>
          </a:p>
          <a:p>
            <a:pPr>
              <a:buNone/>
            </a:pPr>
            <a:r>
              <a:rPr lang="es-ES" dirty="0"/>
              <a:t>               1.1 - Programa informático, software, hardware y </a:t>
            </a:r>
            <a:r>
              <a:rPr lang="es-ES" dirty="0" err="1"/>
              <a:t>peopleware</a:t>
            </a:r>
            <a:r>
              <a:rPr lang="es-ES" dirty="0"/>
              <a:t> </a:t>
            </a:r>
            <a:endParaRPr lang="es-ES" dirty="0"/>
          </a:p>
          <a:p>
            <a:pPr>
              <a:buNone/>
            </a:pPr>
            <a:r>
              <a:rPr lang="es-ES" dirty="0"/>
              <a:t>               1.2 – Tipos de software</a:t>
            </a:r>
            <a:endParaRPr lang="es-ES" dirty="0"/>
          </a:p>
          <a:p>
            <a:pPr>
              <a:buNone/>
            </a:pPr>
            <a:r>
              <a:rPr lang="es-ES" dirty="0"/>
              <a:t>               1.3 </a:t>
            </a:r>
            <a:r>
              <a:rPr lang="es-ES"/>
              <a:t>– Algoritmos</a:t>
            </a:r>
            <a:endParaRPr lang="es-E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1.1 – Programa informático, software, hardware y </a:t>
            </a:r>
            <a:r>
              <a:rPr lang="es-ES" dirty="0" err="1"/>
              <a:t>peopleware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s-ES" dirty="0"/>
              <a:t>Es la combinación de instrucciones o sentencias (lo que debe hacer el programa) y de definiciones o declaraciones de datos con los que tiene que trabajar dicho programa.</a:t>
            </a:r>
            <a:endParaRPr lang="es-ES" dirty="0"/>
          </a:p>
          <a:p>
            <a:pPr>
              <a:buFontTx/>
              <a:buChar char="-"/>
            </a:pPr>
            <a:r>
              <a:rPr lang="es-ES" dirty="0"/>
              <a:t>Por poner una analogía, cojamos la elaboración de una receta de cocina: los ingredientes son los datos del programa y los pasos a seguir para realizarla serían las instrucciones o sentencias.</a:t>
            </a:r>
            <a:endParaRPr lang="es-ES" dirty="0"/>
          </a:p>
          <a:p>
            <a:pPr>
              <a:buFontTx/>
              <a:buChar char="-"/>
            </a:pPr>
            <a:r>
              <a:rPr lang="es-ES" dirty="0"/>
              <a:t>El software es el programa o conjunto de programas utilizados para hacer funcionar un ordenador. Engloba también la documentación y otro tipo de datos como imágenes, iconos, ficheros de configuración, </a:t>
            </a:r>
            <a:r>
              <a:rPr lang="es-ES" dirty="0" err="1"/>
              <a:t>etc</a:t>
            </a:r>
            <a:r>
              <a:rPr lang="es-ES" dirty="0"/>
              <a:t>…)</a:t>
            </a:r>
            <a:endParaRPr lang="es-ES" dirty="0"/>
          </a:p>
          <a:p>
            <a:pPr>
              <a:buFontTx/>
              <a:buChar char="-"/>
            </a:pPr>
            <a:r>
              <a:rPr lang="es-ES" dirty="0"/>
              <a:t>Se complementa con el hardware, aquello físico y tangible (monitor, teclado, ratón, tarjeta gráfica, </a:t>
            </a:r>
            <a:r>
              <a:rPr lang="es-ES" dirty="0" err="1"/>
              <a:t>etc</a:t>
            </a:r>
            <a:r>
              <a:rPr lang="es-ES" dirty="0"/>
              <a:t>…) Ambos componen un sistema informático. Uno no puede funcionar sin el otro.</a:t>
            </a:r>
            <a:endParaRPr lang="es-ES" dirty="0"/>
          </a:p>
          <a:p>
            <a:pPr>
              <a:buFontTx/>
              <a:buChar char="-"/>
            </a:pPr>
            <a:r>
              <a:rPr lang="es-ES" dirty="0"/>
              <a:t>Algunos autores añaden el </a:t>
            </a:r>
            <a:r>
              <a:rPr lang="es-ES" dirty="0" err="1"/>
              <a:t>peopleware</a:t>
            </a:r>
            <a:r>
              <a:rPr lang="es-ES" dirty="0"/>
              <a:t>, todos los aspectos relacionados con el papel de las personas tanto en el desarrollo como en el uso de software y hardware.</a:t>
            </a:r>
            <a:endParaRPr lang="es-ES" dirty="0"/>
          </a:p>
          <a:p>
            <a:pPr>
              <a:buFontTx/>
              <a:buChar char="-"/>
            </a:pPr>
            <a:endParaRPr lang="es-ES" dirty="0"/>
          </a:p>
          <a:p>
            <a:pPr>
              <a:buFontTx/>
              <a:buChar char="-"/>
            </a:pPr>
            <a:endParaRPr lang="es-ES" dirty="0"/>
          </a:p>
          <a:p>
            <a:pPr>
              <a:buFontTx/>
              <a:buChar char="-"/>
            </a:pPr>
            <a:endParaRPr lang="es-E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1.2 – Tipos de software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s-ES" dirty="0"/>
              <a:t>Software de sistema: Facilita el funcionamiento y mantenimiento de un sistema informático y sus programas (sistemas operativos, utilidades del sistema, drivers…)</a:t>
            </a:r>
            <a:endParaRPr lang="es-ES" dirty="0"/>
          </a:p>
          <a:p>
            <a:pPr>
              <a:buFontTx/>
              <a:buChar char="-"/>
            </a:pPr>
            <a:r>
              <a:rPr lang="es-ES" dirty="0"/>
              <a:t>Software de aplicación: Ayuda al usuario a realizar tareas concretas o resolver determinados problemas. Las aplicaciones en sí (Word, Excel, Photoshop, </a:t>
            </a:r>
            <a:r>
              <a:rPr lang="es-ES" dirty="0" err="1"/>
              <a:t>etc</a:t>
            </a:r>
            <a:r>
              <a:rPr lang="es-ES" dirty="0"/>
              <a:t>…)</a:t>
            </a:r>
            <a:endParaRPr lang="es-ES" dirty="0"/>
          </a:p>
          <a:p>
            <a:pPr>
              <a:buFontTx/>
              <a:buChar char="-"/>
            </a:pPr>
            <a:r>
              <a:rPr lang="es-ES" dirty="0"/>
              <a:t>Software de soporte: Dedicado al desarrollo y mantenimiento de otro software, como los compiladores, intérpretes... (Eclipse, Visual Studio </a:t>
            </a:r>
            <a:r>
              <a:rPr lang="es-ES" dirty="0" err="1"/>
              <a:t>Code</a:t>
            </a:r>
            <a:r>
              <a:rPr lang="es-ES" dirty="0"/>
              <a:t>…)</a:t>
            </a:r>
            <a:endParaRPr lang="es-ES" dirty="0"/>
          </a:p>
          <a:p>
            <a:pPr>
              <a:buFontTx/>
              <a:buChar char="-"/>
            </a:pPr>
            <a:endParaRPr lang="es-ES" dirty="0"/>
          </a:p>
          <a:p>
            <a:pPr>
              <a:buFontTx/>
              <a:buChar char="-"/>
            </a:pPr>
            <a:endParaRPr lang="es-E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2" name="Entrada de lápiz 21"/>
              <p14:cNvContentPartPr/>
              <p14:nvPr/>
            </p14:nvContentPartPr>
            <p14:xfrm>
              <a:off x="11334525" y="1761735"/>
              <a:ext cx="360" cy="360"/>
            </p14:xfrm>
          </p:contentPart>
        </mc:Choice>
        <mc:Fallback xmlns="">
          <p:pic>
            <p:nvPicPr>
              <p:cNvPr id="22" name="Entrada de lápiz 21"/>
            </p:nvPicPr>
            <p:blipFill>
              <a:blip r:embed="rId2"/>
            </p:blipFill>
            <p:spPr>
              <a:xfrm>
                <a:off x="11334525" y="1761735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1.3 – Algoritmos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s-ES" dirty="0"/>
              <a:t>Los programas son conjuntos de órdenes que pueden ser procesadas por un ordenador. Estos procedimientos se expresan mediante algoritmos.</a:t>
            </a:r>
            <a:endParaRPr lang="es-ES" dirty="0"/>
          </a:p>
          <a:p>
            <a:pPr>
              <a:buFontTx/>
              <a:buChar char="-"/>
            </a:pPr>
            <a:r>
              <a:rPr lang="es-ES" dirty="0"/>
              <a:t>Son un conjunto de reglas bien definidas para la solución de un problema con un determinado número de pasos.</a:t>
            </a:r>
            <a:endParaRPr lang="es-ES" dirty="0"/>
          </a:p>
          <a:p>
            <a:pPr>
              <a:buFontTx/>
              <a:buChar char="-"/>
            </a:pPr>
            <a:r>
              <a:rPr lang="es-ES" dirty="0"/>
              <a:t>Los algoritmos se pueden expresar de un modo más cercano al ordenador mediante pseudocódigo y también de forma gráfica a través de diagramas de flujo o con diagramas de actividades en UML (Lenguaje de Modelo Unificado)</a:t>
            </a:r>
            <a:endParaRPr lang="es-ES" dirty="0"/>
          </a:p>
          <a:p>
            <a:pPr>
              <a:buFontTx/>
              <a:buChar char="-"/>
            </a:pPr>
            <a:endParaRPr lang="es-ES" dirty="0"/>
          </a:p>
          <a:p>
            <a:pPr>
              <a:buFontTx/>
              <a:buChar char="-"/>
            </a:pPr>
            <a:endParaRPr lang="es-E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2" name="Entrada de lápiz 21"/>
              <p14:cNvContentPartPr/>
              <p14:nvPr/>
            </p14:nvContentPartPr>
            <p14:xfrm>
              <a:off x="11334525" y="1761735"/>
              <a:ext cx="360" cy="360"/>
            </p14:xfrm>
          </p:contentPart>
        </mc:Choice>
        <mc:Fallback xmlns="">
          <p:pic>
            <p:nvPicPr>
              <p:cNvPr id="22" name="Entrada de lápiz 21"/>
            </p:nvPicPr>
            <p:blipFill>
              <a:blip r:embed="rId2"/>
            </p:blipFill>
            <p:spPr>
              <a:xfrm>
                <a:off x="11334525" y="1761735"/>
                <a:ext cx="360" cy="3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1.3 – Algoritmos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s-ES" dirty="0"/>
              <a:t>Una rana se encuentra en la orilla del río y quiere cruzar a la otra orilla saltando sobre las piedras. Suponiendo que la rana puede realizar las siguientes acciones, indicar el algoritmo o la serie de pasos que ha de seguir.</a:t>
            </a:r>
            <a:endParaRPr lang="es-ES" dirty="0"/>
          </a:p>
          <a:p>
            <a:pPr>
              <a:buFontTx/>
              <a:buChar char="-"/>
            </a:pPr>
            <a:r>
              <a:rPr lang="es-ES" dirty="0"/>
              <a:t>Saltar 1, 2 o 3 posiciones</a:t>
            </a:r>
            <a:endParaRPr lang="es-ES" dirty="0"/>
          </a:p>
          <a:p>
            <a:pPr>
              <a:buFontTx/>
              <a:buChar char="-"/>
            </a:pPr>
            <a:r>
              <a:rPr lang="es-ES" dirty="0"/>
              <a:t>Girar 90º a la izquierda o la derecha</a:t>
            </a:r>
            <a:endParaRPr lang="es-ES" dirty="0"/>
          </a:p>
          <a:p>
            <a:pPr>
              <a:buFontTx/>
              <a:buChar char="-"/>
            </a:pPr>
            <a:endParaRPr lang="es-ES" dirty="0"/>
          </a:p>
          <a:p>
            <a:pPr>
              <a:buFontTx/>
              <a:buChar char="-"/>
            </a:pP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7950" y="2064169"/>
            <a:ext cx="5550246" cy="37784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NEBRIJA corporativo">
      <a:dk1>
        <a:srgbClr val="000000"/>
      </a:dk1>
      <a:lt1>
        <a:srgbClr val="FFFFFF"/>
      </a:lt1>
      <a:dk2>
        <a:srgbClr val="C2002F"/>
      </a:dk2>
      <a:lt2>
        <a:srgbClr val="F8F8F8"/>
      </a:lt2>
      <a:accent1>
        <a:srgbClr val="C2002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1</Template>
  <TotalTime>0</TotalTime>
  <Words>2436</Words>
  <Application>WPS Presentation</Application>
  <PresentationFormat>Panorámica</PresentationFormat>
  <Paragraphs>44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LucidaGrande</vt:lpstr>
      <vt:lpstr>Segoe Print</vt:lpstr>
      <vt:lpstr>Microsoft YaHei</vt:lpstr>
      <vt:lpstr>Arial Unicode MS</vt:lpstr>
      <vt:lpstr>Calibri</vt:lpstr>
      <vt:lpstr>Tema de Office</vt:lpstr>
      <vt:lpstr>1. Programas informáticos</vt:lpstr>
      <vt:lpstr>Índice</vt:lpstr>
      <vt:lpstr>1.1 – Programa informático, software, hardware y peopleware</vt:lpstr>
      <vt:lpstr>1.2 – Tipos de software</vt:lpstr>
      <vt:lpstr>1.3 – Algoritmos</vt:lpstr>
      <vt:lpstr>1.3 – Algoritmos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Lenguaje de Marcas</dc:title>
  <dc:creator>Francisco Albiar</dc:creator>
  <cp:lastModifiedBy>paz13</cp:lastModifiedBy>
  <cp:revision>32</cp:revision>
  <dcterms:created xsi:type="dcterms:W3CDTF">2023-09-23T11:44:00Z</dcterms:created>
  <dcterms:modified xsi:type="dcterms:W3CDTF">2024-11-19T17:38:25Z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0BD333817A9B45F7ADBAB67DC06D03A6_13</vt:lpwstr>
  </property>
  <property fmtid="{D5CDD505-2E9C-101B-9397-08002B2CF9AE}" pid="3" name="KSOProductBuildVer">
    <vt:lpwstr>3082-12.2.0.18639</vt:lpwstr>
  </property>
</Properties>
</file>