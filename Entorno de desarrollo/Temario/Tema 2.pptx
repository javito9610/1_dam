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7" r:id="rId3"/>
    <p:sldId id="291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289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002F"/>
    <a:srgbClr val="C10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43" autoAdjust="0"/>
    <p:restoredTop sz="95906"/>
  </p:normalViewPr>
  <p:slideViewPr>
    <p:cSldViewPr snapToGrid="0" showGuides="1">
      <p:cViewPr varScale="1">
        <p:scale>
          <a:sx n="111" d="100"/>
          <a:sy n="111" d="100"/>
        </p:scale>
        <p:origin x="366" y="78"/>
      </p:cViewPr>
      <p:guideLst>
        <p:guide orient="horz" pos="1071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9A02B-56D9-4DF4-9BE0-3F6FEA960F7A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92BE4-C7A9-48CC-A29C-EAF026290BE2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67BA-2E0C-6249-ADAE-C684EBC071E3}" type="datetimeFigureOut">
              <a:rPr lang="es-ES_tradnl" smtClean="0"/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4F875-0603-3A4B-9548-62CD0D21EBA1}" type="slidenum">
              <a:rPr lang="es-ES_tradnl" smtClean="0"/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219" y="5764320"/>
            <a:ext cx="2475945" cy="835869"/>
          </a:xfrm>
          <a:prstGeom prst="rect">
            <a:avLst/>
          </a:prstGeom>
        </p:spPr>
      </p:pic>
      <p:sp>
        <p:nvSpPr>
          <p:cNvPr id="9" name="Rectángulo 8"/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C2002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970606"/>
            <a:ext cx="8380039" cy="3613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8711"/>
            <a:ext cx="12192000" cy="92499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199" y="365125"/>
            <a:ext cx="11145986" cy="44938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30200" y="1321654"/>
            <a:ext cx="11145985" cy="4234026"/>
          </a:xfrm>
        </p:spPr>
        <p:txBody>
          <a:bodyPr/>
          <a:lstStyle>
            <a:lvl1pPr marL="228600" indent="-228600">
              <a:spcBef>
                <a:spcPts val="1600"/>
              </a:spcBef>
              <a:buClr>
                <a:schemeClr val="tx2"/>
              </a:buClr>
              <a:buFont typeface="LucidaGrande" charset="0"/>
              <a:buChar char="●"/>
              <a:defRPr sz="2000"/>
            </a:lvl1pPr>
            <a:lvl2pPr marL="685800" indent="-228600">
              <a:buClr>
                <a:schemeClr val="tx2"/>
              </a:buClr>
              <a:buFont typeface="LucidaGrande" charset="0"/>
              <a:buChar char="-"/>
              <a:defRPr sz="2000"/>
            </a:lvl2pPr>
            <a:lvl3pPr>
              <a:defRPr sz="2000"/>
            </a:lvl3pPr>
            <a:lvl4pPr marL="1600200" indent="-228600">
              <a:buFont typeface="LucidaGrande" charset="0"/>
              <a:buChar char="-"/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0"/>
            <a:ext cx="12192000" cy="6993924"/>
          </a:xfrm>
          <a:prstGeom prst="rect">
            <a:avLst/>
          </a:prstGeom>
          <a:solidFill>
            <a:srgbClr val="C2002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352" y="2577730"/>
            <a:ext cx="5083296" cy="170253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D2739-C74D-CA49-BBC2-5C36F0C10476}" type="datetime1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Resumen de la memoria del curso 2017-2018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2A9AA-55AA-4F14-AFC8-EF3595AA24C1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Lenguajes de programación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Índice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dirty="0"/>
              <a:t>2.- Lenguajes de programación</a:t>
            </a:r>
            <a:endParaRPr lang="es-ES" dirty="0"/>
          </a:p>
          <a:p>
            <a:pPr>
              <a:buNone/>
            </a:pPr>
            <a:r>
              <a:rPr lang="es-ES" dirty="0"/>
              <a:t>               2.1 - Programa informático, software, hardware y </a:t>
            </a:r>
            <a:r>
              <a:rPr lang="es-ES" dirty="0" err="1"/>
              <a:t>peopleware</a:t>
            </a:r>
            <a:r>
              <a:rPr lang="es-ES" dirty="0"/>
              <a:t> </a:t>
            </a:r>
            <a:endParaRPr lang="es-ES" dirty="0"/>
          </a:p>
          <a:p>
            <a:pPr>
              <a:buNone/>
            </a:pPr>
            <a:r>
              <a:rPr lang="es-ES" dirty="0"/>
              <a:t>               2.2 – Tipos de software</a:t>
            </a:r>
            <a:endParaRPr lang="es-ES" dirty="0"/>
          </a:p>
          <a:p>
            <a:pPr>
              <a:buNone/>
            </a:pPr>
            <a:r>
              <a:rPr lang="es-ES" dirty="0"/>
              <a:t>               2.3 – Algoritmos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2.1 – ¿Qué es un lenguaje de programación?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Se define como un lenguaje artificial diseñado para expresar programas informáticos, es decir, especificar el conjunto de reglas que debe realizar un sistema informático para resolver un problema.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Sus características son que es específico para el desarrollo de software, tiene una sintaxis definida, capacidad de manipular datos y control de flujo, así como traducción a código máquina para que la computadora los pueda ejecutar.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Un </a:t>
            </a:r>
            <a:r>
              <a:rPr lang="es-ES" b="1" dirty="0"/>
              <a:t>lenguaje informático </a:t>
            </a:r>
            <a:r>
              <a:rPr lang="es-ES" dirty="0"/>
              <a:t>es un concepto más amplio que incluye cualquier lenguaje usado para la comunicación con sistemas informáticos. No solo incluyen los lenguajes de programación, también los </a:t>
            </a:r>
            <a:r>
              <a:rPr lang="es-ES" b="1" dirty="0"/>
              <a:t>lenguajes de marcado </a:t>
            </a:r>
            <a:r>
              <a:rPr lang="es-ES" dirty="0"/>
              <a:t>(no tienen capacidad de programar en el sentido tradicional, como HTML o XML), </a:t>
            </a:r>
            <a:r>
              <a:rPr lang="es-ES" b="1" dirty="0"/>
              <a:t>lenguajes de consulta </a:t>
            </a:r>
            <a:r>
              <a:rPr lang="es-ES" dirty="0"/>
              <a:t>(con bases de datos, como SQL), de </a:t>
            </a:r>
            <a:r>
              <a:rPr lang="es-ES" b="1" dirty="0"/>
              <a:t>definición de estilo </a:t>
            </a:r>
            <a:r>
              <a:rPr lang="es-ES" dirty="0"/>
              <a:t>(CSS) o </a:t>
            </a:r>
            <a:r>
              <a:rPr lang="es-ES" b="1" dirty="0"/>
              <a:t>lenguajes de scripting </a:t>
            </a:r>
            <a:r>
              <a:rPr lang="es-ES" dirty="0"/>
              <a:t>(se ejecutan generalmente dentro de otro entorno, como navegadores o sistemas operativos, como JavaScript que se ejecuta en el navegador o </a:t>
            </a:r>
            <a:r>
              <a:rPr lang="es-ES" dirty="0" err="1"/>
              <a:t>Bash</a:t>
            </a:r>
            <a:r>
              <a:rPr lang="es-ES" dirty="0"/>
              <a:t> que son scripts en sistemas Unix)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2.2 – Clasificación de los lenguajes de programación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Según el nivel de abstracción (cercanía o lejanía respecto al lenguaje que entiende el ordenador):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De bajo nivel: Nivel de abstracción más bajo, más cercanos al ordenador y específicos para cada tipo de procesador (lenguaje ensamblador)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De nivel intermedio: De alto nivel pero mantienen algunas de las cualidades de los de bajo nivel (lenguaje C)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De alto nivel: Los de mayor nivel de abstracción, más cercanos al lenguaje humano (Java, Python…)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2.2 – Clasificación de los lenguajes de programación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0200" y="2366683"/>
            <a:ext cx="11145985" cy="1850754"/>
          </a:xfrm>
        </p:spPr>
        <p:txBody>
          <a:bodyPr/>
          <a:lstStyle/>
          <a:p>
            <a:pPr>
              <a:buFontTx/>
              <a:buChar char="-"/>
            </a:pPr>
            <a:r>
              <a:rPr lang="es-ES" dirty="0"/>
              <a:t>Según el propósito, para lo que estén diseñados: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De propósito general: Diseñados para realizar cualquier tipo de tarea (C, C++, Python, Java…)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De propósito específico: Para una tarea más específica como el desarrollo web (JavaScript o PHP) o para el análisis estadístico (R)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2.2 – Clasificación de los lenguajes de programación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Según la evolución histórica: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+ 1ª generación: Código máquina, interpretables directamente por el procesador, eran almacenados en tarjetas perforadas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+ 2ª generación: Se introduce el lenguaje ensamblador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+ 3ª generación: Lenguajes modernos diseñados para facilitar la programación, los más actuales hoy en día (C, Java, </a:t>
            </a:r>
            <a:r>
              <a:rPr lang="es-ES" dirty="0" err="1"/>
              <a:t>etc</a:t>
            </a:r>
            <a:r>
              <a:rPr lang="es-ES" dirty="0"/>
              <a:t>…)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+ 4ª generación: Lenguajes con un mayor nivel de abstracción (cercanos al lenguaje humano) y para trabajar con conjuntos de información más grandes (SQL, Natural PL)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+ 5ª generación: Más cercanos a la lógica humana, pensados para especificar el problema y sus condiciones, dejando la resolución al ordenador (</a:t>
            </a:r>
            <a:r>
              <a:rPr lang="es-ES" dirty="0" err="1"/>
              <a:t>Prolog</a:t>
            </a:r>
            <a:r>
              <a:rPr lang="es-ES" dirty="0"/>
              <a:t>)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2.2 – Clasificación de los lenguajes de programación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0200" y="2008000"/>
            <a:ext cx="11145985" cy="2841999"/>
          </a:xfrm>
        </p:spPr>
        <p:txBody>
          <a:bodyPr/>
          <a:lstStyle/>
          <a:p>
            <a:pPr>
              <a:buFontTx/>
              <a:buChar char="-"/>
            </a:pPr>
            <a:r>
              <a:rPr lang="es-ES" dirty="0"/>
              <a:t>Según la forma de ejecutarse: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Lenguajes compilados: Pasan por un proceso de traducción (compilación) que convierte el código en lenguaje de programación a lenguaje máquina (C y C++)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Lenguajes interpretados: No necesitan ser compilados, pero requieren de un intérprete que traduce de instrucción a código máquina. Python, por ejemplo.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Hay otros lenguajes que necesitan de ambos procesos como java o C#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2.2 – Clasificación de los lenguajes de programación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Según el paradigma de programación. Los lenguajes más modernos soportan ambos estilos de programación, pero podemos distinguir lenguajes basados en: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Programación imperativa (cómo se realiza una tarea, sus pasos):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- Estructurada: Incluye estructuras de control condicionales y repetitivas (C)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Modular: Se divide el problema en módulos, en partes más pequeñas (C)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Orientada a objetos: Soluciona el problema mediante el modelado de objetos (Java)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Programación declarativa (qué hacer, sin preocuparse del cómo hacerlo):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Funcional: Realiza tareas por medio de evaluación de funciones de forma recursiva (Haskell)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Lógica: Realiza tareas a través de la lógica formal matemática (</a:t>
            </a:r>
            <a:r>
              <a:rPr lang="es-ES" dirty="0" err="1"/>
              <a:t>Prolog</a:t>
            </a:r>
            <a:r>
              <a:rPr lang="es-ES" dirty="0"/>
              <a:t>)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2.2 – Clasificación de los lenguajes de programación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Según el lugar de ejecución. Los perfiles de desarrollador (</a:t>
            </a:r>
            <a:r>
              <a:rPr lang="es-ES" dirty="0" err="1"/>
              <a:t>front-end</a:t>
            </a:r>
            <a:r>
              <a:rPr lang="es-ES" dirty="0"/>
              <a:t>, back-</a:t>
            </a:r>
            <a:r>
              <a:rPr lang="es-ES" dirty="0" err="1"/>
              <a:t>end</a:t>
            </a:r>
            <a:r>
              <a:rPr lang="es-ES" dirty="0"/>
              <a:t> o full-</a:t>
            </a:r>
            <a:r>
              <a:rPr lang="es-ES" dirty="0" err="1"/>
              <a:t>stack</a:t>
            </a:r>
            <a:r>
              <a:rPr lang="es-ES" dirty="0"/>
              <a:t>) están asociados a las aplicaciones cliente-servidor. En estas aplicaciones la tecnología utilizada varía respecto de la parte del cliente o del servidor: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Lenguajes de servidor (back-</a:t>
            </a:r>
            <a:r>
              <a:rPr lang="es-ES" dirty="0" err="1"/>
              <a:t>end</a:t>
            </a:r>
            <a:r>
              <a:rPr lang="es-ES" dirty="0"/>
              <a:t>): Usados en aplicaciones de servidor (PHP)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+ Lenguajes de cliente (</a:t>
            </a:r>
            <a:r>
              <a:rPr lang="es-ES" dirty="0" err="1"/>
              <a:t>front-end</a:t>
            </a:r>
            <a:r>
              <a:rPr lang="es-ES" dirty="0"/>
              <a:t>): Se ejecutan en el cliente, como el navegador web (JavaScript)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combinación de ambos se conoce como full-</a:t>
            </a:r>
            <a:r>
              <a:rPr lang="es-ES" dirty="0" err="1"/>
              <a:t>stack</a:t>
            </a:r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NEBRIJA corporativo">
      <a:dk1>
        <a:srgbClr val="000000"/>
      </a:dk1>
      <a:lt1>
        <a:srgbClr val="FFFFFF"/>
      </a:lt1>
      <a:dk2>
        <a:srgbClr val="C2002F"/>
      </a:dk2>
      <a:lt2>
        <a:srgbClr val="F8F8F8"/>
      </a:lt2>
      <a:accent1>
        <a:srgbClr val="C2002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1</Template>
  <TotalTime>0</TotalTime>
  <Words>4478</Words>
  <Application>WPS Presentation</Application>
  <PresentationFormat>Panorámica</PresentationFormat>
  <Paragraphs>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LucidaGrande</vt:lpstr>
      <vt:lpstr>Segoe Print</vt:lpstr>
      <vt:lpstr>Microsoft YaHei</vt:lpstr>
      <vt:lpstr>Arial Unicode MS</vt:lpstr>
      <vt:lpstr>Calibri</vt:lpstr>
      <vt:lpstr>Tema de Office</vt:lpstr>
      <vt:lpstr>2. Lenguajes de programación</vt:lpstr>
      <vt:lpstr>Índice</vt:lpstr>
      <vt:lpstr>2.1 – ¿Qué es un lenguaje de programación?</vt:lpstr>
      <vt:lpstr>2.2 – Clasificación de los lenguajes de programación</vt:lpstr>
      <vt:lpstr>2.2 – Clasificación de los lenguajes de programación</vt:lpstr>
      <vt:lpstr>2.2 – Clasificación de los lenguajes de programación</vt:lpstr>
      <vt:lpstr>2.2 – Clasificación de los lenguajes de programación</vt:lpstr>
      <vt:lpstr>2.2 – Clasificación de los lenguajes de programación</vt:lpstr>
      <vt:lpstr>2.2 – Clasificación de los lenguajes de programación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Lenguaje de Marcas</dc:title>
  <dc:creator>Francisco Albiar</dc:creator>
  <cp:lastModifiedBy>paz13</cp:lastModifiedBy>
  <cp:revision>42</cp:revision>
  <dcterms:created xsi:type="dcterms:W3CDTF">2023-09-23T11:44:00Z</dcterms:created>
  <dcterms:modified xsi:type="dcterms:W3CDTF">2024-11-19T17:39:07Z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654ACBA5338D404990B54FC1C54DE643_13</vt:lpwstr>
  </property>
  <property fmtid="{D5CDD505-2E9C-101B-9397-08002B2CF9AE}" pid="3" name="KSOProductBuildVer">
    <vt:lpwstr>3082-12.2.0.18639</vt:lpwstr>
  </property>
</Properties>
</file>