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4" r:id="rId4"/>
    <p:sldId id="275" r:id="rId5"/>
    <p:sldId id="276" r:id="rId6"/>
    <p:sldId id="272" r:id="rId7"/>
    <p:sldId id="277" r:id="rId8"/>
    <p:sldId id="278" r:id="rId9"/>
    <p:sldId id="319" r:id="rId10"/>
    <p:sldId id="279" r:id="rId11"/>
    <p:sldId id="280" r:id="rId12"/>
    <p:sldId id="269" r:id="rId13"/>
    <p:sldId id="281" r:id="rId14"/>
    <p:sldId id="282" r:id="rId15"/>
    <p:sldId id="283" r:id="rId16"/>
    <p:sldId id="286" r:id="rId17"/>
    <p:sldId id="287" r:id="rId18"/>
    <p:sldId id="288" r:id="rId19"/>
    <p:sldId id="289" r:id="rId20"/>
    <p:sldId id="290" r:id="rId21"/>
    <p:sldId id="291" r:id="rId22"/>
    <p:sldId id="292" r:id="rId23"/>
    <p:sldId id="293" r:id="rId24"/>
    <p:sldId id="294" r:id="rId25"/>
    <p:sldId id="295" r:id="rId26"/>
    <p:sldId id="296" r:id="rId27"/>
    <p:sldId id="298" r:id="rId28"/>
    <p:sldId id="320" r:id="rId29"/>
    <p:sldId id="299" r:id="rId30"/>
    <p:sldId id="297" r:id="rId31"/>
    <p:sldId id="321" r:id="rId32"/>
    <p:sldId id="300" r:id="rId33"/>
    <p:sldId id="301" r:id="rId34"/>
    <p:sldId id="302" r:id="rId35"/>
    <p:sldId id="303" r:id="rId36"/>
    <p:sldId id="304" r:id="rId37"/>
    <p:sldId id="305" r:id="rId38"/>
    <p:sldId id="306" r:id="rId39"/>
    <p:sldId id="307" r:id="rId40"/>
    <p:sldId id="308" r:id="rId41"/>
    <p:sldId id="309" r:id="rId42"/>
    <p:sldId id="310" r:id="rId43"/>
    <p:sldId id="284" r:id="rId44"/>
    <p:sldId id="285" r:id="rId45"/>
    <p:sldId id="311" r:id="rId46"/>
    <p:sldId id="312" r:id="rId47"/>
    <p:sldId id="313" r:id="rId48"/>
    <p:sldId id="314" r:id="rId49"/>
    <p:sldId id="315" r:id="rId50"/>
    <p:sldId id="316" r:id="rId51"/>
    <p:sldId id="317" r:id="rId52"/>
    <p:sldId id="318" r:id="rId5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249" autoAdjust="0"/>
  </p:normalViewPr>
  <p:slideViewPr>
    <p:cSldViewPr snapToGrid="0">
      <p:cViewPr>
        <p:scale>
          <a:sx n="90" d="100"/>
          <a:sy n="90" d="100"/>
        </p:scale>
        <p:origin x="6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2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20000"/>
        </a:lnSpc>
        <a:spcBef>
          <a:spcPts val="1200"/>
        </a:spcBef>
        <a:spcAft>
          <a:spcPts val="200"/>
        </a:spcAft>
        <a:buClr>
          <a:schemeClr val="accent1"/>
        </a:buClr>
        <a:buSzPct val="100000"/>
        <a:buFont typeface="Calibri" panose="020F0502020204030204" pitchFamily="34" charset="0"/>
        <a:buChar char=" "/>
        <a:defRPr sz="18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6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2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2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2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ctrTitle"/>
          </p:nvPr>
        </p:nvSpPr>
        <p:spPr>
          <a:xfrm>
            <a:off x="3958251" y="1417983"/>
            <a:ext cx="7319175" cy="2550028"/>
          </a:xfrm>
        </p:spPr>
        <p:txBody>
          <a:bodyPr>
            <a:normAutofit/>
          </a:bodyPr>
          <a:lstStyle/>
          <a:p>
            <a:r>
              <a:rPr lang="es-ES" sz="4800" dirty="0"/>
              <a:t>Certificación LPI LPIC-1: </a:t>
            </a:r>
            <a:br>
              <a:rPr lang="es-ES" sz="4800" dirty="0"/>
            </a:br>
            <a:r>
              <a:rPr lang="es-ES" sz="4800" dirty="0"/>
              <a:t>Linux Administrator </a:t>
            </a:r>
            <a:br>
              <a:rPr lang="es-ES" sz="4800" dirty="0"/>
            </a:br>
            <a:endParaRPr lang="es-ES" sz="4800" dirty="0"/>
          </a:p>
        </p:txBody>
      </p:sp>
      <p:pic>
        <p:nvPicPr>
          <p:cNvPr id="5" name="Imagen 4" descr="Imagen que contiene dibujo&#10;&#10;Descripción generada automáticament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0973" y="1781229"/>
            <a:ext cx="2758331" cy="2776843"/>
          </a:xfrm>
          <a:prstGeom prst="rect">
            <a:avLst/>
          </a:prstGeom>
        </p:spPr>
      </p:pic>
      <p:cxnSp>
        <p:nvCxnSpPr>
          <p:cNvPr id="12" name="Straight Connector 11"/>
          <p:cNvCxnSpPr>
            <a:cxnSpLocks noGrp="1" noRot="1" noChangeAspect="1" noMove="1" noResize="1" noEditPoints="1" noAdjustHandles="1" noChangeArrowheads="1" noChangeShapeType="1"/>
          </p:cNvCxnSpPr>
          <p:nvPr/>
        </p:nvCxnSpPr>
        <p:spPr>
          <a:xfrm>
            <a:off x="3958251" y="4294753"/>
            <a:ext cx="71323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4" name="Rectangle 13"/>
          <p:cNvSpPr>
            <a:spLocks noGrp="1" noRot="1" noChangeAspect="1" noMove="1" noResize="1" noEditPoints="1" noAdjustHandles="1" noChangeArrowheads="1" noChangeShapeType="1" noTextEdit="1"/>
          </p:cNvSpPr>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CuadroTexto 5"/>
          <p:cNvSpPr txBox="1"/>
          <p:nvPr/>
        </p:nvSpPr>
        <p:spPr>
          <a:xfrm>
            <a:off x="3918992" y="3767956"/>
            <a:ext cx="4860626" cy="400110"/>
          </a:xfrm>
          <a:prstGeom prst="rect">
            <a:avLst/>
          </a:prstGeom>
          <a:noFill/>
        </p:spPr>
        <p:txBody>
          <a:bodyPr wrap="none" rtlCol="0">
            <a:spAutoFit/>
          </a:bodyPr>
          <a:lstStyle/>
          <a:p>
            <a:r>
              <a:rPr lang="es-ES" sz="2000" dirty="0"/>
              <a:t>Tema 5: ENTORNO SHELL Y SCRIPTING</a:t>
            </a:r>
            <a:endParaRPr lang="es-E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Administrar el entorno de consola</a:t>
            </a:r>
            <a:endParaRPr lang="es-ES" dirty="0"/>
          </a:p>
        </p:txBody>
      </p:sp>
      <p:sp>
        <p:nvSpPr>
          <p:cNvPr id="3" name="Marcador de contenido 2"/>
          <p:cNvSpPr>
            <a:spLocks noGrp="1"/>
          </p:cNvSpPr>
          <p:nvPr>
            <p:ph idx="1"/>
          </p:nvPr>
        </p:nvSpPr>
        <p:spPr>
          <a:xfrm>
            <a:off x="1066800" y="1869662"/>
            <a:ext cx="10058400" cy="4133573"/>
          </a:xfrm>
        </p:spPr>
        <p:txBody>
          <a:bodyPr>
            <a:normAutofit fontScale="92500" lnSpcReduction="20000"/>
          </a:bodyPr>
          <a:lstStyle/>
          <a:p>
            <a:r>
              <a:rPr lang="es-ES" dirty="0"/>
              <a:t>LAS VARIABLES</a:t>
            </a:r>
            <a:endParaRPr lang="es-ES" dirty="0"/>
          </a:p>
          <a:p>
            <a:r>
              <a:rPr lang="es-ES" dirty="0"/>
              <a:t>Se distinguen tres tipos de variables:</a:t>
            </a:r>
            <a:endParaRPr lang="es-ES" dirty="0"/>
          </a:p>
          <a:p>
            <a:pPr lvl="1"/>
            <a:r>
              <a:rPr lang="es-ES" dirty="0"/>
              <a:t>Usuario.</a:t>
            </a:r>
            <a:endParaRPr lang="es-ES" dirty="0"/>
          </a:p>
          <a:p>
            <a:pPr lvl="1"/>
            <a:r>
              <a:rPr lang="es-ES" dirty="0"/>
              <a:t>Sistema.</a:t>
            </a:r>
            <a:endParaRPr lang="es-ES" dirty="0"/>
          </a:p>
          <a:p>
            <a:pPr lvl="1"/>
            <a:r>
              <a:rPr lang="es-ES" dirty="0"/>
              <a:t>Especiales</a:t>
            </a:r>
            <a:endParaRPr lang="es-ES" dirty="0"/>
          </a:p>
          <a:p>
            <a:pPr marL="201295" lvl="1" indent="0">
              <a:buNone/>
            </a:pPr>
            <a:r>
              <a:rPr lang="es-ES" dirty="0"/>
              <a:t>El principio consiste en poder asignar un contenido a un nombre de variable, en general una cadena de caracteres o valores numéricos.</a:t>
            </a:r>
            <a:endParaRPr lang="es-ES" dirty="0"/>
          </a:p>
          <a:p>
            <a:pPr marL="201295" lvl="1" indent="0">
              <a:buNone/>
            </a:pPr>
            <a:r>
              <a:rPr lang="es-ES" b="1" dirty="0"/>
              <a:t>Nomenclatura</a:t>
            </a:r>
            <a:r>
              <a:rPr lang="es-ES" dirty="0"/>
              <a:t>: El nombre de las variables obedece a las siguientes reglas:</a:t>
            </a:r>
            <a:endParaRPr lang="es-ES" dirty="0"/>
          </a:p>
          <a:p>
            <a:pPr lvl="1"/>
            <a:r>
              <a:rPr lang="es-ES" dirty="0"/>
              <a:t>Se puede componer de mayúsculas, minúsculas, cifras, caracteres de subrayado.</a:t>
            </a:r>
            <a:endParaRPr lang="es-ES" dirty="0"/>
          </a:p>
          <a:p>
            <a:pPr lvl="1"/>
            <a:r>
              <a:rPr lang="es-ES" dirty="0"/>
              <a:t>El primer carácter no puede ser una cifra.</a:t>
            </a:r>
            <a:endParaRPr lang="es-ES" dirty="0"/>
          </a:p>
          <a:p>
            <a:pPr lvl="1"/>
            <a:r>
              <a:rPr lang="es-ES" dirty="0"/>
              <a:t>El tamaño de un nombre suele ser ilimitado.</a:t>
            </a:r>
            <a:endParaRPr lang="es-ES" dirty="0"/>
          </a:p>
          <a:p>
            <a:pPr lvl="1"/>
            <a:r>
              <a:rPr lang="es-ES" dirty="0"/>
              <a:t>Las variables de usuario en minúsculas y las de sistema en mayúscula.</a:t>
            </a:r>
            <a:endParaRPr lang="es-ES" dirty="0"/>
          </a:p>
          <a:p>
            <a:pPr marL="201295" lvl="1" indent="0">
              <a:buNone/>
            </a:pPr>
            <a:r>
              <a:rPr lang="es-ES" b="1" dirty="0"/>
              <a:t>Declaración y asignación: </a:t>
            </a:r>
            <a:r>
              <a:rPr lang="es-ES" dirty="0"/>
              <a:t>Se declara una variable en cuanto se le asigna un valor. Se efectúa la asignación con el signo =, sin espacio antes ni después del signo.</a:t>
            </a:r>
            <a:endParaRPr lang="es-ES" dirty="0"/>
          </a:p>
          <a:p>
            <a:pPr marL="201295" lvl="1" indent="0" algn="ctr">
              <a:buNone/>
            </a:pPr>
            <a:r>
              <a:rPr lang="es-ES" b="1" dirty="0" err="1"/>
              <a:t>var</a:t>
            </a:r>
            <a:r>
              <a:rPr lang="es-ES" b="1" dirty="0"/>
              <a:t>=Hola</a:t>
            </a:r>
            <a:endParaRPr lang="es-E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Administrar el entorno de consola</a:t>
            </a:r>
            <a:endParaRPr lang="es-ES" dirty="0"/>
          </a:p>
        </p:txBody>
      </p:sp>
      <p:sp>
        <p:nvSpPr>
          <p:cNvPr id="3" name="Marcador de contenido 2"/>
          <p:cNvSpPr>
            <a:spLocks noGrp="1"/>
          </p:cNvSpPr>
          <p:nvPr>
            <p:ph idx="1"/>
          </p:nvPr>
        </p:nvSpPr>
        <p:spPr>
          <a:xfrm>
            <a:off x="1097279" y="1853096"/>
            <a:ext cx="10297551" cy="4133573"/>
          </a:xfrm>
        </p:spPr>
        <p:txBody>
          <a:bodyPr>
            <a:normAutofit/>
          </a:bodyPr>
          <a:lstStyle/>
          <a:p>
            <a:r>
              <a:rPr lang="es-ES" dirty="0"/>
              <a:t>LAS VARIABLES</a:t>
            </a:r>
            <a:endParaRPr lang="es-ES" dirty="0"/>
          </a:p>
          <a:p>
            <a:r>
              <a:rPr lang="es-ES" b="1" dirty="0"/>
              <a:t>Acceso y visualización: </a:t>
            </a:r>
            <a:r>
              <a:rPr lang="es-ES" dirty="0"/>
              <a:t>Puede acceder al contenido de una variable colocando el signo $ delante del nombre de la variable. Cuando el Shell encuentra $, intenta interpretar la palabra siguiente como si fuera una variable. Si existe, entonces se substituye el $</a:t>
            </a:r>
            <a:r>
              <a:rPr lang="es-ES" dirty="0" err="1"/>
              <a:t>nombre_variable</a:t>
            </a:r>
            <a:r>
              <a:rPr lang="es-ES" dirty="0"/>
              <a:t> por su contenido, o por un texto </a:t>
            </a:r>
            <a:r>
              <a:rPr lang="es-ES" dirty="0" err="1"/>
              <a:t>vacio</a:t>
            </a:r>
            <a:r>
              <a:rPr lang="es-ES" dirty="0"/>
              <a:t> en el caso contrario. Se habla también de referenciado de variable.</a:t>
            </a:r>
            <a:endParaRPr lang="es-ES" dirty="0"/>
          </a:p>
          <a:p>
            <a:endParaRPr lang="es-ES" b="1" dirty="0"/>
          </a:p>
          <a:p>
            <a:endParaRPr lang="es-ES" b="1" dirty="0"/>
          </a:p>
          <a:p>
            <a:r>
              <a:rPr lang="es-ES" dirty="0"/>
              <a:t>Si una variable tiene espacios en blanco, no funcionará hay que ponerlo entre comillas.</a:t>
            </a:r>
            <a:endParaRPr lang="es-ES" dirty="0"/>
          </a:p>
        </p:txBody>
      </p:sp>
      <p:pic>
        <p:nvPicPr>
          <p:cNvPr id="4" name="Imagen 3"/>
          <p:cNvPicPr>
            <a:picLocks noChangeAspect="1"/>
          </p:cNvPicPr>
          <p:nvPr/>
        </p:nvPicPr>
        <p:blipFill>
          <a:blip r:embed="rId1"/>
          <a:stretch>
            <a:fillRect/>
          </a:stretch>
        </p:blipFill>
        <p:spPr>
          <a:xfrm>
            <a:off x="3340059" y="3919883"/>
            <a:ext cx="4407494" cy="69187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Administrar el entorno de consola</a:t>
            </a:r>
            <a:endParaRPr lang="es-ES" dirty="0"/>
          </a:p>
        </p:txBody>
      </p:sp>
      <p:sp>
        <p:nvSpPr>
          <p:cNvPr id="3" name="Marcador de contenido 2"/>
          <p:cNvSpPr>
            <a:spLocks noGrp="1"/>
          </p:cNvSpPr>
          <p:nvPr>
            <p:ph idx="1"/>
          </p:nvPr>
        </p:nvSpPr>
        <p:spPr>
          <a:xfrm>
            <a:off x="1097279" y="1853096"/>
            <a:ext cx="4445391" cy="4133573"/>
          </a:xfrm>
        </p:spPr>
        <p:txBody>
          <a:bodyPr>
            <a:normAutofit/>
          </a:bodyPr>
          <a:lstStyle/>
          <a:p>
            <a:r>
              <a:rPr lang="es-ES" dirty="0"/>
              <a:t>LAS VARIABLES</a:t>
            </a:r>
            <a:endParaRPr lang="es-ES" dirty="0"/>
          </a:p>
          <a:p>
            <a:r>
              <a:rPr lang="es-ES" sz="1600" dirty="0"/>
              <a:t>Para visualizar el listado de variables, se utiliza el comando </a:t>
            </a:r>
            <a:r>
              <a:rPr lang="es-ES" sz="1600" b="1" dirty="0" err="1"/>
              <a:t>env</a:t>
            </a:r>
            <a:r>
              <a:rPr lang="es-ES" sz="1600" dirty="0"/>
              <a:t>. Muestra las variables de usuario y del sistema, nombre y contenido.</a:t>
            </a:r>
            <a:endParaRPr lang="es-ES" sz="1600" dirty="0"/>
          </a:p>
          <a:p>
            <a:endParaRPr lang="es-ES" sz="1600" dirty="0"/>
          </a:p>
        </p:txBody>
      </p:sp>
      <p:pic>
        <p:nvPicPr>
          <p:cNvPr id="5" name="Imagen 4"/>
          <p:cNvPicPr>
            <a:picLocks noChangeAspect="1"/>
          </p:cNvPicPr>
          <p:nvPr/>
        </p:nvPicPr>
        <p:blipFill>
          <a:blip r:embed="rId1"/>
          <a:stretch>
            <a:fillRect/>
          </a:stretch>
        </p:blipFill>
        <p:spPr>
          <a:xfrm>
            <a:off x="5888355" y="2292202"/>
            <a:ext cx="5267325" cy="26193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Administrar el entorno de la consola</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5514536" y="2108201"/>
            <a:ext cx="5683348" cy="3760891"/>
          </a:xfrm>
        </p:spPr>
        <p:txBody>
          <a:bodyPr/>
          <a:lstStyle/>
          <a:p>
            <a:r>
              <a:rPr lang="es-ES" b="1" dirty="0"/>
              <a:t>Supresión y protección: </a:t>
            </a:r>
            <a:r>
              <a:rPr lang="es-ES" dirty="0"/>
              <a:t>Se suprime una variable con el comando </a:t>
            </a:r>
            <a:r>
              <a:rPr lang="es-ES" b="1" dirty="0" err="1"/>
              <a:t>unset</a:t>
            </a:r>
            <a:r>
              <a:rPr lang="es-ES" dirty="0"/>
              <a:t>. Puede proteger una variable en modo escritura y contra su supresión con el comando </a:t>
            </a:r>
            <a:r>
              <a:rPr lang="es-ES" b="1" dirty="0" err="1"/>
              <a:t>readonly</a:t>
            </a:r>
            <a:r>
              <a:rPr lang="es-ES" dirty="0"/>
              <a:t>. Una variable en modo de sólo lectura, incluso vacía, es exclusiva. No existe ningún medio de sustituirla en escritura y de suprimirla, salvo saliendo del Shell.</a:t>
            </a:r>
            <a:endParaRPr lang="es-ES" b="1" dirty="0"/>
          </a:p>
        </p:txBody>
      </p:sp>
      <p:pic>
        <p:nvPicPr>
          <p:cNvPr id="5" name="Imagen 4"/>
          <p:cNvPicPr>
            <a:picLocks noChangeAspect="1"/>
          </p:cNvPicPr>
          <p:nvPr/>
        </p:nvPicPr>
        <p:blipFill>
          <a:blip r:embed="rId1"/>
          <a:stretch>
            <a:fillRect/>
          </a:stretch>
        </p:blipFill>
        <p:spPr>
          <a:xfrm>
            <a:off x="1193413" y="2108201"/>
            <a:ext cx="4210270" cy="2317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Administrar el entorno de la consola</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2051930"/>
            <a:ext cx="5106572" cy="3760891"/>
          </a:xfrm>
        </p:spPr>
        <p:txBody>
          <a:bodyPr/>
          <a:lstStyle/>
          <a:p>
            <a:r>
              <a:rPr lang="es-ES" b="1" dirty="0" err="1"/>
              <a:t>Export</a:t>
            </a:r>
            <a:r>
              <a:rPr lang="es-ES" b="1" dirty="0"/>
              <a:t>: </a:t>
            </a:r>
            <a:r>
              <a:rPr lang="es-ES" dirty="0"/>
              <a:t>Por defecto una variable es accesible únicamente desde el Shell donde ha sido definida. El siguiente ejemplo declara la variable a en el entorno Shell actual y luego trata de visualizar su valor a través de un script lanzado desde este mismo Shell.</a:t>
            </a:r>
            <a:endParaRPr lang="es-ES" dirty="0"/>
          </a:p>
          <a:p>
            <a:r>
              <a:rPr lang="es-ES" dirty="0"/>
              <a:t>El comando </a:t>
            </a:r>
            <a:r>
              <a:rPr lang="es-ES" b="1" dirty="0" err="1"/>
              <a:t>export</a:t>
            </a:r>
            <a:r>
              <a:rPr lang="es-ES" dirty="0"/>
              <a:t> permite exportar una variable de manera que su contenido sea visible por los scripts y otros </a:t>
            </a:r>
            <a:r>
              <a:rPr lang="es-ES" dirty="0" err="1"/>
              <a:t>subshells</a:t>
            </a:r>
            <a:r>
              <a:rPr lang="es-ES" dirty="0"/>
              <a:t>. </a:t>
            </a:r>
            <a:endParaRPr lang="es-ES" dirty="0"/>
          </a:p>
        </p:txBody>
      </p:sp>
      <p:pic>
        <p:nvPicPr>
          <p:cNvPr id="3" name="Imagen 2"/>
          <p:cNvPicPr>
            <a:picLocks noChangeAspect="1"/>
          </p:cNvPicPr>
          <p:nvPr/>
        </p:nvPicPr>
        <p:blipFill>
          <a:blip r:embed="rId1"/>
          <a:stretch>
            <a:fillRect/>
          </a:stretch>
        </p:blipFill>
        <p:spPr>
          <a:xfrm>
            <a:off x="6400802" y="2662535"/>
            <a:ext cx="5429646" cy="14705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Administrar el entorno de la consola</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3575963"/>
          </a:xfrm>
        </p:spPr>
        <p:txBody>
          <a:bodyPr>
            <a:noAutofit/>
          </a:bodyPr>
          <a:lstStyle/>
          <a:p>
            <a:r>
              <a:rPr lang="es-ES" sz="1600" b="1" dirty="0"/>
              <a:t>Llaves: </a:t>
            </a:r>
            <a:r>
              <a:rPr lang="es-ES" sz="1600" dirty="0"/>
              <a:t>Las llaves {} permiten identificar el nombre de una variable. Imaginemos la variable archivo que contiene el nombre de archivo &lt;lista&gt;. Quiero copiar lista1 en lista2</a:t>
            </a:r>
            <a:endParaRPr lang="es-ES" sz="1600" dirty="0"/>
          </a:p>
          <a:p>
            <a:pPr marL="1471295" lvl="8" indent="0">
              <a:buNone/>
            </a:pPr>
            <a:r>
              <a:rPr lang="es-ES" sz="1600" b="1" dirty="0"/>
              <a:t>$ archivo=lista</a:t>
            </a:r>
            <a:endParaRPr lang="es-ES" sz="1600" b="1" dirty="0"/>
          </a:p>
          <a:p>
            <a:pPr marL="1471295" lvl="8" indent="0">
              <a:buNone/>
            </a:pPr>
            <a:r>
              <a:rPr lang="es-ES" sz="1600" b="1" dirty="0"/>
              <a:t>$ echo {archivo}1</a:t>
            </a:r>
            <a:endParaRPr lang="es-ES" sz="1600" b="1" dirty="0"/>
          </a:p>
          <a:p>
            <a:pPr marL="1471295" lvl="8" indent="0">
              <a:buNone/>
            </a:pPr>
            <a:r>
              <a:rPr lang="es-ES" sz="1600" b="1" dirty="0"/>
              <a:t>$ lista1</a:t>
            </a:r>
            <a:endParaRPr lang="es-ES" sz="1600" b="1" dirty="0"/>
          </a:p>
          <a:p>
            <a:pPr marL="155575" lvl="1" indent="0">
              <a:buNone/>
            </a:pPr>
            <a:r>
              <a:rPr lang="es-ES" b="1" dirty="0"/>
              <a:t>Llaves y sustitución condicional.</a:t>
            </a:r>
            <a:endParaRPr lang="es-ES" b="1" dirty="0"/>
          </a:p>
          <a:p>
            <a:pPr marL="155575" lvl="1" indent="0">
              <a:buNone/>
            </a:pPr>
            <a:r>
              <a:rPr lang="es-ES" dirty="0"/>
              <a:t>Las llaves disponen de un sintaxis particular: </a:t>
            </a:r>
            <a:r>
              <a:rPr lang="es-ES" b="1" dirty="0"/>
              <a:t>{</a:t>
            </a:r>
            <a:r>
              <a:rPr lang="es-ES" b="1" dirty="0" err="1"/>
              <a:t>variable:sustitución</a:t>
            </a:r>
            <a:r>
              <a:rPr lang="es-ES" b="1" dirty="0"/>
              <a:t>}</a:t>
            </a:r>
            <a:endParaRPr lang="es-ES" b="1" dirty="0"/>
          </a:p>
          <a:p>
            <a:pPr marL="441325" lvl="1" indent="-285750"/>
            <a:r>
              <a:rPr lang="es-ES" b="1" dirty="0"/>
              <a:t>{x:-texto}: </a:t>
            </a:r>
            <a:r>
              <a:rPr lang="es-ES" dirty="0"/>
              <a:t>Si la variable x está vacía o es inexistente, el texto cogerá su sitio. En caso contrario, es el contenido de la variable el que prevaldrá.</a:t>
            </a:r>
            <a:endParaRPr lang="es-ES" dirty="0"/>
          </a:p>
          <a:p>
            <a:pPr marL="441325" lvl="1" indent="-285750"/>
            <a:r>
              <a:rPr lang="es-ES" b="1" dirty="0"/>
              <a:t>Ejemplo</a:t>
            </a:r>
            <a:r>
              <a:rPr lang="es-ES" dirty="0"/>
              <a:t>: Si la variable nombre está </a:t>
            </a:r>
            <a:r>
              <a:rPr lang="es-ES" dirty="0" err="1"/>
              <a:t>vacia</a:t>
            </a:r>
            <a:r>
              <a:rPr lang="es-ES" dirty="0"/>
              <a:t> (que lo está) escribirá Luis, si no lo estuviera escribiría el nombre</a:t>
            </a:r>
            <a:endParaRPr lang="es-ES" dirty="0"/>
          </a:p>
        </p:txBody>
      </p:sp>
      <p:pic>
        <p:nvPicPr>
          <p:cNvPr id="3" name="Imagen 2"/>
          <p:cNvPicPr>
            <a:picLocks noChangeAspect="1"/>
          </p:cNvPicPr>
          <p:nvPr/>
        </p:nvPicPr>
        <p:blipFill>
          <a:blip r:embed="rId1"/>
          <a:stretch>
            <a:fillRect/>
          </a:stretch>
        </p:blipFill>
        <p:spPr>
          <a:xfrm>
            <a:off x="2481848" y="5111027"/>
            <a:ext cx="4289807" cy="895264"/>
          </a:xfrm>
          <a:prstGeom prst="rect">
            <a:avLst/>
          </a:prstGeom>
        </p:spPr>
      </p:pic>
      <p:pic>
        <p:nvPicPr>
          <p:cNvPr id="5" name="Imagen 4"/>
          <p:cNvPicPr>
            <a:picLocks noChangeAspect="1"/>
          </p:cNvPicPr>
          <p:nvPr/>
        </p:nvPicPr>
        <p:blipFill>
          <a:blip r:embed="rId2"/>
          <a:stretch>
            <a:fillRect/>
          </a:stretch>
        </p:blipFill>
        <p:spPr>
          <a:xfrm>
            <a:off x="7315200" y="4950133"/>
            <a:ext cx="3666978" cy="10990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Administrar el entorno de la consola</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4728902"/>
          </a:xfrm>
        </p:spPr>
        <p:txBody>
          <a:bodyPr>
            <a:noAutofit/>
          </a:bodyPr>
          <a:lstStyle/>
          <a:p>
            <a:pPr marL="441325" lvl="1" indent="-285750"/>
            <a:r>
              <a:rPr lang="es-ES" b="1" dirty="0"/>
              <a:t>{x:=texto}: </a:t>
            </a:r>
            <a:r>
              <a:rPr lang="es-ES" dirty="0"/>
              <a:t>Si la variable x está vacía o es inexistente, el texto cogerá su sitio y se convertirá en el valor de la variable.</a:t>
            </a:r>
            <a:endParaRPr lang="es-ES" dirty="0"/>
          </a:p>
          <a:p>
            <a:pPr marL="155575" lvl="1" indent="0">
              <a:buNone/>
            </a:pPr>
            <a:endParaRPr lang="es-ES" dirty="0"/>
          </a:p>
          <a:p>
            <a:pPr marL="155575" lvl="1" indent="0">
              <a:buNone/>
            </a:pPr>
            <a:endParaRPr lang="es-ES" dirty="0"/>
          </a:p>
          <a:p>
            <a:pPr marL="441325" lvl="1" indent="-285750"/>
            <a:r>
              <a:rPr lang="es-ES" b="1" dirty="0"/>
              <a:t>{x:+texto}: </a:t>
            </a:r>
            <a:r>
              <a:rPr lang="es-ES" dirty="0"/>
              <a:t>Si la variable x está definida y no vacía, el texto cogerá su sitio. En el caso contrario, una cadena vacía coge su lugar.</a:t>
            </a:r>
            <a:endParaRPr lang="es-ES" dirty="0"/>
          </a:p>
          <a:p>
            <a:pPr marL="155575" lvl="1" indent="0">
              <a:buNone/>
            </a:pPr>
            <a:endParaRPr lang="es-ES" dirty="0"/>
          </a:p>
          <a:p>
            <a:pPr marL="441325" lvl="1" indent="-285750"/>
            <a:endParaRPr lang="es-ES" dirty="0"/>
          </a:p>
          <a:p>
            <a:pPr marL="441325" lvl="1" indent="-285750"/>
            <a:r>
              <a:rPr lang="es-ES" b="1" dirty="0"/>
              <a:t>{x:?texto}: </a:t>
            </a:r>
            <a:r>
              <a:rPr lang="es-ES" dirty="0"/>
              <a:t>Si la variable x está </a:t>
            </a:r>
            <a:r>
              <a:rPr lang="es-ES" dirty="0" err="1"/>
              <a:t>vacia</a:t>
            </a:r>
            <a:r>
              <a:rPr lang="es-ES" dirty="0"/>
              <a:t> o es inexistente, se interrumpe el script y se visualiza el mensaje de texto. Si el texto está ausente, se visualiza un mensaje de error estándar.</a:t>
            </a:r>
            <a:endParaRPr lang="es-ES" dirty="0"/>
          </a:p>
        </p:txBody>
      </p:sp>
      <p:pic>
        <p:nvPicPr>
          <p:cNvPr id="3" name="Imagen 2"/>
          <p:cNvPicPr>
            <a:picLocks noChangeAspect="1"/>
          </p:cNvPicPr>
          <p:nvPr/>
        </p:nvPicPr>
        <p:blipFill>
          <a:blip r:embed="rId1"/>
          <a:stretch>
            <a:fillRect/>
          </a:stretch>
        </p:blipFill>
        <p:spPr>
          <a:xfrm>
            <a:off x="4245478" y="3697716"/>
            <a:ext cx="3489008" cy="419100"/>
          </a:xfrm>
          <a:prstGeom prst="rect">
            <a:avLst/>
          </a:prstGeom>
        </p:spPr>
      </p:pic>
      <p:pic>
        <p:nvPicPr>
          <p:cNvPr id="5" name="Imagen 4"/>
          <p:cNvPicPr>
            <a:picLocks noChangeAspect="1"/>
          </p:cNvPicPr>
          <p:nvPr/>
        </p:nvPicPr>
        <p:blipFill>
          <a:blip r:embed="rId2"/>
          <a:stretch>
            <a:fillRect/>
          </a:stretch>
        </p:blipFill>
        <p:spPr>
          <a:xfrm>
            <a:off x="4220502" y="2568640"/>
            <a:ext cx="3513984" cy="419099"/>
          </a:xfrm>
          <a:prstGeom prst="rect">
            <a:avLst/>
          </a:prstGeom>
        </p:spPr>
      </p:pic>
      <p:pic>
        <p:nvPicPr>
          <p:cNvPr id="6" name="Imagen 5"/>
          <p:cNvPicPr>
            <a:picLocks noChangeAspect="1"/>
          </p:cNvPicPr>
          <p:nvPr/>
        </p:nvPicPr>
        <p:blipFill>
          <a:blip r:embed="rId3"/>
          <a:stretch>
            <a:fillRect/>
          </a:stretch>
        </p:blipFill>
        <p:spPr>
          <a:xfrm>
            <a:off x="4245478" y="5108651"/>
            <a:ext cx="3387774" cy="8322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Administrar el entorno de la consola</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4728902"/>
          </a:xfrm>
        </p:spPr>
        <p:txBody>
          <a:bodyPr>
            <a:normAutofit/>
          </a:bodyPr>
          <a:lstStyle/>
          <a:p>
            <a:r>
              <a:rPr lang="es-ES" sz="1600" dirty="0"/>
              <a:t>Variables de sistema: Además de las variables que el usuario puede definir por si mismo, se inicia el Shell con un cierto número de variables predefinidas y accesibles por el usuario. Son las variables de sistema.</a:t>
            </a:r>
            <a:endParaRPr lang="es-ES" sz="1600" dirty="0"/>
          </a:p>
          <a:p>
            <a:r>
              <a:rPr lang="es-ES" sz="1600" b="1" dirty="0"/>
              <a:t>HOSTNAME</a:t>
            </a:r>
            <a:r>
              <a:rPr lang="es-ES" sz="1600" dirty="0"/>
              <a:t>: Contiene el nombre del equipo de trabajo</a:t>
            </a:r>
            <a:endParaRPr lang="es-ES" sz="1600" dirty="0"/>
          </a:p>
          <a:p>
            <a:r>
              <a:rPr lang="es-ES" sz="1600" b="1" dirty="0"/>
              <a:t>PATH</a:t>
            </a:r>
            <a:r>
              <a:rPr lang="es-ES" sz="1600" dirty="0"/>
              <a:t>: Lista de directorios, separados por; , donde el Shell va a buscar los comandos externos y otros scripts binarios.</a:t>
            </a:r>
            <a:endParaRPr lang="es-ES" sz="1600" dirty="0"/>
          </a:p>
          <a:p>
            <a:r>
              <a:rPr lang="es-ES" sz="1600" b="1" dirty="0"/>
              <a:t>HOME</a:t>
            </a:r>
            <a:r>
              <a:rPr lang="es-ES" sz="1600" dirty="0"/>
              <a:t>: El valor de esta variable es la ruta de nuestro directorio principal.</a:t>
            </a:r>
            <a:endParaRPr lang="es-ES" sz="1600" dirty="0"/>
          </a:p>
          <a:p>
            <a:r>
              <a:rPr lang="es-ES" sz="1600" b="1" dirty="0"/>
              <a:t>MAIL</a:t>
            </a:r>
            <a:r>
              <a:rPr lang="es-ES" sz="1600" dirty="0"/>
              <a:t>: Su valor es la ruta del buzón de correo del usuario en cuestión.</a:t>
            </a:r>
            <a:endParaRPr lang="es-ES" sz="1600" dirty="0"/>
          </a:p>
          <a:p>
            <a:r>
              <a:rPr lang="es-ES" sz="1600" b="1" dirty="0"/>
              <a:t>LANG</a:t>
            </a:r>
            <a:r>
              <a:rPr lang="es-ES" sz="1600" dirty="0"/>
              <a:t>: Utilizada para guardar el idioma actual</a:t>
            </a:r>
            <a:endParaRPr lang="es-ES" sz="1600" dirty="0"/>
          </a:p>
          <a:p>
            <a:r>
              <a:rPr lang="es-ES" sz="1600" b="1" dirty="0"/>
              <a:t>PS1</a:t>
            </a:r>
            <a:r>
              <a:rPr lang="es-ES" sz="1600" dirty="0"/>
              <a:t>:Prompt </a:t>
            </a:r>
            <a:r>
              <a:rPr lang="es-ES" sz="1600" dirty="0" err="1"/>
              <a:t>String</a:t>
            </a:r>
            <a:r>
              <a:rPr lang="es-ES" sz="1600" dirty="0"/>
              <a:t> 1, cadena que representa el </a:t>
            </a:r>
            <a:r>
              <a:rPr lang="es-ES" sz="1600" dirty="0" err="1"/>
              <a:t>prompt</a:t>
            </a:r>
            <a:r>
              <a:rPr lang="es-ES" sz="1600" dirty="0"/>
              <a:t> estándar visualizando en la pantalla por el Shell a la espera de inserción de comando.</a:t>
            </a:r>
            <a:endParaRPr lang="es-ES" sz="1600" dirty="0"/>
          </a:p>
          <a:p>
            <a:r>
              <a:rPr lang="es-ES" sz="1600" b="1" dirty="0"/>
              <a:t>EDITOR</a:t>
            </a:r>
            <a:r>
              <a:rPr lang="es-ES" sz="1600" dirty="0"/>
              <a:t>: El editor de texto iniciado por defecto será aquel que conste en el valor de esta variable.</a:t>
            </a:r>
            <a:endParaRPr lang="es-E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Administrar el entorno de la consola</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3867511"/>
          </a:xfrm>
        </p:spPr>
        <p:txBody>
          <a:bodyPr>
            <a:normAutofit/>
          </a:bodyPr>
          <a:lstStyle/>
          <a:p>
            <a:r>
              <a:rPr lang="es-ES" sz="1600" b="1" dirty="0"/>
              <a:t>SHELL</a:t>
            </a:r>
            <a:r>
              <a:rPr lang="es-ES" sz="1600" dirty="0"/>
              <a:t>: Ruta completa de la Shell en curso.</a:t>
            </a:r>
            <a:endParaRPr lang="es-ES" sz="1600" dirty="0"/>
          </a:p>
          <a:p>
            <a:r>
              <a:rPr lang="es-ES" sz="1600" b="1" dirty="0"/>
              <a:t>USER</a:t>
            </a:r>
            <a:r>
              <a:rPr lang="es-ES" sz="1600" dirty="0"/>
              <a:t>: Nombre del usuario en curso.</a:t>
            </a:r>
            <a:endParaRPr lang="es-ES" sz="1600" dirty="0"/>
          </a:p>
          <a:p>
            <a:r>
              <a:rPr lang="es-ES" sz="1600" b="1" dirty="0"/>
              <a:t>LOGNAME</a:t>
            </a:r>
            <a:r>
              <a:rPr lang="es-ES" sz="1600" dirty="0"/>
              <a:t>: Nombre del </a:t>
            </a:r>
            <a:r>
              <a:rPr lang="es-ES" sz="1600" dirty="0" err="1"/>
              <a:t>login</a:t>
            </a:r>
            <a:r>
              <a:rPr lang="es-ES" sz="1600" dirty="0"/>
              <a:t> utilizado durante el inicio de sesión.</a:t>
            </a:r>
            <a:endParaRPr lang="es-ES" sz="1600" dirty="0"/>
          </a:p>
          <a:p>
            <a:r>
              <a:rPr lang="es-ES" sz="1600" b="1" dirty="0"/>
              <a:t>HISTFILE</a:t>
            </a:r>
            <a:r>
              <a:rPr lang="es-ES" sz="1600" dirty="0"/>
              <a:t>: Nombre del archivo del historial, en general $HOME/.</a:t>
            </a:r>
            <a:r>
              <a:rPr lang="es-ES" sz="1600" dirty="0" err="1"/>
              <a:t>sh_history</a:t>
            </a:r>
            <a:endParaRPr lang="es-ES" sz="1600" dirty="0"/>
          </a:p>
          <a:p>
            <a:r>
              <a:rPr lang="es-ES" sz="1600" b="1" dirty="0"/>
              <a:t>HISTSIZE</a:t>
            </a:r>
            <a:r>
              <a:rPr lang="es-ES" sz="1600" dirty="0"/>
              <a:t>: Tamaño en número de líneas del historial.</a:t>
            </a:r>
            <a:endParaRPr lang="es-ES" sz="1600" dirty="0"/>
          </a:p>
          <a:p>
            <a:r>
              <a:rPr lang="es-ES" sz="1600" b="1" dirty="0"/>
              <a:t>OLDPWD</a:t>
            </a:r>
            <a:r>
              <a:rPr lang="es-ES" sz="1600" dirty="0"/>
              <a:t>: Ruta de acceso del directorio al que se ha accedido anteriormente.</a:t>
            </a:r>
            <a:endParaRPr lang="es-ES" sz="1600" dirty="0"/>
          </a:p>
          <a:p>
            <a:r>
              <a:rPr lang="es-ES" sz="1600" b="1" dirty="0"/>
              <a:t>PWD</a:t>
            </a:r>
            <a:r>
              <a:rPr lang="es-ES" sz="1600" dirty="0"/>
              <a:t>: Ruta actual.</a:t>
            </a:r>
            <a:endParaRPr lang="es-ES" sz="1600" dirty="0"/>
          </a:p>
          <a:p>
            <a:r>
              <a:rPr lang="es-ES" sz="1600" b="1" dirty="0"/>
              <a:t>RANDOM</a:t>
            </a:r>
            <a:r>
              <a:rPr lang="es-ES" sz="1600" dirty="0"/>
              <a:t>: Genera y contiene un número aleatorio entre 0 y 32767</a:t>
            </a:r>
            <a:endParaRPr lang="es-E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Administrar el entorno de la consola</a:t>
            </a:r>
            <a:endParaRPr lang="es-ES" altLang="es-ES" sz="4400" dirty="0">
              <a:solidFill>
                <a:srgbClr val="333333"/>
              </a:solidFill>
              <a:latin typeface="Helvetica" panose="020B0604020202020204" pitchFamily="34" charset="0"/>
            </a:endParaRPr>
          </a:p>
        </p:txBody>
      </p:sp>
      <p:sp>
        <p:nvSpPr>
          <p:cNvPr id="3" name="Rectangle 1"/>
          <p:cNvSpPr>
            <a:spLocks noGrp="1" noChangeArrowheads="1"/>
          </p:cNvSpPr>
          <p:nvPr>
            <p:ph idx="1"/>
          </p:nvPr>
        </p:nvSpPr>
        <p:spPr bwMode="auto">
          <a:xfrm>
            <a:off x="916675" y="1937178"/>
            <a:ext cx="10561093" cy="40661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nSpc>
                <a:spcPct val="100000"/>
              </a:lnSpc>
              <a:buClrTx/>
              <a:buSzTx/>
              <a:buNone/>
            </a:pPr>
            <a:r>
              <a:rPr lang="es-ES" altLang="es-ES" sz="1600" b="1" dirty="0">
                <a:solidFill>
                  <a:srgbClr val="333333"/>
                </a:solidFill>
                <a:latin typeface="+mn-lt"/>
              </a:rPr>
              <a:t>Sobre la variable PS1</a:t>
            </a:r>
            <a:endParaRPr lang="es-ES" altLang="es-ES" sz="1600" b="1" dirty="0">
              <a:solidFill>
                <a:srgbClr val="333333"/>
              </a:solidFill>
              <a:latin typeface="+mn-lt"/>
            </a:endParaRPr>
          </a:p>
          <a:p>
            <a:pPr marL="0" lvl="0" indent="0">
              <a:lnSpc>
                <a:spcPct val="100000"/>
              </a:lnSpc>
              <a:buClrTx/>
              <a:buSzTx/>
              <a:buNone/>
            </a:pPr>
            <a:r>
              <a:rPr lang="es-ES" altLang="es-ES" sz="1600" dirty="0">
                <a:solidFill>
                  <a:srgbClr val="333333"/>
                </a:solidFill>
                <a:latin typeface="+mn-lt"/>
              </a:rPr>
              <a:t>La variable </a:t>
            </a:r>
            <a:r>
              <a:rPr lang="es-ES" altLang="es-ES" sz="1600" i="1" dirty="0">
                <a:solidFill>
                  <a:srgbClr val="333333"/>
                </a:solidFill>
                <a:latin typeface="+mn-lt"/>
              </a:rPr>
              <a:t>PS1</a:t>
            </a:r>
            <a:r>
              <a:rPr lang="es-ES" altLang="es-ES" sz="1600" dirty="0">
                <a:solidFill>
                  <a:srgbClr val="333333"/>
                </a:solidFill>
                <a:latin typeface="+mn-lt"/>
              </a:rPr>
              <a:t> define el aspecto del </a:t>
            </a:r>
            <a:r>
              <a:rPr lang="es-ES" altLang="es-ES" sz="1600" i="1" dirty="0" err="1">
                <a:solidFill>
                  <a:srgbClr val="333333"/>
                </a:solidFill>
                <a:latin typeface="+mn-lt"/>
              </a:rPr>
              <a:t>prompt</a:t>
            </a:r>
            <a:r>
              <a:rPr lang="es-ES" altLang="es-ES" sz="1600" dirty="0">
                <a:solidFill>
                  <a:srgbClr val="333333"/>
                </a:solidFill>
                <a:latin typeface="+mn-lt"/>
              </a:rPr>
              <a:t> por ejemplo, para un </a:t>
            </a:r>
            <a:r>
              <a:rPr lang="es-ES" altLang="es-ES" sz="1600" i="1" dirty="0" err="1">
                <a:solidFill>
                  <a:srgbClr val="333333"/>
                </a:solidFill>
                <a:latin typeface="+mn-lt"/>
              </a:rPr>
              <a:t>prompt</a:t>
            </a:r>
            <a:r>
              <a:rPr lang="es-ES" altLang="es-ES" sz="1600" dirty="0">
                <a:solidFill>
                  <a:srgbClr val="333333"/>
                </a:solidFill>
                <a:latin typeface="+mn-lt"/>
              </a:rPr>
              <a:t> estándar el aspecto sería el siguiente:</a:t>
            </a:r>
            <a:endParaRPr lang="es-ES" altLang="es-ES" sz="1600" dirty="0">
              <a:solidFill>
                <a:srgbClr val="333333"/>
              </a:solidFill>
              <a:latin typeface="+mn-lt"/>
              <a:cs typeface="Courier New" panose="02070309020205020404" pitchFamily="49" charset="0"/>
            </a:endParaRPr>
          </a:p>
          <a:p>
            <a:pPr marL="0" lvl="0" indent="0" algn="ctr">
              <a:lnSpc>
                <a:spcPct val="100000"/>
              </a:lnSpc>
              <a:buClrTx/>
              <a:buSzTx/>
              <a:buNone/>
            </a:pPr>
            <a:r>
              <a:rPr lang="es-ES" altLang="es-ES" sz="1600" b="1" dirty="0" err="1">
                <a:solidFill>
                  <a:srgbClr val="333333"/>
                </a:solidFill>
                <a:latin typeface="+mn-lt"/>
                <a:cs typeface="Courier New" panose="02070309020205020404" pitchFamily="49" charset="0"/>
              </a:rPr>
              <a:t>sonia@Master</a:t>
            </a:r>
            <a:r>
              <a:rPr lang="es-ES" altLang="es-ES" sz="1600" b="1" dirty="0">
                <a:solidFill>
                  <a:srgbClr val="333333"/>
                </a:solidFill>
                <a:latin typeface="+mn-lt"/>
                <a:cs typeface="Courier New" panose="02070309020205020404" pitchFamily="49" charset="0"/>
              </a:rPr>
              <a:t>~ $</a:t>
            </a:r>
            <a:endParaRPr lang="es-ES" altLang="es-ES" sz="1600" b="1" dirty="0">
              <a:latin typeface="+mn-lt"/>
            </a:endParaRPr>
          </a:p>
          <a:p>
            <a:pPr marL="0" lvl="0" indent="0">
              <a:lnSpc>
                <a:spcPct val="100000"/>
              </a:lnSpc>
              <a:buClrTx/>
              <a:buSzTx/>
              <a:buNone/>
            </a:pPr>
            <a:r>
              <a:rPr lang="es-ES" altLang="es-ES" sz="1600" dirty="0">
                <a:solidFill>
                  <a:srgbClr val="333333"/>
                </a:solidFill>
                <a:latin typeface="+mn-lt"/>
              </a:rPr>
              <a:t>Lo que indica que el usuario es </a:t>
            </a:r>
            <a:r>
              <a:rPr lang="es-ES" altLang="es-ES" sz="1600" i="1" dirty="0" err="1">
                <a:solidFill>
                  <a:srgbClr val="333333"/>
                </a:solidFill>
                <a:latin typeface="+mn-lt"/>
              </a:rPr>
              <a:t>sonia</a:t>
            </a:r>
            <a:r>
              <a:rPr lang="es-ES" altLang="es-ES" sz="1600" dirty="0">
                <a:solidFill>
                  <a:srgbClr val="333333"/>
                </a:solidFill>
                <a:latin typeface="+mn-lt"/>
              </a:rPr>
              <a:t>, el equipo se llama </a:t>
            </a:r>
            <a:r>
              <a:rPr lang="es-ES" altLang="es-ES" sz="1600" i="1" dirty="0">
                <a:solidFill>
                  <a:srgbClr val="333333"/>
                </a:solidFill>
                <a:latin typeface="+mn-lt"/>
              </a:rPr>
              <a:t>Master</a:t>
            </a:r>
            <a:r>
              <a:rPr lang="es-ES" altLang="es-ES" sz="1600" dirty="0">
                <a:solidFill>
                  <a:srgbClr val="333333"/>
                </a:solidFill>
                <a:latin typeface="+mn-lt"/>
              </a:rPr>
              <a:t>, nuestro directorio de trabajo actual es nuestro home (</a:t>
            </a:r>
            <a:r>
              <a:rPr lang="es-ES" altLang="es-ES" sz="1600" b="1" dirty="0">
                <a:solidFill>
                  <a:srgbClr val="333333"/>
                </a:solidFill>
                <a:latin typeface="+mn-lt"/>
              </a:rPr>
              <a:t>~</a:t>
            </a:r>
            <a:r>
              <a:rPr lang="es-ES" altLang="es-ES" sz="1600" dirty="0">
                <a:solidFill>
                  <a:srgbClr val="333333"/>
                </a:solidFill>
                <a:latin typeface="+mn-lt"/>
              </a:rPr>
              <a:t>) y el </a:t>
            </a:r>
            <a:r>
              <a:rPr lang="es-ES" altLang="es-ES" sz="1600" dirty="0" err="1">
                <a:solidFill>
                  <a:srgbClr val="333333"/>
                </a:solidFill>
                <a:latin typeface="+mn-lt"/>
              </a:rPr>
              <a:t>caracter</a:t>
            </a:r>
            <a:r>
              <a:rPr lang="es-ES" altLang="es-ES" sz="1600" dirty="0">
                <a:solidFill>
                  <a:srgbClr val="333333"/>
                </a:solidFill>
                <a:latin typeface="+mn-lt"/>
              </a:rPr>
              <a:t> </a:t>
            </a:r>
            <a:r>
              <a:rPr lang="es-ES" altLang="es-ES" sz="1600" b="1" dirty="0">
                <a:solidFill>
                  <a:srgbClr val="333333"/>
                </a:solidFill>
                <a:latin typeface="+mn-lt"/>
              </a:rPr>
              <a:t>$</a:t>
            </a:r>
            <a:r>
              <a:rPr lang="es-ES" altLang="es-ES" sz="1600" dirty="0">
                <a:solidFill>
                  <a:srgbClr val="333333"/>
                </a:solidFill>
                <a:latin typeface="+mn-lt"/>
              </a:rPr>
              <a:t> nos identifica como usuario estándar (</a:t>
            </a:r>
            <a:r>
              <a:rPr lang="es-ES" altLang="es-ES" sz="1600" b="1" dirty="0">
                <a:solidFill>
                  <a:srgbClr val="333333"/>
                </a:solidFill>
                <a:latin typeface="+mn-lt"/>
              </a:rPr>
              <a:t>#</a:t>
            </a:r>
            <a:r>
              <a:rPr lang="es-ES" altLang="es-ES" sz="1600" dirty="0">
                <a:solidFill>
                  <a:srgbClr val="333333"/>
                </a:solidFill>
                <a:latin typeface="+mn-lt"/>
              </a:rPr>
              <a:t> para </a:t>
            </a:r>
            <a:r>
              <a:rPr lang="es-ES" altLang="es-ES" sz="1600" i="1" dirty="0" err="1">
                <a:solidFill>
                  <a:srgbClr val="333333"/>
                </a:solidFill>
                <a:latin typeface="+mn-lt"/>
              </a:rPr>
              <a:t>root</a:t>
            </a:r>
            <a:r>
              <a:rPr lang="es-ES" altLang="es-ES" sz="1600" dirty="0">
                <a:solidFill>
                  <a:srgbClr val="333333"/>
                </a:solidFill>
                <a:latin typeface="+mn-lt"/>
              </a:rPr>
              <a:t>). </a:t>
            </a:r>
            <a:endParaRPr lang="es-ES" altLang="es-ES" sz="1600" dirty="0">
              <a:solidFill>
                <a:srgbClr val="333333"/>
              </a:solidFill>
              <a:latin typeface="+mn-lt"/>
            </a:endParaRPr>
          </a:p>
          <a:p>
            <a:pPr marL="0" lvl="0" indent="0">
              <a:lnSpc>
                <a:spcPct val="100000"/>
              </a:lnSpc>
              <a:buClrTx/>
              <a:buSzTx/>
              <a:buNone/>
            </a:pPr>
            <a:r>
              <a:rPr lang="es-ES" altLang="es-ES" sz="1600" dirty="0">
                <a:solidFill>
                  <a:srgbClr val="333333"/>
                </a:solidFill>
                <a:latin typeface="+mn-lt"/>
              </a:rPr>
              <a:t>En este caso la variable </a:t>
            </a:r>
            <a:r>
              <a:rPr lang="es-ES" altLang="es-ES" sz="1600" i="1" dirty="0">
                <a:solidFill>
                  <a:srgbClr val="333333"/>
                </a:solidFill>
                <a:latin typeface="+mn-lt"/>
              </a:rPr>
              <a:t>PS1</a:t>
            </a:r>
            <a:r>
              <a:rPr lang="es-ES" altLang="es-ES" sz="1600" dirty="0">
                <a:solidFill>
                  <a:srgbClr val="333333"/>
                </a:solidFill>
                <a:latin typeface="+mn-lt"/>
              </a:rPr>
              <a:t> tendría el siguiente valor:</a:t>
            </a:r>
            <a:endParaRPr lang="es-ES" altLang="es-ES" sz="1600" dirty="0">
              <a:solidFill>
                <a:srgbClr val="333333"/>
              </a:solidFill>
              <a:latin typeface="+mn-lt"/>
              <a:cs typeface="Courier New" panose="02070309020205020404" pitchFamily="49" charset="0"/>
            </a:endParaRPr>
          </a:p>
          <a:p>
            <a:pPr marL="0" lvl="0" indent="0" algn="ctr">
              <a:lnSpc>
                <a:spcPct val="100000"/>
              </a:lnSpc>
              <a:buClrTx/>
              <a:buSzTx/>
              <a:buNone/>
            </a:pPr>
            <a:r>
              <a:rPr lang="es-ES" altLang="es-ES" sz="1600" b="1" dirty="0">
                <a:solidFill>
                  <a:srgbClr val="333333"/>
                </a:solidFill>
                <a:latin typeface="+mn-lt"/>
                <a:cs typeface="Courier New" panose="02070309020205020404" pitchFamily="49" charset="0"/>
              </a:rPr>
              <a:t>PS1='\u@\h \W \$ '</a:t>
            </a:r>
            <a:endParaRPr lang="es-ES" altLang="es-ES" sz="1600" b="1" dirty="0">
              <a:latin typeface="+mn-lt"/>
            </a:endParaRPr>
          </a:p>
          <a:p>
            <a:pPr marL="0" lvl="0" indent="0">
              <a:lnSpc>
                <a:spcPct val="100000"/>
              </a:lnSpc>
              <a:buClrTx/>
              <a:buSzTx/>
              <a:buNone/>
            </a:pPr>
            <a:r>
              <a:rPr lang="es-ES" altLang="es-ES" sz="1600" dirty="0">
                <a:solidFill>
                  <a:srgbClr val="333333"/>
                </a:solidFill>
                <a:latin typeface="+mn-lt"/>
              </a:rPr>
              <a:t>Disponemos de las siguientes variables del sistema para modificar esto:</a:t>
            </a:r>
            <a:endParaRPr lang="es-ES" altLang="es-ES" sz="1600" dirty="0">
              <a:latin typeface="+mn-lt"/>
            </a:endParaRPr>
          </a:p>
          <a:p>
            <a:pPr>
              <a:lnSpc>
                <a:spcPct val="100000"/>
              </a:lnSpc>
              <a:buClrTx/>
              <a:buSzTx/>
              <a:buFont typeface="Wingdings" panose="05000000000000000000" pitchFamily="2" charset="2"/>
              <a:buChar char="§"/>
            </a:pPr>
            <a:r>
              <a:rPr lang="es-ES" altLang="es-ES" sz="1600" dirty="0">
                <a:solidFill>
                  <a:srgbClr val="333333"/>
                </a:solidFill>
                <a:latin typeface="+mn-lt"/>
              </a:rPr>
              <a:t>Indicar la fecha del sistema: </a:t>
            </a:r>
            <a:r>
              <a:rPr lang="es-ES" altLang="es-ES" sz="1600" b="1" dirty="0">
                <a:solidFill>
                  <a:srgbClr val="333333"/>
                </a:solidFill>
                <a:latin typeface="+mn-lt"/>
              </a:rPr>
              <a:t>\d</a:t>
            </a:r>
            <a:endParaRPr lang="es-ES" altLang="es-ES" sz="1600" dirty="0">
              <a:solidFill>
                <a:srgbClr val="333333"/>
              </a:solidFill>
              <a:latin typeface="+mn-lt"/>
            </a:endParaRPr>
          </a:p>
          <a:p>
            <a:pPr>
              <a:lnSpc>
                <a:spcPct val="100000"/>
              </a:lnSpc>
              <a:buClrTx/>
              <a:buSzTx/>
              <a:buFont typeface="Wingdings" panose="05000000000000000000" pitchFamily="2" charset="2"/>
              <a:buChar char="§"/>
            </a:pPr>
            <a:r>
              <a:rPr lang="es-ES" altLang="es-ES" sz="1600" dirty="0">
                <a:solidFill>
                  <a:srgbClr val="333333"/>
                </a:solidFill>
                <a:latin typeface="+mn-lt"/>
              </a:rPr>
              <a:t>El nombre del la máquina: </a:t>
            </a:r>
            <a:r>
              <a:rPr lang="es-ES" altLang="es-ES" sz="1600" b="1" dirty="0">
                <a:solidFill>
                  <a:srgbClr val="333333"/>
                </a:solidFill>
                <a:latin typeface="+mn-lt"/>
              </a:rPr>
              <a:t>\h</a:t>
            </a:r>
            <a:endParaRPr lang="es-ES" altLang="es-ES" sz="1600" dirty="0">
              <a:solidFill>
                <a:srgbClr val="333333"/>
              </a:solidFill>
              <a:latin typeface="+mn-lt"/>
            </a:endParaRPr>
          </a:p>
          <a:p>
            <a:pPr>
              <a:lnSpc>
                <a:spcPct val="100000"/>
              </a:lnSpc>
              <a:buClrTx/>
              <a:buSzTx/>
              <a:buFont typeface="Wingdings" panose="05000000000000000000" pitchFamily="2" charset="2"/>
              <a:buChar char="§"/>
            </a:pPr>
            <a:r>
              <a:rPr lang="es-ES" altLang="es-ES" sz="1600" dirty="0">
                <a:solidFill>
                  <a:srgbClr val="333333"/>
                </a:solidFill>
                <a:latin typeface="+mn-lt"/>
              </a:rPr>
              <a:t>El </a:t>
            </a:r>
            <a:r>
              <a:rPr lang="es-ES" altLang="es-ES" sz="1600" i="1" dirty="0" err="1">
                <a:solidFill>
                  <a:srgbClr val="333333"/>
                </a:solidFill>
                <a:latin typeface="+mn-lt"/>
              </a:rPr>
              <a:t>shell</a:t>
            </a:r>
            <a:r>
              <a:rPr lang="es-ES" altLang="es-ES" sz="1600" dirty="0">
                <a:solidFill>
                  <a:srgbClr val="333333"/>
                </a:solidFill>
                <a:latin typeface="+mn-lt"/>
              </a:rPr>
              <a:t> que utilizamos:</a:t>
            </a:r>
            <a:r>
              <a:rPr lang="es-ES" altLang="es-ES" sz="1600" b="1" dirty="0">
                <a:solidFill>
                  <a:srgbClr val="333333"/>
                </a:solidFill>
                <a:latin typeface="+mn-lt"/>
              </a:rPr>
              <a:t> \s</a:t>
            </a:r>
            <a:endParaRPr lang="es-ES" altLang="es-ES" sz="1600" dirty="0">
              <a:solidFill>
                <a:srgbClr val="333333"/>
              </a:solidFill>
              <a:latin typeface="+mn-lt"/>
            </a:endParaRPr>
          </a:p>
          <a:p>
            <a:pPr>
              <a:lnSpc>
                <a:spcPct val="100000"/>
              </a:lnSpc>
              <a:buClrTx/>
              <a:buSzTx/>
              <a:buFont typeface="Wingdings" panose="05000000000000000000" pitchFamily="2" charset="2"/>
              <a:buChar char="§"/>
            </a:pPr>
            <a:r>
              <a:rPr lang="es-ES" altLang="es-ES" sz="1600" dirty="0">
                <a:solidFill>
                  <a:srgbClr val="333333"/>
                </a:solidFill>
                <a:latin typeface="+mn-lt"/>
              </a:rPr>
              <a:t>El nombre del usuario activo:</a:t>
            </a:r>
            <a:r>
              <a:rPr lang="es-ES" altLang="es-ES" sz="1600" b="1" dirty="0">
                <a:solidFill>
                  <a:srgbClr val="333333"/>
                </a:solidFill>
                <a:latin typeface="+mn-lt"/>
              </a:rPr>
              <a:t> \u</a:t>
            </a:r>
            <a:endParaRPr lang="es-ES" altLang="es-ES" sz="1600" dirty="0">
              <a:solidFill>
                <a:srgbClr val="333333"/>
              </a:solidFill>
              <a:latin typeface="+mn-lt"/>
            </a:endParaRPr>
          </a:p>
          <a:p>
            <a:pPr>
              <a:lnSpc>
                <a:spcPct val="100000"/>
              </a:lnSpc>
              <a:buClrTx/>
              <a:buSzTx/>
              <a:buFont typeface="Wingdings" panose="05000000000000000000" pitchFamily="2" charset="2"/>
              <a:buChar char="§"/>
            </a:pPr>
            <a:r>
              <a:rPr lang="es-ES" altLang="es-ES" sz="1600" dirty="0">
                <a:solidFill>
                  <a:srgbClr val="333333"/>
                </a:solidFill>
                <a:latin typeface="+mn-lt"/>
              </a:rPr>
              <a:t>La versión del </a:t>
            </a:r>
            <a:r>
              <a:rPr lang="es-ES" altLang="es-ES" sz="1600" dirty="0" err="1">
                <a:solidFill>
                  <a:srgbClr val="333333"/>
                </a:solidFill>
                <a:latin typeface="+mn-lt"/>
              </a:rPr>
              <a:t>bash</a:t>
            </a:r>
            <a:r>
              <a:rPr lang="es-ES" altLang="es-ES" sz="1600" dirty="0">
                <a:solidFill>
                  <a:srgbClr val="333333"/>
                </a:solidFill>
                <a:latin typeface="+mn-lt"/>
              </a:rPr>
              <a:t>: </a:t>
            </a:r>
            <a:r>
              <a:rPr lang="es-ES" altLang="es-ES" sz="1600" b="1" dirty="0">
                <a:solidFill>
                  <a:srgbClr val="333333"/>
                </a:solidFill>
                <a:latin typeface="+mn-lt"/>
              </a:rPr>
              <a:t>\v</a:t>
            </a:r>
            <a:endParaRPr lang="es-ES" altLang="es-ES" sz="1600" dirty="0">
              <a:solidFill>
                <a:srgbClr val="333333"/>
              </a:solidFill>
              <a:latin typeface="+mn-lt"/>
            </a:endParaRPr>
          </a:p>
          <a:p>
            <a:pPr>
              <a:lnSpc>
                <a:spcPct val="100000"/>
              </a:lnSpc>
              <a:buClrTx/>
              <a:buSzTx/>
              <a:buFont typeface="Wingdings" panose="05000000000000000000" pitchFamily="2" charset="2"/>
              <a:buChar char="§"/>
            </a:pPr>
            <a:r>
              <a:rPr lang="es-ES" altLang="es-ES" sz="1600" dirty="0">
                <a:solidFill>
                  <a:srgbClr val="333333"/>
                </a:solidFill>
                <a:latin typeface="+mn-lt"/>
              </a:rPr>
              <a:t>El directorio de trabajo: </a:t>
            </a:r>
            <a:r>
              <a:rPr lang="es-ES" altLang="es-ES" sz="1600" b="1" dirty="0">
                <a:solidFill>
                  <a:srgbClr val="333333"/>
                </a:solidFill>
                <a:latin typeface="+mn-lt"/>
              </a:rPr>
              <a:t>\W</a:t>
            </a:r>
            <a:endParaRPr lang="es-ES" altLang="es-ES" sz="1600" dirty="0">
              <a:solidFill>
                <a:srgbClr val="333333"/>
              </a:solidFill>
              <a:latin typeface="+mn-lt"/>
            </a:endParaRPr>
          </a:p>
          <a:p>
            <a:pPr>
              <a:lnSpc>
                <a:spcPct val="100000"/>
              </a:lnSpc>
              <a:buClrTx/>
              <a:buSzTx/>
              <a:buFont typeface="Wingdings" panose="05000000000000000000" pitchFamily="2" charset="2"/>
              <a:buChar char="§"/>
            </a:pPr>
            <a:r>
              <a:rPr lang="es-ES" altLang="es-ES" sz="1600" dirty="0">
                <a:solidFill>
                  <a:srgbClr val="333333"/>
                </a:solidFill>
                <a:latin typeface="+mn-lt"/>
              </a:rPr>
              <a:t>El número de histórico del comando ejecutado: </a:t>
            </a:r>
            <a:r>
              <a:rPr lang="es-ES" altLang="es-ES" sz="1600" b="1" dirty="0">
                <a:solidFill>
                  <a:srgbClr val="333333"/>
                </a:solidFill>
                <a:latin typeface="+mn-lt"/>
              </a:rPr>
              <a:t>\!</a:t>
            </a:r>
            <a:endParaRPr lang="es-ES" altLang="es-ES" sz="1600" dirty="0">
              <a:solidFill>
                <a:srgbClr val="333333"/>
              </a:solidFill>
              <a:latin typeface="+mn-lt"/>
            </a:endParaRPr>
          </a:p>
          <a:p>
            <a:pPr>
              <a:lnSpc>
                <a:spcPct val="100000"/>
              </a:lnSpc>
              <a:buClrTx/>
              <a:buSzTx/>
              <a:buFont typeface="Wingdings" panose="05000000000000000000" pitchFamily="2" charset="2"/>
              <a:buChar char="§"/>
            </a:pPr>
            <a:r>
              <a:rPr lang="es-ES" altLang="es-ES" sz="1600" dirty="0">
                <a:solidFill>
                  <a:srgbClr val="333333"/>
                </a:solidFill>
                <a:latin typeface="+mn-lt"/>
              </a:rPr>
              <a:t>Indicar $ para usuario estándar y # para </a:t>
            </a:r>
            <a:r>
              <a:rPr lang="es-ES" altLang="es-ES" sz="1600" dirty="0" err="1">
                <a:solidFill>
                  <a:srgbClr val="333333"/>
                </a:solidFill>
                <a:latin typeface="+mn-lt"/>
              </a:rPr>
              <a:t>root</a:t>
            </a:r>
            <a:r>
              <a:rPr lang="es-ES" altLang="es-ES" sz="1600" dirty="0">
                <a:solidFill>
                  <a:srgbClr val="333333"/>
                </a:solidFill>
                <a:latin typeface="+mn-lt"/>
              </a:rPr>
              <a:t>: \$</a:t>
            </a:r>
            <a:endParaRPr lang="es-ES" altLang="es-ES" sz="1600" dirty="0">
              <a:solidFill>
                <a:srgbClr val="333333"/>
              </a:solidFill>
              <a:latin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Administrar el entorno de la consola</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3867511"/>
          </a:xfrm>
        </p:spPr>
        <p:txBody>
          <a:bodyPr>
            <a:normAutofit fontScale="92500" lnSpcReduction="10000"/>
          </a:bodyPr>
          <a:lstStyle/>
          <a:p>
            <a:r>
              <a:rPr lang="es-ES" sz="1600" b="1" dirty="0"/>
              <a:t>Variables especiales: </a:t>
            </a:r>
            <a:r>
              <a:rPr lang="es-ES" sz="1600" dirty="0"/>
              <a:t>Se trata de variables accesibles únicamente para lectura y cuyo contenido suele ser contextual.</a:t>
            </a:r>
            <a:endParaRPr lang="es-ES" sz="1600" dirty="0"/>
          </a:p>
          <a:p>
            <a:pPr>
              <a:spcBef>
                <a:spcPts val="600"/>
              </a:spcBef>
            </a:pPr>
            <a:r>
              <a:rPr lang="es-ES" sz="1600" dirty="0"/>
              <a:t>$?: Código de retorno del último comando ejecutado.</a:t>
            </a:r>
            <a:endParaRPr lang="es-ES" sz="1600" dirty="0"/>
          </a:p>
          <a:p>
            <a:pPr>
              <a:spcBef>
                <a:spcPts val="600"/>
              </a:spcBef>
            </a:pPr>
            <a:r>
              <a:rPr lang="es-ES" sz="1600" dirty="0"/>
              <a:t>$$: PID del Shell activo</a:t>
            </a:r>
            <a:endParaRPr lang="es-ES" sz="1600" dirty="0"/>
          </a:p>
          <a:p>
            <a:pPr>
              <a:spcBef>
                <a:spcPts val="600"/>
              </a:spcBef>
            </a:pPr>
            <a:r>
              <a:rPr lang="es-ES" sz="1600" dirty="0"/>
              <a:t>$!: PID del último proceso iniciado en segundo plano</a:t>
            </a:r>
            <a:endParaRPr lang="es-ES" sz="1600" dirty="0"/>
          </a:p>
          <a:p>
            <a:pPr>
              <a:spcBef>
                <a:spcPts val="600"/>
              </a:spcBef>
            </a:pPr>
            <a:r>
              <a:rPr lang="es-ES" sz="1600" dirty="0"/>
              <a:t>$-: Las opciones del Shell.</a:t>
            </a:r>
            <a:endParaRPr lang="es-ES" sz="1600" dirty="0"/>
          </a:p>
          <a:p>
            <a:r>
              <a:rPr lang="es-ES" sz="1600" b="1" dirty="0"/>
              <a:t>Longitud de una cadena: </a:t>
            </a:r>
            <a:r>
              <a:rPr lang="es-ES" sz="1600" dirty="0"/>
              <a:t>Es posible obtener la longitud de una cadena con el carácter #</a:t>
            </a:r>
            <a:endParaRPr lang="es-ES" sz="1600" dirty="0"/>
          </a:p>
          <a:p>
            <a:r>
              <a:rPr lang="es-ES" sz="1600" dirty="0"/>
              <a:t>$ a=Julio</a:t>
            </a:r>
            <a:endParaRPr lang="es-ES" sz="1600" dirty="0"/>
          </a:p>
          <a:p>
            <a:r>
              <a:rPr lang="es-ES" sz="1600" dirty="0"/>
              <a:t>$ echo “Longitud de $a: ${#a}”</a:t>
            </a:r>
            <a:endParaRPr lang="es-ES" sz="1600" dirty="0"/>
          </a:p>
          <a:p>
            <a:r>
              <a:rPr lang="es-ES" sz="1600" dirty="0"/>
              <a:t>Longitud de Julio: 5</a:t>
            </a:r>
            <a:endParaRPr lang="es-E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Administrar el entorno de la consola</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1760415"/>
          </a:xfrm>
        </p:spPr>
        <p:txBody>
          <a:bodyPr>
            <a:normAutofit fontScale="85000" lnSpcReduction="10000"/>
          </a:bodyPr>
          <a:lstStyle/>
          <a:p>
            <a:r>
              <a:rPr lang="es-ES" sz="2300" b="1" dirty="0"/>
              <a:t>Tablas y campos: </a:t>
            </a:r>
            <a:r>
              <a:rPr lang="es-ES" sz="2300" dirty="0"/>
              <a:t>Linux cuenta con dos medios para declarar una tabla: la utilización de los corchetes [] y la creación global. El primer elemento es 0: el último, 1023. Para acceder al contenido de la tabla, hay que poner la variable y el elemento entre llaves {}.</a:t>
            </a:r>
            <a:endParaRPr lang="es-ES" sz="2300" dirty="0"/>
          </a:p>
          <a:p>
            <a:r>
              <a:rPr lang="es-ES" sz="2300" dirty="0"/>
              <a:t>Para listar todo el contenido *</a:t>
            </a:r>
            <a:endParaRPr lang="es-ES" sz="2300" dirty="0"/>
          </a:p>
          <a:p>
            <a:endParaRPr lang="es-ES" sz="1600" dirty="0"/>
          </a:p>
        </p:txBody>
      </p:sp>
      <p:pic>
        <p:nvPicPr>
          <p:cNvPr id="3" name="Imagen 2"/>
          <p:cNvPicPr>
            <a:picLocks noChangeAspect="1"/>
          </p:cNvPicPr>
          <p:nvPr/>
        </p:nvPicPr>
        <p:blipFill>
          <a:blip r:embed="rId1"/>
          <a:stretch>
            <a:fillRect/>
          </a:stretch>
        </p:blipFill>
        <p:spPr>
          <a:xfrm>
            <a:off x="3676449" y="3657600"/>
            <a:ext cx="4839102" cy="8943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Administrar el entorno de la consola</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1760415"/>
          </a:xfrm>
        </p:spPr>
        <p:txBody>
          <a:bodyPr>
            <a:normAutofit/>
          </a:bodyPr>
          <a:lstStyle/>
          <a:p>
            <a:r>
              <a:rPr lang="es-ES" b="1" dirty="0"/>
              <a:t>Variables </a:t>
            </a:r>
            <a:r>
              <a:rPr lang="es-ES" b="1" dirty="0" err="1"/>
              <a:t>tipadas</a:t>
            </a:r>
            <a:r>
              <a:rPr lang="es-ES" b="1" dirty="0"/>
              <a:t>: </a:t>
            </a:r>
            <a:r>
              <a:rPr lang="es-ES" dirty="0"/>
              <a:t>Las variables pueden ser de tipo numérico entero (</a:t>
            </a:r>
            <a:r>
              <a:rPr lang="es-ES" dirty="0" err="1"/>
              <a:t>integer</a:t>
            </a:r>
            <a:r>
              <a:rPr lang="es-ES" dirty="0"/>
              <a:t>) con el comando </a:t>
            </a:r>
            <a:r>
              <a:rPr lang="es-ES" dirty="0" err="1"/>
              <a:t>typeset</a:t>
            </a:r>
            <a:r>
              <a:rPr lang="es-ES" dirty="0"/>
              <a:t> –i. La ventaja es que permite efectuar cálculos y comparaciones sin pasar por </a:t>
            </a:r>
            <a:r>
              <a:rPr lang="es-ES" b="1" dirty="0" err="1"/>
              <a:t>expr</a:t>
            </a:r>
            <a:r>
              <a:rPr lang="es-ES" dirty="0"/>
              <a:t>. El comando </a:t>
            </a:r>
            <a:r>
              <a:rPr lang="es-ES" dirty="0" err="1"/>
              <a:t>let</a:t>
            </a:r>
            <a:r>
              <a:rPr lang="es-ES" dirty="0"/>
              <a:t> o ((…)) permite cálculos sobre variables.</a:t>
            </a:r>
            <a:endParaRPr lang="es-ES" sz="2300" dirty="0"/>
          </a:p>
          <a:p>
            <a:endParaRPr lang="es-ES" sz="1600" dirty="0"/>
          </a:p>
        </p:txBody>
      </p:sp>
      <p:graphicFrame>
        <p:nvGraphicFramePr>
          <p:cNvPr id="5" name="Tabla 5"/>
          <p:cNvGraphicFramePr>
            <a:graphicFrameLocks noGrp="1"/>
          </p:cNvGraphicFramePr>
          <p:nvPr/>
        </p:nvGraphicFramePr>
        <p:xfrm>
          <a:off x="2103511" y="3190464"/>
          <a:ext cx="8128000" cy="2595880"/>
        </p:xfrm>
        <a:graphic>
          <a:graphicData uri="http://schemas.openxmlformats.org/drawingml/2006/table">
            <a:tbl>
              <a:tblPr firstRow="1" bandRow="1">
                <a:tableStyleId>{5C22544A-7EE6-4342-B048-85BDC9FD1C3A}</a:tableStyleId>
              </a:tblPr>
              <a:tblGrid>
                <a:gridCol w="1506331"/>
                <a:gridCol w="6621669"/>
              </a:tblGrid>
              <a:tr h="370840">
                <a:tc>
                  <a:txBody>
                    <a:bodyPr/>
                    <a:lstStyle/>
                    <a:p>
                      <a:r>
                        <a:rPr lang="es-ES" dirty="0"/>
                        <a:t>Operador</a:t>
                      </a:r>
                      <a:endParaRPr lang="es-ES" dirty="0"/>
                    </a:p>
                  </a:txBody>
                  <a:tcPr/>
                </a:tc>
                <a:tc>
                  <a:txBody>
                    <a:bodyPr/>
                    <a:lstStyle/>
                    <a:p>
                      <a:r>
                        <a:rPr lang="es-ES" dirty="0"/>
                        <a:t>Función</a:t>
                      </a:r>
                      <a:endParaRPr lang="es-ES" dirty="0"/>
                    </a:p>
                  </a:txBody>
                  <a:tcPr/>
                </a:tc>
              </a:tr>
              <a:tr h="370840">
                <a:tc>
                  <a:txBody>
                    <a:bodyPr/>
                    <a:lstStyle/>
                    <a:p>
                      <a:r>
                        <a:rPr lang="es-ES" dirty="0"/>
                        <a:t>+ - * /</a:t>
                      </a:r>
                      <a:endParaRPr lang="es-ES" dirty="0"/>
                    </a:p>
                  </a:txBody>
                  <a:tcPr/>
                </a:tc>
                <a:tc>
                  <a:txBody>
                    <a:bodyPr/>
                    <a:lstStyle/>
                    <a:p>
                      <a:r>
                        <a:rPr lang="es-ES" dirty="0"/>
                        <a:t>Operaciones sencillas</a:t>
                      </a:r>
                      <a:endParaRPr lang="es-ES" dirty="0"/>
                    </a:p>
                  </a:txBody>
                  <a:tcPr/>
                </a:tc>
              </a:tr>
              <a:tr h="370840">
                <a:tc>
                  <a:txBody>
                    <a:bodyPr/>
                    <a:lstStyle/>
                    <a:p>
                      <a:r>
                        <a:rPr lang="es-ES" dirty="0"/>
                        <a:t>%</a:t>
                      </a:r>
                      <a:endParaRPr lang="es-ES" dirty="0"/>
                    </a:p>
                  </a:txBody>
                  <a:tcPr/>
                </a:tc>
                <a:tc>
                  <a:txBody>
                    <a:bodyPr/>
                    <a:lstStyle/>
                    <a:p>
                      <a:r>
                        <a:rPr lang="es-ES" dirty="0"/>
                        <a:t>Módulo</a:t>
                      </a:r>
                      <a:endParaRPr lang="es-ES" dirty="0"/>
                    </a:p>
                  </a:txBody>
                  <a:tcPr/>
                </a:tc>
              </a:tr>
              <a:tr h="370840">
                <a:tc>
                  <a:txBody>
                    <a:bodyPr/>
                    <a:lstStyle/>
                    <a:p>
                      <a:r>
                        <a:rPr lang="es-ES" dirty="0"/>
                        <a:t>&lt;&gt; &lt;= &gt;=</a:t>
                      </a:r>
                      <a:endParaRPr lang="es-ES" dirty="0"/>
                    </a:p>
                  </a:txBody>
                  <a:tcPr/>
                </a:tc>
                <a:tc>
                  <a:txBody>
                    <a:bodyPr/>
                    <a:lstStyle/>
                    <a:p>
                      <a:r>
                        <a:rPr lang="es-ES" dirty="0"/>
                        <a:t>Comparaciones, 1 si es verdadero, 0 es falso</a:t>
                      </a:r>
                      <a:endParaRPr lang="es-ES" dirty="0"/>
                    </a:p>
                  </a:txBody>
                  <a:tcPr/>
                </a:tc>
              </a:tr>
              <a:tr h="370840">
                <a:tc>
                  <a:txBody>
                    <a:bodyPr/>
                    <a:lstStyle/>
                    <a:p>
                      <a:r>
                        <a:rPr lang="es-ES" dirty="0"/>
                        <a:t>== !=</a:t>
                      </a:r>
                      <a:endParaRPr lang="es-ES" dirty="0"/>
                    </a:p>
                  </a:txBody>
                  <a:tcPr/>
                </a:tc>
                <a:tc>
                  <a:txBody>
                    <a:bodyPr/>
                    <a:lstStyle/>
                    <a:p>
                      <a:r>
                        <a:rPr lang="es-ES" dirty="0"/>
                        <a:t>Igual o diferente</a:t>
                      </a:r>
                      <a:endParaRPr lang="es-ES" dirty="0"/>
                    </a:p>
                  </a:txBody>
                  <a:tcPr/>
                </a:tc>
              </a:tr>
              <a:tr h="370840">
                <a:tc>
                  <a:txBody>
                    <a:bodyPr/>
                    <a:lstStyle/>
                    <a:p>
                      <a:r>
                        <a:rPr lang="es-ES" dirty="0"/>
                        <a:t>&amp;&amp; ||</a:t>
                      </a:r>
                      <a:endParaRPr lang="es-ES" dirty="0"/>
                    </a:p>
                  </a:txBody>
                  <a:tcPr/>
                </a:tc>
                <a:tc>
                  <a:txBody>
                    <a:bodyPr/>
                    <a:lstStyle/>
                    <a:p>
                      <a:r>
                        <a:rPr lang="es-ES" dirty="0"/>
                        <a:t>Comparaciones AND o OR</a:t>
                      </a:r>
                      <a:endParaRPr lang="es-ES" dirty="0"/>
                    </a:p>
                  </a:txBody>
                  <a:tcPr/>
                </a:tc>
              </a:tr>
              <a:tr h="370840">
                <a:tc>
                  <a:txBody>
                    <a:bodyPr/>
                    <a:lstStyle/>
                    <a:p>
                      <a:r>
                        <a:rPr lang="es-ES" dirty="0"/>
                        <a:t>&amp; | ^</a:t>
                      </a:r>
                      <a:endParaRPr lang="es-ES" dirty="0"/>
                    </a:p>
                  </a:txBody>
                  <a:tcPr/>
                </a:tc>
                <a:tc>
                  <a:txBody>
                    <a:bodyPr/>
                    <a:lstStyle/>
                    <a:p>
                      <a:r>
                        <a:rPr lang="es-ES" dirty="0"/>
                        <a:t>Lógico binario AND OR XOR</a:t>
                      </a:r>
                      <a:endParaRPr lang="es-ES" dirty="0"/>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Configuración del </a:t>
            </a:r>
            <a:r>
              <a:rPr lang="es-ES" altLang="es-ES" sz="4400" dirty="0" err="1">
                <a:solidFill>
                  <a:srgbClr val="333333"/>
                </a:solidFill>
                <a:latin typeface="Helvetica" panose="020B0604020202020204" pitchFamily="34" charset="0"/>
              </a:rPr>
              <a:t>Bash</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1313848"/>
          </a:xfrm>
        </p:spPr>
        <p:txBody>
          <a:bodyPr>
            <a:normAutofit/>
          </a:bodyPr>
          <a:lstStyle/>
          <a:p>
            <a:r>
              <a:rPr lang="es-ES" sz="1600" b="1" dirty="0"/>
              <a:t>COMANDOS SET</a:t>
            </a:r>
            <a:endParaRPr lang="es-ES" sz="1600" b="1" dirty="0"/>
          </a:p>
          <a:p>
            <a:pPr marL="0">
              <a:buNone/>
            </a:pPr>
            <a:r>
              <a:rPr lang="es-ES" sz="1400" dirty="0"/>
              <a:t>El Shell dispone de una decena de opciones; la mayoría de ellas se pueden configurar con la ayuda del comando set. Las que siguen representan un mero resumen. El – antes de una opción activa. Un + la desactiva.</a:t>
            </a:r>
            <a:endParaRPr lang="es-ES" sz="1400" dirty="0"/>
          </a:p>
          <a:p>
            <a:pPr lvl="1">
              <a:buFont typeface="Wingdings" panose="05000000000000000000" pitchFamily="2" charset="2"/>
              <a:buChar char="§"/>
            </a:pPr>
            <a:endParaRPr lang="es-ES" sz="1200" b="1" dirty="0"/>
          </a:p>
        </p:txBody>
      </p:sp>
      <p:graphicFrame>
        <p:nvGraphicFramePr>
          <p:cNvPr id="3" name="Tabla 4"/>
          <p:cNvGraphicFramePr>
            <a:graphicFrameLocks noGrp="1"/>
          </p:cNvGraphicFramePr>
          <p:nvPr/>
        </p:nvGraphicFramePr>
        <p:xfrm>
          <a:off x="1702392" y="3101359"/>
          <a:ext cx="8128000" cy="2966720"/>
        </p:xfrm>
        <a:graphic>
          <a:graphicData uri="http://schemas.openxmlformats.org/drawingml/2006/table">
            <a:tbl>
              <a:tblPr firstRow="1" bandRow="1">
                <a:tableStyleId>{5C22544A-7EE6-4342-B048-85BDC9FD1C3A}</a:tableStyleId>
              </a:tblPr>
              <a:tblGrid>
                <a:gridCol w="1923312"/>
                <a:gridCol w="6204688"/>
              </a:tblGrid>
              <a:tr h="370840">
                <a:tc>
                  <a:txBody>
                    <a:bodyPr/>
                    <a:lstStyle/>
                    <a:p>
                      <a:r>
                        <a:rPr lang="es-ES" b="0" dirty="0"/>
                        <a:t>Opción</a:t>
                      </a:r>
                      <a:endParaRPr lang="es-ES" b="0" dirty="0"/>
                    </a:p>
                  </a:txBody>
                  <a:tcPr/>
                </a:tc>
                <a:tc>
                  <a:txBody>
                    <a:bodyPr/>
                    <a:lstStyle/>
                    <a:p>
                      <a:r>
                        <a:rPr lang="es-ES" b="0" dirty="0"/>
                        <a:t>Resultado</a:t>
                      </a:r>
                      <a:endParaRPr lang="es-ES" b="0" dirty="0"/>
                    </a:p>
                  </a:txBody>
                  <a:tcPr/>
                </a:tc>
              </a:tr>
              <a:tr h="370840">
                <a:tc>
                  <a:txBody>
                    <a:bodyPr/>
                    <a:lstStyle/>
                    <a:p>
                      <a:r>
                        <a:rPr lang="es-ES" sz="1600" dirty="0"/>
                        <a:t>-a / -o </a:t>
                      </a:r>
                      <a:r>
                        <a:rPr lang="es-ES" sz="1600" dirty="0" err="1"/>
                        <a:t>allexport</a:t>
                      </a:r>
                      <a:endParaRPr lang="es-ES" sz="1600" dirty="0"/>
                    </a:p>
                  </a:txBody>
                  <a:tcPr/>
                </a:tc>
                <a:tc>
                  <a:txBody>
                    <a:bodyPr/>
                    <a:lstStyle/>
                    <a:p>
                      <a:r>
                        <a:rPr lang="es-ES" sz="1600" dirty="0"/>
                        <a:t>Se exportarán todas las variables de manera automática</a:t>
                      </a:r>
                      <a:endParaRPr lang="es-ES" sz="1600" dirty="0"/>
                    </a:p>
                  </a:txBody>
                  <a:tcPr/>
                </a:tc>
              </a:tr>
              <a:tr h="370840">
                <a:tc>
                  <a:txBody>
                    <a:bodyPr/>
                    <a:lstStyle/>
                    <a:p>
                      <a:r>
                        <a:rPr lang="es-ES" sz="1600" dirty="0"/>
                        <a:t>-u / -o </a:t>
                      </a:r>
                      <a:r>
                        <a:rPr lang="es-ES" sz="1600" dirty="0" err="1"/>
                        <a:t>nounset</a:t>
                      </a:r>
                      <a:endParaRPr lang="es-ES" sz="1600" dirty="0"/>
                    </a:p>
                  </a:txBody>
                  <a:tcPr/>
                </a:tc>
                <a:tc>
                  <a:txBody>
                    <a:bodyPr/>
                    <a:lstStyle/>
                    <a:p>
                      <a:r>
                        <a:rPr lang="es-ES" sz="1600" dirty="0"/>
                        <a:t>Produce un error si la variable no existe</a:t>
                      </a:r>
                      <a:endParaRPr lang="es-ES" sz="1600" dirty="0"/>
                    </a:p>
                  </a:txBody>
                  <a:tcPr/>
                </a:tc>
              </a:tr>
              <a:tr h="370840">
                <a:tc>
                  <a:txBody>
                    <a:bodyPr/>
                    <a:lstStyle/>
                    <a:p>
                      <a:r>
                        <a:rPr lang="es-ES" sz="1600" dirty="0"/>
                        <a:t>-x / -o </a:t>
                      </a:r>
                      <a:r>
                        <a:rPr lang="es-ES" sz="1600" dirty="0" err="1"/>
                        <a:t>xtrace</a:t>
                      </a:r>
                      <a:endParaRPr lang="es-ES" sz="1600" dirty="0"/>
                    </a:p>
                  </a:txBody>
                  <a:tcPr/>
                </a:tc>
                <a:tc>
                  <a:txBody>
                    <a:bodyPr/>
                    <a:lstStyle/>
                    <a:p>
                      <a:r>
                        <a:rPr lang="es-ES" sz="1600" dirty="0"/>
                        <a:t>Muestra los comandos a medida cuando se ejecutan</a:t>
                      </a:r>
                      <a:endParaRPr lang="es-ES" sz="1600" dirty="0"/>
                    </a:p>
                  </a:txBody>
                  <a:tcPr/>
                </a:tc>
              </a:tr>
              <a:tr h="370840">
                <a:tc>
                  <a:txBody>
                    <a:bodyPr/>
                    <a:lstStyle/>
                    <a:p>
                      <a:r>
                        <a:rPr lang="es-ES" sz="1600" dirty="0"/>
                        <a:t>-o vi</a:t>
                      </a:r>
                      <a:endParaRPr lang="es-ES" sz="1600" dirty="0"/>
                    </a:p>
                  </a:txBody>
                  <a:tcPr/>
                </a:tc>
                <a:tc>
                  <a:txBody>
                    <a:bodyPr/>
                    <a:lstStyle/>
                    <a:p>
                      <a:r>
                        <a:rPr lang="es-ES" sz="1600" dirty="0"/>
                        <a:t>Uso de la línea de comandos con la sintaxis de vi</a:t>
                      </a:r>
                      <a:endParaRPr lang="es-ES" sz="1600" dirty="0"/>
                    </a:p>
                  </a:txBody>
                  <a:tcPr/>
                </a:tc>
              </a:tr>
              <a:tr h="370840">
                <a:tc>
                  <a:txBody>
                    <a:bodyPr/>
                    <a:lstStyle/>
                    <a:p>
                      <a:r>
                        <a:rPr lang="es-ES" sz="1600" dirty="0"/>
                        <a:t>-o </a:t>
                      </a:r>
                      <a:r>
                        <a:rPr lang="es-ES" sz="1600" dirty="0" err="1"/>
                        <a:t>emacs</a:t>
                      </a:r>
                      <a:endParaRPr lang="es-ES" sz="1600" dirty="0"/>
                    </a:p>
                  </a:txBody>
                  <a:tcPr/>
                </a:tc>
                <a:tc>
                  <a:txBody>
                    <a:bodyPr/>
                    <a:lstStyle/>
                    <a:p>
                      <a:r>
                        <a:rPr lang="es-ES" sz="1600" dirty="0"/>
                        <a:t>Uso de la línea de comandos con la sintaxis de Emacs</a:t>
                      </a:r>
                      <a:endParaRPr lang="es-ES" sz="1600" dirty="0"/>
                    </a:p>
                  </a:txBody>
                  <a:tcPr/>
                </a:tc>
              </a:tr>
              <a:tr h="370840">
                <a:tc>
                  <a:txBody>
                    <a:bodyPr/>
                    <a:lstStyle/>
                    <a:p>
                      <a:r>
                        <a:rPr lang="es-ES" sz="1600" dirty="0"/>
                        <a:t>-C / -o </a:t>
                      </a:r>
                      <a:r>
                        <a:rPr lang="es-ES" sz="1600" dirty="0" err="1"/>
                        <a:t>noclobber</a:t>
                      </a:r>
                      <a:endParaRPr lang="es-ES" sz="1600" dirty="0"/>
                    </a:p>
                  </a:txBody>
                  <a:tcPr/>
                </a:tc>
                <a:tc>
                  <a:txBody>
                    <a:bodyPr/>
                    <a:lstStyle/>
                    <a:p>
                      <a:r>
                        <a:rPr lang="es-ES" sz="1600" dirty="0"/>
                        <a:t>Prohíbe las redirecciones de salida si el archivo ya existe</a:t>
                      </a:r>
                      <a:endParaRPr lang="es-ES" sz="1600" dirty="0"/>
                    </a:p>
                  </a:txBody>
                  <a:tcPr/>
                </a:tc>
              </a:tr>
              <a:tr h="370840">
                <a:tc>
                  <a:txBody>
                    <a:bodyPr/>
                    <a:lstStyle/>
                    <a:p>
                      <a:r>
                        <a:rPr lang="es-ES" sz="1600" dirty="0" err="1"/>
                        <a:t>history</a:t>
                      </a:r>
                      <a:endParaRPr lang="es-ES" sz="1600" dirty="0"/>
                    </a:p>
                  </a:txBody>
                  <a:tcPr/>
                </a:tc>
                <a:tc>
                  <a:txBody>
                    <a:bodyPr/>
                    <a:lstStyle/>
                    <a:p>
                      <a:r>
                        <a:rPr lang="es-ES" sz="1600" dirty="0"/>
                        <a:t>Autoriza la gestión del historial</a:t>
                      </a:r>
                      <a:endParaRPr lang="es-ES" sz="1600" dirty="0"/>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3748703"/>
          </a:xfrm>
        </p:spPr>
        <p:txBody>
          <a:bodyPr>
            <a:normAutofit/>
          </a:bodyPr>
          <a:lstStyle/>
          <a:p>
            <a:pPr marL="0">
              <a:buNone/>
            </a:pPr>
            <a:r>
              <a:rPr lang="es-ES" sz="1400" b="1" dirty="0"/>
              <a:t>ESTRUCTURA Y EJECUCIÓN DE UN SCRIPT</a:t>
            </a:r>
            <a:endParaRPr lang="es-ES" sz="1400" b="1" dirty="0"/>
          </a:p>
          <a:p>
            <a:pPr marL="0">
              <a:buNone/>
            </a:pPr>
            <a:r>
              <a:rPr lang="es-ES" sz="1400" dirty="0"/>
              <a:t>El Shell no es solamente un simple intérprete de comandos, sino que dispone de un verdadero lenguaje de programación.</a:t>
            </a:r>
            <a:endParaRPr lang="es-ES" sz="1400" dirty="0"/>
          </a:p>
          <a:p>
            <a:pPr marL="487045" lvl="1" indent="-285750">
              <a:buFont typeface="Wingdings" panose="05000000000000000000" pitchFamily="2" charset="2"/>
              <a:buChar char="§"/>
            </a:pPr>
            <a:r>
              <a:rPr lang="es-ES" sz="1400" dirty="0"/>
              <a:t>Se agrupan todas las instrucciones y los comandos dentro de un script que al ejecutar, se ejecutaran secuencialmente.</a:t>
            </a:r>
            <a:endParaRPr lang="es-ES" sz="1400" dirty="0"/>
          </a:p>
          <a:p>
            <a:pPr marL="487045" lvl="1" indent="-285750">
              <a:buFont typeface="Wingdings" panose="05000000000000000000" pitchFamily="2" charset="2"/>
              <a:buChar char="§"/>
            </a:pPr>
            <a:r>
              <a:rPr lang="es-ES" sz="1400" dirty="0"/>
              <a:t>Al igual que la Shell, los comandos pueden ser externos o internos. Es posible diseñar varias instrucciones consecutivas siempre separadas por ; o relacionadas de manera condicional por &amp;&amp; o ||. </a:t>
            </a:r>
            <a:endParaRPr lang="es-ES" sz="1400" dirty="0"/>
          </a:p>
          <a:p>
            <a:pPr marL="487045" lvl="1" indent="-285750">
              <a:buFont typeface="Wingdings" panose="05000000000000000000" pitchFamily="2" charset="2"/>
              <a:buChar char="§"/>
            </a:pPr>
            <a:r>
              <a:rPr lang="es-ES" sz="1400" dirty="0"/>
              <a:t>El ; es equivalente de un salto de línea.</a:t>
            </a:r>
            <a:endParaRPr lang="es-ES" sz="1400" dirty="0"/>
          </a:p>
          <a:p>
            <a:pPr marL="487045" lvl="1" indent="-285750">
              <a:buFont typeface="Wingdings" panose="05000000000000000000" pitchFamily="2" charset="2"/>
              <a:buChar char="§"/>
            </a:pPr>
            <a:r>
              <a:rPr lang="es-ES" sz="1400" dirty="0"/>
              <a:t>Los nombres de script terminan por </a:t>
            </a:r>
            <a:r>
              <a:rPr lang="es-ES" sz="1400" dirty="0" err="1"/>
              <a:t>sh</a:t>
            </a:r>
            <a:r>
              <a:rPr lang="es-ES" sz="1400" dirty="0"/>
              <a:t> (por convención) para </a:t>
            </a:r>
            <a:r>
              <a:rPr lang="es-ES" sz="1400" dirty="0" err="1"/>
              <a:t>bourne</a:t>
            </a:r>
            <a:r>
              <a:rPr lang="es-ES" sz="1400" dirty="0"/>
              <a:t> Shell, el </a:t>
            </a:r>
            <a:r>
              <a:rPr lang="es-ES" sz="1400" dirty="0" err="1"/>
              <a:t>bourne</a:t>
            </a:r>
            <a:r>
              <a:rPr lang="es-ES" sz="1400" dirty="0"/>
              <a:t> </a:t>
            </a:r>
            <a:r>
              <a:rPr lang="es-ES" sz="1400" dirty="0" err="1"/>
              <a:t>again</a:t>
            </a:r>
            <a:r>
              <a:rPr lang="es-ES" sz="1400" dirty="0"/>
              <a:t> Shell (</a:t>
            </a:r>
            <a:r>
              <a:rPr lang="es-ES" sz="1400" dirty="0" err="1"/>
              <a:t>ksh</a:t>
            </a:r>
            <a:r>
              <a:rPr lang="es-ES" sz="1400" dirty="0"/>
              <a:t>) y el </a:t>
            </a:r>
            <a:r>
              <a:rPr lang="es-ES" sz="1400" dirty="0" err="1"/>
              <a:t>csh</a:t>
            </a:r>
            <a:r>
              <a:rPr lang="es-ES" sz="1400" dirty="0"/>
              <a:t> para Korn Shell.</a:t>
            </a:r>
            <a:endParaRPr lang="es-ES" sz="1400" dirty="0"/>
          </a:p>
          <a:p>
            <a:pPr marL="487045" lvl="1" indent="-285750">
              <a:buFont typeface="Wingdings" panose="05000000000000000000" pitchFamily="2" charset="2"/>
              <a:buChar char="§"/>
            </a:pPr>
            <a:r>
              <a:rPr lang="es-ES" sz="1400" dirty="0"/>
              <a:t>Para ejecutar un script automáticamente:</a:t>
            </a:r>
            <a:endParaRPr lang="es-ES" sz="1400" dirty="0"/>
          </a:p>
          <a:p>
            <a:pPr marL="669925" lvl="2" indent="-285750"/>
            <a:r>
              <a:rPr lang="es-ES" sz="1400" dirty="0" err="1"/>
              <a:t>chmod</a:t>
            </a:r>
            <a:r>
              <a:rPr lang="es-ES" sz="1400" dirty="0"/>
              <a:t> </a:t>
            </a:r>
            <a:r>
              <a:rPr lang="es-ES" sz="1400" dirty="0" err="1"/>
              <a:t>u+x</a:t>
            </a:r>
            <a:r>
              <a:rPr lang="es-ES" sz="1400" dirty="0"/>
              <a:t> </a:t>
            </a:r>
            <a:r>
              <a:rPr lang="es-ES" sz="1400" dirty="0" err="1"/>
              <a:t>miscript</a:t>
            </a:r>
            <a:endParaRPr lang="es-ES" sz="1400" dirty="0"/>
          </a:p>
          <a:p>
            <a:pPr marL="669925" lvl="2" indent="-285750"/>
            <a:r>
              <a:rPr lang="es-ES" sz="1400" dirty="0"/>
              <a:t>./</a:t>
            </a:r>
            <a:r>
              <a:rPr lang="es-ES" sz="1400" dirty="0" err="1"/>
              <a:t>miscript</a:t>
            </a:r>
            <a:endParaRPr lang="es-ES" sz="1400" dirty="0"/>
          </a:p>
          <a:p>
            <a:pPr marL="0">
              <a:buNone/>
            </a:pPr>
            <a:endParaRPr lang="es-ES" sz="1400" dirty="0"/>
          </a:p>
          <a:p>
            <a:pPr lvl="1">
              <a:buFont typeface="Wingdings" panose="05000000000000000000" pitchFamily="2" charset="2"/>
              <a:buChar char="§"/>
            </a:pPr>
            <a:endParaRPr lang="es-ES" sz="12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3397830"/>
          </a:xfrm>
        </p:spPr>
        <p:txBody>
          <a:bodyPr>
            <a:normAutofit/>
          </a:bodyPr>
          <a:lstStyle/>
          <a:p>
            <a:pPr marL="0">
              <a:buNone/>
            </a:pPr>
            <a:r>
              <a:rPr lang="es-ES" sz="1400" b="1" dirty="0"/>
              <a:t>ARGUMENTOS DE UN SCRIPT</a:t>
            </a:r>
            <a:endParaRPr lang="es-ES" sz="1400" b="1" dirty="0"/>
          </a:p>
          <a:p>
            <a:pPr marL="0">
              <a:buNone/>
            </a:pPr>
            <a:r>
              <a:rPr lang="es-ES" sz="1400" b="1" dirty="0"/>
              <a:t>Parámetros de posición: </a:t>
            </a:r>
            <a:r>
              <a:rPr lang="es-ES" sz="1400" dirty="0"/>
              <a:t>Los parámetros de posición son también variables especiales utilizadas cuando se pasan parámetros a un script.</a:t>
            </a:r>
            <a:endParaRPr lang="es-ES" sz="1400" dirty="0"/>
          </a:p>
          <a:p>
            <a:pPr marL="0">
              <a:buNone/>
            </a:pPr>
            <a:endParaRPr lang="es-ES" sz="1400" dirty="0"/>
          </a:p>
          <a:p>
            <a:pPr marL="0">
              <a:buNone/>
            </a:pPr>
            <a:endParaRPr lang="es-ES" sz="1400" dirty="0"/>
          </a:p>
          <a:p>
            <a:pPr lvl="1">
              <a:buFont typeface="Wingdings" panose="05000000000000000000" pitchFamily="2" charset="2"/>
              <a:buChar char="§"/>
            </a:pPr>
            <a:endParaRPr lang="es-ES" sz="1200" b="1" dirty="0"/>
          </a:p>
        </p:txBody>
      </p:sp>
      <p:graphicFrame>
        <p:nvGraphicFramePr>
          <p:cNvPr id="3" name="Tabla 4"/>
          <p:cNvGraphicFramePr>
            <a:graphicFrameLocks noGrp="1"/>
          </p:cNvGraphicFramePr>
          <p:nvPr/>
        </p:nvGraphicFramePr>
        <p:xfrm>
          <a:off x="1691758" y="2995033"/>
          <a:ext cx="8128000" cy="2225040"/>
        </p:xfrm>
        <a:graphic>
          <a:graphicData uri="http://schemas.openxmlformats.org/drawingml/2006/table">
            <a:tbl>
              <a:tblPr firstRow="1" bandRow="1">
                <a:tableStyleId>{5C22544A-7EE6-4342-B048-85BDC9FD1C3A}</a:tableStyleId>
              </a:tblPr>
              <a:tblGrid>
                <a:gridCol w="1838251"/>
                <a:gridCol w="6289749"/>
              </a:tblGrid>
              <a:tr h="370840">
                <a:tc>
                  <a:txBody>
                    <a:bodyPr/>
                    <a:lstStyle/>
                    <a:p>
                      <a:r>
                        <a:rPr lang="es-ES" b="0" dirty="0"/>
                        <a:t>Variable</a:t>
                      </a:r>
                      <a:endParaRPr lang="es-ES" b="0" dirty="0"/>
                    </a:p>
                  </a:txBody>
                  <a:tcPr/>
                </a:tc>
                <a:tc>
                  <a:txBody>
                    <a:bodyPr/>
                    <a:lstStyle/>
                    <a:p>
                      <a:r>
                        <a:rPr lang="es-ES" b="0" dirty="0"/>
                        <a:t>Contenido</a:t>
                      </a:r>
                      <a:endParaRPr lang="es-ES" b="0" dirty="0"/>
                    </a:p>
                  </a:txBody>
                  <a:tcPr/>
                </a:tc>
              </a:tr>
              <a:tr h="370840">
                <a:tc>
                  <a:txBody>
                    <a:bodyPr/>
                    <a:lstStyle/>
                    <a:p>
                      <a:r>
                        <a:rPr lang="es-ES" sz="1600" dirty="0"/>
                        <a:t>$0</a:t>
                      </a:r>
                      <a:endParaRPr lang="es-ES" sz="1600" dirty="0"/>
                    </a:p>
                  </a:txBody>
                  <a:tcPr/>
                </a:tc>
                <a:tc>
                  <a:txBody>
                    <a:bodyPr/>
                    <a:lstStyle/>
                    <a:p>
                      <a:r>
                        <a:rPr lang="es-ES" sz="1600" dirty="0"/>
                        <a:t>Nombre del comando (del script)</a:t>
                      </a:r>
                      <a:endParaRPr lang="es-ES" sz="1600" dirty="0"/>
                    </a:p>
                  </a:txBody>
                  <a:tcPr/>
                </a:tc>
              </a:tr>
              <a:tr h="370840">
                <a:tc>
                  <a:txBody>
                    <a:bodyPr/>
                    <a:lstStyle/>
                    <a:p>
                      <a:r>
                        <a:rPr lang="es-ES" sz="1600" dirty="0"/>
                        <a:t>$1-9</a:t>
                      </a:r>
                      <a:endParaRPr lang="es-ES" sz="1600" dirty="0"/>
                    </a:p>
                  </a:txBody>
                  <a:tcPr/>
                </a:tc>
                <a:tc>
                  <a:txBody>
                    <a:bodyPr/>
                    <a:lstStyle/>
                    <a:p>
                      <a:r>
                        <a:rPr lang="es-ES" sz="1600" dirty="0"/>
                        <a:t>$1,$2,$3..Los nueve primeros parámetros pasados</a:t>
                      </a:r>
                      <a:endParaRPr lang="es-ES" sz="1600" dirty="0"/>
                    </a:p>
                  </a:txBody>
                  <a:tcPr/>
                </a:tc>
              </a:tr>
              <a:tr h="370840">
                <a:tc>
                  <a:txBody>
                    <a:bodyPr/>
                    <a:lstStyle/>
                    <a:p>
                      <a:r>
                        <a:rPr lang="es-ES" sz="1600" dirty="0"/>
                        <a:t>$#</a:t>
                      </a:r>
                      <a:endParaRPr lang="es-ES" sz="1600" dirty="0"/>
                    </a:p>
                  </a:txBody>
                  <a:tcPr/>
                </a:tc>
                <a:tc>
                  <a:txBody>
                    <a:bodyPr/>
                    <a:lstStyle/>
                    <a:p>
                      <a:r>
                        <a:rPr lang="es-ES" sz="1600" dirty="0"/>
                        <a:t>Número total de parámetros pasados al script</a:t>
                      </a:r>
                      <a:endParaRPr lang="es-ES" sz="1600" dirty="0"/>
                    </a:p>
                  </a:txBody>
                  <a:tcPr/>
                </a:tc>
              </a:tr>
              <a:tr h="370840">
                <a:tc>
                  <a:txBody>
                    <a:bodyPr/>
                    <a:lstStyle/>
                    <a:p>
                      <a:r>
                        <a:rPr lang="es-ES" sz="1600" dirty="0"/>
                        <a:t>$*</a:t>
                      </a:r>
                      <a:endParaRPr lang="es-ES" sz="1600" dirty="0"/>
                    </a:p>
                  </a:txBody>
                  <a:tcPr/>
                </a:tc>
                <a:tc>
                  <a:txBody>
                    <a:bodyPr/>
                    <a:lstStyle/>
                    <a:p>
                      <a:r>
                        <a:rPr lang="es-ES" sz="1600" dirty="0"/>
                        <a:t>Lista de todos los parámetros en formato  “$1””$2</a:t>
                      </a:r>
                      <a:endParaRPr lang="es-ES" sz="1600" dirty="0"/>
                    </a:p>
                  </a:txBody>
                  <a:tcPr/>
                </a:tc>
              </a:tr>
              <a:tr h="370840">
                <a:tc>
                  <a:txBody>
                    <a:bodyPr/>
                    <a:lstStyle/>
                    <a:p>
                      <a:r>
                        <a:rPr lang="es-ES" sz="1600" dirty="0"/>
                        <a:t>$@</a:t>
                      </a:r>
                      <a:endParaRPr lang="es-ES" sz="1600" dirty="0"/>
                    </a:p>
                  </a:txBody>
                  <a:tcPr/>
                </a:tc>
                <a:tc>
                  <a:txBody>
                    <a:bodyPr/>
                    <a:lstStyle/>
                    <a:p>
                      <a:r>
                        <a:rPr lang="es-ES" sz="1600" dirty="0"/>
                        <a:t>Lista de los parámetros en forma de elementos distintos</a:t>
                      </a:r>
                      <a:endParaRPr lang="es-ES" sz="1600" dirty="0"/>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378182"/>
          </a:xfrm>
        </p:spPr>
        <p:txBody>
          <a:bodyPr>
            <a:normAutofit/>
          </a:bodyPr>
          <a:lstStyle/>
          <a:p>
            <a:pPr marL="0">
              <a:buNone/>
            </a:pPr>
            <a:r>
              <a:rPr lang="es-ES" sz="1400" b="1" dirty="0"/>
              <a:t>Parámetros de posición</a:t>
            </a:r>
            <a:endParaRPr lang="es-ES" sz="1400" b="1" dirty="0"/>
          </a:p>
          <a:p>
            <a:pPr marL="0">
              <a:buNone/>
            </a:pPr>
            <a:endParaRPr lang="es-ES" sz="1400" dirty="0"/>
          </a:p>
          <a:p>
            <a:pPr lvl="1">
              <a:buFont typeface="Wingdings" panose="05000000000000000000" pitchFamily="2" charset="2"/>
              <a:buChar char="§"/>
            </a:pPr>
            <a:endParaRPr lang="es-ES" sz="1200" b="1" dirty="0"/>
          </a:p>
        </p:txBody>
      </p:sp>
      <p:pic>
        <p:nvPicPr>
          <p:cNvPr id="5" name="Imagen 4"/>
          <p:cNvPicPr>
            <a:picLocks noChangeAspect="1"/>
          </p:cNvPicPr>
          <p:nvPr/>
        </p:nvPicPr>
        <p:blipFill>
          <a:blip r:embed="rId1"/>
          <a:stretch>
            <a:fillRect/>
          </a:stretch>
        </p:blipFill>
        <p:spPr>
          <a:xfrm>
            <a:off x="1209822" y="2275367"/>
            <a:ext cx="4543425" cy="1400175"/>
          </a:xfrm>
          <a:prstGeom prst="rect">
            <a:avLst/>
          </a:prstGeom>
        </p:spPr>
      </p:pic>
      <p:pic>
        <p:nvPicPr>
          <p:cNvPr id="6" name="Imagen 5"/>
          <p:cNvPicPr>
            <a:picLocks noChangeAspect="1"/>
          </p:cNvPicPr>
          <p:nvPr/>
        </p:nvPicPr>
        <p:blipFill>
          <a:blip r:embed="rId2"/>
          <a:stretch>
            <a:fillRect/>
          </a:stretch>
        </p:blipFill>
        <p:spPr>
          <a:xfrm>
            <a:off x="6011195" y="3675542"/>
            <a:ext cx="4660792" cy="110667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3493522"/>
          </a:xfrm>
        </p:spPr>
        <p:txBody>
          <a:bodyPr>
            <a:normAutofit/>
          </a:bodyPr>
          <a:lstStyle/>
          <a:p>
            <a:pPr marL="0">
              <a:buNone/>
            </a:pPr>
            <a:r>
              <a:rPr lang="es-ES" sz="1400" b="1" dirty="0"/>
              <a:t>Redefinición de los parámetros</a:t>
            </a:r>
            <a:endParaRPr lang="es-ES" sz="1400" b="1" dirty="0"/>
          </a:p>
          <a:p>
            <a:pPr marL="0">
              <a:buNone/>
            </a:pPr>
            <a:r>
              <a:rPr lang="es-ES" sz="1400" dirty="0"/>
              <a:t>Además de listar las variables, la instrucción </a:t>
            </a:r>
            <a:r>
              <a:rPr lang="es-ES" sz="1400" b="1" dirty="0"/>
              <a:t>set</a:t>
            </a:r>
            <a:r>
              <a:rPr lang="es-ES" sz="1400" dirty="0"/>
              <a:t> permite redefinir el contenido de las variables de posición con:</a:t>
            </a:r>
            <a:endParaRPr lang="es-ES" sz="1400" dirty="0"/>
          </a:p>
          <a:p>
            <a:pPr marL="0" algn="ctr">
              <a:buNone/>
            </a:pPr>
            <a:r>
              <a:rPr lang="es-ES" sz="1400" b="1" dirty="0"/>
              <a:t>set valor1 valor2 valor3</a:t>
            </a:r>
            <a:endParaRPr lang="es-ES" sz="1400" b="1" dirty="0"/>
          </a:p>
          <a:p>
            <a:pPr marL="0">
              <a:buNone/>
            </a:pPr>
            <a:r>
              <a:rPr lang="es-ES" sz="1400" dirty="0"/>
              <a:t>$1 tomará el valor1; $2 tomará el valor2 y así sucesivamente.</a:t>
            </a:r>
            <a:endParaRPr lang="es-ES" sz="1400" dirty="0"/>
          </a:p>
          <a:p>
            <a:pPr marL="0">
              <a:buNone/>
            </a:pPr>
            <a:r>
              <a:rPr lang="es-ES" sz="1400" b="1" dirty="0"/>
              <a:t>Reorganización de los parámetros</a:t>
            </a:r>
            <a:endParaRPr lang="es-ES" sz="1400" b="1" dirty="0"/>
          </a:p>
          <a:p>
            <a:pPr marL="0">
              <a:buNone/>
            </a:pPr>
            <a:r>
              <a:rPr lang="es-ES" sz="1400" dirty="0"/>
              <a:t>El comando shift permite modificar la posición de los parámetros. Una simple llamada desplaza los parámetros una posición, suprimiendo el primero: $2 se convierte en $1, $3 en $2, etc. </a:t>
            </a:r>
            <a:endParaRPr lang="es-ES" sz="1400" dirty="0"/>
          </a:p>
          <a:p>
            <a:pPr marL="0">
              <a:buNone/>
            </a:pPr>
            <a:r>
              <a:rPr lang="es-ES" sz="1400" dirty="0"/>
              <a:t>El shift seguido de un valor n efectúa un desplazamiento. Así, con shift 4 $5 se convierte en $1, $6 se convierte en $2.</a:t>
            </a:r>
            <a:endParaRPr lang="es-ES" sz="1400" dirty="0"/>
          </a:p>
          <a:p>
            <a:pPr marL="0">
              <a:buNone/>
            </a:pPr>
            <a:endParaRPr lang="es-ES" sz="1400" dirty="0"/>
          </a:p>
          <a:p>
            <a:pPr lvl="1">
              <a:buFont typeface="Wingdings" panose="05000000000000000000" pitchFamily="2" charset="2"/>
              <a:buChar char="§"/>
            </a:pPr>
            <a:endParaRPr lang="es-ES" sz="12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6105378" cy="3493522"/>
          </a:xfrm>
        </p:spPr>
        <p:txBody>
          <a:bodyPr>
            <a:normAutofit/>
          </a:bodyPr>
          <a:lstStyle/>
          <a:p>
            <a:pPr marL="0">
              <a:buNone/>
            </a:pPr>
            <a:r>
              <a:rPr lang="es-ES" sz="1400" b="1" dirty="0"/>
              <a:t>Salida de script</a:t>
            </a:r>
            <a:endParaRPr lang="es-ES" sz="1400" b="1" dirty="0"/>
          </a:p>
          <a:p>
            <a:pPr marL="0">
              <a:buNone/>
            </a:pPr>
            <a:r>
              <a:rPr lang="es-ES" sz="1400" dirty="0"/>
              <a:t>El comando </a:t>
            </a:r>
            <a:r>
              <a:rPr lang="es-ES" sz="1400" b="1" dirty="0" err="1"/>
              <a:t>exit</a:t>
            </a:r>
            <a:r>
              <a:rPr lang="es-ES" sz="1400" dirty="0"/>
              <a:t> permite terminar una script. Por defecto, el valor devuelto es 0 (no error), pero se puede especificar cualquier otro valor de 0 a 255. Puede recuperar el valor de salida mediante la variable $?.</a:t>
            </a:r>
            <a:endParaRPr lang="es-ES" sz="1400" dirty="0"/>
          </a:p>
          <a:p>
            <a:pPr marL="0">
              <a:buNone/>
            </a:pPr>
            <a:r>
              <a:rPr lang="es-ES" sz="1400" b="1" dirty="0"/>
              <a:t>		</a:t>
            </a:r>
            <a:r>
              <a:rPr lang="es-ES" sz="1400" b="1" dirty="0" err="1"/>
              <a:t>exit</a:t>
            </a:r>
            <a:r>
              <a:rPr lang="es-ES" sz="1400" b="1" dirty="0"/>
              <a:t> 1</a:t>
            </a:r>
            <a:endParaRPr lang="es-ES" sz="1400" b="1" dirty="0"/>
          </a:p>
          <a:p>
            <a:pPr marL="0">
              <a:buNone/>
            </a:pPr>
            <a:r>
              <a:rPr lang="es-ES" sz="1400" b="1" dirty="0"/>
              <a:t>ENTORNO DEL PROCESO</a:t>
            </a:r>
            <a:endParaRPr lang="es-ES" sz="1400" b="1" dirty="0"/>
          </a:p>
          <a:p>
            <a:pPr marL="0">
              <a:buNone/>
            </a:pPr>
            <a:r>
              <a:rPr lang="es-ES" sz="1400" dirty="0"/>
              <a:t>Solamente las variables exportadas son accesibles por un proceso hijo. Si desea visualizar el contenido relacionado con un hijo (en un script por ejemplo), utilice el comando </a:t>
            </a:r>
            <a:r>
              <a:rPr lang="es-ES" sz="1400" dirty="0" err="1"/>
              <a:t>env</a:t>
            </a:r>
            <a:r>
              <a:rPr lang="es-ES" sz="1400" dirty="0"/>
              <a:t>.</a:t>
            </a:r>
            <a:endParaRPr lang="es-ES" sz="1400" dirty="0"/>
          </a:p>
          <a:p>
            <a:pPr marL="0">
              <a:buNone/>
            </a:pPr>
            <a:endParaRPr lang="es-ES" sz="1400" dirty="0"/>
          </a:p>
          <a:p>
            <a:pPr lvl="1">
              <a:buFont typeface="Wingdings" panose="05000000000000000000" pitchFamily="2" charset="2"/>
              <a:buChar char="§"/>
            </a:pPr>
            <a:endParaRPr lang="es-ES" sz="1200" b="1" dirty="0"/>
          </a:p>
        </p:txBody>
      </p:sp>
      <p:sp>
        <p:nvSpPr>
          <p:cNvPr id="3" name="Rectángulo 2"/>
          <p:cNvSpPr/>
          <p:nvPr/>
        </p:nvSpPr>
        <p:spPr>
          <a:xfrm>
            <a:off x="7810132" y="2151727"/>
            <a:ext cx="3172046" cy="2554545"/>
          </a:xfrm>
          <a:prstGeom prst="rect">
            <a:avLst/>
          </a:prstGeom>
        </p:spPr>
        <p:txBody>
          <a:bodyPr wrap="square">
            <a:spAutoFit/>
          </a:bodyPr>
          <a:lstStyle/>
          <a:p>
            <a:pPr marL="658495" lvl="3" indent="0">
              <a:buNone/>
            </a:pPr>
            <a:r>
              <a:rPr lang="es-ES" altLang="es-ES" sz="1600" dirty="0" err="1">
                <a:solidFill>
                  <a:srgbClr val="333333"/>
                </a:solidFill>
                <a:cs typeface="Courier New" panose="02070309020205020404" pitchFamily="49" charset="0"/>
              </a:rPr>
              <a:t>sonia@Master</a:t>
            </a:r>
            <a:r>
              <a:rPr lang="es-ES" altLang="es-ES" sz="1600" dirty="0">
                <a:solidFill>
                  <a:srgbClr val="333333"/>
                </a:solidFill>
                <a:cs typeface="Courier New" panose="02070309020205020404" pitchFamily="49" charset="0"/>
              </a:rPr>
              <a:t> ~ $ </a:t>
            </a:r>
            <a:r>
              <a:rPr lang="es-ES" altLang="es-ES" sz="1600" dirty="0" err="1">
                <a:solidFill>
                  <a:srgbClr val="333333"/>
                </a:solidFill>
                <a:cs typeface="Courier New" panose="02070309020205020404" pitchFamily="49" charset="0"/>
              </a:rPr>
              <a:t>env</a:t>
            </a:r>
            <a:r>
              <a:rPr lang="es-ES" altLang="es-ES" sz="1600" dirty="0">
                <a:solidFill>
                  <a:srgbClr val="333333"/>
                </a:solidFill>
                <a:cs typeface="Courier New" panose="02070309020205020404" pitchFamily="49" charset="0"/>
              </a:rPr>
              <a:t> </a:t>
            </a:r>
            <a:endParaRPr lang="es-ES" altLang="es-ES" sz="1600" dirty="0">
              <a:solidFill>
                <a:srgbClr val="333333"/>
              </a:solidFill>
              <a:cs typeface="Courier New" panose="02070309020205020404" pitchFamily="49" charset="0"/>
            </a:endParaRPr>
          </a:p>
          <a:p>
            <a:pPr marL="658495" lvl="3" indent="0">
              <a:buNone/>
            </a:pPr>
            <a:r>
              <a:rPr lang="es-ES" altLang="es-ES" sz="1600" dirty="0">
                <a:solidFill>
                  <a:srgbClr val="333333"/>
                </a:solidFill>
                <a:cs typeface="Courier New" panose="02070309020205020404" pitchFamily="49" charset="0"/>
              </a:rPr>
              <a:t>SSH_AGENT_PID=1872 </a:t>
            </a:r>
            <a:endParaRPr lang="es-ES" altLang="es-ES" sz="1600" dirty="0">
              <a:solidFill>
                <a:srgbClr val="333333"/>
              </a:solidFill>
              <a:cs typeface="Courier New" panose="02070309020205020404" pitchFamily="49" charset="0"/>
            </a:endParaRPr>
          </a:p>
          <a:p>
            <a:pPr marL="658495" lvl="3" indent="0">
              <a:buNone/>
            </a:pPr>
            <a:r>
              <a:rPr lang="es-ES" altLang="es-ES" sz="1600" dirty="0">
                <a:solidFill>
                  <a:srgbClr val="333333"/>
                </a:solidFill>
                <a:cs typeface="Courier New" panose="02070309020205020404" pitchFamily="49" charset="0"/>
              </a:rPr>
              <a:t>TERM=</a:t>
            </a:r>
            <a:r>
              <a:rPr lang="es-ES" altLang="es-ES" sz="1600" dirty="0" err="1">
                <a:solidFill>
                  <a:srgbClr val="333333"/>
                </a:solidFill>
                <a:cs typeface="Courier New" panose="02070309020205020404" pitchFamily="49" charset="0"/>
              </a:rPr>
              <a:t>xterm</a:t>
            </a:r>
            <a:r>
              <a:rPr lang="es-ES" altLang="es-ES" sz="1600" dirty="0">
                <a:solidFill>
                  <a:srgbClr val="333333"/>
                </a:solidFill>
                <a:cs typeface="Courier New" panose="02070309020205020404" pitchFamily="49" charset="0"/>
              </a:rPr>
              <a:t> </a:t>
            </a:r>
            <a:endParaRPr lang="es-ES" altLang="es-ES" sz="1600" dirty="0">
              <a:solidFill>
                <a:srgbClr val="333333"/>
              </a:solidFill>
              <a:cs typeface="Courier New" panose="02070309020205020404" pitchFamily="49" charset="0"/>
            </a:endParaRPr>
          </a:p>
          <a:p>
            <a:pPr marL="658495" lvl="3" indent="0">
              <a:buNone/>
            </a:pPr>
            <a:r>
              <a:rPr lang="es-ES" altLang="es-ES" sz="1600" dirty="0">
                <a:solidFill>
                  <a:srgbClr val="333333"/>
                </a:solidFill>
                <a:cs typeface="Courier New" panose="02070309020205020404" pitchFamily="49" charset="0"/>
              </a:rPr>
              <a:t>SHELL=/</a:t>
            </a:r>
            <a:r>
              <a:rPr lang="es-ES" altLang="es-ES" sz="1600" dirty="0" err="1">
                <a:solidFill>
                  <a:srgbClr val="333333"/>
                </a:solidFill>
                <a:cs typeface="Courier New" panose="02070309020205020404" pitchFamily="49" charset="0"/>
              </a:rPr>
              <a:t>bin</a:t>
            </a:r>
            <a:r>
              <a:rPr lang="es-ES" altLang="es-ES" sz="1600" dirty="0">
                <a:solidFill>
                  <a:srgbClr val="333333"/>
                </a:solidFill>
                <a:cs typeface="Courier New" panose="02070309020205020404" pitchFamily="49" charset="0"/>
              </a:rPr>
              <a:t>/</a:t>
            </a:r>
            <a:r>
              <a:rPr lang="es-ES" altLang="es-ES" sz="1600" dirty="0" err="1">
                <a:solidFill>
                  <a:srgbClr val="333333"/>
                </a:solidFill>
                <a:cs typeface="Courier New" panose="02070309020205020404" pitchFamily="49" charset="0"/>
              </a:rPr>
              <a:t>bash</a:t>
            </a:r>
            <a:r>
              <a:rPr lang="es-ES" altLang="es-ES" sz="1600" dirty="0">
                <a:solidFill>
                  <a:srgbClr val="333333"/>
                </a:solidFill>
                <a:cs typeface="Courier New" panose="02070309020205020404" pitchFamily="49" charset="0"/>
              </a:rPr>
              <a:t> </a:t>
            </a:r>
            <a:endParaRPr lang="es-ES" altLang="es-ES" sz="1600" dirty="0">
              <a:solidFill>
                <a:srgbClr val="333333"/>
              </a:solidFill>
              <a:cs typeface="Courier New" panose="02070309020205020404" pitchFamily="49" charset="0"/>
            </a:endParaRPr>
          </a:p>
          <a:p>
            <a:pPr marL="658495" lvl="3" indent="0">
              <a:buNone/>
            </a:pPr>
            <a:r>
              <a:rPr lang="es-ES" altLang="es-ES" sz="1600" dirty="0">
                <a:solidFill>
                  <a:srgbClr val="333333"/>
                </a:solidFill>
                <a:cs typeface="Courier New" panose="02070309020205020404" pitchFamily="49" charset="0"/>
              </a:rPr>
              <a:t>USER=</a:t>
            </a:r>
            <a:r>
              <a:rPr lang="es-ES" altLang="es-ES" sz="1600" dirty="0" err="1">
                <a:solidFill>
                  <a:srgbClr val="333333"/>
                </a:solidFill>
                <a:cs typeface="Courier New" panose="02070309020205020404" pitchFamily="49" charset="0"/>
              </a:rPr>
              <a:t>sonia</a:t>
            </a:r>
            <a:r>
              <a:rPr lang="es-ES" altLang="es-ES" sz="1600" dirty="0">
                <a:solidFill>
                  <a:srgbClr val="333333"/>
                </a:solidFill>
                <a:cs typeface="Courier New" panose="02070309020205020404" pitchFamily="49" charset="0"/>
              </a:rPr>
              <a:t> </a:t>
            </a:r>
            <a:endParaRPr lang="es-ES" altLang="es-ES" sz="1600" dirty="0">
              <a:solidFill>
                <a:srgbClr val="333333"/>
              </a:solidFill>
              <a:cs typeface="Courier New" panose="02070309020205020404" pitchFamily="49" charset="0"/>
            </a:endParaRPr>
          </a:p>
          <a:p>
            <a:pPr marL="658495" lvl="3" indent="0">
              <a:buNone/>
            </a:pPr>
            <a:r>
              <a:rPr lang="es-ES" altLang="es-ES" sz="1600" dirty="0">
                <a:solidFill>
                  <a:srgbClr val="333333"/>
                </a:solidFill>
                <a:cs typeface="Courier New" panose="02070309020205020404" pitchFamily="49" charset="0"/>
              </a:rPr>
              <a:t>USERNAME=n0name </a:t>
            </a:r>
            <a:endParaRPr lang="es-ES" altLang="es-ES" sz="1600" dirty="0">
              <a:solidFill>
                <a:srgbClr val="333333"/>
              </a:solidFill>
              <a:cs typeface="Courier New" panose="02070309020205020404" pitchFamily="49" charset="0"/>
            </a:endParaRPr>
          </a:p>
          <a:p>
            <a:pPr marL="658495" lvl="3" indent="0">
              <a:buNone/>
            </a:pPr>
            <a:r>
              <a:rPr lang="es-ES" altLang="es-ES" sz="1600" dirty="0">
                <a:solidFill>
                  <a:srgbClr val="333333"/>
                </a:solidFill>
                <a:cs typeface="Courier New" panose="02070309020205020404" pitchFamily="49" charset="0"/>
              </a:rPr>
              <a:t>LOGNAME=</a:t>
            </a:r>
            <a:r>
              <a:rPr lang="es-ES" altLang="es-ES" sz="1600" dirty="0" err="1">
                <a:solidFill>
                  <a:srgbClr val="333333"/>
                </a:solidFill>
                <a:cs typeface="Courier New" panose="02070309020205020404" pitchFamily="49" charset="0"/>
              </a:rPr>
              <a:t>sonia</a:t>
            </a:r>
            <a:r>
              <a:rPr lang="es-ES" altLang="es-ES" sz="1600" dirty="0">
                <a:solidFill>
                  <a:srgbClr val="333333"/>
                </a:solidFill>
                <a:cs typeface="Courier New" panose="02070309020205020404" pitchFamily="49" charset="0"/>
              </a:rPr>
              <a:t> </a:t>
            </a:r>
            <a:endParaRPr lang="es-ES" altLang="es-ES" sz="1600" dirty="0">
              <a:solidFill>
                <a:srgbClr val="333333"/>
              </a:solidFill>
              <a:cs typeface="Courier New" panose="02070309020205020404" pitchFamily="49" charset="0"/>
            </a:endParaRPr>
          </a:p>
          <a:p>
            <a:pPr marL="658495" lvl="3" indent="0">
              <a:buNone/>
            </a:pPr>
            <a:r>
              <a:rPr lang="es-ES" altLang="es-ES" sz="1600" dirty="0">
                <a:solidFill>
                  <a:srgbClr val="333333"/>
                </a:solidFill>
                <a:cs typeface="Courier New" panose="02070309020205020404" pitchFamily="49" charset="0"/>
              </a:rPr>
              <a:t>PWD=/home/</a:t>
            </a:r>
            <a:r>
              <a:rPr lang="es-ES" altLang="es-ES" sz="1600" dirty="0" err="1">
                <a:solidFill>
                  <a:srgbClr val="333333"/>
                </a:solidFill>
                <a:cs typeface="Courier New" panose="02070309020205020404" pitchFamily="49" charset="0"/>
              </a:rPr>
              <a:t>sonia</a:t>
            </a:r>
            <a:r>
              <a:rPr lang="es-ES" altLang="es-ES" sz="1600" dirty="0">
                <a:solidFill>
                  <a:srgbClr val="333333"/>
                </a:solidFill>
                <a:cs typeface="Courier New" panose="02070309020205020404" pitchFamily="49" charset="0"/>
              </a:rPr>
              <a:t> </a:t>
            </a:r>
            <a:endParaRPr lang="es-ES" altLang="es-ES" sz="1600" dirty="0">
              <a:solidFill>
                <a:srgbClr val="333333"/>
              </a:solidFill>
              <a:cs typeface="Courier New" panose="02070309020205020404" pitchFamily="49" charset="0"/>
            </a:endParaRPr>
          </a:p>
          <a:p>
            <a:pPr marL="658495" lvl="3" indent="0">
              <a:buNone/>
            </a:pPr>
            <a:r>
              <a:rPr lang="es-ES" altLang="es-ES" sz="1600" dirty="0">
                <a:solidFill>
                  <a:srgbClr val="333333"/>
                </a:solidFill>
                <a:cs typeface="Courier New" panose="02070309020205020404" pitchFamily="49" charset="0"/>
              </a:rPr>
              <a:t>HOME=/home/</a:t>
            </a:r>
            <a:r>
              <a:rPr lang="es-ES" altLang="es-ES" sz="1600" dirty="0" err="1">
                <a:solidFill>
                  <a:srgbClr val="333333"/>
                </a:solidFill>
                <a:cs typeface="Courier New" panose="02070309020205020404" pitchFamily="49" charset="0"/>
              </a:rPr>
              <a:t>sonia</a:t>
            </a:r>
            <a:r>
              <a:rPr lang="es-ES" altLang="es-ES" sz="1600" dirty="0">
                <a:solidFill>
                  <a:srgbClr val="333333"/>
                </a:solidFill>
                <a:cs typeface="Courier New" panose="02070309020205020404" pitchFamily="49" charset="0"/>
              </a:rPr>
              <a:t> </a:t>
            </a:r>
            <a:endParaRPr lang="es-ES" altLang="es-ES" sz="1600" dirty="0">
              <a:solidFill>
                <a:srgbClr val="333333"/>
              </a:solidFill>
              <a:cs typeface="Courier New" panose="02070309020205020404" pitchFamily="49" charset="0"/>
            </a:endParaRPr>
          </a:p>
          <a:p>
            <a:pPr marL="658495" lvl="3" indent="0">
              <a:buNone/>
            </a:pPr>
            <a:r>
              <a:rPr lang="es-ES" altLang="es-ES" sz="1600" dirty="0">
                <a:solidFill>
                  <a:srgbClr val="333333"/>
                </a:solidFill>
                <a:cs typeface="Courier New" panose="02070309020205020404" pitchFamily="49" charset="0"/>
              </a:rPr>
              <a:t>LANG=es_ES.UTF-8 ...</a:t>
            </a:r>
            <a:endParaRPr lang="es-ES" altLang="es-E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2273762"/>
          </a:xfrm>
        </p:spPr>
        <p:txBody>
          <a:bodyPr>
            <a:normAutofit/>
          </a:bodyPr>
          <a:lstStyle/>
          <a:p>
            <a:pPr marL="0">
              <a:buNone/>
            </a:pPr>
            <a:r>
              <a:rPr lang="es-ES" sz="1400" b="1" dirty="0"/>
              <a:t>Sustitución de comando</a:t>
            </a:r>
            <a:endParaRPr lang="es-ES" sz="1400" b="1" dirty="0"/>
          </a:p>
          <a:p>
            <a:pPr marL="0">
              <a:buNone/>
            </a:pPr>
            <a:r>
              <a:rPr lang="es-ES" sz="1400" dirty="0"/>
              <a:t>El mecanismo de sustitución permite colocar el resultado de comandos simples o complejos en una variable. Debe situar los comandos que va a ejecutar entre dos acentos graves &lt;&lt;`&gt;&gt;.</a:t>
            </a:r>
            <a:endParaRPr lang="es-ES" sz="1400" dirty="0"/>
          </a:p>
          <a:p>
            <a:pPr marL="0">
              <a:buNone/>
            </a:pPr>
            <a:r>
              <a:rPr lang="es-ES" sz="1400" dirty="0"/>
              <a:t>Los acentos graves no son siempre ideales para estos tratamientos de comando. En efecto, si trabaja con varios niveles, debe cerrar los que están dentro de los niveles superiores.</a:t>
            </a:r>
            <a:endParaRPr lang="es-ES" sz="1400" dirty="0"/>
          </a:p>
          <a:p>
            <a:pPr marL="0">
              <a:buNone/>
            </a:pPr>
            <a:r>
              <a:rPr lang="es-ES" sz="1400" dirty="0"/>
              <a:t>El </a:t>
            </a:r>
            <a:r>
              <a:rPr lang="es-ES" sz="1400" dirty="0" err="1"/>
              <a:t>bash</a:t>
            </a:r>
            <a:r>
              <a:rPr lang="es-ES" sz="1400" dirty="0"/>
              <a:t> permite utilizar en su lugar la sintaxis $(…) que no tiene este problema</a:t>
            </a:r>
            <a:endParaRPr lang="es-ES" sz="1400" dirty="0"/>
          </a:p>
          <a:p>
            <a:pPr marL="0">
              <a:buNone/>
            </a:pPr>
            <a:endParaRPr lang="es-ES" sz="1400" dirty="0"/>
          </a:p>
          <a:p>
            <a:pPr lvl="1">
              <a:buFont typeface="Wingdings" panose="05000000000000000000" pitchFamily="2" charset="2"/>
              <a:buChar char="§"/>
            </a:pPr>
            <a:endParaRPr lang="es-ES" sz="1200" b="1" dirty="0"/>
          </a:p>
        </p:txBody>
      </p:sp>
      <p:pic>
        <p:nvPicPr>
          <p:cNvPr id="5" name="Imagen 4"/>
          <p:cNvPicPr>
            <a:picLocks noChangeAspect="1"/>
          </p:cNvPicPr>
          <p:nvPr/>
        </p:nvPicPr>
        <p:blipFill>
          <a:blip r:embed="rId1"/>
          <a:stretch>
            <a:fillRect/>
          </a:stretch>
        </p:blipFill>
        <p:spPr>
          <a:xfrm>
            <a:off x="3943350" y="4318310"/>
            <a:ext cx="4305300" cy="11811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3420773"/>
          </a:xfrm>
        </p:spPr>
        <p:txBody>
          <a:bodyPr>
            <a:normAutofit/>
          </a:bodyPr>
          <a:lstStyle/>
          <a:p>
            <a:pPr marL="0">
              <a:buNone/>
            </a:pPr>
            <a:r>
              <a:rPr lang="es-ES" sz="1400" b="1" dirty="0"/>
              <a:t>EL PROGRAMA TEST</a:t>
            </a:r>
            <a:endParaRPr lang="es-ES" sz="1400" b="1" dirty="0"/>
          </a:p>
          <a:p>
            <a:pPr marL="0">
              <a:buNone/>
            </a:pPr>
            <a:r>
              <a:rPr lang="es-ES" sz="1400" dirty="0"/>
              <a:t>El programa test permite evaluar escenarios de programación. Se puede recuperar el resultado de una condición con la variable $ ? (código retorno). Si el resultado es 0, entonces se ha cumplido la condición.</a:t>
            </a:r>
            <a:endParaRPr lang="es-ES" sz="1400" dirty="0"/>
          </a:p>
          <a:p>
            <a:pPr marL="0">
              <a:buNone/>
            </a:pPr>
            <a:r>
              <a:rPr lang="es-ES" sz="1400" b="1" dirty="0"/>
              <a:t>Pruebas de una cadena: </a:t>
            </a:r>
            <a:endParaRPr lang="es-ES" sz="1400" b="1" dirty="0"/>
          </a:p>
          <a:p>
            <a:pPr marL="194310" indent="-285750">
              <a:buFont typeface="Wingdings" panose="05000000000000000000" pitchFamily="2" charset="2"/>
              <a:buChar char="§"/>
            </a:pPr>
            <a:r>
              <a:rPr lang="es-ES" sz="1400" dirty="0"/>
              <a:t>Test –z “variable”: cero, retorno OK si la variable está </a:t>
            </a:r>
            <a:r>
              <a:rPr lang="es-ES" sz="1400" dirty="0" err="1"/>
              <a:t>vacia</a:t>
            </a:r>
            <a:endParaRPr lang="es-ES" sz="1400" dirty="0"/>
          </a:p>
          <a:p>
            <a:pPr marL="194310" indent="-285750">
              <a:buFont typeface="Wingdings" panose="05000000000000000000" pitchFamily="2" charset="2"/>
              <a:buChar char="§"/>
            </a:pPr>
            <a:r>
              <a:rPr lang="es-ES" sz="1400" dirty="0"/>
              <a:t>Test  -n “variable”: no cero, retorno OK si la variable no está </a:t>
            </a:r>
            <a:r>
              <a:rPr lang="es-ES" sz="1400" dirty="0" err="1"/>
              <a:t>vacia</a:t>
            </a:r>
            <a:r>
              <a:rPr lang="es-ES" sz="1400" dirty="0"/>
              <a:t> (texto cualquiera)</a:t>
            </a:r>
            <a:endParaRPr lang="es-ES" sz="1400" dirty="0"/>
          </a:p>
          <a:p>
            <a:pPr marL="194310" indent="-285750">
              <a:buFont typeface="Wingdings" panose="05000000000000000000" pitchFamily="2" charset="2"/>
              <a:buChar char="§"/>
            </a:pPr>
            <a:r>
              <a:rPr lang="es-ES" sz="1400" dirty="0"/>
              <a:t>Test “variable” = cadena: OK si las dos cadenas son idénticas</a:t>
            </a:r>
            <a:endParaRPr lang="es-ES" sz="1400" dirty="0"/>
          </a:p>
          <a:p>
            <a:pPr marL="194310" indent="-285750">
              <a:buFont typeface="Wingdings" panose="05000000000000000000" pitchFamily="2" charset="2"/>
              <a:buChar char="§"/>
            </a:pPr>
            <a:r>
              <a:rPr lang="es-ES" sz="1400" dirty="0"/>
              <a:t>Test “variable” !=cadena: OK si las dos cadenas son diferentes.</a:t>
            </a:r>
            <a:endParaRPr lang="es-ES" sz="1400" dirty="0"/>
          </a:p>
          <a:p>
            <a:pPr marL="194310" indent="-285750">
              <a:buFont typeface="Wingdings" panose="05000000000000000000" pitchFamily="2" charset="2"/>
              <a:buChar char="§"/>
            </a:pPr>
            <a:endParaRPr lang="es-ES" sz="1400" dirty="0"/>
          </a:p>
          <a:p>
            <a:pPr lvl="1">
              <a:buFont typeface="Wingdings" panose="05000000000000000000" pitchFamily="2" charset="2"/>
              <a:buChar char="§"/>
            </a:pPr>
            <a:endParaRPr lang="es-ES" sz="1200" b="1" dirty="0"/>
          </a:p>
        </p:txBody>
      </p:sp>
      <p:pic>
        <p:nvPicPr>
          <p:cNvPr id="3" name="Imagen 2"/>
          <p:cNvPicPr>
            <a:picLocks noChangeAspect="1"/>
          </p:cNvPicPr>
          <p:nvPr/>
        </p:nvPicPr>
        <p:blipFill>
          <a:blip r:embed="rId1"/>
          <a:stretch>
            <a:fillRect/>
          </a:stretch>
        </p:blipFill>
        <p:spPr>
          <a:xfrm>
            <a:off x="7728902" y="4415237"/>
            <a:ext cx="3511601" cy="138398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1628069"/>
          </a:xfrm>
        </p:spPr>
        <p:txBody>
          <a:bodyPr>
            <a:normAutofit/>
          </a:bodyPr>
          <a:lstStyle/>
          <a:p>
            <a:pPr marL="0">
              <a:buNone/>
            </a:pPr>
            <a:r>
              <a:rPr lang="es-ES" sz="1400" b="1" dirty="0"/>
              <a:t>EL PROGRAMA TEST</a:t>
            </a:r>
            <a:endParaRPr lang="es-ES" sz="1400" b="1" dirty="0"/>
          </a:p>
          <a:p>
            <a:pPr marL="0">
              <a:buNone/>
            </a:pPr>
            <a:r>
              <a:rPr lang="es-ES" sz="1400" b="1" dirty="0"/>
              <a:t>Pruebas sobre valores numéricos: </a:t>
            </a:r>
            <a:r>
              <a:rPr lang="es-ES" sz="1400" dirty="0"/>
              <a:t>Se deben convertir las cadenas en valores numéricos para poder evaluarlas. </a:t>
            </a:r>
            <a:r>
              <a:rPr lang="es-ES" sz="1400" dirty="0" err="1"/>
              <a:t>Bash</a:t>
            </a:r>
            <a:r>
              <a:rPr lang="es-ES" sz="1400" dirty="0"/>
              <a:t> solo gestiona enteros. La sintaxis es:</a:t>
            </a:r>
            <a:endParaRPr lang="es-ES" sz="1400" dirty="0"/>
          </a:p>
          <a:p>
            <a:pPr marL="0" algn="ctr">
              <a:buNone/>
            </a:pPr>
            <a:r>
              <a:rPr lang="es-ES" sz="1400" b="1" dirty="0"/>
              <a:t>test valor1 opción valor2</a:t>
            </a:r>
            <a:endParaRPr lang="es-ES" sz="1400" b="1" dirty="0"/>
          </a:p>
          <a:p>
            <a:pPr marL="194310" indent="-285750">
              <a:buFont typeface="Wingdings" panose="05000000000000000000" pitchFamily="2" charset="2"/>
              <a:buChar char="§"/>
            </a:pPr>
            <a:endParaRPr lang="es-ES" sz="1400" dirty="0"/>
          </a:p>
          <a:p>
            <a:pPr lvl="1">
              <a:buFont typeface="Wingdings" panose="05000000000000000000" pitchFamily="2" charset="2"/>
              <a:buChar char="§"/>
            </a:pPr>
            <a:endParaRPr lang="es-ES" sz="1200" b="1" dirty="0"/>
          </a:p>
        </p:txBody>
      </p:sp>
      <p:graphicFrame>
        <p:nvGraphicFramePr>
          <p:cNvPr id="5" name="Tabla 5"/>
          <p:cNvGraphicFramePr>
            <a:graphicFrameLocks noGrp="1"/>
          </p:cNvGraphicFramePr>
          <p:nvPr/>
        </p:nvGraphicFramePr>
        <p:xfrm>
          <a:off x="1394326" y="3501190"/>
          <a:ext cx="5030537" cy="2595880"/>
        </p:xfrm>
        <a:graphic>
          <a:graphicData uri="http://schemas.openxmlformats.org/drawingml/2006/table">
            <a:tbl>
              <a:tblPr firstRow="1" bandRow="1">
                <a:tableStyleId>{5C22544A-7EE6-4342-B048-85BDC9FD1C3A}</a:tableStyleId>
              </a:tblPr>
              <a:tblGrid>
                <a:gridCol w="1324811"/>
                <a:gridCol w="3705726"/>
              </a:tblGrid>
              <a:tr h="370840">
                <a:tc>
                  <a:txBody>
                    <a:bodyPr/>
                    <a:lstStyle/>
                    <a:p>
                      <a:r>
                        <a:rPr lang="es-ES" sz="1600" dirty="0"/>
                        <a:t>Opción</a:t>
                      </a:r>
                      <a:endParaRPr lang="es-ES" sz="1600" dirty="0"/>
                    </a:p>
                  </a:txBody>
                  <a:tcPr/>
                </a:tc>
                <a:tc>
                  <a:txBody>
                    <a:bodyPr/>
                    <a:lstStyle/>
                    <a:p>
                      <a:r>
                        <a:rPr lang="es-ES" sz="1600" dirty="0"/>
                        <a:t>Función</a:t>
                      </a:r>
                      <a:endParaRPr lang="es-ES" sz="1600" dirty="0"/>
                    </a:p>
                  </a:txBody>
                  <a:tcPr/>
                </a:tc>
              </a:tr>
              <a:tr h="370840">
                <a:tc>
                  <a:txBody>
                    <a:bodyPr/>
                    <a:lstStyle/>
                    <a:p>
                      <a:r>
                        <a:rPr lang="es-ES" sz="1600" dirty="0"/>
                        <a:t>-</a:t>
                      </a:r>
                      <a:r>
                        <a:rPr lang="es-ES" sz="1600" dirty="0" err="1"/>
                        <a:t>eq</a:t>
                      </a:r>
                      <a:endParaRPr lang="es-ES" sz="1600" dirty="0"/>
                    </a:p>
                  </a:txBody>
                  <a:tcPr/>
                </a:tc>
                <a:tc>
                  <a:txBody>
                    <a:bodyPr/>
                    <a:lstStyle/>
                    <a:p>
                      <a:r>
                        <a:rPr lang="es-ES" sz="1600" dirty="0"/>
                        <a:t>Igual</a:t>
                      </a:r>
                      <a:endParaRPr lang="es-ES" sz="1600" dirty="0"/>
                    </a:p>
                  </a:txBody>
                  <a:tcPr/>
                </a:tc>
              </a:tr>
              <a:tr h="370840">
                <a:tc>
                  <a:txBody>
                    <a:bodyPr/>
                    <a:lstStyle/>
                    <a:p>
                      <a:r>
                        <a:rPr lang="es-ES" sz="1600" dirty="0"/>
                        <a:t>-</a:t>
                      </a:r>
                      <a:r>
                        <a:rPr lang="es-ES" sz="1600" dirty="0" err="1"/>
                        <a:t>ne</a:t>
                      </a:r>
                      <a:endParaRPr lang="es-ES" sz="1600" dirty="0"/>
                    </a:p>
                  </a:txBody>
                  <a:tcPr/>
                </a:tc>
                <a:tc>
                  <a:txBody>
                    <a:bodyPr/>
                    <a:lstStyle/>
                    <a:p>
                      <a:r>
                        <a:rPr lang="es-ES" sz="1600" dirty="0"/>
                        <a:t>Diferente</a:t>
                      </a:r>
                      <a:endParaRPr lang="es-ES" sz="1600" dirty="0"/>
                    </a:p>
                  </a:txBody>
                  <a:tcPr/>
                </a:tc>
              </a:tr>
              <a:tr h="370840">
                <a:tc>
                  <a:txBody>
                    <a:bodyPr/>
                    <a:lstStyle/>
                    <a:p>
                      <a:r>
                        <a:rPr lang="es-ES" sz="1600" dirty="0"/>
                        <a:t>-</a:t>
                      </a:r>
                      <a:r>
                        <a:rPr lang="es-ES" sz="1600" dirty="0" err="1"/>
                        <a:t>lt</a:t>
                      </a:r>
                      <a:endParaRPr lang="es-ES" sz="1600" dirty="0"/>
                    </a:p>
                  </a:txBody>
                  <a:tcPr/>
                </a:tc>
                <a:tc>
                  <a:txBody>
                    <a:bodyPr/>
                    <a:lstStyle/>
                    <a:p>
                      <a:r>
                        <a:rPr lang="es-ES" sz="1600" dirty="0"/>
                        <a:t>Inferior</a:t>
                      </a:r>
                      <a:endParaRPr lang="es-ES" sz="1600" dirty="0"/>
                    </a:p>
                  </a:txBody>
                  <a:tcPr/>
                </a:tc>
              </a:tr>
              <a:tr h="370840">
                <a:tc>
                  <a:txBody>
                    <a:bodyPr/>
                    <a:lstStyle/>
                    <a:p>
                      <a:r>
                        <a:rPr lang="es-ES" sz="1600" dirty="0"/>
                        <a:t>-</a:t>
                      </a:r>
                      <a:r>
                        <a:rPr lang="es-ES" sz="1600" dirty="0" err="1"/>
                        <a:t>gt</a:t>
                      </a:r>
                      <a:endParaRPr lang="es-ES" sz="1600" dirty="0"/>
                    </a:p>
                  </a:txBody>
                  <a:tcPr/>
                </a:tc>
                <a:tc>
                  <a:txBody>
                    <a:bodyPr/>
                    <a:lstStyle/>
                    <a:p>
                      <a:r>
                        <a:rPr lang="es-ES" sz="1600" dirty="0"/>
                        <a:t>Superior</a:t>
                      </a:r>
                      <a:endParaRPr lang="es-ES" sz="1600" dirty="0"/>
                    </a:p>
                  </a:txBody>
                  <a:tcPr/>
                </a:tc>
              </a:tr>
              <a:tr h="370840">
                <a:tc>
                  <a:txBody>
                    <a:bodyPr/>
                    <a:lstStyle/>
                    <a:p>
                      <a:r>
                        <a:rPr lang="es-ES" sz="1600" dirty="0"/>
                        <a:t>-le</a:t>
                      </a:r>
                      <a:endParaRPr lang="es-ES" sz="1600" dirty="0"/>
                    </a:p>
                  </a:txBody>
                  <a:tcPr/>
                </a:tc>
                <a:tc>
                  <a:txBody>
                    <a:bodyPr/>
                    <a:lstStyle/>
                    <a:p>
                      <a:r>
                        <a:rPr lang="es-ES" sz="1600" dirty="0"/>
                        <a:t>Inferior o igual</a:t>
                      </a:r>
                      <a:endParaRPr lang="es-ES" sz="1600" dirty="0"/>
                    </a:p>
                  </a:txBody>
                  <a:tcPr/>
                </a:tc>
              </a:tr>
              <a:tr h="370840">
                <a:tc>
                  <a:txBody>
                    <a:bodyPr/>
                    <a:lstStyle/>
                    <a:p>
                      <a:r>
                        <a:rPr lang="es-ES" sz="1600" dirty="0"/>
                        <a:t>-ge </a:t>
                      </a:r>
                      <a:endParaRPr lang="es-ES" sz="1600" dirty="0"/>
                    </a:p>
                  </a:txBody>
                  <a:tcPr/>
                </a:tc>
                <a:tc>
                  <a:txBody>
                    <a:bodyPr/>
                    <a:lstStyle/>
                    <a:p>
                      <a:r>
                        <a:rPr lang="es-ES" sz="1600" dirty="0"/>
                        <a:t>Superior o igual</a:t>
                      </a:r>
                      <a:endParaRPr lang="es-ES" sz="1600" dirty="0"/>
                    </a:p>
                  </a:txBody>
                  <a:tcPr/>
                </a:tc>
              </a:tr>
            </a:tbl>
          </a:graphicData>
        </a:graphic>
      </p:graphicFrame>
      <p:pic>
        <p:nvPicPr>
          <p:cNvPr id="7" name="Imagen 6"/>
          <p:cNvPicPr>
            <a:picLocks noChangeAspect="1"/>
          </p:cNvPicPr>
          <p:nvPr/>
        </p:nvPicPr>
        <p:blipFill>
          <a:blip r:embed="rId1"/>
          <a:stretch>
            <a:fillRect/>
          </a:stretch>
        </p:blipFill>
        <p:spPr>
          <a:xfrm>
            <a:off x="6565271" y="3501190"/>
            <a:ext cx="3600450" cy="942975"/>
          </a:xfrm>
          <a:prstGeom prst="rect">
            <a:avLst/>
          </a:prstGeom>
        </p:spPr>
      </p:pic>
      <p:pic>
        <p:nvPicPr>
          <p:cNvPr id="8" name="Imagen 7"/>
          <p:cNvPicPr>
            <a:picLocks noChangeAspect="1"/>
          </p:cNvPicPr>
          <p:nvPr/>
        </p:nvPicPr>
        <p:blipFill>
          <a:blip r:embed="rId2"/>
          <a:stretch>
            <a:fillRect/>
          </a:stretch>
        </p:blipFill>
        <p:spPr>
          <a:xfrm>
            <a:off x="6565271" y="4430407"/>
            <a:ext cx="5057775" cy="3524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5684273" cy="1447594"/>
          </a:xfrm>
        </p:spPr>
        <p:txBody>
          <a:bodyPr>
            <a:normAutofit/>
          </a:bodyPr>
          <a:lstStyle/>
          <a:p>
            <a:pPr marL="0">
              <a:buNone/>
            </a:pPr>
            <a:r>
              <a:rPr lang="es-ES" sz="1400" b="1" dirty="0"/>
              <a:t>EL PROGRAMA TEST</a:t>
            </a:r>
            <a:endParaRPr lang="es-ES" sz="1400" b="1" dirty="0"/>
          </a:p>
          <a:p>
            <a:pPr marL="0">
              <a:buNone/>
            </a:pPr>
            <a:r>
              <a:rPr lang="es-ES" sz="1400" b="1" dirty="0"/>
              <a:t>Pruebas sobre todos los archivos:</a:t>
            </a:r>
            <a:endParaRPr lang="es-ES" sz="1400" b="1" dirty="0"/>
          </a:p>
          <a:p>
            <a:pPr marL="0">
              <a:buNone/>
            </a:pPr>
            <a:r>
              <a:rPr lang="es-ES" sz="1400" b="1" dirty="0"/>
              <a:t> </a:t>
            </a:r>
            <a:r>
              <a:rPr lang="es-ES" sz="1400" dirty="0"/>
              <a:t>La sintaxis es: </a:t>
            </a:r>
            <a:r>
              <a:rPr lang="es-ES" sz="1400" b="1" dirty="0"/>
              <a:t>test opción </a:t>
            </a:r>
            <a:r>
              <a:rPr lang="es-ES" sz="1400" b="1" dirty="0" err="1"/>
              <a:t>nombre_archivo</a:t>
            </a:r>
            <a:endParaRPr lang="es-ES" sz="1400" b="1" dirty="0"/>
          </a:p>
          <a:p>
            <a:pPr lvl="1">
              <a:buFont typeface="Wingdings" panose="05000000000000000000" pitchFamily="2" charset="2"/>
              <a:buChar char="§"/>
            </a:pPr>
            <a:endParaRPr lang="es-ES" sz="1200" b="1" dirty="0"/>
          </a:p>
        </p:txBody>
      </p:sp>
      <p:graphicFrame>
        <p:nvGraphicFramePr>
          <p:cNvPr id="3" name="Tabla 5"/>
          <p:cNvGraphicFramePr>
            <a:graphicFrameLocks noGrp="1"/>
          </p:cNvGraphicFramePr>
          <p:nvPr/>
        </p:nvGraphicFramePr>
        <p:xfrm>
          <a:off x="7238999" y="2004699"/>
          <a:ext cx="3886201" cy="3627120"/>
        </p:xfrm>
        <a:graphic>
          <a:graphicData uri="http://schemas.openxmlformats.org/drawingml/2006/table">
            <a:tbl>
              <a:tblPr firstRow="1" bandRow="1">
                <a:tableStyleId>{5C22544A-7EE6-4342-B048-85BDC9FD1C3A}</a:tableStyleId>
              </a:tblPr>
              <a:tblGrid>
                <a:gridCol w="886540"/>
                <a:gridCol w="2999661"/>
              </a:tblGrid>
              <a:tr h="245519">
                <a:tc>
                  <a:txBody>
                    <a:bodyPr/>
                    <a:lstStyle/>
                    <a:p>
                      <a:r>
                        <a:rPr lang="es-ES" sz="1100" dirty="0"/>
                        <a:t>Opción</a:t>
                      </a:r>
                      <a:endParaRPr lang="es-ES" sz="1100" dirty="0"/>
                    </a:p>
                  </a:txBody>
                  <a:tcPr/>
                </a:tc>
                <a:tc>
                  <a:txBody>
                    <a:bodyPr/>
                    <a:lstStyle/>
                    <a:p>
                      <a:r>
                        <a:rPr lang="es-ES" sz="1100" dirty="0"/>
                        <a:t>Función</a:t>
                      </a:r>
                      <a:endParaRPr lang="es-ES" sz="1100" dirty="0"/>
                    </a:p>
                  </a:txBody>
                  <a:tcPr/>
                </a:tc>
              </a:tr>
              <a:tr h="245519">
                <a:tc>
                  <a:txBody>
                    <a:bodyPr/>
                    <a:lstStyle/>
                    <a:p>
                      <a:r>
                        <a:rPr lang="es-ES" sz="1100" dirty="0"/>
                        <a:t>-f</a:t>
                      </a:r>
                      <a:endParaRPr lang="es-ES" sz="1100" dirty="0"/>
                    </a:p>
                  </a:txBody>
                  <a:tcPr/>
                </a:tc>
                <a:tc>
                  <a:txBody>
                    <a:bodyPr/>
                    <a:lstStyle/>
                    <a:p>
                      <a:r>
                        <a:rPr lang="es-ES" sz="1100" dirty="0"/>
                        <a:t>Archivo normal</a:t>
                      </a:r>
                      <a:endParaRPr lang="es-ES" sz="1100" dirty="0"/>
                    </a:p>
                  </a:txBody>
                  <a:tcPr/>
                </a:tc>
              </a:tr>
              <a:tr h="245519">
                <a:tc>
                  <a:txBody>
                    <a:bodyPr/>
                    <a:lstStyle/>
                    <a:p>
                      <a:r>
                        <a:rPr lang="es-ES" sz="1100" dirty="0"/>
                        <a:t>-d</a:t>
                      </a:r>
                      <a:endParaRPr lang="es-ES" sz="1100" dirty="0"/>
                    </a:p>
                  </a:txBody>
                  <a:tcPr/>
                </a:tc>
                <a:tc>
                  <a:txBody>
                    <a:bodyPr/>
                    <a:lstStyle/>
                    <a:p>
                      <a:r>
                        <a:rPr lang="es-ES" sz="1100" dirty="0"/>
                        <a:t>Un directorio</a:t>
                      </a:r>
                      <a:endParaRPr lang="es-ES" sz="1100" dirty="0"/>
                    </a:p>
                  </a:txBody>
                  <a:tcPr/>
                </a:tc>
              </a:tr>
              <a:tr h="245519">
                <a:tc>
                  <a:txBody>
                    <a:bodyPr/>
                    <a:lstStyle/>
                    <a:p>
                      <a:r>
                        <a:rPr lang="es-ES" sz="1100" dirty="0"/>
                        <a:t>-c</a:t>
                      </a:r>
                      <a:endParaRPr lang="es-ES" sz="1100" dirty="0"/>
                    </a:p>
                  </a:txBody>
                  <a:tcPr/>
                </a:tc>
                <a:tc>
                  <a:txBody>
                    <a:bodyPr/>
                    <a:lstStyle/>
                    <a:p>
                      <a:r>
                        <a:rPr lang="es-ES" sz="1100" dirty="0"/>
                        <a:t>Archivo en modo carácter</a:t>
                      </a:r>
                      <a:endParaRPr lang="es-ES" sz="1100" dirty="0"/>
                    </a:p>
                  </a:txBody>
                  <a:tcPr/>
                </a:tc>
              </a:tr>
              <a:tr h="245519">
                <a:tc>
                  <a:txBody>
                    <a:bodyPr/>
                    <a:lstStyle/>
                    <a:p>
                      <a:r>
                        <a:rPr lang="es-ES" sz="1100" dirty="0"/>
                        <a:t>-b</a:t>
                      </a:r>
                      <a:endParaRPr lang="es-ES" sz="1100" dirty="0"/>
                    </a:p>
                  </a:txBody>
                  <a:tcPr/>
                </a:tc>
                <a:tc>
                  <a:txBody>
                    <a:bodyPr/>
                    <a:lstStyle/>
                    <a:p>
                      <a:r>
                        <a:rPr lang="es-ES" sz="1100" dirty="0"/>
                        <a:t>Archivo en modo bloque</a:t>
                      </a:r>
                      <a:endParaRPr lang="es-ES" sz="1100" dirty="0"/>
                    </a:p>
                  </a:txBody>
                  <a:tcPr/>
                </a:tc>
              </a:tr>
              <a:tr h="245519">
                <a:tc>
                  <a:txBody>
                    <a:bodyPr/>
                    <a:lstStyle/>
                    <a:p>
                      <a:r>
                        <a:rPr lang="es-ES" sz="1100" dirty="0"/>
                        <a:t>-p</a:t>
                      </a:r>
                      <a:endParaRPr lang="es-ES" sz="1100" dirty="0"/>
                    </a:p>
                  </a:txBody>
                  <a:tcPr/>
                </a:tc>
                <a:tc>
                  <a:txBody>
                    <a:bodyPr/>
                    <a:lstStyle/>
                    <a:p>
                      <a:r>
                        <a:rPr lang="es-ES" sz="1100" dirty="0" err="1"/>
                        <a:t>Tuberia</a:t>
                      </a:r>
                      <a:r>
                        <a:rPr lang="es-ES" sz="1100" dirty="0"/>
                        <a:t> nombrada</a:t>
                      </a:r>
                      <a:endParaRPr lang="es-ES" sz="1100" dirty="0"/>
                    </a:p>
                  </a:txBody>
                  <a:tcPr/>
                </a:tc>
              </a:tr>
              <a:tr h="245519">
                <a:tc>
                  <a:txBody>
                    <a:bodyPr/>
                    <a:lstStyle/>
                    <a:p>
                      <a:r>
                        <a:rPr lang="es-ES" sz="1100" dirty="0"/>
                        <a:t>-r</a:t>
                      </a:r>
                      <a:endParaRPr lang="es-ES" sz="1100" dirty="0"/>
                    </a:p>
                  </a:txBody>
                  <a:tcPr/>
                </a:tc>
                <a:tc>
                  <a:txBody>
                    <a:bodyPr/>
                    <a:lstStyle/>
                    <a:p>
                      <a:r>
                        <a:rPr lang="es-ES" sz="1100" dirty="0" err="1"/>
                        <a:t>Pemiso</a:t>
                      </a:r>
                      <a:r>
                        <a:rPr lang="es-ES" sz="1100" dirty="0"/>
                        <a:t> de lectura</a:t>
                      </a:r>
                      <a:endParaRPr lang="es-ES" sz="1100" dirty="0"/>
                    </a:p>
                  </a:txBody>
                  <a:tcPr/>
                </a:tc>
              </a:tr>
              <a:tr h="245519">
                <a:tc>
                  <a:txBody>
                    <a:bodyPr/>
                    <a:lstStyle/>
                    <a:p>
                      <a:r>
                        <a:rPr lang="es-ES" sz="1100" dirty="0"/>
                        <a:t>-w</a:t>
                      </a:r>
                      <a:endParaRPr lang="es-ES" sz="1100" dirty="0"/>
                    </a:p>
                  </a:txBody>
                  <a:tcPr/>
                </a:tc>
                <a:tc>
                  <a:txBody>
                    <a:bodyPr/>
                    <a:lstStyle/>
                    <a:p>
                      <a:r>
                        <a:rPr lang="es-ES" sz="1100" dirty="0"/>
                        <a:t>Permiso de escritura</a:t>
                      </a:r>
                      <a:endParaRPr lang="es-ES" sz="1100" dirty="0"/>
                    </a:p>
                  </a:txBody>
                  <a:tcPr/>
                </a:tc>
              </a:tr>
              <a:tr h="245519">
                <a:tc>
                  <a:txBody>
                    <a:bodyPr/>
                    <a:lstStyle/>
                    <a:p>
                      <a:r>
                        <a:rPr lang="es-ES" sz="1100" dirty="0"/>
                        <a:t>-x</a:t>
                      </a:r>
                      <a:endParaRPr lang="es-ES" sz="1100" dirty="0"/>
                    </a:p>
                  </a:txBody>
                  <a:tcPr/>
                </a:tc>
                <a:tc>
                  <a:txBody>
                    <a:bodyPr/>
                    <a:lstStyle/>
                    <a:p>
                      <a:r>
                        <a:rPr lang="es-ES" sz="1100" dirty="0"/>
                        <a:t>Permiso de ejecución</a:t>
                      </a:r>
                      <a:endParaRPr lang="es-ES" sz="1100" dirty="0"/>
                    </a:p>
                  </a:txBody>
                  <a:tcPr/>
                </a:tc>
              </a:tr>
              <a:tr h="245519">
                <a:tc>
                  <a:txBody>
                    <a:bodyPr/>
                    <a:lstStyle/>
                    <a:p>
                      <a:r>
                        <a:rPr lang="es-ES" sz="1100" dirty="0"/>
                        <a:t>-s</a:t>
                      </a:r>
                      <a:endParaRPr lang="es-ES" sz="1100" dirty="0"/>
                    </a:p>
                  </a:txBody>
                  <a:tcPr/>
                </a:tc>
                <a:tc>
                  <a:txBody>
                    <a:bodyPr/>
                    <a:lstStyle/>
                    <a:p>
                      <a:r>
                        <a:rPr lang="es-ES" sz="1100" dirty="0"/>
                        <a:t>Archivo no </a:t>
                      </a:r>
                      <a:r>
                        <a:rPr lang="es-ES" sz="1100" dirty="0" err="1"/>
                        <a:t>vacio</a:t>
                      </a:r>
                      <a:endParaRPr lang="es-ES" sz="1100" dirty="0"/>
                    </a:p>
                  </a:txBody>
                  <a:tcPr/>
                </a:tc>
              </a:tr>
              <a:tr h="245519">
                <a:tc>
                  <a:txBody>
                    <a:bodyPr/>
                    <a:lstStyle/>
                    <a:p>
                      <a:r>
                        <a:rPr lang="es-ES" sz="1100" dirty="0"/>
                        <a:t>-e</a:t>
                      </a:r>
                      <a:endParaRPr lang="es-ES" sz="1100" dirty="0"/>
                    </a:p>
                  </a:txBody>
                  <a:tcPr/>
                </a:tc>
                <a:tc>
                  <a:txBody>
                    <a:bodyPr/>
                    <a:lstStyle/>
                    <a:p>
                      <a:r>
                        <a:rPr lang="es-ES" sz="1100" dirty="0"/>
                        <a:t>El archivo existe</a:t>
                      </a:r>
                      <a:endParaRPr lang="es-ES" sz="1100" dirty="0"/>
                    </a:p>
                  </a:txBody>
                  <a:tcPr/>
                </a:tc>
              </a:tr>
              <a:tr h="245519">
                <a:tc>
                  <a:txBody>
                    <a:bodyPr/>
                    <a:lstStyle/>
                    <a:p>
                      <a:r>
                        <a:rPr lang="es-ES" sz="1100" dirty="0"/>
                        <a:t>-L</a:t>
                      </a:r>
                      <a:endParaRPr lang="es-ES" sz="1100" dirty="0"/>
                    </a:p>
                  </a:txBody>
                  <a:tcPr/>
                </a:tc>
                <a:tc>
                  <a:txBody>
                    <a:bodyPr/>
                    <a:lstStyle/>
                    <a:p>
                      <a:r>
                        <a:rPr lang="es-ES" sz="1100" dirty="0"/>
                        <a:t>El archivo es un vínculo simbólico</a:t>
                      </a:r>
                      <a:endParaRPr lang="es-ES" sz="1100" dirty="0"/>
                    </a:p>
                  </a:txBody>
                  <a:tcPr/>
                </a:tc>
              </a:tr>
              <a:tr h="245519">
                <a:tc>
                  <a:txBody>
                    <a:bodyPr/>
                    <a:lstStyle/>
                    <a:p>
                      <a:r>
                        <a:rPr lang="es-ES" sz="1100" dirty="0"/>
                        <a:t>-u</a:t>
                      </a:r>
                      <a:endParaRPr lang="es-ES" sz="1100" dirty="0"/>
                    </a:p>
                  </a:txBody>
                  <a:tcPr/>
                </a:tc>
                <a:tc>
                  <a:txBody>
                    <a:bodyPr/>
                    <a:lstStyle/>
                    <a:p>
                      <a:r>
                        <a:rPr lang="es-ES" sz="1100" dirty="0"/>
                        <a:t>El archivo existe, SUID- Bit activado</a:t>
                      </a:r>
                      <a:endParaRPr lang="es-ES" sz="1100" dirty="0"/>
                    </a:p>
                  </a:txBody>
                  <a:tcPr/>
                </a:tc>
              </a:tr>
              <a:tr h="245519">
                <a:tc>
                  <a:txBody>
                    <a:bodyPr/>
                    <a:lstStyle/>
                    <a:p>
                      <a:r>
                        <a:rPr lang="es-ES" sz="1100" dirty="0"/>
                        <a:t>-g</a:t>
                      </a:r>
                      <a:endParaRPr lang="es-ES" sz="1100" dirty="0"/>
                    </a:p>
                  </a:txBody>
                  <a:tcPr/>
                </a:tc>
                <a:tc>
                  <a:txBody>
                    <a:bodyPr/>
                    <a:lstStyle/>
                    <a:p>
                      <a:r>
                        <a:rPr lang="es-ES" sz="1100" dirty="0"/>
                        <a:t>El archivo existe, SGID- Bit activado</a:t>
                      </a:r>
                      <a:endParaRPr lang="es-ES" sz="1100" dirty="0"/>
                    </a:p>
                  </a:txBody>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sz="1400" b="1" dirty="0"/>
              <a:t>EL PROGRAMA TEST</a:t>
            </a:r>
            <a:endParaRPr lang="es-ES" sz="1400" b="1" dirty="0"/>
          </a:p>
          <a:p>
            <a:pPr marL="0">
              <a:buNone/>
            </a:pPr>
            <a:r>
              <a:rPr lang="es-ES" sz="1400" b="1" dirty="0"/>
              <a:t>Pruebas combinadas por criterios </a:t>
            </a:r>
            <a:r>
              <a:rPr lang="es-ES" sz="1400" dirty="0"/>
              <a:t>Y, O, NO:</a:t>
            </a:r>
            <a:endParaRPr lang="es-ES" sz="1400" dirty="0"/>
          </a:p>
          <a:p>
            <a:pPr marL="0">
              <a:buNone/>
            </a:pPr>
            <a:r>
              <a:rPr lang="es-ES" sz="1400" dirty="0"/>
              <a:t>Puede efectuar varias pruebas con una sola instrucción. Las opciones de combinación son las mismas que para el comando </a:t>
            </a:r>
            <a:r>
              <a:rPr lang="es-ES" sz="1400" dirty="0" err="1"/>
              <a:t>find</a:t>
            </a:r>
            <a:r>
              <a:rPr lang="es-ES" sz="1400" b="1" dirty="0"/>
              <a:t>.</a:t>
            </a:r>
            <a:endParaRPr lang="es-ES" sz="1400" b="1" dirty="0"/>
          </a:p>
          <a:p>
            <a:pPr marL="0">
              <a:buNone/>
            </a:pPr>
            <a:endParaRPr lang="es-ES" sz="1400" b="1" dirty="0"/>
          </a:p>
          <a:p>
            <a:pPr marL="0">
              <a:buNone/>
            </a:pPr>
            <a:endParaRPr lang="es-ES" sz="1400" b="1" dirty="0"/>
          </a:p>
          <a:p>
            <a:pPr marL="0">
              <a:buNone/>
            </a:pPr>
            <a:endParaRPr lang="es-ES" sz="1400" b="1" dirty="0"/>
          </a:p>
          <a:p>
            <a:pPr marL="0">
              <a:buNone/>
            </a:pPr>
            <a:r>
              <a:rPr lang="es-ES" sz="1400" b="1" dirty="0"/>
              <a:t>Sintaxis ligera: </a:t>
            </a:r>
            <a:r>
              <a:rPr lang="es-ES" sz="1400" dirty="0"/>
              <a:t>Se puede sustituir la palabra test por los corchetes abiertos y cerrados […]. Hay que colocar un espacio antes y otro después de los corchetes.</a:t>
            </a:r>
            <a:endParaRPr lang="es-ES" sz="1400" dirty="0"/>
          </a:p>
          <a:p>
            <a:pPr marL="1608455" lvl="8">
              <a:buNone/>
            </a:pPr>
            <a:r>
              <a:rPr lang="es-ES" sz="1600" dirty="0"/>
              <a:t>$ [ “$a” –</a:t>
            </a:r>
            <a:r>
              <a:rPr lang="es-ES" sz="1600" dirty="0" err="1"/>
              <a:t>lt</a:t>
            </a:r>
            <a:r>
              <a:rPr lang="es-ES" sz="1600" dirty="0"/>
              <a:t> “$b” ] &amp;&amp; echo “$a es inferior a $b”</a:t>
            </a:r>
            <a:endParaRPr lang="es-ES" sz="1600" dirty="0"/>
          </a:p>
          <a:p>
            <a:pPr marL="1608455" lvl="8">
              <a:buNone/>
            </a:pPr>
            <a:r>
              <a:rPr lang="es-ES" sz="1600" dirty="0"/>
              <a:t>$ 10 es inferior a 20</a:t>
            </a:r>
            <a:endParaRPr lang="es-ES" sz="1600" dirty="0"/>
          </a:p>
          <a:p>
            <a:pPr lvl="1">
              <a:buFont typeface="Wingdings" panose="05000000000000000000" pitchFamily="2" charset="2"/>
              <a:buChar char="§"/>
            </a:pPr>
            <a:endParaRPr lang="es-ES" sz="1200" b="1" dirty="0"/>
          </a:p>
        </p:txBody>
      </p:sp>
      <p:graphicFrame>
        <p:nvGraphicFramePr>
          <p:cNvPr id="3" name="Tabla 5"/>
          <p:cNvGraphicFramePr>
            <a:graphicFrameLocks noGrp="1"/>
          </p:cNvGraphicFramePr>
          <p:nvPr/>
        </p:nvGraphicFramePr>
        <p:xfrm>
          <a:off x="3160294" y="3230880"/>
          <a:ext cx="6224338" cy="1524000"/>
        </p:xfrm>
        <a:graphic>
          <a:graphicData uri="http://schemas.openxmlformats.org/drawingml/2006/table">
            <a:tbl>
              <a:tblPr firstRow="1" bandRow="1">
                <a:tableStyleId>{5C22544A-7EE6-4342-B048-85BDC9FD1C3A}</a:tableStyleId>
              </a:tblPr>
              <a:tblGrid>
                <a:gridCol w="1419928"/>
                <a:gridCol w="4804410"/>
              </a:tblGrid>
              <a:tr h="245519">
                <a:tc>
                  <a:txBody>
                    <a:bodyPr/>
                    <a:lstStyle/>
                    <a:p>
                      <a:r>
                        <a:rPr lang="es-ES" sz="1400" dirty="0"/>
                        <a:t>Criterio</a:t>
                      </a:r>
                      <a:endParaRPr lang="es-ES" sz="1400" dirty="0"/>
                    </a:p>
                  </a:txBody>
                  <a:tcPr/>
                </a:tc>
                <a:tc>
                  <a:txBody>
                    <a:bodyPr/>
                    <a:lstStyle/>
                    <a:p>
                      <a:r>
                        <a:rPr lang="es-ES" sz="1400" dirty="0"/>
                        <a:t>Acción</a:t>
                      </a:r>
                      <a:endParaRPr lang="es-ES" sz="1400" dirty="0"/>
                    </a:p>
                  </a:txBody>
                  <a:tcPr/>
                </a:tc>
              </a:tr>
              <a:tr h="245519">
                <a:tc>
                  <a:txBody>
                    <a:bodyPr/>
                    <a:lstStyle/>
                    <a:p>
                      <a:r>
                        <a:rPr lang="es-ES" sz="1400" dirty="0"/>
                        <a:t>-a</a:t>
                      </a:r>
                      <a:endParaRPr lang="es-ES" sz="1400" dirty="0"/>
                    </a:p>
                  </a:txBody>
                  <a:tcPr/>
                </a:tc>
                <a:tc>
                  <a:txBody>
                    <a:bodyPr/>
                    <a:lstStyle/>
                    <a:p>
                      <a:r>
                        <a:rPr lang="es-ES" sz="1400" dirty="0"/>
                        <a:t>AND, Y lógico</a:t>
                      </a:r>
                      <a:endParaRPr lang="es-ES" sz="1400" dirty="0"/>
                    </a:p>
                  </a:txBody>
                  <a:tcPr/>
                </a:tc>
              </a:tr>
              <a:tr h="245519">
                <a:tc>
                  <a:txBody>
                    <a:bodyPr/>
                    <a:lstStyle/>
                    <a:p>
                      <a:r>
                        <a:rPr lang="es-ES" sz="1400" dirty="0"/>
                        <a:t>-o</a:t>
                      </a:r>
                      <a:endParaRPr lang="es-ES" sz="1400" dirty="0"/>
                    </a:p>
                  </a:txBody>
                  <a:tcPr/>
                </a:tc>
                <a:tc>
                  <a:txBody>
                    <a:bodyPr/>
                    <a:lstStyle/>
                    <a:p>
                      <a:r>
                        <a:rPr lang="es-ES" sz="1400" dirty="0"/>
                        <a:t>OR, O lógico</a:t>
                      </a:r>
                      <a:endParaRPr lang="es-ES" sz="1400" dirty="0"/>
                    </a:p>
                  </a:txBody>
                  <a:tcPr/>
                </a:tc>
              </a:tr>
              <a:tr h="245519">
                <a:tc>
                  <a:txBody>
                    <a:bodyPr/>
                    <a:lstStyle/>
                    <a:p>
                      <a:r>
                        <a:rPr lang="es-ES" sz="1400" dirty="0"/>
                        <a:t>!</a:t>
                      </a:r>
                      <a:endParaRPr lang="es-ES" sz="1400" dirty="0"/>
                    </a:p>
                  </a:txBody>
                  <a:tcPr/>
                </a:tc>
                <a:tc>
                  <a:txBody>
                    <a:bodyPr/>
                    <a:lstStyle/>
                    <a:p>
                      <a:r>
                        <a:rPr lang="es-ES" sz="1400" dirty="0"/>
                        <a:t>NOT, NO lógico</a:t>
                      </a:r>
                      <a:endParaRPr lang="es-ES" sz="1400" dirty="0"/>
                    </a:p>
                  </a:txBody>
                  <a:tcPr/>
                </a:tc>
              </a:tr>
              <a:tr h="245519">
                <a:tc>
                  <a:txBody>
                    <a:bodyPr/>
                    <a:lstStyle/>
                    <a:p>
                      <a:r>
                        <a:rPr lang="es-ES" sz="1400" dirty="0"/>
                        <a:t>(…)</a:t>
                      </a:r>
                      <a:endParaRPr lang="es-ES" sz="1400" dirty="0"/>
                    </a:p>
                  </a:txBody>
                  <a:tcPr/>
                </a:tc>
                <a:tc>
                  <a:txBody>
                    <a:bodyPr/>
                    <a:lstStyle/>
                    <a:p>
                      <a:r>
                        <a:rPr lang="es-ES" sz="1400" dirty="0"/>
                        <a:t>Agrupación de las combinaciones</a:t>
                      </a:r>
                      <a:endParaRPr lang="es-ES" sz="1400" dirty="0"/>
                    </a:p>
                  </a:txBody>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b="1" dirty="0" err="1"/>
              <a:t>If</a:t>
            </a:r>
            <a:r>
              <a:rPr lang="es-ES" b="1" dirty="0"/>
              <a:t> …</a:t>
            </a:r>
            <a:r>
              <a:rPr lang="es-ES" b="1" dirty="0" err="1"/>
              <a:t>then</a:t>
            </a:r>
            <a:r>
              <a:rPr lang="es-ES" b="1" dirty="0"/>
              <a:t>….</a:t>
            </a:r>
            <a:r>
              <a:rPr lang="es-ES" b="1" dirty="0" err="1"/>
              <a:t>else</a:t>
            </a:r>
            <a:r>
              <a:rPr lang="es-ES" b="1" dirty="0"/>
              <a:t>…fi</a:t>
            </a:r>
            <a:endParaRPr lang="es-ES" dirty="0"/>
          </a:p>
          <a:p>
            <a:pPr marL="0">
              <a:buNone/>
            </a:pPr>
            <a:r>
              <a:rPr lang="es-ES" dirty="0"/>
              <a:t>La estructura </a:t>
            </a:r>
            <a:r>
              <a:rPr lang="es-ES" b="1" dirty="0" err="1"/>
              <a:t>if</a:t>
            </a:r>
            <a:r>
              <a:rPr lang="es-ES" b="1" dirty="0"/>
              <a:t> </a:t>
            </a:r>
            <a:r>
              <a:rPr lang="es-ES" b="1" dirty="0" err="1"/>
              <a:t>then</a:t>
            </a:r>
            <a:r>
              <a:rPr lang="es-ES" b="1" dirty="0"/>
              <a:t> </a:t>
            </a:r>
            <a:r>
              <a:rPr lang="es-ES" b="1" dirty="0" err="1"/>
              <a:t>else</a:t>
            </a:r>
            <a:r>
              <a:rPr lang="es-ES" b="1" dirty="0"/>
              <a:t> fi</a:t>
            </a:r>
            <a:r>
              <a:rPr lang="es-ES" dirty="0"/>
              <a:t>, es una estructura de control condicional</a:t>
            </a:r>
            <a:endParaRPr lang="es-ES" dirty="0"/>
          </a:p>
          <a:p>
            <a:pPr marL="0">
              <a:lnSpc>
                <a:spcPct val="110000"/>
              </a:lnSpc>
              <a:spcBef>
                <a:spcPts val="300"/>
              </a:spcBef>
              <a:spcAft>
                <a:spcPts val="300"/>
              </a:spcAft>
              <a:buNone/>
            </a:pPr>
            <a:r>
              <a:rPr lang="es-ES" b="1" i="1" dirty="0" err="1"/>
              <a:t>If</a:t>
            </a:r>
            <a:r>
              <a:rPr lang="es-ES" b="1" i="1" dirty="0"/>
              <a:t> &lt;</a:t>
            </a:r>
            <a:r>
              <a:rPr lang="es-ES" b="1" i="1" dirty="0" err="1"/>
              <a:t>comandos_condición</a:t>
            </a:r>
            <a:r>
              <a:rPr lang="es-ES" b="1" i="1" dirty="0"/>
              <a:t>&gt;</a:t>
            </a:r>
            <a:endParaRPr lang="es-ES" b="1" i="1" dirty="0"/>
          </a:p>
          <a:p>
            <a:pPr marL="0">
              <a:lnSpc>
                <a:spcPct val="110000"/>
              </a:lnSpc>
              <a:spcBef>
                <a:spcPts val="300"/>
              </a:spcBef>
              <a:spcAft>
                <a:spcPts val="300"/>
              </a:spcAft>
              <a:buNone/>
            </a:pPr>
            <a:r>
              <a:rPr lang="es-ES" b="1" i="1" dirty="0" err="1"/>
              <a:t>Then</a:t>
            </a:r>
            <a:endParaRPr lang="es-ES" b="1" i="1" dirty="0"/>
          </a:p>
          <a:p>
            <a:pPr marL="0">
              <a:lnSpc>
                <a:spcPct val="110000"/>
              </a:lnSpc>
              <a:spcBef>
                <a:spcPts val="300"/>
              </a:spcBef>
              <a:spcAft>
                <a:spcPts val="300"/>
              </a:spcAft>
              <a:buNone/>
            </a:pPr>
            <a:r>
              <a:rPr lang="es-ES" b="1" i="1" dirty="0"/>
              <a:t>	&lt;comandos ejecutados si condición cumplida&gt; </a:t>
            </a:r>
            <a:r>
              <a:rPr lang="es-ES" b="1" i="1" dirty="0" err="1"/>
              <a:t>else</a:t>
            </a:r>
            <a:endParaRPr lang="es-ES" b="1" i="1" dirty="0"/>
          </a:p>
          <a:p>
            <a:pPr marL="0">
              <a:lnSpc>
                <a:spcPct val="110000"/>
              </a:lnSpc>
              <a:spcBef>
                <a:spcPts val="300"/>
              </a:spcBef>
              <a:spcAft>
                <a:spcPts val="300"/>
              </a:spcAft>
              <a:buNone/>
            </a:pPr>
            <a:r>
              <a:rPr lang="es-ES" b="1" i="1" dirty="0" err="1"/>
              <a:t>Elif</a:t>
            </a:r>
            <a:r>
              <a:rPr lang="es-ES" b="1" i="1" dirty="0"/>
              <a:t> &lt;condición&gt;</a:t>
            </a:r>
            <a:endParaRPr lang="es-ES" b="1" i="1" dirty="0"/>
          </a:p>
          <a:p>
            <a:pPr marL="0">
              <a:lnSpc>
                <a:spcPct val="110000"/>
              </a:lnSpc>
              <a:spcBef>
                <a:spcPts val="300"/>
              </a:spcBef>
              <a:spcAft>
                <a:spcPts val="300"/>
              </a:spcAft>
              <a:buNone/>
            </a:pPr>
            <a:r>
              <a:rPr lang="es-ES" b="1" i="1" dirty="0" err="1"/>
              <a:t>Then</a:t>
            </a:r>
            <a:endParaRPr lang="es-ES" b="1" i="1" dirty="0"/>
          </a:p>
          <a:p>
            <a:pPr marL="0">
              <a:lnSpc>
                <a:spcPct val="110000"/>
              </a:lnSpc>
              <a:spcBef>
                <a:spcPts val="300"/>
              </a:spcBef>
              <a:spcAft>
                <a:spcPts val="300"/>
              </a:spcAft>
              <a:buNone/>
            </a:pPr>
            <a:r>
              <a:rPr lang="es-ES" b="1" i="1" dirty="0"/>
              <a:t>	&lt;comandos ejecutados si condición cumplida&gt; </a:t>
            </a:r>
            <a:r>
              <a:rPr lang="es-ES" b="1" i="1" dirty="0" err="1"/>
              <a:t>else</a:t>
            </a:r>
            <a:endParaRPr lang="es-ES" b="1" i="1" dirty="0"/>
          </a:p>
          <a:p>
            <a:pPr marL="0">
              <a:lnSpc>
                <a:spcPct val="110000"/>
              </a:lnSpc>
              <a:spcBef>
                <a:spcPts val="300"/>
              </a:spcBef>
              <a:spcAft>
                <a:spcPts val="300"/>
              </a:spcAft>
              <a:buNone/>
            </a:pPr>
            <a:r>
              <a:rPr lang="es-ES" b="1" i="1" dirty="0"/>
              <a:t>	&lt;comandos ejecutados si última condición no realizada&gt;</a:t>
            </a:r>
            <a:endParaRPr lang="es-ES" b="1" i="1" dirty="0"/>
          </a:p>
          <a:p>
            <a:pPr marL="0">
              <a:lnSpc>
                <a:spcPct val="110000"/>
              </a:lnSpc>
              <a:spcBef>
                <a:spcPts val="300"/>
              </a:spcBef>
              <a:spcAft>
                <a:spcPts val="300"/>
              </a:spcAft>
              <a:buNone/>
            </a:pPr>
            <a:r>
              <a:rPr lang="es-ES" b="1" i="1" dirty="0"/>
              <a:t>fi</a:t>
            </a:r>
            <a:endParaRPr lang="es-ES" b="1" i="1" dirty="0"/>
          </a:p>
          <a:p>
            <a:pPr lvl="1">
              <a:buFont typeface="Wingdings" panose="05000000000000000000" pitchFamily="2" charset="2"/>
              <a:buChar char="§"/>
            </a:pPr>
            <a:endParaRPr lang="es-ES" sz="12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b="1" dirty="0" err="1"/>
              <a:t>If</a:t>
            </a:r>
            <a:r>
              <a:rPr lang="es-ES" b="1" dirty="0"/>
              <a:t> …</a:t>
            </a:r>
            <a:r>
              <a:rPr lang="es-ES" b="1" dirty="0" err="1"/>
              <a:t>then</a:t>
            </a:r>
            <a:r>
              <a:rPr lang="es-ES" b="1" dirty="0"/>
              <a:t>….</a:t>
            </a:r>
            <a:r>
              <a:rPr lang="es-ES" b="1" dirty="0" err="1"/>
              <a:t>else</a:t>
            </a:r>
            <a:r>
              <a:rPr lang="es-ES" b="1" dirty="0"/>
              <a:t>. </a:t>
            </a:r>
            <a:endParaRPr lang="es-ES" dirty="0"/>
          </a:p>
          <a:p>
            <a:pPr marL="0">
              <a:lnSpc>
                <a:spcPct val="110000"/>
              </a:lnSpc>
              <a:spcBef>
                <a:spcPts val="300"/>
              </a:spcBef>
              <a:spcAft>
                <a:spcPts val="300"/>
              </a:spcAft>
              <a:buNone/>
            </a:pPr>
            <a:r>
              <a:rPr lang="es-ES" b="1" i="1" dirty="0"/>
              <a:t>Ejemplos:</a:t>
            </a:r>
            <a:endParaRPr lang="es-ES" b="1" i="1" dirty="0"/>
          </a:p>
          <a:p>
            <a:pPr marL="0">
              <a:lnSpc>
                <a:spcPct val="110000"/>
              </a:lnSpc>
              <a:spcBef>
                <a:spcPts val="300"/>
              </a:spcBef>
              <a:spcAft>
                <a:spcPts val="300"/>
              </a:spcAft>
              <a:buNone/>
            </a:pPr>
            <a:endParaRPr lang="es-ES" b="1" i="1" dirty="0"/>
          </a:p>
          <a:p>
            <a:pPr lvl="1">
              <a:buFont typeface="Wingdings" panose="05000000000000000000" pitchFamily="2" charset="2"/>
              <a:buChar char="§"/>
            </a:pPr>
            <a:endParaRPr lang="es-ES" sz="1200" b="1" dirty="0"/>
          </a:p>
        </p:txBody>
      </p:sp>
      <p:pic>
        <p:nvPicPr>
          <p:cNvPr id="3" name="Imagen 2"/>
          <p:cNvPicPr>
            <a:picLocks noChangeAspect="1"/>
          </p:cNvPicPr>
          <p:nvPr/>
        </p:nvPicPr>
        <p:blipFill>
          <a:blip r:embed="rId1"/>
          <a:stretch>
            <a:fillRect/>
          </a:stretch>
        </p:blipFill>
        <p:spPr>
          <a:xfrm>
            <a:off x="5238750" y="1949938"/>
            <a:ext cx="5886450" cy="1143000"/>
          </a:xfrm>
          <a:prstGeom prst="rect">
            <a:avLst/>
          </a:prstGeom>
        </p:spPr>
      </p:pic>
      <p:pic>
        <p:nvPicPr>
          <p:cNvPr id="6" name="Imagen 5"/>
          <p:cNvPicPr>
            <a:picLocks noChangeAspect="1"/>
          </p:cNvPicPr>
          <p:nvPr/>
        </p:nvPicPr>
        <p:blipFill>
          <a:blip r:embed="rId2"/>
          <a:stretch>
            <a:fillRect/>
          </a:stretch>
        </p:blipFill>
        <p:spPr>
          <a:xfrm>
            <a:off x="1066800" y="3466568"/>
            <a:ext cx="5934075" cy="23526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b="1" dirty="0"/>
              <a:t>Evaluación múltiple</a:t>
            </a:r>
            <a:endParaRPr lang="es-ES" dirty="0"/>
          </a:p>
          <a:p>
            <a:pPr marL="0">
              <a:buNone/>
            </a:pPr>
            <a:r>
              <a:rPr lang="es-ES" dirty="0"/>
              <a:t>El comando </a:t>
            </a:r>
            <a:r>
              <a:rPr lang="es-ES" b="1" dirty="0"/>
              <a:t>case---</a:t>
            </a:r>
            <a:r>
              <a:rPr lang="es-ES" b="1" dirty="0" err="1"/>
              <a:t>esac</a:t>
            </a:r>
            <a:r>
              <a:rPr lang="es-ES" b="1" dirty="0"/>
              <a:t> </a:t>
            </a:r>
            <a:r>
              <a:rPr lang="es-ES" dirty="0"/>
              <a:t>permite comprobar el contenido de una variable o de un resultado de una manera múltiple.</a:t>
            </a:r>
            <a:endParaRPr lang="es-ES" b="1" i="1" dirty="0"/>
          </a:p>
          <a:p>
            <a:pPr marL="0">
              <a:lnSpc>
                <a:spcPct val="110000"/>
              </a:lnSpc>
              <a:spcBef>
                <a:spcPts val="300"/>
              </a:spcBef>
              <a:spcAft>
                <a:spcPts val="300"/>
              </a:spcAft>
              <a:buNone/>
            </a:pPr>
            <a:r>
              <a:rPr lang="es-ES" b="1" i="1" dirty="0"/>
              <a:t>case Valor in</a:t>
            </a:r>
            <a:endParaRPr lang="es-ES" b="1" i="1" dirty="0"/>
          </a:p>
          <a:p>
            <a:pPr marL="0">
              <a:lnSpc>
                <a:spcPct val="110000"/>
              </a:lnSpc>
              <a:spcBef>
                <a:spcPts val="300"/>
              </a:spcBef>
              <a:spcAft>
                <a:spcPts val="300"/>
              </a:spcAft>
              <a:buNone/>
            </a:pPr>
            <a:r>
              <a:rPr lang="es-ES" b="1" i="1" dirty="0"/>
              <a:t>	Modelo1) Comandos ;;</a:t>
            </a:r>
            <a:endParaRPr lang="es-ES" b="1" i="1" dirty="0"/>
          </a:p>
          <a:p>
            <a:pPr marL="0">
              <a:lnSpc>
                <a:spcPct val="110000"/>
              </a:lnSpc>
              <a:spcBef>
                <a:spcPts val="300"/>
              </a:spcBef>
              <a:spcAft>
                <a:spcPts val="300"/>
              </a:spcAft>
              <a:buNone/>
            </a:pPr>
            <a:r>
              <a:rPr lang="es-ES" b="1" i="1" dirty="0"/>
              <a:t>	Modelo2) Comandos ;;</a:t>
            </a:r>
            <a:endParaRPr lang="es-ES" b="1" i="1" dirty="0"/>
          </a:p>
          <a:p>
            <a:pPr marL="0">
              <a:lnSpc>
                <a:spcPct val="110000"/>
              </a:lnSpc>
              <a:spcBef>
                <a:spcPts val="300"/>
              </a:spcBef>
              <a:spcAft>
                <a:spcPts val="300"/>
              </a:spcAft>
              <a:buNone/>
            </a:pPr>
            <a:r>
              <a:rPr lang="es-ES" b="1" i="1" dirty="0"/>
              <a:t>	*) </a:t>
            </a:r>
            <a:r>
              <a:rPr lang="es-ES" b="1" i="1" dirty="0" err="1"/>
              <a:t>acción_defecto</a:t>
            </a:r>
            <a:r>
              <a:rPr lang="es-ES" b="1" i="1" dirty="0"/>
              <a:t> ;;</a:t>
            </a:r>
            <a:endParaRPr lang="es-ES" b="1" i="1" dirty="0"/>
          </a:p>
          <a:p>
            <a:pPr marL="0">
              <a:lnSpc>
                <a:spcPct val="110000"/>
              </a:lnSpc>
              <a:spcBef>
                <a:spcPts val="300"/>
              </a:spcBef>
              <a:spcAft>
                <a:spcPts val="300"/>
              </a:spcAft>
              <a:buNone/>
            </a:pPr>
            <a:r>
              <a:rPr lang="es-ES" b="1" i="1" dirty="0" err="1"/>
              <a:t>esac</a:t>
            </a:r>
            <a:endParaRPr lang="es-ES" b="1" i="1" dirty="0"/>
          </a:p>
        </p:txBody>
      </p:sp>
      <p:graphicFrame>
        <p:nvGraphicFramePr>
          <p:cNvPr id="3" name="Tabla 4"/>
          <p:cNvGraphicFramePr>
            <a:graphicFrameLocks noGrp="1"/>
          </p:cNvGraphicFramePr>
          <p:nvPr/>
        </p:nvGraphicFramePr>
        <p:xfrm>
          <a:off x="5075582" y="3028080"/>
          <a:ext cx="5813288" cy="2011680"/>
        </p:xfrm>
        <a:graphic>
          <a:graphicData uri="http://schemas.openxmlformats.org/drawingml/2006/table">
            <a:tbl>
              <a:tblPr firstRow="1" bandRow="1">
                <a:tableStyleId>{5C22544A-7EE6-4342-B048-85BDC9FD1C3A}</a:tableStyleId>
              </a:tblPr>
              <a:tblGrid>
                <a:gridCol w="1497496"/>
                <a:gridCol w="4315792"/>
              </a:tblGrid>
              <a:tr h="324370">
                <a:tc>
                  <a:txBody>
                    <a:bodyPr/>
                    <a:lstStyle/>
                    <a:p>
                      <a:r>
                        <a:rPr lang="es-ES" sz="1600" dirty="0"/>
                        <a:t>Carácter</a:t>
                      </a:r>
                      <a:endParaRPr lang="es-ES" sz="1600" dirty="0"/>
                    </a:p>
                  </a:txBody>
                  <a:tcPr/>
                </a:tc>
                <a:tc>
                  <a:txBody>
                    <a:bodyPr/>
                    <a:lstStyle/>
                    <a:p>
                      <a:r>
                        <a:rPr lang="es-ES" sz="1600" dirty="0"/>
                        <a:t>Función</a:t>
                      </a:r>
                      <a:endParaRPr lang="es-ES" sz="1600" dirty="0"/>
                    </a:p>
                  </a:txBody>
                  <a:tcPr/>
                </a:tc>
              </a:tr>
              <a:tr h="324370">
                <a:tc>
                  <a:txBody>
                    <a:bodyPr/>
                    <a:lstStyle/>
                    <a:p>
                      <a:r>
                        <a:rPr lang="es-ES" sz="1600" dirty="0"/>
                        <a:t>*</a:t>
                      </a:r>
                      <a:endParaRPr lang="es-ES" sz="1600" dirty="0"/>
                    </a:p>
                  </a:txBody>
                  <a:tcPr/>
                </a:tc>
                <a:tc>
                  <a:txBody>
                    <a:bodyPr/>
                    <a:lstStyle/>
                    <a:p>
                      <a:r>
                        <a:rPr lang="es-ES" sz="1600" dirty="0"/>
                        <a:t>Cadena variable</a:t>
                      </a:r>
                      <a:endParaRPr lang="es-ES" sz="1600" dirty="0"/>
                    </a:p>
                  </a:txBody>
                  <a:tcPr/>
                </a:tc>
              </a:tr>
              <a:tr h="324370">
                <a:tc>
                  <a:txBody>
                    <a:bodyPr/>
                    <a:lstStyle/>
                    <a:p>
                      <a:r>
                        <a:rPr lang="es-ES" sz="1600" dirty="0"/>
                        <a:t>?</a:t>
                      </a:r>
                      <a:endParaRPr lang="es-ES" sz="1600" dirty="0"/>
                    </a:p>
                  </a:txBody>
                  <a:tcPr/>
                </a:tc>
                <a:tc>
                  <a:txBody>
                    <a:bodyPr/>
                    <a:lstStyle/>
                    <a:p>
                      <a:r>
                        <a:rPr lang="es-ES" sz="1600" dirty="0"/>
                        <a:t>Un solo carácter</a:t>
                      </a:r>
                      <a:endParaRPr lang="es-ES" sz="1600" dirty="0"/>
                    </a:p>
                  </a:txBody>
                  <a:tcPr/>
                </a:tc>
              </a:tr>
              <a:tr h="324370">
                <a:tc>
                  <a:txBody>
                    <a:bodyPr/>
                    <a:lstStyle/>
                    <a:p>
                      <a:r>
                        <a:rPr lang="es-ES" sz="1600" dirty="0"/>
                        <a:t>[…]</a:t>
                      </a:r>
                      <a:endParaRPr lang="es-ES" sz="1600" dirty="0"/>
                    </a:p>
                  </a:txBody>
                  <a:tcPr/>
                </a:tc>
                <a:tc>
                  <a:txBody>
                    <a:bodyPr/>
                    <a:lstStyle/>
                    <a:p>
                      <a:r>
                        <a:rPr lang="es-ES" sz="1600" dirty="0"/>
                        <a:t>Un intervalo de caracteres</a:t>
                      </a:r>
                      <a:endParaRPr lang="es-ES" sz="1600" dirty="0"/>
                    </a:p>
                  </a:txBody>
                  <a:tcPr/>
                </a:tc>
              </a:tr>
              <a:tr h="324370">
                <a:tc>
                  <a:txBody>
                    <a:bodyPr/>
                    <a:lstStyle/>
                    <a:p>
                      <a:r>
                        <a:rPr lang="es-ES" sz="1600" dirty="0"/>
                        <a:t>[!...]</a:t>
                      </a:r>
                      <a:endParaRPr lang="es-ES" sz="1600" dirty="0"/>
                    </a:p>
                  </a:txBody>
                  <a:tcPr/>
                </a:tc>
                <a:tc>
                  <a:txBody>
                    <a:bodyPr/>
                    <a:lstStyle/>
                    <a:p>
                      <a:r>
                        <a:rPr lang="es-ES" sz="1600" dirty="0"/>
                        <a:t>Negación del intervalo de caracteres</a:t>
                      </a:r>
                      <a:endParaRPr lang="es-ES" sz="1600" dirty="0"/>
                    </a:p>
                  </a:txBody>
                  <a:tcPr/>
                </a:tc>
              </a:tr>
              <a:tr h="324370">
                <a:tc>
                  <a:txBody>
                    <a:bodyPr/>
                    <a:lstStyle/>
                    <a:p>
                      <a:r>
                        <a:rPr lang="es-ES" sz="1600" dirty="0"/>
                        <a:t>|</a:t>
                      </a:r>
                      <a:endParaRPr lang="es-ES" sz="1600" dirty="0"/>
                    </a:p>
                  </a:txBody>
                  <a:tcPr/>
                </a:tc>
                <a:tc>
                  <a:txBody>
                    <a:bodyPr/>
                    <a:lstStyle/>
                    <a:p>
                      <a:r>
                        <a:rPr lang="es-ES" sz="1600" dirty="0"/>
                        <a:t>O lógico</a:t>
                      </a:r>
                      <a:endParaRPr lang="es-ES" sz="1600" dirty="0"/>
                    </a:p>
                  </a:txBody>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fontScale="92500" lnSpcReduction="20000"/>
          </a:bodyPr>
          <a:lstStyle/>
          <a:p>
            <a:pPr marL="0">
              <a:buNone/>
            </a:pPr>
            <a:r>
              <a:rPr lang="es-ES" sz="1400" b="1" dirty="0"/>
              <a:t>INTRODUCCIÓN DE CADENA POR EL USUARIO</a:t>
            </a:r>
            <a:endParaRPr lang="es-ES" sz="1400" b="1" dirty="0"/>
          </a:p>
          <a:p>
            <a:pPr marL="0">
              <a:buNone/>
            </a:pPr>
            <a:r>
              <a:rPr lang="es-ES" sz="1700" dirty="0"/>
              <a:t>El comando </a:t>
            </a:r>
            <a:r>
              <a:rPr lang="es-ES" sz="1700" b="1" dirty="0" err="1"/>
              <a:t>read</a:t>
            </a:r>
            <a:r>
              <a:rPr lang="es-ES" sz="1700" dirty="0"/>
              <a:t> permite al usuario introducir una cadena y colocarla en una o varias variables. Se valida la cadena con </a:t>
            </a:r>
            <a:r>
              <a:rPr lang="es-ES" sz="1700" b="1" dirty="0"/>
              <a:t>[</a:t>
            </a:r>
            <a:r>
              <a:rPr lang="es-ES" sz="1700" b="1" dirty="0" err="1"/>
              <a:t>Intro</a:t>
            </a:r>
            <a:r>
              <a:rPr lang="es-ES" sz="1700" b="1" dirty="0"/>
              <a:t>]</a:t>
            </a:r>
            <a:endParaRPr lang="es-ES" sz="1700" b="1" dirty="0"/>
          </a:p>
          <a:p>
            <a:pPr marL="0" algn="ctr">
              <a:buNone/>
            </a:pPr>
            <a:r>
              <a:rPr lang="es-ES" sz="1700" b="1" dirty="0" err="1"/>
              <a:t>read</a:t>
            </a:r>
            <a:r>
              <a:rPr lang="es-ES" sz="1700" b="1" dirty="0"/>
              <a:t> var1 [var2…]</a:t>
            </a:r>
            <a:endParaRPr lang="es-ES" sz="1700" b="1" dirty="0"/>
          </a:p>
          <a:p>
            <a:pPr marL="0">
              <a:buNone/>
            </a:pPr>
            <a:r>
              <a:rPr lang="es-ES" sz="1600" b="1" dirty="0"/>
              <a:t>LOS BUCLES</a:t>
            </a:r>
            <a:endParaRPr lang="es-ES" sz="1600" b="1" dirty="0"/>
          </a:p>
          <a:p>
            <a:pPr marL="0">
              <a:buNone/>
            </a:pPr>
            <a:r>
              <a:rPr lang="es-ES" sz="1700" b="1" dirty="0"/>
              <a:t>Bucles </a:t>
            </a:r>
            <a:r>
              <a:rPr lang="es-ES" sz="1700" b="1" dirty="0" err="1"/>
              <a:t>for</a:t>
            </a:r>
            <a:r>
              <a:rPr lang="es-ES" sz="1700" b="1" dirty="0"/>
              <a:t>: </a:t>
            </a:r>
            <a:r>
              <a:rPr lang="es-ES" sz="1700" dirty="0"/>
              <a:t>el bucle </a:t>
            </a:r>
            <a:r>
              <a:rPr lang="es-ES" sz="1700" dirty="0" err="1"/>
              <a:t>for</a:t>
            </a:r>
            <a:r>
              <a:rPr lang="es-ES" sz="1700" dirty="0"/>
              <a:t> no se basa en un incremento de valor cualquiera, sino en una lista de valores, </a:t>
            </a:r>
            <a:r>
              <a:rPr lang="es-ES" sz="1700" dirty="0" err="1"/>
              <a:t>achivos</a:t>
            </a:r>
            <a:r>
              <a:rPr lang="es-ES" sz="1700" dirty="0"/>
              <a:t>..</a:t>
            </a:r>
            <a:endParaRPr lang="es-ES" sz="1700" dirty="0"/>
          </a:p>
          <a:p>
            <a:pPr marL="0">
              <a:buNone/>
            </a:pPr>
            <a:r>
              <a:rPr lang="es-ES" sz="1700" b="1" dirty="0" err="1"/>
              <a:t>For</a:t>
            </a:r>
            <a:r>
              <a:rPr lang="es-ES" sz="1700" b="1" dirty="0"/>
              <a:t> </a:t>
            </a:r>
            <a:r>
              <a:rPr lang="es-ES" sz="1700" b="1" dirty="0" err="1"/>
              <a:t>var</a:t>
            </a:r>
            <a:r>
              <a:rPr lang="es-ES" sz="1700" b="1" dirty="0"/>
              <a:t> in lista</a:t>
            </a:r>
            <a:endParaRPr lang="es-ES" sz="1700" b="1" dirty="0"/>
          </a:p>
          <a:p>
            <a:pPr marL="0">
              <a:buNone/>
            </a:pPr>
            <a:r>
              <a:rPr lang="es-ES" sz="1700" b="1" dirty="0"/>
              <a:t>Do</a:t>
            </a:r>
            <a:endParaRPr lang="es-ES" sz="1700" b="1" dirty="0"/>
          </a:p>
          <a:p>
            <a:pPr marL="0">
              <a:buNone/>
            </a:pPr>
            <a:r>
              <a:rPr lang="es-ES" sz="1700" b="1" dirty="0"/>
              <a:t>	comandos a ejecutar</a:t>
            </a:r>
            <a:endParaRPr lang="es-ES" sz="1700" b="1" dirty="0"/>
          </a:p>
          <a:p>
            <a:pPr marL="0">
              <a:buNone/>
            </a:pPr>
            <a:r>
              <a:rPr lang="es-ES" sz="1700" b="1" dirty="0"/>
              <a:t>done</a:t>
            </a:r>
            <a:endParaRPr lang="es-ES" sz="1700" b="1" dirty="0"/>
          </a:p>
        </p:txBody>
      </p:sp>
      <p:sp>
        <p:nvSpPr>
          <p:cNvPr id="5" name="CuadroTexto 4"/>
          <p:cNvSpPr txBox="1"/>
          <p:nvPr/>
        </p:nvSpPr>
        <p:spPr>
          <a:xfrm>
            <a:off x="6592957" y="4538869"/>
            <a:ext cx="3796748" cy="1200329"/>
          </a:xfrm>
          <a:prstGeom prst="rect">
            <a:avLst/>
          </a:prstGeom>
          <a:noFill/>
          <a:ln>
            <a:solidFill>
              <a:schemeClr val="bg2">
                <a:lumMod val="50000"/>
              </a:schemeClr>
            </a:solidFill>
          </a:ln>
        </p:spPr>
        <p:txBody>
          <a:bodyPr wrap="square" rtlCol="0">
            <a:spAutoFit/>
          </a:bodyPr>
          <a:lstStyle/>
          <a:p>
            <a:r>
              <a:rPr lang="es-ES" dirty="0" err="1"/>
              <a:t>for</a:t>
            </a:r>
            <a:r>
              <a:rPr lang="es-ES" dirty="0"/>
              <a:t> </a:t>
            </a:r>
            <a:r>
              <a:rPr lang="es-ES" dirty="0" err="1"/>
              <a:t>params</a:t>
            </a:r>
            <a:r>
              <a:rPr lang="es-ES" dirty="0"/>
              <a:t> in test1 test2 test3</a:t>
            </a:r>
            <a:endParaRPr lang="es-ES" dirty="0"/>
          </a:p>
          <a:p>
            <a:r>
              <a:rPr lang="es-ES" dirty="0"/>
              <a:t>do</a:t>
            </a:r>
            <a:endParaRPr lang="es-ES" dirty="0"/>
          </a:p>
          <a:p>
            <a:r>
              <a:rPr lang="es-ES" dirty="0"/>
              <a:t>	echo “$</a:t>
            </a:r>
            <a:r>
              <a:rPr lang="es-ES" dirty="0" err="1"/>
              <a:t>params</a:t>
            </a:r>
            <a:r>
              <a:rPr lang="es-ES" dirty="0"/>
              <a:t>”</a:t>
            </a:r>
            <a:endParaRPr lang="es-ES" dirty="0"/>
          </a:p>
          <a:p>
            <a:r>
              <a:rPr lang="es-ES" dirty="0"/>
              <a:t>done</a:t>
            </a:r>
            <a:endParaRPr lang="es-E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sz="1600" b="1" dirty="0"/>
              <a:t>Ejemplo del bucle </a:t>
            </a:r>
            <a:r>
              <a:rPr lang="es-ES" sz="1600" b="1" dirty="0" err="1"/>
              <a:t>for</a:t>
            </a:r>
            <a:r>
              <a:rPr lang="es-ES" sz="1600" b="1" dirty="0"/>
              <a:t>: </a:t>
            </a:r>
            <a:r>
              <a:rPr lang="es-ES" sz="1600" dirty="0"/>
              <a:t>Nos lista todos los usuarios del archivo </a:t>
            </a:r>
            <a:r>
              <a:rPr lang="es-ES" sz="1600" dirty="0" err="1"/>
              <a:t>passwd</a:t>
            </a:r>
            <a:endParaRPr lang="es-ES" sz="1600" dirty="0"/>
          </a:p>
          <a:p>
            <a:pPr marL="0">
              <a:buNone/>
            </a:pPr>
            <a:r>
              <a:rPr lang="es-ES" sz="1600" dirty="0"/>
              <a:t>#!/</a:t>
            </a:r>
            <a:r>
              <a:rPr lang="es-ES" sz="1600" dirty="0" err="1"/>
              <a:t>bin</a:t>
            </a:r>
            <a:r>
              <a:rPr lang="es-ES" sz="1600" dirty="0"/>
              <a:t>/</a:t>
            </a:r>
            <a:r>
              <a:rPr lang="es-ES" sz="1600" dirty="0" err="1"/>
              <a:t>bash</a:t>
            </a:r>
            <a:endParaRPr lang="es-ES" sz="1600" dirty="0"/>
          </a:p>
          <a:p>
            <a:pPr marL="1408430" lvl="7">
              <a:buNone/>
            </a:pPr>
            <a:r>
              <a:rPr lang="es-ES" sz="2000" dirty="0"/>
              <a:t>echo “Lista de usuarios en /</a:t>
            </a:r>
            <a:r>
              <a:rPr lang="es-ES" sz="2000" dirty="0" err="1"/>
              <a:t>etc</a:t>
            </a:r>
            <a:r>
              <a:rPr lang="es-ES" sz="2000" dirty="0"/>
              <a:t>/</a:t>
            </a:r>
            <a:r>
              <a:rPr lang="es-ES" sz="2000" dirty="0" err="1"/>
              <a:t>passwd</a:t>
            </a:r>
            <a:r>
              <a:rPr lang="es-ES" sz="2000" dirty="0"/>
              <a:t>”</a:t>
            </a:r>
            <a:endParaRPr lang="es-ES" sz="2000" dirty="0"/>
          </a:p>
          <a:p>
            <a:pPr marL="1408430" lvl="7">
              <a:buNone/>
            </a:pPr>
            <a:r>
              <a:rPr lang="es-ES" sz="2000" dirty="0" err="1"/>
              <a:t>for</a:t>
            </a:r>
            <a:r>
              <a:rPr lang="es-ES" sz="2000" dirty="0"/>
              <a:t> </a:t>
            </a:r>
            <a:r>
              <a:rPr lang="es-ES" sz="2000" dirty="0" err="1"/>
              <a:t>params</a:t>
            </a:r>
            <a:r>
              <a:rPr lang="es-ES" sz="2000" dirty="0"/>
              <a:t> in `</a:t>
            </a:r>
            <a:r>
              <a:rPr lang="es-ES" sz="2000" dirty="0" err="1"/>
              <a:t>cat</a:t>
            </a:r>
            <a:r>
              <a:rPr lang="es-ES" sz="2000" dirty="0"/>
              <a:t> /</a:t>
            </a:r>
            <a:r>
              <a:rPr lang="es-ES" sz="2000" dirty="0" err="1"/>
              <a:t>etc</a:t>
            </a:r>
            <a:r>
              <a:rPr lang="es-ES" sz="2000" dirty="0"/>
              <a:t>/</a:t>
            </a:r>
            <a:r>
              <a:rPr lang="es-ES" sz="2000" dirty="0" err="1"/>
              <a:t>passwd</a:t>
            </a:r>
            <a:r>
              <a:rPr lang="es-ES" sz="2000" dirty="0"/>
              <a:t> | </a:t>
            </a:r>
            <a:r>
              <a:rPr lang="es-ES" sz="2000" dirty="0" err="1"/>
              <a:t>cut</a:t>
            </a:r>
            <a:r>
              <a:rPr lang="es-ES" sz="2000" dirty="0"/>
              <a:t> –d: -f1`</a:t>
            </a:r>
            <a:endParaRPr lang="es-ES" sz="2000" dirty="0"/>
          </a:p>
          <a:p>
            <a:pPr marL="1408430" lvl="7">
              <a:buNone/>
            </a:pPr>
            <a:r>
              <a:rPr lang="es-ES" sz="2000" dirty="0"/>
              <a:t>do</a:t>
            </a:r>
            <a:endParaRPr lang="es-ES" sz="2000" dirty="0"/>
          </a:p>
          <a:p>
            <a:pPr marL="1408430" lvl="7">
              <a:buNone/>
            </a:pPr>
            <a:r>
              <a:rPr lang="es-ES" sz="2000" dirty="0"/>
              <a:t>	echo “$</a:t>
            </a:r>
            <a:r>
              <a:rPr lang="es-ES" sz="2000" dirty="0" err="1"/>
              <a:t>params</a:t>
            </a:r>
            <a:r>
              <a:rPr lang="es-ES" sz="2000" dirty="0"/>
              <a:t>”</a:t>
            </a:r>
            <a:endParaRPr lang="es-ES" sz="2000" dirty="0"/>
          </a:p>
          <a:p>
            <a:pPr marL="1408430" lvl="7">
              <a:buNone/>
            </a:pPr>
            <a:r>
              <a:rPr lang="es-ES" sz="2000" dirty="0"/>
              <a:t>done</a:t>
            </a:r>
            <a:endParaRPr lang="es-ES" sz="2000" dirty="0"/>
          </a:p>
          <a:p>
            <a:pPr marL="0">
              <a:buNone/>
            </a:pPr>
            <a:endParaRPr lang="es-E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sz="1600" b="1" dirty="0"/>
              <a:t>Bucle </a:t>
            </a:r>
            <a:r>
              <a:rPr lang="es-ES" sz="1600" b="1" dirty="0" err="1"/>
              <a:t>While</a:t>
            </a:r>
            <a:r>
              <a:rPr lang="es-ES" sz="1600" b="1" dirty="0"/>
              <a:t>: </a:t>
            </a:r>
            <a:r>
              <a:rPr lang="es-ES" sz="1600" dirty="0"/>
              <a:t>El comando </a:t>
            </a:r>
            <a:r>
              <a:rPr lang="es-ES" sz="1600" dirty="0" err="1"/>
              <a:t>while</a:t>
            </a:r>
            <a:r>
              <a:rPr lang="es-ES" sz="1600" dirty="0"/>
              <a:t> permite un bucle condicional &lt;mientras&gt;. Mientras se cumpla la condición, se ejecuta el bloque de comandos. Si la condición ya no es válida, se sale del bucle.</a:t>
            </a:r>
            <a:endParaRPr lang="es-ES" sz="1600" dirty="0"/>
          </a:p>
          <a:p>
            <a:pPr marL="0">
              <a:spcBef>
                <a:spcPts val="600"/>
              </a:spcBef>
              <a:spcAft>
                <a:spcPts val="0"/>
              </a:spcAft>
              <a:buNone/>
            </a:pPr>
            <a:r>
              <a:rPr lang="es-ES" sz="1600" b="1" dirty="0" err="1"/>
              <a:t>While</a:t>
            </a:r>
            <a:r>
              <a:rPr lang="es-ES" sz="1600" b="1" dirty="0"/>
              <a:t> condición</a:t>
            </a:r>
            <a:endParaRPr lang="es-ES" sz="1600" b="1" dirty="0"/>
          </a:p>
          <a:p>
            <a:pPr marL="0">
              <a:spcBef>
                <a:spcPts val="600"/>
              </a:spcBef>
              <a:spcAft>
                <a:spcPts val="0"/>
              </a:spcAft>
              <a:buNone/>
            </a:pPr>
            <a:r>
              <a:rPr lang="es-ES" sz="1600" b="1" dirty="0"/>
              <a:t>Do</a:t>
            </a:r>
            <a:endParaRPr lang="es-ES" sz="1600" b="1" dirty="0"/>
          </a:p>
          <a:p>
            <a:pPr marL="0">
              <a:spcBef>
                <a:spcPts val="600"/>
              </a:spcBef>
              <a:spcAft>
                <a:spcPts val="0"/>
              </a:spcAft>
              <a:buNone/>
            </a:pPr>
            <a:r>
              <a:rPr lang="es-ES" sz="1600" b="1" dirty="0"/>
              <a:t>	comandos</a:t>
            </a:r>
            <a:endParaRPr lang="es-ES" sz="1600" b="1" dirty="0"/>
          </a:p>
          <a:p>
            <a:pPr marL="0">
              <a:spcBef>
                <a:spcPts val="600"/>
              </a:spcBef>
              <a:spcAft>
                <a:spcPts val="0"/>
              </a:spcAft>
              <a:buNone/>
            </a:pPr>
            <a:r>
              <a:rPr lang="es-ES" sz="1600" b="1" dirty="0"/>
              <a:t>done</a:t>
            </a:r>
            <a:endParaRPr lang="es-ES" sz="1600" b="1" dirty="0"/>
          </a:p>
        </p:txBody>
      </p:sp>
      <p:pic>
        <p:nvPicPr>
          <p:cNvPr id="3" name="Imagen 2"/>
          <p:cNvPicPr>
            <a:picLocks noChangeAspect="1"/>
          </p:cNvPicPr>
          <p:nvPr/>
        </p:nvPicPr>
        <p:blipFill>
          <a:blip r:embed="rId1"/>
          <a:stretch>
            <a:fillRect/>
          </a:stretch>
        </p:blipFill>
        <p:spPr>
          <a:xfrm>
            <a:off x="5556739" y="2870615"/>
            <a:ext cx="5568462" cy="221613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fontScale="85000" lnSpcReduction="20000"/>
          </a:bodyPr>
          <a:lstStyle/>
          <a:p>
            <a:pPr marL="0">
              <a:buNone/>
            </a:pPr>
            <a:r>
              <a:rPr lang="es-ES" sz="1600" b="1" dirty="0"/>
              <a:t>Bucle </a:t>
            </a:r>
            <a:r>
              <a:rPr lang="es-ES" sz="1600" b="1" dirty="0" err="1"/>
              <a:t>until</a:t>
            </a:r>
            <a:r>
              <a:rPr lang="es-ES" sz="1600" b="1" dirty="0"/>
              <a:t>: </a:t>
            </a:r>
            <a:r>
              <a:rPr lang="es-ES" sz="1600" dirty="0"/>
              <a:t>El comando </a:t>
            </a:r>
            <a:r>
              <a:rPr lang="es-ES" sz="1600" dirty="0" err="1"/>
              <a:t>until</a:t>
            </a:r>
            <a:r>
              <a:rPr lang="es-ES" sz="1600" dirty="0"/>
              <a:t> permite un bucle condicional &lt;hasta&gt;. En cuanto se haya cumplido la condición se sale del bucle.</a:t>
            </a:r>
            <a:endParaRPr lang="es-ES" sz="1600" dirty="0"/>
          </a:p>
          <a:p>
            <a:pPr marL="0">
              <a:spcBef>
                <a:spcPts val="600"/>
              </a:spcBef>
              <a:spcAft>
                <a:spcPts val="0"/>
              </a:spcAft>
              <a:buNone/>
            </a:pPr>
            <a:r>
              <a:rPr lang="es-ES" sz="1600" b="1" dirty="0" err="1"/>
              <a:t>until</a:t>
            </a:r>
            <a:r>
              <a:rPr lang="es-ES" sz="1600" b="1" dirty="0"/>
              <a:t> condición</a:t>
            </a:r>
            <a:endParaRPr lang="es-ES" sz="1600" b="1" dirty="0"/>
          </a:p>
          <a:p>
            <a:pPr marL="0">
              <a:spcBef>
                <a:spcPts val="600"/>
              </a:spcBef>
              <a:spcAft>
                <a:spcPts val="0"/>
              </a:spcAft>
              <a:buNone/>
            </a:pPr>
            <a:r>
              <a:rPr lang="es-ES" sz="1600" b="1" dirty="0"/>
              <a:t>do</a:t>
            </a:r>
            <a:endParaRPr lang="es-ES" sz="1600" b="1" dirty="0"/>
          </a:p>
          <a:p>
            <a:pPr marL="0">
              <a:spcBef>
                <a:spcPts val="600"/>
              </a:spcBef>
              <a:spcAft>
                <a:spcPts val="0"/>
              </a:spcAft>
              <a:buNone/>
            </a:pPr>
            <a:r>
              <a:rPr lang="es-ES" sz="1600" b="1" dirty="0"/>
              <a:t>	comandos</a:t>
            </a:r>
            <a:endParaRPr lang="es-ES" sz="1600" b="1" dirty="0"/>
          </a:p>
          <a:p>
            <a:pPr marL="0">
              <a:spcBef>
                <a:spcPts val="600"/>
              </a:spcBef>
              <a:spcAft>
                <a:spcPts val="0"/>
              </a:spcAft>
              <a:buNone/>
            </a:pPr>
            <a:r>
              <a:rPr lang="es-ES" sz="1600" b="1" dirty="0"/>
              <a:t>Done</a:t>
            </a:r>
            <a:endParaRPr lang="es-ES" sz="1600" b="1" dirty="0"/>
          </a:p>
          <a:p>
            <a:pPr marL="0">
              <a:spcBef>
                <a:spcPts val="600"/>
              </a:spcBef>
              <a:spcAft>
                <a:spcPts val="0"/>
              </a:spcAft>
              <a:buNone/>
            </a:pPr>
            <a:r>
              <a:rPr lang="es-ES" sz="1600" b="1" dirty="0"/>
              <a:t>True y False : </a:t>
            </a:r>
            <a:r>
              <a:rPr lang="es-ES" sz="1600" dirty="0"/>
              <a:t>El comando true no hace más que volver a enviar 0. El comando false siempre devuelve 1. De esta manera, es posible realizar bucles sin fin. La única manera de salir de estos bucles es con un </a:t>
            </a:r>
            <a:r>
              <a:rPr lang="es-ES" sz="1600" dirty="0" err="1"/>
              <a:t>exit</a:t>
            </a:r>
            <a:r>
              <a:rPr lang="es-ES" sz="1600" dirty="0"/>
              <a:t> o un break. Por convención, cualquier programa que no devuelve error devuelve 0, mientras que cualquier programa que devuelva error, o un resultado que se debe interpretar, devuelve algo distinto a 0.</a:t>
            </a:r>
            <a:endParaRPr lang="es-ES" sz="1600" dirty="0"/>
          </a:p>
          <a:p>
            <a:pPr marL="0">
              <a:spcBef>
                <a:spcPts val="600"/>
              </a:spcBef>
              <a:spcAft>
                <a:spcPts val="0"/>
              </a:spcAft>
              <a:buNone/>
            </a:pPr>
            <a:r>
              <a:rPr lang="es-ES" sz="1600" b="1" dirty="0" err="1"/>
              <a:t>while</a:t>
            </a:r>
            <a:r>
              <a:rPr lang="es-ES" sz="1600" b="1" dirty="0"/>
              <a:t> true</a:t>
            </a:r>
            <a:endParaRPr lang="es-ES" sz="1600" b="1" dirty="0"/>
          </a:p>
          <a:p>
            <a:pPr marL="0">
              <a:spcBef>
                <a:spcPts val="600"/>
              </a:spcBef>
              <a:spcAft>
                <a:spcPts val="0"/>
              </a:spcAft>
              <a:buNone/>
            </a:pPr>
            <a:r>
              <a:rPr lang="es-ES" sz="1600" b="1" dirty="0"/>
              <a:t>Do</a:t>
            </a:r>
            <a:endParaRPr lang="es-ES" sz="1600" b="1" dirty="0"/>
          </a:p>
          <a:p>
            <a:pPr marL="0">
              <a:spcBef>
                <a:spcPts val="600"/>
              </a:spcBef>
              <a:spcAft>
                <a:spcPts val="0"/>
              </a:spcAft>
              <a:buNone/>
            </a:pPr>
            <a:r>
              <a:rPr lang="es-ES" sz="1600" b="1" dirty="0"/>
              <a:t>	comandos</a:t>
            </a:r>
            <a:endParaRPr lang="es-ES" sz="1600" b="1" dirty="0"/>
          </a:p>
          <a:p>
            <a:pPr marL="0">
              <a:spcBef>
                <a:spcPts val="600"/>
              </a:spcBef>
              <a:spcAft>
                <a:spcPts val="0"/>
              </a:spcAft>
              <a:buNone/>
            </a:pPr>
            <a:r>
              <a:rPr lang="es-ES" sz="1600" b="1" dirty="0"/>
              <a:t>	</a:t>
            </a:r>
            <a:r>
              <a:rPr lang="es-ES" sz="1600" b="1" dirty="0" err="1"/>
              <a:t>exit</a:t>
            </a:r>
            <a:r>
              <a:rPr lang="es-ES" sz="1600" b="1" dirty="0"/>
              <a:t> /break</a:t>
            </a:r>
            <a:endParaRPr lang="es-ES" sz="1600" b="1" dirty="0"/>
          </a:p>
          <a:p>
            <a:pPr marL="0">
              <a:spcBef>
                <a:spcPts val="600"/>
              </a:spcBef>
              <a:spcAft>
                <a:spcPts val="0"/>
              </a:spcAft>
              <a:buNone/>
            </a:pPr>
            <a:r>
              <a:rPr lang="es-ES" sz="1600" b="1" dirty="0"/>
              <a:t>done</a:t>
            </a:r>
            <a:endParaRPr lang="es-ES" sz="1600" b="1" dirty="0"/>
          </a:p>
          <a:p>
            <a:pPr marL="0">
              <a:spcBef>
                <a:spcPts val="600"/>
              </a:spcBef>
              <a:spcAft>
                <a:spcPts val="0"/>
              </a:spcAft>
              <a:buNone/>
            </a:pPr>
            <a:endParaRPr lang="es-ES" sz="16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3" y="1897184"/>
            <a:ext cx="6555952" cy="4273473"/>
          </a:xfrm>
        </p:spPr>
        <p:txBody>
          <a:bodyPr>
            <a:normAutofit fontScale="85000" lnSpcReduction="20000"/>
          </a:bodyPr>
          <a:lstStyle/>
          <a:p>
            <a:pPr marL="0">
              <a:buNone/>
            </a:pPr>
            <a:r>
              <a:rPr lang="es-ES" sz="1600" b="1" dirty="0"/>
              <a:t>Break y </a:t>
            </a:r>
            <a:r>
              <a:rPr lang="es-ES" sz="1600" b="1" dirty="0" err="1"/>
              <a:t>Continue</a:t>
            </a:r>
            <a:r>
              <a:rPr lang="es-ES" sz="1600" b="1" dirty="0"/>
              <a:t>: </a:t>
            </a:r>
            <a:endParaRPr lang="es-ES" sz="1600" b="1" dirty="0"/>
          </a:p>
          <a:p>
            <a:pPr marL="0">
              <a:buNone/>
            </a:pPr>
            <a:r>
              <a:rPr lang="es-ES" sz="1600" dirty="0"/>
              <a:t>El comando </a:t>
            </a:r>
            <a:r>
              <a:rPr lang="es-ES" sz="1600" b="1" dirty="0"/>
              <a:t>break</a:t>
            </a:r>
            <a:r>
              <a:rPr lang="es-ES" sz="1600" dirty="0"/>
              <a:t> permite interrumpir un bucle. En este caso, el script continua su ejecución después del comando done. Puede coger un argumento numérico que indique el número de bucles que saltar, en el caso de los bucles anidados. </a:t>
            </a:r>
            <a:endParaRPr lang="es-ES" sz="1600" dirty="0"/>
          </a:p>
          <a:p>
            <a:pPr marL="0">
              <a:buNone/>
            </a:pPr>
            <a:r>
              <a:rPr lang="es-ES" sz="1600" dirty="0"/>
              <a:t>El comando </a:t>
            </a:r>
            <a:r>
              <a:rPr lang="es-ES" sz="1600" b="1" dirty="0" err="1"/>
              <a:t>continue</a:t>
            </a:r>
            <a:r>
              <a:rPr lang="es-ES" sz="1600" dirty="0"/>
              <a:t>: permite saltarse líneas de una iteración e ir directamente a la siguiente. Puede coger un argumento numérico, que indica el número de bucles que se deben iniciar de nuevo.</a:t>
            </a:r>
            <a:endParaRPr lang="es-ES" sz="1600" dirty="0"/>
          </a:p>
          <a:p>
            <a:pPr marL="0">
              <a:spcBef>
                <a:spcPts val="600"/>
              </a:spcBef>
              <a:spcAft>
                <a:spcPts val="0"/>
              </a:spcAft>
              <a:buNone/>
            </a:pPr>
            <a:r>
              <a:rPr lang="es-ES" sz="1600" b="1" dirty="0"/>
              <a:t>Bucle </a:t>
            </a:r>
            <a:r>
              <a:rPr lang="es-ES" sz="1600" b="1" dirty="0" err="1"/>
              <a:t>select</a:t>
            </a:r>
            <a:r>
              <a:rPr lang="es-ES" sz="1600" b="1" dirty="0"/>
              <a:t>: </a:t>
            </a:r>
            <a:r>
              <a:rPr lang="es-ES" sz="1600" dirty="0"/>
              <a:t>El comando </a:t>
            </a:r>
            <a:r>
              <a:rPr lang="es-ES" sz="1600" dirty="0" err="1"/>
              <a:t>select</a:t>
            </a:r>
            <a:r>
              <a:rPr lang="es-ES" sz="1600" dirty="0"/>
              <a:t> permite crear menús simples, con selección por número. La inserción se efectúa por el teclado con el </a:t>
            </a:r>
            <a:r>
              <a:rPr lang="es-ES" sz="1600" dirty="0" err="1"/>
              <a:t>prompt</a:t>
            </a:r>
            <a:r>
              <a:rPr lang="es-ES" sz="1600" dirty="0"/>
              <a:t> de la variable PS3. Si el valor insertado no es correcto, se </a:t>
            </a:r>
            <a:r>
              <a:rPr lang="es-ES" sz="1600" dirty="0" err="1"/>
              <a:t>efectua</a:t>
            </a:r>
            <a:r>
              <a:rPr lang="es-ES" sz="1600" dirty="0"/>
              <a:t> un bucle y se visualiza de nuevo el menú. Para salir de un </a:t>
            </a:r>
            <a:r>
              <a:rPr lang="es-ES" sz="1600" dirty="0" err="1"/>
              <a:t>select</a:t>
            </a:r>
            <a:r>
              <a:rPr lang="es-ES" sz="1600" dirty="0"/>
              <a:t> hay que utilizar un break.</a:t>
            </a:r>
            <a:endParaRPr lang="es-ES" sz="1600" dirty="0"/>
          </a:p>
          <a:p>
            <a:pPr marL="0">
              <a:spcBef>
                <a:spcPts val="600"/>
              </a:spcBef>
              <a:spcAft>
                <a:spcPts val="0"/>
              </a:spcAft>
              <a:buNone/>
            </a:pPr>
            <a:r>
              <a:rPr lang="es-ES" sz="1600" b="1" dirty="0" err="1"/>
              <a:t>Select</a:t>
            </a:r>
            <a:r>
              <a:rPr lang="es-ES" sz="1600" b="1" dirty="0"/>
              <a:t> variable in </a:t>
            </a:r>
            <a:r>
              <a:rPr lang="es-ES" sz="1600" b="1" dirty="0" err="1"/>
              <a:t>lista_contenido</a:t>
            </a:r>
            <a:endParaRPr lang="es-ES" sz="1600" b="1" dirty="0"/>
          </a:p>
          <a:p>
            <a:pPr marL="0">
              <a:spcBef>
                <a:spcPts val="600"/>
              </a:spcBef>
              <a:spcAft>
                <a:spcPts val="0"/>
              </a:spcAft>
              <a:buNone/>
            </a:pPr>
            <a:r>
              <a:rPr lang="es-ES" sz="1600" b="1" dirty="0"/>
              <a:t>Do</a:t>
            </a:r>
            <a:endParaRPr lang="es-ES" sz="1600" b="1" dirty="0"/>
          </a:p>
          <a:p>
            <a:pPr marL="0">
              <a:spcBef>
                <a:spcPts val="600"/>
              </a:spcBef>
              <a:spcAft>
                <a:spcPts val="0"/>
              </a:spcAft>
              <a:buNone/>
            </a:pPr>
            <a:r>
              <a:rPr lang="es-ES" sz="1600" b="1" dirty="0"/>
              <a:t>	tratamiento</a:t>
            </a:r>
            <a:endParaRPr lang="es-ES" sz="1600" b="1" dirty="0"/>
          </a:p>
          <a:p>
            <a:pPr marL="0">
              <a:spcBef>
                <a:spcPts val="600"/>
              </a:spcBef>
              <a:spcAft>
                <a:spcPts val="0"/>
              </a:spcAft>
              <a:buNone/>
            </a:pPr>
            <a:r>
              <a:rPr lang="es-ES" sz="1600" b="1" dirty="0"/>
              <a:t>done</a:t>
            </a:r>
            <a:endParaRPr lang="es-ES" sz="1600" b="1" dirty="0"/>
          </a:p>
        </p:txBody>
      </p:sp>
      <p:pic>
        <p:nvPicPr>
          <p:cNvPr id="5" name="Imagen 4"/>
          <p:cNvPicPr>
            <a:picLocks noChangeAspect="1"/>
          </p:cNvPicPr>
          <p:nvPr/>
        </p:nvPicPr>
        <p:blipFill>
          <a:blip r:embed="rId1"/>
          <a:stretch>
            <a:fillRect/>
          </a:stretch>
        </p:blipFill>
        <p:spPr>
          <a:xfrm>
            <a:off x="7871792" y="1897184"/>
            <a:ext cx="4143375" cy="18573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sz="1600" b="1" dirty="0"/>
              <a:t>LAS FUNCIONES</a:t>
            </a:r>
            <a:endParaRPr lang="es-ES" sz="1600" b="1" dirty="0"/>
          </a:p>
          <a:p>
            <a:pPr marL="0">
              <a:buNone/>
            </a:pPr>
            <a:r>
              <a:rPr lang="es-ES" sz="1600" dirty="0"/>
              <a:t>Las funciones son trozos de scripts con nombre, directamente llamados por su nombre, que pueden aceptar parámetros y devolver valores. Los nombres de funciones siguen las mismas reglas que las variables, excepto que no se puedan exportar.</a:t>
            </a:r>
            <a:endParaRPr lang="es-ES" sz="1600" dirty="0"/>
          </a:p>
          <a:p>
            <a:pPr marL="0">
              <a:spcBef>
                <a:spcPts val="600"/>
              </a:spcBef>
              <a:buNone/>
            </a:pPr>
            <a:r>
              <a:rPr lang="es-ES" sz="1600" b="1" dirty="0" err="1"/>
              <a:t>Nombre_función</a:t>
            </a:r>
            <a:r>
              <a:rPr lang="es-ES" sz="1600" b="1" dirty="0"/>
              <a:t> ()</a:t>
            </a:r>
            <a:endParaRPr lang="es-ES" sz="1600" b="1" dirty="0"/>
          </a:p>
          <a:p>
            <a:pPr marL="0">
              <a:spcBef>
                <a:spcPts val="600"/>
              </a:spcBef>
              <a:buNone/>
            </a:pPr>
            <a:r>
              <a:rPr lang="es-ES" sz="1600" b="1" dirty="0"/>
              <a:t>{</a:t>
            </a:r>
            <a:endParaRPr lang="es-ES" sz="1600" b="1" dirty="0"/>
          </a:p>
          <a:p>
            <a:pPr marL="0">
              <a:spcBef>
                <a:spcPts val="600"/>
              </a:spcBef>
              <a:buNone/>
            </a:pPr>
            <a:r>
              <a:rPr lang="es-ES" sz="1600" b="1" dirty="0"/>
              <a:t>	comandos</a:t>
            </a:r>
            <a:endParaRPr lang="es-ES" sz="1600" b="1" dirty="0"/>
          </a:p>
          <a:p>
            <a:pPr marL="0">
              <a:spcBef>
                <a:spcPts val="600"/>
              </a:spcBef>
              <a:buNone/>
            </a:pPr>
            <a:r>
              <a:rPr lang="es-ES" sz="1600" b="1" dirty="0"/>
              <a:t>	</a:t>
            </a:r>
            <a:r>
              <a:rPr lang="es-ES" sz="1600" b="1" dirty="0" err="1"/>
              <a:t>return</a:t>
            </a:r>
            <a:endParaRPr lang="es-ES" sz="1600" b="1" dirty="0"/>
          </a:p>
          <a:p>
            <a:pPr marL="0">
              <a:spcBef>
                <a:spcPts val="600"/>
              </a:spcBef>
              <a:buNone/>
            </a:pPr>
            <a:r>
              <a:rPr lang="es-ES" sz="1600" b="1" dirty="0"/>
              <a:t>}</a:t>
            </a:r>
            <a:endParaRPr lang="es-ES" sz="1600" b="1" dirty="0"/>
          </a:p>
          <a:p>
            <a:pPr marL="0">
              <a:spcBef>
                <a:spcPts val="600"/>
              </a:spcBef>
              <a:buNone/>
            </a:pPr>
            <a:r>
              <a:rPr lang="es-ES" sz="1600" b="1" dirty="0"/>
              <a:t>Bajo ningún concepto se debe utilizar el comando </a:t>
            </a:r>
            <a:r>
              <a:rPr lang="es-ES" sz="1600" b="1" dirty="0" err="1"/>
              <a:t>exit</a:t>
            </a:r>
            <a:r>
              <a:rPr lang="es-ES" sz="1600" b="1" dirty="0"/>
              <a:t> para salir de una </a:t>
            </a:r>
            <a:r>
              <a:rPr lang="es-ES" sz="1600" b="1" dirty="0" err="1"/>
              <a:t>funcion</a:t>
            </a:r>
            <a:endParaRPr lang="es-ES" sz="1600"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3918769" cy="4273473"/>
          </a:xfrm>
        </p:spPr>
        <p:txBody>
          <a:bodyPr>
            <a:normAutofit/>
          </a:bodyPr>
          <a:lstStyle/>
          <a:p>
            <a:pPr marL="0">
              <a:buNone/>
            </a:pPr>
            <a:r>
              <a:rPr lang="es-ES" sz="1600" b="1" dirty="0"/>
              <a:t>CALCULOS Y EXPRESIONES</a:t>
            </a:r>
            <a:endParaRPr lang="es-ES" sz="1600" b="1" dirty="0"/>
          </a:p>
          <a:p>
            <a:pPr marL="0">
              <a:buNone/>
            </a:pPr>
            <a:r>
              <a:rPr lang="es-ES" sz="1400" b="1" dirty="0"/>
              <a:t>EXPR: </a:t>
            </a:r>
            <a:r>
              <a:rPr lang="es-ES" sz="1400" dirty="0"/>
              <a:t>permite efectuar cálculos sobre valores numéricos, comparaciones, así como la búsqueda en cadenas de texto.</a:t>
            </a:r>
            <a:endParaRPr lang="es-ES" sz="1400" dirty="0"/>
          </a:p>
          <a:p>
            <a:pPr marL="0">
              <a:buNone/>
            </a:pPr>
            <a:endParaRPr lang="es-ES" sz="1600" dirty="0"/>
          </a:p>
        </p:txBody>
      </p:sp>
      <p:graphicFrame>
        <p:nvGraphicFramePr>
          <p:cNvPr id="3" name="Tabla 4"/>
          <p:cNvGraphicFramePr>
            <a:graphicFrameLocks noGrp="1"/>
          </p:cNvGraphicFramePr>
          <p:nvPr/>
        </p:nvGraphicFramePr>
        <p:xfrm>
          <a:off x="5901092" y="1963444"/>
          <a:ext cx="5323499" cy="4069080"/>
        </p:xfrm>
        <a:graphic>
          <a:graphicData uri="http://schemas.openxmlformats.org/drawingml/2006/table">
            <a:tbl>
              <a:tblPr firstRow="1" bandRow="1">
                <a:tableStyleId>{5C22544A-7EE6-4342-B048-85BDC9FD1C3A}</a:tableStyleId>
              </a:tblPr>
              <a:tblGrid>
                <a:gridCol w="1427360"/>
                <a:gridCol w="3896139"/>
              </a:tblGrid>
              <a:tr h="242131">
                <a:tc>
                  <a:txBody>
                    <a:bodyPr/>
                    <a:lstStyle/>
                    <a:p>
                      <a:r>
                        <a:rPr lang="es-ES" sz="1500" dirty="0"/>
                        <a:t>Operador</a:t>
                      </a:r>
                      <a:endParaRPr lang="es-ES" sz="1500" dirty="0"/>
                    </a:p>
                  </a:txBody>
                  <a:tcPr/>
                </a:tc>
                <a:tc>
                  <a:txBody>
                    <a:bodyPr/>
                    <a:lstStyle/>
                    <a:p>
                      <a:r>
                        <a:rPr lang="es-ES" sz="1500" dirty="0"/>
                        <a:t>Función</a:t>
                      </a:r>
                      <a:endParaRPr lang="es-ES" sz="1500" dirty="0"/>
                    </a:p>
                  </a:txBody>
                  <a:tcPr/>
                </a:tc>
              </a:tr>
              <a:tr h="294458">
                <a:tc>
                  <a:txBody>
                    <a:bodyPr/>
                    <a:lstStyle/>
                    <a:p>
                      <a:r>
                        <a:rPr lang="es-ES" sz="1500" dirty="0"/>
                        <a:t>+</a:t>
                      </a:r>
                      <a:endParaRPr lang="es-ES" sz="1500" dirty="0"/>
                    </a:p>
                  </a:txBody>
                  <a:tcPr/>
                </a:tc>
                <a:tc>
                  <a:txBody>
                    <a:bodyPr/>
                    <a:lstStyle/>
                    <a:p>
                      <a:r>
                        <a:rPr lang="es-ES" sz="1500" dirty="0"/>
                        <a:t>Suma</a:t>
                      </a:r>
                      <a:endParaRPr lang="es-ES" sz="1500" dirty="0"/>
                    </a:p>
                  </a:txBody>
                  <a:tcPr/>
                </a:tc>
              </a:tr>
              <a:tr h="294458">
                <a:tc>
                  <a:txBody>
                    <a:bodyPr/>
                    <a:lstStyle/>
                    <a:p>
                      <a:r>
                        <a:rPr lang="es-ES" sz="1500" dirty="0"/>
                        <a:t>-</a:t>
                      </a:r>
                      <a:endParaRPr lang="es-ES" sz="1500" dirty="0"/>
                    </a:p>
                  </a:txBody>
                  <a:tcPr/>
                </a:tc>
                <a:tc>
                  <a:txBody>
                    <a:bodyPr/>
                    <a:lstStyle/>
                    <a:p>
                      <a:r>
                        <a:rPr lang="es-ES" sz="1500" dirty="0"/>
                        <a:t>Resta</a:t>
                      </a:r>
                      <a:endParaRPr lang="es-ES" sz="1500" dirty="0"/>
                    </a:p>
                  </a:txBody>
                  <a:tcPr/>
                </a:tc>
              </a:tr>
              <a:tr h="294458">
                <a:tc>
                  <a:txBody>
                    <a:bodyPr/>
                    <a:lstStyle/>
                    <a:p>
                      <a:r>
                        <a:rPr lang="es-ES" sz="1500" dirty="0"/>
                        <a:t>*</a:t>
                      </a:r>
                      <a:endParaRPr lang="es-ES" sz="1500" dirty="0"/>
                    </a:p>
                  </a:txBody>
                  <a:tcPr/>
                </a:tc>
                <a:tc>
                  <a:txBody>
                    <a:bodyPr/>
                    <a:lstStyle/>
                    <a:p>
                      <a:r>
                        <a:rPr lang="es-ES" sz="1500" dirty="0"/>
                        <a:t>Multiplicación</a:t>
                      </a:r>
                      <a:endParaRPr lang="es-ES" sz="1500" dirty="0"/>
                    </a:p>
                  </a:txBody>
                  <a:tcPr/>
                </a:tc>
              </a:tr>
              <a:tr h="294458">
                <a:tc>
                  <a:txBody>
                    <a:bodyPr/>
                    <a:lstStyle/>
                    <a:p>
                      <a:r>
                        <a:rPr lang="es-ES" sz="1500" dirty="0"/>
                        <a:t>/</a:t>
                      </a:r>
                      <a:endParaRPr lang="es-ES" sz="1500" dirty="0"/>
                    </a:p>
                  </a:txBody>
                  <a:tcPr/>
                </a:tc>
                <a:tc>
                  <a:txBody>
                    <a:bodyPr/>
                    <a:lstStyle/>
                    <a:p>
                      <a:r>
                        <a:rPr lang="es-ES" sz="1500" dirty="0"/>
                        <a:t>División</a:t>
                      </a:r>
                      <a:endParaRPr lang="es-ES" sz="1500" dirty="0"/>
                    </a:p>
                  </a:txBody>
                  <a:tcPr/>
                </a:tc>
              </a:tr>
              <a:tr h="294458">
                <a:tc>
                  <a:txBody>
                    <a:bodyPr/>
                    <a:lstStyle/>
                    <a:p>
                      <a:r>
                        <a:rPr lang="es-ES" sz="1500" dirty="0"/>
                        <a:t>%</a:t>
                      </a:r>
                      <a:endParaRPr lang="es-ES" sz="1500" dirty="0"/>
                    </a:p>
                  </a:txBody>
                  <a:tcPr/>
                </a:tc>
                <a:tc>
                  <a:txBody>
                    <a:bodyPr/>
                    <a:lstStyle/>
                    <a:p>
                      <a:r>
                        <a:rPr lang="es-ES" sz="1500" dirty="0"/>
                        <a:t>Módulo</a:t>
                      </a:r>
                      <a:endParaRPr lang="es-ES" sz="1500" dirty="0"/>
                    </a:p>
                  </a:txBody>
                  <a:tcPr/>
                </a:tc>
              </a:tr>
              <a:tr h="294458">
                <a:tc>
                  <a:txBody>
                    <a:bodyPr/>
                    <a:lstStyle/>
                    <a:p>
                      <a:r>
                        <a:rPr lang="es-ES" sz="1500" dirty="0"/>
                        <a:t>!=</a:t>
                      </a:r>
                      <a:endParaRPr lang="es-ES" sz="1500" dirty="0"/>
                    </a:p>
                  </a:txBody>
                  <a:tcPr/>
                </a:tc>
                <a:tc>
                  <a:txBody>
                    <a:bodyPr/>
                    <a:lstStyle/>
                    <a:p>
                      <a:r>
                        <a:rPr lang="es-ES" sz="1500" dirty="0"/>
                        <a:t>Diferente</a:t>
                      </a:r>
                      <a:endParaRPr lang="es-ES" sz="1500" dirty="0"/>
                    </a:p>
                  </a:txBody>
                  <a:tcPr/>
                </a:tc>
              </a:tr>
              <a:tr h="294458">
                <a:tc>
                  <a:txBody>
                    <a:bodyPr/>
                    <a:lstStyle/>
                    <a:p>
                      <a:r>
                        <a:rPr lang="es-ES" sz="1500" dirty="0"/>
                        <a:t>=</a:t>
                      </a:r>
                      <a:endParaRPr lang="es-ES" sz="1500" dirty="0"/>
                    </a:p>
                  </a:txBody>
                  <a:tcPr/>
                </a:tc>
                <a:tc>
                  <a:txBody>
                    <a:bodyPr/>
                    <a:lstStyle/>
                    <a:p>
                      <a:r>
                        <a:rPr lang="es-ES" sz="1500" dirty="0"/>
                        <a:t>Igual</a:t>
                      </a:r>
                      <a:endParaRPr lang="es-ES" sz="1500" dirty="0"/>
                    </a:p>
                  </a:txBody>
                  <a:tcPr/>
                </a:tc>
              </a:tr>
              <a:tr h="294458">
                <a:tc>
                  <a:txBody>
                    <a:bodyPr/>
                    <a:lstStyle/>
                    <a:p>
                      <a:r>
                        <a:rPr lang="es-ES" sz="1500" dirty="0"/>
                        <a:t>&lt;</a:t>
                      </a:r>
                      <a:endParaRPr lang="es-ES" sz="1500" dirty="0"/>
                    </a:p>
                  </a:txBody>
                  <a:tcPr/>
                </a:tc>
                <a:tc>
                  <a:txBody>
                    <a:bodyPr/>
                    <a:lstStyle/>
                    <a:p>
                      <a:r>
                        <a:rPr lang="es-ES" sz="1500" dirty="0"/>
                        <a:t>Inferior</a:t>
                      </a:r>
                      <a:endParaRPr lang="es-ES" sz="1500" dirty="0"/>
                    </a:p>
                  </a:txBody>
                  <a:tcPr/>
                </a:tc>
              </a:tr>
              <a:tr h="294458">
                <a:tc>
                  <a:txBody>
                    <a:bodyPr/>
                    <a:lstStyle/>
                    <a:p>
                      <a:r>
                        <a:rPr lang="es-ES" sz="1500" dirty="0"/>
                        <a:t>&gt;</a:t>
                      </a:r>
                      <a:endParaRPr lang="es-ES" sz="1500" dirty="0"/>
                    </a:p>
                  </a:txBody>
                  <a:tcPr/>
                </a:tc>
                <a:tc>
                  <a:txBody>
                    <a:bodyPr/>
                    <a:lstStyle/>
                    <a:p>
                      <a:r>
                        <a:rPr lang="es-ES" sz="1500" dirty="0"/>
                        <a:t>Superior</a:t>
                      </a:r>
                      <a:endParaRPr lang="es-ES" sz="1500" dirty="0"/>
                    </a:p>
                  </a:txBody>
                  <a:tcPr/>
                </a:tc>
              </a:tr>
              <a:tr h="411434">
                <a:tc>
                  <a:txBody>
                    <a:bodyPr/>
                    <a:lstStyle/>
                    <a:p>
                      <a:r>
                        <a:rPr lang="es-ES" sz="1500" dirty="0"/>
                        <a:t>&lt;=</a:t>
                      </a:r>
                      <a:endParaRPr lang="es-ES" sz="1500" dirty="0"/>
                    </a:p>
                    <a:p>
                      <a:r>
                        <a:rPr lang="es-ES" sz="1500" dirty="0"/>
                        <a:t>&gt;=</a:t>
                      </a:r>
                      <a:endParaRPr lang="es-ES" sz="1500" dirty="0"/>
                    </a:p>
                  </a:txBody>
                  <a:tcPr/>
                </a:tc>
                <a:tc>
                  <a:txBody>
                    <a:bodyPr/>
                    <a:lstStyle/>
                    <a:p>
                      <a:r>
                        <a:rPr lang="es-ES" sz="1500" dirty="0"/>
                        <a:t>Menor o igual</a:t>
                      </a:r>
                      <a:endParaRPr lang="es-ES" sz="1500" dirty="0"/>
                    </a:p>
                    <a:p>
                      <a:r>
                        <a:rPr lang="es-ES" sz="1500" dirty="0"/>
                        <a:t>Mayor o igual</a:t>
                      </a:r>
                      <a:endParaRPr lang="es-ES" sz="1500" dirty="0"/>
                    </a:p>
                  </a:txBody>
                  <a:tcPr/>
                </a:tc>
              </a:tr>
              <a:tr h="294458">
                <a:tc>
                  <a:txBody>
                    <a:bodyPr/>
                    <a:lstStyle/>
                    <a:p>
                      <a:r>
                        <a:rPr lang="es-ES" sz="1500" dirty="0"/>
                        <a:t>:</a:t>
                      </a:r>
                      <a:endParaRPr lang="es-ES" sz="1500" dirty="0"/>
                    </a:p>
                  </a:txBody>
                  <a:tcPr/>
                </a:tc>
                <a:tc>
                  <a:txBody>
                    <a:bodyPr/>
                    <a:lstStyle/>
                    <a:p>
                      <a:r>
                        <a:rPr lang="es-ES" sz="1500" dirty="0"/>
                        <a:t>Búsqueda en una cadena.</a:t>
                      </a:r>
                      <a:endParaRPr lang="es-ES" sz="1500" dirty="0"/>
                    </a:p>
                  </a:txBody>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3918769" cy="4273473"/>
          </a:xfrm>
        </p:spPr>
        <p:txBody>
          <a:bodyPr>
            <a:normAutofit/>
          </a:bodyPr>
          <a:lstStyle/>
          <a:p>
            <a:pPr marL="0">
              <a:buNone/>
            </a:pPr>
            <a:r>
              <a:rPr lang="es-ES" sz="1600" b="1" dirty="0"/>
              <a:t>CALCULOS Y EXPRESIONES</a:t>
            </a:r>
            <a:endParaRPr lang="es-ES" sz="1600" b="1" dirty="0"/>
          </a:p>
          <a:p>
            <a:pPr marL="0">
              <a:buNone/>
            </a:pPr>
            <a:r>
              <a:rPr lang="es-ES" sz="1400" b="1" dirty="0"/>
              <a:t>EXPR: </a:t>
            </a:r>
            <a:r>
              <a:rPr lang="es-ES" sz="1400" dirty="0"/>
              <a:t>permite efectuar cálculos sobre valores numéricos, comparaciones, así como la búsqueda en cadenas de texto.</a:t>
            </a:r>
            <a:endParaRPr lang="es-ES" sz="1400" dirty="0"/>
          </a:p>
          <a:p>
            <a:pPr marL="0">
              <a:buNone/>
            </a:pPr>
            <a:r>
              <a:rPr lang="es-ES" sz="1400" b="1" i="1" dirty="0"/>
              <a:t>$ </a:t>
            </a:r>
            <a:r>
              <a:rPr lang="es-ES" sz="1400" b="1" i="1" dirty="0" err="1"/>
              <a:t>expr</a:t>
            </a:r>
            <a:r>
              <a:rPr lang="es-ES" sz="1400" b="1" i="1" dirty="0"/>
              <a:t> 7 + 3</a:t>
            </a:r>
            <a:endParaRPr lang="es-ES" sz="1400" b="1" i="1" dirty="0"/>
          </a:p>
          <a:p>
            <a:pPr marL="0">
              <a:buNone/>
            </a:pPr>
            <a:r>
              <a:rPr lang="es-ES" sz="1400" b="1" i="1" dirty="0"/>
              <a:t>10</a:t>
            </a:r>
            <a:endParaRPr lang="es-ES" sz="1400" b="1" i="1" dirty="0"/>
          </a:p>
          <a:p>
            <a:pPr marL="0">
              <a:buNone/>
            </a:pPr>
            <a:r>
              <a:rPr lang="es-ES" sz="1400" b="1" i="1" dirty="0"/>
              <a:t>$ a = $(</a:t>
            </a:r>
            <a:r>
              <a:rPr lang="es-ES" sz="1400" b="1" i="1" dirty="0" err="1"/>
              <a:t>expr</a:t>
            </a:r>
            <a:r>
              <a:rPr lang="es-ES" sz="1400" b="1" i="1" dirty="0"/>
              <a:t> 13-10)</a:t>
            </a:r>
            <a:endParaRPr lang="es-ES" sz="1400" b="1" i="1" dirty="0"/>
          </a:p>
          <a:p>
            <a:pPr marL="0">
              <a:buNone/>
            </a:pPr>
            <a:r>
              <a:rPr lang="es-ES" sz="1400" b="1" i="1" dirty="0"/>
              <a:t>$ echo $a</a:t>
            </a:r>
            <a:endParaRPr lang="es-ES" sz="1400" b="1" i="1" dirty="0"/>
          </a:p>
          <a:p>
            <a:pPr marL="0">
              <a:buNone/>
            </a:pPr>
            <a:r>
              <a:rPr lang="es-ES" sz="1400" b="1" i="1" dirty="0"/>
              <a:t>3</a:t>
            </a:r>
            <a:endParaRPr lang="es-ES" sz="1400" b="1" i="1" dirty="0"/>
          </a:p>
          <a:p>
            <a:pPr marL="0">
              <a:buNone/>
            </a:pPr>
            <a:endParaRPr lang="es-ES" sz="1600" dirty="0"/>
          </a:p>
        </p:txBody>
      </p:sp>
      <p:graphicFrame>
        <p:nvGraphicFramePr>
          <p:cNvPr id="3" name="Tabla 4"/>
          <p:cNvGraphicFramePr>
            <a:graphicFrameLocks noGrp="1"/>
          </p:cNvGraphicFramePr>
          <p:nvPr/>
        </p:nvGraphicFramePr>
        <p:xfrm>
          <a:off x="5901092" y="1963444"/>
          <a:ext cx="5323499" cy="4069080"/>
        </p:xfrm>
        <a:graphic>
          <a:graphicData uri="http://schemas.openxmlformats.org/drawingml/2006/table">
            <a:tbl>
              <a:tblPr firstRow="1" bandRow="1">
                <a:tableStyleId>{5C22544A-7EE6-4342-B048-85BDC9FD1C3A}</a:tableStyleId>
              </a:tblPr>
              <a:tblGrid>
                <a:gridCol w="1427360"/>
                <a:gridCol w="3896139"/>
              </a:tblGrid>
              <a:tr h="242131">
                <a:tc>
                  <a:txBody>
                    <a:bodyPr/>
                    <a:lstStyle/>
                    <a:p>
                      <a:r>
                        <a:rPr lang="es-ES" sz="1500" dirty="0"/>
                        <a:t>Operador</a:t>
                      </a:r>
                      <a:endParaRPr lang="es-ES" sz="1500" dirty="0"/>
                    </a:p>
                  </a:txBody>
                  <a:tcPr/>
                </a:tc>
                <a:tc>
                  <a:txBody>
                    <a:bodyPr/>
                    <a:lstStyle/>
                    <a:p>
                      <a:r>
                        <a:rPr lang="es-ES" sz="1500" dirty="0"/>
                        <a:t>Función</a:t>
                      </a:r>
                      <a:endParaRPr lang="es-ES" sz="1500" dirty="0"/>
                    </a:p>
                  </a:txBody>
                  <a:tcPr/>
                </a:tc>
              </a:tr>
              <a:tr h="294458">
                <a:tc>
                  <a:txBody>
                    <a:bodyPr/>
                    <a:lstStyle/>
                    <a:p>
                      <a:r>
                        <a:rPr lang="es-ES" sz="1500" dirty="0"/>
                        <a:t>+</a:t>
                      </a:r>
                      <a:endParaRPr lang="es-ES" sz="1500" dirty="0"/>
                    </a:p>
                  </a:txBody>
                  <a:tcPr/>
                </a:tc>
                <a:tc>
                  <a:txBody>
                    <a:bodyPr/>
                    <a:lstStyle/>
                    <a:p>
                      <a:r>
                        <a:rPr lang="es-ES" sz="1500" dirty="0"/>
                        <a:t>Suma</a:t>
                      </a:r>
                      <a:endParaRPr lang="es-ES" sz="1500" dirty="0"/>
                    </a:p>
                  </a:txBody>
                  <a:tcPr/>
                </a:tc>
              </a:tr>
              <a:tr h="294458">
                <a:tc>
                  <a:txBody>
                    <a:bodyPr/>
                    <a:lstStyle/>
                    <a:p>
                      <a:r>
                        <a:rPr lang="es-ES" sz="1500" dirty="0"/>
                        <a:t>-</a:t>
                      </a:r>
                      <a:endParaRPr lang="es-ES" sz="1500" dirty="0"/>
                    </a:p>
                  </a:txBody>
                  <a:tcPr/>
                </a:tc>
                <a:tc>
                  <a:txBody>
                    <a:bodyPr/>
                    <a:lstStyle/>
                    <a:p>
                      <a:r>
                        <a:rPr lang="es-ES" sz="1500" dirty="0"/>
                        <a:t>Resta</a:t>
                      </a:r>
                      <a:endParaRPr lang="es-ES" sz="1500" dirty="0"/>
                    </a:p>
                  </a:txBody>
                  <a:tcPr/>
                </a:tc>
              </a:tr>
              <a:tr h="294458">
                <a:tc>
                  <a:txBody>
                    <a:bodyPr/>
                    <a:lstStyle/>
                    <a:p>
                      <a:r>
                        <a:rPr lang="es-ES" sz="1500" dirty="0"/>
                        <a:t>*</a:t>
                      </a:r>
                      <a:endParaRPr lang="es-ES" sz="1500" dirty="0"/>
                    </a:p>
                  </a:txBody>
                  <a:tcPr/>
                </a:tc>
                <a:tc>
                  <a:txBody>
                    <a:bodyPr/>
                    <a:lstStyle/>
                    <a:p>
                      <a:r>
                        <a:rPr lang="es-ES" sz="1500" dirty="0"/>
                        <a:t>Multiplicación</a:t>
                      </a:r>
                      <a:endParaRPr lang="es-ES" sz="1500" dirty="0"/>
                    </a:p>
                  </a:txBody>
                  <a:tcPr/>
                </a:tc>
              </a:tr>
              <a:tr h="294458">
                <a:tc>
                  <a:txBody>
                    <a:bodyPr/>
                    <a:lstStyle/>
                    <a:p>
                      <a:r>
                        <a:rPr lang="es-ES" sz="1500" dirty="0"/>
                        <a:t>/</a:t>
                      </a:r>
                      <a:endParaRPr lang="es-ES" sz="1500" dirty="0"/>
                    </a:p>
                  </a:txBody>
                  <a:tcPr/>
                </a:tc>
                <a:tc>
                  <a:txBody>
                    <a:bodyPr/>
                    <a:lstStyle/>
                    <a:p>
                      <a:r>
                        <a:rPr lang="es-ES" sz="1500" dirty="0"/>
                        <a:t>División</a:t>
                      </a:r>
                      <a:endParaRPr lang="es-ES" sz="1500" dirty="0"/>
                    </a:p>
                  </a:txBody>
                  <a:tcPr/>
                </a:tc>
              </a:tr>
              <a:tr h="294458">
                <a:tc>
                  <a:txBody>
                    <a:bodyPr/>
                    <a:lstStyle/>
                    <a:p>
                      <a:r>
                        <a:rPr lang="es-ES" sz="1500" dirty="0"/>
                        <a:t>%</a:t>
                      </a:r>
                      <a:endParaRPr lang="es-ES" sz="1500" dirty="0"/>
                    </a:p>
                  </a:txBody>
                  <a:tcPr/>
                </a:tc>
                <a:tc>
                  <a:txBody>
                    <a:bodyPr/>
                    <a:lstStyle/>
                    <a:p>
                      <a:r>
                        <a:rPr lang="es-ES" sz="1500" dirty="0"/>
                        <a:t>Módulo</a:t>
                      </a:r>
                      <a:endParaRPr lang="es-ES" sz="1500" dirty="0"/>
                    </a:p>
                  </a:txBody>
                  <a:tcPr/>
                </a:tc>
              </a:tr>
              <a:tr h="294458">
                <a:tc>
                  <a:txBody>
                    <a:bodyPr/>
                    <a:lstStyle/>
                    <a:p>
                      <a:r>
                        <a:rPr lang="es-ES" sz="1500" dirty="0"/>
                        <a:t>!=</a:t>
                      </a:r>
                      <a:endParaRPr lang="es-ES" sz="1500" dirty="0"/>
                    </a:p>
                  </a:txBody>
                  <a:tcPr/>
                </a:tc>
                <a:tc>
                  <a:txBody>
                    <a:bodyPr/>
                    <a:lstStyle/>
                    <a:p>
                      <a:r>
                        <a:rPr lang="es-ES" sz="1500" dirty="0"/>
                        <a:t>Diferente</a:t>
                      </a:r>
                      <a:endParaRPr lang="es-ES" sz="1500" dirty="0"/>
                    </a:p>
                  </a:txBody>
                  <a:tcPr/>
                </a:tc>
              </a:tr>
              <a:tr h="294458">
                <a:tc>
                  <a:txBody>
                    <a:bodyPr/>
                    <a:lstStyle/>
                    <a:p>
                      <a:r>
                        <a:rPr lang="es-ES" sz="1500" dirty="0"/>
                        <a:t>=</a:t>
                      </a:r>
                      <a:endParaRPr lang="es-ES" sz="1500" dirty="0"/>
                    </a:p>
                  </a:txBody>
                  <a:tcPr/>
                </a:tc>
                <a:tc>
                  <a:txBody>
                    <a:bodyPr/>
                    <a:lstStyle/>
                    <a:p>
                      <a:r>
                        <a:rPr lang="es-ES" sz="1500" dirty="0"/>
                        <a:t>Igual</a:t>
                      </a:r>
                      <a:endParaRPr lang="es-ES" sz="1500" dirty="0"/>
                    </a:p>
                  </a:txBody>
                  <a:tcPr/>
                </a:tc>
              </a:tr>
              <a:tr h="294458">
                <a:tc>
                  <a:txBody>
                    <a:bodyPr/>
                    <a:lstStyle/>
                    <a:p>
                      <a:r>
                        <a:rPr lang="es-ES" sz="1500" dirty="0"/>
                        <a:t>&lt;</a:t>
                      </a:r>
                      <a:endParaRPr lang="es-ES" sz="1500" dirty="0"/>
                    </a:p>
                  </a:txBody>
                  <a:tcPr/>
                </a:tc>
                <a:tc>
                  <a:txBody>
                    <a:bodyPr/>
                    <a:lstStyle/>
                    <a:p>
                      <a:r>
                        <a:rPr lang="es-ES" sz="1500" dirty="0"/>
                        <a:t>Inferior</a:t>
                      </a:r>
                      <a:endParaRPr lang="es-ES" sz="1500" dirty="0"/>
                    </a:p>
                  </a:txBody>
                  <a:tcPr/>
                </a:tc>
              </a:tr>
              <a:tr h="294458">
                <a:tc>
                  <a:txBody>
                    <a:bodyPr/>
                    <a:lstStyle/>
                    <a:p>
                      <a:r>
                        <a:rPr lang="es-ES" sz="1500" dirty="0"/>
                        <a:t>&gt;</a:t>
                      </a:r>
                      <a:endParaRPr lang="es-ES" sz="1500" dirty="0"/>
                    </a:p>
                  </a:txBody>
                  <a:tcPr/>
                </a:tc>
                <a:tc>
                  <a:txBody>
                    <a:bodyPr/>
                    <a:lstStyle/>
                    <a:p>
                      <a:r>
                        <a:rPr lang="es-ES" sz="1500" dirty="0"/>
                        <a:t>Superior</a:t>
                      </a:r>
                      <a:endParaRPr lang="es-ES" sz="1500" dirty="0"/>
                    </a:p>
                  </a:txBody>
                  <a:tcPr/>
                </a:tc>
              </a:tr>
              <a:tr h="411434">
                <a:tc>
                  <a:txBody>
                    <a:bodyPr/>
                    <a:lstStyle/>
                    <a:p>
                      <a:r>
                        <a:rPr lang="es-ES" sz="1500" dirty="0"/>
                        <a:t>&lt;=</a:t>
                      </a:r>
                      <a:endParaRPr lang="es-ES" sz="1500" dirty="0"/>
                    </a:p>
                    <a:p>
                      <a:r>
                        <a:rPr lang="es-ES" sz="1500" dirty="0"/>
                        <a:t>&gt;=</a:t>
                      </a:r>
                      <a:endParaRPr lang="es-ES" sz="1500" dirty="0"/>
                    </a:p>
                  </a:txBody>
                  <a:tcPr/>
                </a:tc>
                <a:tc>
                  <a:txBody>
                    <a:bodyPr/>
                    <a:lstStyle/>
                    <a:p>
                      <a:r>
                        <a:rPr lang="es-ES" sz="1500" dirty="0"/>
                        <a:t>Menor o igual</a:t>
                      </a:r>
                      <a:endParaRPr lang="es-ES" sz="1500" dirty="0"/>
                    </a:p>
                    <a:p>
                      <a:r>
                        <a:rPr lang="es-ES" sz="1500" dirty="0"/>
                        <a:t>Mayor o igual</a:t>
                      </a:r>
                      <a:endParaRPr lang="es-ES" sz="1500" dirty="0"/>
                    </a:p>
                  </a:txBody>
                  <a:tcPr/>
                </a:tc>
              </a:tr>
              <a:tr h="294458">
                <a:tc>
                  <a:txBody>
                    <a:bodyPr/>
                    <a:lstStyle/>
                    <a:p>
                      <a:r>
                        <a:rPr lang="es-ES" sz="1500" dirty="0"/>
                        <a:t>:</a:t>
                      </a:r>
                      <a:endParaRPr lang="es-ES" sz="1500" dirty="0"/>
                    </a:p>
                  </a:txBody>
                  <a:tcPr/>
                </a:tc>
                <a:tc>
                  <a:txBody>
                    <a:bodyPr/>
                    <a:lstStyle/>
                    <a:p>
                      <a:r>
                        <a:rPr lang="es-ES" sz="1500" dirty="0"/>
                        <a:t>Búsqueda en una cadena.</a:t>
                      </a:r>
                      <a:endParaRPr lang="es-ES" sz="1500" dirty="0"/>
                    </a:p>
                  </a:txBody>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sz="1600" b="1" dirty="0"/>
              <a:t>CALCULOS Y EXPRESIONES</a:t>
            </a:r>
            <a:endParaRPr lang="es-ES" sz="1600" b="1" dirty="0"/>
          </a:p>
          <a:p>
            <a:pPr marL="0">
              <a:buNone/>
            </a:pPr>
            <a:r>
              <a:rPr lang="es-ES" sz="1400" b="1" dirty="0"/>
              <a:t>BASH: </a:t>
            </a:r>
            <a:r>
              <a:rPr lang="es-ES" sz="1400" dirty="0"/>
              <a:t>El </a:t>
            </a:r>
            <a:r>
              <a:rPr lang="es-ES" sz="1400" dirty="0" err="1"/>
              <a:t>bash</a:t>
            </a:r>
            <a:r>
              <a:rPr lang="es-ES" sz="1400" dirty="0"/>
              <a:t> propone una forma sencilla de cálculos sobre los enteros colocando la operación entre $((…)):</a:t>
            </a:r>
            <a:endParaRPr lang="es-ES" sz="1400" dirty="0"/>
          </a:p>
          <a:p>
            <a:pPr marL="0">
              <a:spcBef>
                <a:spcPts val="600"/>
              </a:spcBef>
              <a:buNone/>
            </a:pPr>
            <a:r>
              <a:rPr lang="es-ES" sz="1400" b="1" i="1" dirty="0"/>
              <a:t>$ a=1</a:t>
            </a:r>
            <a:endParaRPr lang="es-ES" sz="1400" b="1" i="1" dirty="0"/>
          </a:p>
          <a:p>
            <a:pPr marL="0">
              <a:spcBef>
                <a:spcPts val="600"/>
              </a:spcBef>
              <a:buNone/>
            </a:pPr>
            <a:r>
              <a:rPr lang="es-ES" sz="1400" b="1" i="1" dirty="0"/>
              <a:t>$ a=$ ((a+1))</a:t>
            </a:r>
            <a:endParaRPr lang="es-ES" sz="1400" b="1" i="1" dirty="0"/>
          </a:p>
          <a:p>
            <a:pPr marL="0">
              <a:spcBef>
                <a:spcPts val="600"/>
              </a:spcBef>
              <a:buNone/>
            </a:pPr>
            <a:r>
              <a:rPr lang="es-ES" sz="1400" b="1" i="1" dirty="0"/>
              <a:t>$ echo $a</a:t>
            </a:r>
            <a:endParaRPr lang="es-ES" sz="1400" b="1" i="1" dirty="0"/>
          </a:p>
          <a:p>
            <a:pPr marL="0">
              <a:spcBef>
                <a:spcPts val="600"/>
              </a:spcBef>
              <a:buNone/>
            </a:pPr>
            <a:r>
              <a:rPr lang="es-ES" sz="1400" b="1" i="1" dirty="0"/>
              <a:t>2</a:t>
            </a:r>
            <a:endParaRPr lang="es-ES" sz="1400" b="1" i="1" dirty="0"/>
          </a:p>
          <a:p>
            <a:pPr marL="0">
              <a:spcBef>
                <a:spcPts val="600"/>
              </a:spcBef>
              <a:buNone/>
            </a:pPr>
            <a:endParaRPr lang="es-ES" sz="1400" b="1" i="1" dirty="0"/>
          </a:p>
          <a:p>
            <a:pPr marL="0">
              <a:spcBef>
                <a:spcPts val="600"/>
              </a:spcBef>
              <a:buNone/>
            </a:pPr>
            <a:r>
              <a:rPr lang="es-ES" sz="1400" b="1" i="1" dirty="0"/>
              <a:t>$ b=2</a:t>
            </a:r>
            <a:endParaRPr lang="es-ES" sz="1400" b="1" i="1" dirty="0"/>
          </a:p>
          <a:p>
            <a:pPr marL="0">
              <a:spcBef>
                <a:spcPts val="600"/>
              </a:spcBef>
              <a:buNone/>
            </a:pPr>
            <a:r>
              <a:rPr lang="es-ES" sz="1400" b="1" i="1" dirty="0"/>
              <a:t>$ a=$ ((</a:t>
            </a:r>
            <a:r>
              <a:rPr lang="es-ES" sz="1400" b="1" i="1" dirty="0" err="1"/>
              <a:t>a+b</a:t>
            </a:r>
            <a:r>
              <a:rPr lang="es-ES" sz="1400" b="1" i="1" dirty="0"/>
              <a:t>))</a:t>
            </a:r>
            <a:endParaRPr lang="es-ES" sz="1400" b="1" i="1" dirty="0"/>
          </a:p>
          <a:p>
            <a:pPr marL="0">
              <a:spcBef>
                <a:spcPts val="600"/>
              </a:spcBef>
              <a:buNone/>
            </a:pPr>
            <a:r>
              <a:rPr lang="es-ES" sz="1400" b="1" i="1" dirty="0"/>
              <a:t>$ echo $a</a:t>
            </a:r>
            <a:endParaRPr lang="es-ES" sz="1400" b="1" i="1" dirty="0"/>
          </a:p>
          <a:p>
            <a:pPr marL="0">
              <a:spcBef>
                <a:spcPts val="600"/>
              </a:spcBef>
              <a:buNone/>
            </a:pPr>
            <a:r>
              <a:rPr lang="es-ES" sz="1400" b="1" i="1" dirty="0"/>
              <a:t>4</a:t>
            </a:r>
            <a:endParaRPr lang="es-ES" sz="1400" b="1" i="1" dirty="0"/>
          </a:p>
          <a:p>
            <a:pPr marL="0">
              <a:buNone/>
            </a:pPr>
            <a:endParaRPr lang="es-E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sz="1600" b="1" dirty="0"/>
              <a:t>PUNTEROS</a:t>
            </a:r>
            <a:endParaRPr lang="es-ES" sz="1600" b="1" dirty="0"/>
          </a:p>
          <a:p>
            <a:pPr marL="0">
              <a:buNone/>
            </a:pPr>
            <a:r>
              <a:rPr lang="es-ES" sz="1600" dirty="0"/>
              <a:t>Un puntero es una dirección a una variable; por ejemplo:</a:t>
            </a:r>
            <a:endParaRPr lang="es-ES" sz="1600" dirty="0"/>
          </a:p>
          <a:p>
            <a:pPr marL="0">
              <a:spcBef>
                <a:spcPts val="0"/>
              </a:spcBef>
              <a:buNone/>
            </a:pPr>
            <a:r>
              <a:rPr lang="es-ES" sz="1600" dirty="0"/>
              <a:t>	</a:t>
            </a:r>
            <a:r>
              <a:rPr lang="es-ES" sz="1600" b="1" dirty="0"/>
              <a:t>$ a=Julio</a:t>
            </a:r>
            <a:endParaRPr lang="es-ES" sz="1600" b="1" dirty="0"/>
          </a:p>
          <a:p>
            <a:pPr marL="0">
              <a:spcBef>
                <a:spcPts val="0"/>
              </a:spcBef>
              <a:buNone/>
            </a:pPr>
            <a:r>
              <a:rPr lang="es-ES" sz="1600" b="1" dirty="0"/>
              <a:t>	$ b=a</a:t>
            </a:r>
            <a:endParaRPr lang="es-ES" sz="1600" b="1" dirty="0"/>
          </a:p>
          <a:p>
            <a:pPr marL="0">
              <a:spcBef>
                <a:spcPts val="0"/>
              </a:spcBef>
              <a:buNone/>
            </a:pPr>
            <a:r>
              <a:rPr lang="es-ES" sz="1600" b="1" dirty="0"/>
              <a:t>	$ echo $b</a:t>
            </a:r>
            <a:endParaRPr lang="es-ES" sz="1600" b="1" dirty="0"/>
          </a:p>
          <a:p>
            <a:pPr marL="0">
              <a:spcBef>
                <a:spcPts val="0"/>
              </a:spcBef>
              <a:buNone/>
            </a:pPr>
            <a:r>
              <a:rPr lang="es-ES" sz="1600" b="1" dirty="0"/>
              <a:t>	$ a</a:t>
            </a:r>
            <a:endParaRPr lang="es-ES" sz="1600" b="1" dirty="0"/>
          </a:p>
          <a:p>
            <a:pPr marL="0">
              <a:spcBef>
                <a:spcPts val="0"/>
              </a:spcBef>
              <a:buNone/>
            </a:pPr>
            <a:r>
              <a:rPr lang="es-ES" sz="1600" b="1" dirty="0"/>
              <a:t>Comando </a:t>
            </a:r>
            <a:r>
              <a:rPr lang="es-ES" sz="1600" b="1" dirty="0" err="1"/>
              <a:t>eval</a:t>
            </a:r>
            <a:r>
              <a:rPr lang="es-ES" sz="1600" b="1" dirty="0"/>
              <a:t>: </a:t>
            </a:r>
            <a:r>
              <a:rPr lang="es-ES" sz="1600" dirty="0"/>
              <a:t>Este comando, situado al principio de la línea, intenta interpretar el valor de una variable precedida de dos &lt;&lt;$&gt;&gt; como si fuera otra variable.</a:t>
            </a:r>
            <a:endParaRPr lang="es-ES" sz="1600" dirty="0"/>
          </a:p>
          <a:p>
            <a:pPr marL="0">
              <a:spcBef>
                <a:spcPts val="0"/>
              </a:spcBef>
              <a:buNone/>
            </a:pPr>
            <a:r>
              <a:rPr lang="es-ES" sz="1600" b="1" dirty="0"/>
              <a:t>$ </a:t>
            </a:r>
            <a:r>
              <a:rPr lang="es-ES" sz="1600" b="1" dirty="0" err="1"/>
              <a:t>eval</a:t>
            </a:r>
            <a:r>
              <a:rPr lang="es-ES" sz="1600" b="1" dirty="0"/>
              <a:t> echo \$$b</a:t>
            </a:r>
            <a:endParaRPr lang="es-ES" sz="1600" b="1" dirty="0"/>
          </a:p>
          <a:p>
            <a:pPr marL="0">
              <a:spcBef>
                <a:spcPts val="0"/>
              </a:spcBef>
              <a:buNone/>
            </a:pPr>
            <a:r>
              <a:rPr lang="es-ES" sz="1600" b="1" dirty="0"/>
              <a:t>Julio</a:t>
            </a:r>
            <a:endParaRPr lang="es-ES" sz="1600"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sz="1600" b="1" dirty="0"/>
              <a:t>TRATAMIENTO DE SEÑALES</a:t>
            </a:r>
            <a:endParaRPr lang="es-ES" sz="1600" b="1" dirty="0"/>
          </a:p>
          <a:p>
            <a:pPr marL="0">
              <a:buNone/>
            </a:pPr>
            <a:r>
              <a:rPr lang="es-ES" sz="1600" dirty="0"/>
              <a:t>El comando </a:t>
            </a:r>
            <a:r>
              <a:rPr lang="es-ES" sz="1600" b="1" dirty="0" err="1"/>
              <a:t>trap</a:t>
            </a:r>
            <a:r>
              <a:rPr lang="es-ES" sz="1600" dirty="0"/>
              <a:t> permite modificar el comportamiento del script en el momento de la recepción de una señal.</a:t>
            </a:r>
            <a:endParaRPr lang="es-ES" sz="1600" dirty="0"/>
          </a:p>
          <a:p>
            <a:pPr marL="0">
              <a:buNone/>
            </a:pPr>
            <a:endParaRPr lang="es-ES" sz="1600" dirty="0"/>
          </a:p>
        </p:txBody>
      </p:sp>
      <p:graphicFrame>
        <p:nvGraphicFramePr>
          <p:cNvPr id="3" name="Tabla 4"/>
          <p:cNvGraphicFramePr>
            <a:graphicFrameLocks noGrp="1"/>
          </p:cNvGraphicFramePr>
          <p:nvPr/>
        </p:nvGraphicFramePr>
        <p:xfrm>
          <a:off x="1303131" y="3065301"/>
          <a:ext cx="9254978" cy="1720152"/>
        </p:xfrm>
        <a:graphic>
          <a:graphicData uri="http://schemas.openxmlformats.org/drawingml/2006/table">
            <a:tbl>
              <a:tblPr firstRow="1" bandRow="1">
                <a:tableStyleId>{5C22544A-7EE6-4342-B048-85BDC9FD1C3A}</a:tableStyleId>
              </a:tblPr>
              <a:tblGrid>
                <a:gridCol w="2977322"/>
                <a:gridCol w="6277656"/>
              </a:tblGrid>
              <a:tr h="360870">
                <a:tc>
                  <a:txBody>
                    <a:bodyPr/>
                    <a:lstStyle/>
                    <a:p>
                      <a:r>
                        <a:rPr lang="es-ES" dirty="0"/>
                        <a:t>Comando</a:t>
                      </a:r>
                      <a:endParaRPr lang="es-ES" dirty="0"/>
                    </a:p>
                  </a:txBody>
                  <a:tcPr/>
                </a:tc>
                <a:tc>
                  <a:txBody>
                    <a:bodyPr/>
                    <a:lstStyle/>
                    <a:p>
                      <a:r>
                        <a:rPr lang="es-ES" dirty="0"/>
                        <a:t>Reacción</a:t>
                      </a:r>
                      <a:endParaRPr lang="es-ES" dirty="0"/>
                    </a:p>
                  </a:txBody>
                  <a:tcPr/>
                </a:tc>
              </a:tr>
              <a:tr h="360870">
                <a:tc>
                  <a:txBody>
                    <a:bodyPr/>
                    <a:lstStyle/>
                    <a:p>
                      <a:r>
                        <a:rPr lang="es-ES" dirty="0" err="1"/>
                        <a:t>Trap</a:t>
                      </a:r>
                      <a:r>
                        <a:rPr lang="es-ES" dirty="0"/>
                        <a:t> “ señales</a:t>
                      </a:r>
                      <a:endParaRPr lang="es-ES" dirty="0"/>
                    </a:p>
                  </a:txBody>
                  <a:tcPr/>
                </a:tc>
                <a:tc>
                  <a:txBody>
                    <a:bodyPr/>
                    <a:lstStyle/>
                    <a:p>
                      <a:r>
                        <a:rPr lang="es-ES" dirty="0"/>
                        <a:t>Ignora las señales. </a:t>
                      </a:r>
                      <a:r>
                        <a:rPr lang="es-ES" dirty="0" err="1"/>
                        <a:t>Trap</a:t>
                      </a:r>
                      <a:r>
                        <a:rPr lang="es-ES" dirty="0"/>
                        <a:t> “ 2 3 ignora las señales 2 y 3</a:t>
                      </a:r>
                      <a:endParaRPr lang="es-ES" dirty="0"/>
                    </a:p>
                  </a:txBody>
                  <a:tcPr/>
                </a:tc>
              </a:tr>
              <a:tr h="622872">
                <a:tc>
                  <a:txBody>
                    <a:bodyPr/>
                    <a:lstStyle/>
                    <a:p>
                      <a:r>
                        <a:rPr lang="es-ES" dirty="0" err="1"/>
                        <a:t>Trap</a:t>
                      </a:r>
                      <a:r>
                        <a:rPr lang="es-ES" dirty="0"/>
                        <a:t> ‘comandos’ señales</a:t>
                      </a:r>
                      <a:endParaRPr lang="es-ES" dirty="0"/>
                    </a:p>
                  </a:txBody>
                  <a:tcPr/>
                </a:tc>
                <a:tc>
                  <a:txBody>
                    <a:bodyPr/>
                    <a:lstStyle/>
                    <a:p>
                      <a:r>
                        <a:rPr lang="es-ES" dirty="0"/>
                        <a:t>Para cada señal recibida, ejecuta los comandos indicados.</a:t>
                      </a:r>
                      <a:endParaRPr lang="es-ES" dirty="0"/>
                    </a:p>
                  </a:txBody>
                  <a:tcPr/>
                </a:tc>
              </a:tr>
              <a:tr h="360870">
                <a:tc>
                  <a:txBody>
                    <a:bodyPr/>
                    <a:lstStyle/>
                    <a:p>
                      <a:r>
                        <a:rPr lang="es-ES" dirty="0" err="1"/>
                        <a:t>Trap</a:t>
                      </a:r>
                      <a:r>
                        <a:rPr lang="es-ES" dirty="0"/>
                        <a:t> señales</a:t>
                      </a:r>
                      <a:endParaRPr lang="es-ES" dirty="0"/>
                    </a:p>
                  </a:txBody>
                  <a:tcPr/>
                </a:tc>
                <a:tc>
                  <a:txBody>
                    <a:bodyPr/>
                    <a:lstStyle/>
                    <a:p>
                      <a:r>
                        <a:rPr lang="es-ES" dirty="0"/>
                        <a:t>Restaura las acciones por defecto para estas señales.</a:t>
                      </a:r>
                      <a:endParaRPr lang="es-ES" dirty="0"/>
                    </a:p>
                  </a:txBody>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Programación Shell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sz="1600" b="1" dirty="0"/>
              <a:t>COMANDO :</a:t>
            </a:r>
            <a:endParaRPr lang="es-ES" sz="1600" b="1" dirty="0"/>
          </a:p>
          <a:p>
            <a:pPr marL="0">
              <a:buNone/>
            </a:pPr>
            <a:r>
              <a:rPr lang="es-ES" sz="1600" dirty="0"/>
              <a:t>El comando </a:t>
            </a:r>
            <a:r>
              <a:rPr lang="es-ES" sz="1600" b="1" dirty="0"/>
              <a:t>&lt;&lt;:&gt;&gt; </a:t>
            </a:r>
            <a:r>
              <a:rPr lang="es-ES" sz="1600" dirty="0"/>
              <a:t>suele ser totalmente desconocido para los usuarios de Unix. Siempre devuelve el valor 0 (éxito). Por lo tanto, se puede utilizar para sustituir al comando true en un bucle, por ejemplo:</a:t>
            </a:r>
            <a:endParaRPr lang="es-ES" sz="1600" dirty="0"/>
          </a:p>
          <a:p>
            <a:pPr marL="1608455" lvl="8">
              <a:buNone/>
            </a:pPr>
            <a:r>
              <a:rPr lang="es-ES" sz="1600" b="1" dirty="0" err="1"/>
              <a:t>While</a:t>
            </a:r>
            <a:r>
              <a:rPr lang="es-ES" sz="1600" b="1" dirty="0"/>
              <a:t>:</a:t>
            </a:r>
            <a:endParaRPr lang="es-ES" sz="1600" b="1" dirty="0"/>
          </a:p>
          <a:p>
            <a:pPr marL="1608455" lvl="8">
              <a:buNone/>
            </a:pPr>
            <a:r>
              <a:rPr lang="es-ES" sz="1600" b="1" dirty="0"/>
              <a:t>do</a:t>
            </a:r>
            <a:endParaRPr lang="es-ES" sz="1600" b="1" dirty="0"/>
          </a:p>
          <a:p>
            <a:pPr marL="1608455" lvl="8">
              <a:buNone/>
            </a:pPr>
            <a:r>
              <a:rPr lang="es-ES" sz="1600" b="1" dirty="0"/>
              <a:t>	…</a:t>
            </a:r>
            <a:endParaRPr lang="es-ES" sz="1600" b="1" dirty="0"/>
          </a:p>
          <a:p>
            <a:pPr marL="1608455" lvl="8">
              <a:buNone/>
            </a:pPr>
            <a:r>
              <a:rPr lang="es-ES" sz="1600" b="1" dirty="0"/>
              <a:t>done</a:t>
            </a:r>
            <a:endParaRPr lang="es-ES" sz="1600" b="1" dirty="0"/>
          </a:p>
          <a:p>
            <a:pPr marL="292735" lvl="1">
              <a:buNone/>
            </a:pPr>
            <a:r>
              <a:rPr lang="es-ES" dirty="0"/>
              <a:t>Este comando, colocado al principio de línea y seguido de otro comando, trata el comando y sus</a:t>
            </a:r>
            <a:endParaRPr lang="es-ES" dirty="0"/>
          </a:p>
          <a:p>
            <a:pPr marL="292735" lvl="1">
              <a:buNone/>
            </a:pPr>
            <a:r>
              <a:rPr lang="es-ES" dirty="0"/>
              <a:t>argumentos, pero no hace nada y siempre </a:t>
            </a:r>
            <a:r>
              <a:rPr lang="es-ES" dirty="0" err="1"/>
              <a:t>devuleve</a:t>
            </a:r>
            <a:r>
              <a:rPr lang="es-ES" dirty="0"/>
              <a:t> 0. Puede ser útil para probar variables.</a:t>
            </a:r>
            <a:endParaRPr lang="es-E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err="1">
                <a:solidFill>
                  <a:srgbClr val="333333"/>
                </a:solidFill>
                <a:latin typeface="Helvetica" panose="020B0604020202020204" pitchFamily="34" charset="0"/>
              </a:rPr>
              <a:t>Screen</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b="1" dirty="0"/>
              <a:t>PRESENTACIÓN</a:t>
            </a:r>
            <a:endParaRPr lang="es-ES" b="1" dirty="0"/>
          </a:p>
          <a:p>
            <a:pPr marL="0">
              <a:buNone/>
            </a:pPr>
            <a:r>
              <a:rPr lang="es-ES" dirty="0"/>
              <a:t>La herramienta </a:t>
            </a:r>
            <a:r>
              <a:rPr lang="es-ES" b="1" dirty="0" err="1"/>
              <a:t>screen</a:t>
            </a:r>
            <a:r>
              <a:rPr lang="es-ES" dirty="0"/>
              <a:t> permite gestionar varias ventanas de texto dentro de un mismo terminal. Mediante </a:t>
            </a:r>
            <a:r>
              <a:rPr lang="es-ES" dirty="0" err="1"/>
              <a:t>screen</a:t>
            </a:r>
            <a:r>
              <a:rPr lang="es-ES" dirty="0"/>
              <a:t> podrá en particular:</a:t>
            </a:r>
            <a:endParaRPr lang="es-ES" dirty="0"/>
          </a:p>
          <a:p>
            <a:pPr lvl="1">
              <a:buFont typeface="Wingdings" panose="05000000000000000000" pitchFamily="2" charset="2"/>
              <a:buChar char="§"/>
            </a:pPr>
            <a:r>
              <a:rPr lang="es-ES" dirty="0"/>
              <a:t>Utilizar varias ventanas Shell desde una única conexión </a:t>
            </a:r>
            <a:r>
              <a:rPr lang="es-ES" dirty="0" err="1"/>
              <a:t>ssh</a:t>
            </a:r>
            <a:r>
              <a:rPr lang="es-ES" dirty="0"/>
              <a:t>.</a:t>
            </a:r>
            <a:endParaRPr lang="es-ES" dirty="0"/>
          </a:p>
          <a:p>
            <a:pPr lvl="1">
              <a:buFont typeface="Wingdings" panose="05000000000000000000" pitchFamily="2" charset="2"/>
              <a:buChar char="§"/>
            </a:pPr>
            <a:r>
              <a:rPr lang="es-ES" dirty="0"/>
              <a:t>Mantener abiertas las conexiones </a:t>
            </a:r>
            <a:r>
              <a:rPr lang="es-ES" b="1" dirty="0" err="1"/>
              <a:t>ssh</a:t>
            </a:r>
            <a:r>
              <a:rPr lang="es-ES" dirty="0"/>
              <a:t> en caso de problemas de red (reinicio automático)</a:t>
            </a:r>
            <a:endParaRPr lang="es-ES" dirty="0"/>
          </a:p>
          <a:p>
            <a:pPr lvl="1">
              <a:buFont typeface="Wingdings" panose="05000000000000000000" pitchFamily="2" charset="2"/>
              <a:buChar char="§"/>
            </a:pPr>
            <a:r>
              <a:rPr lang="es-ES" dirty="0"/>
              <a:t>Desconectarse y volver a conectar a sesiones Shell y </a:t>
            </a:r>
            <a:r>
              <a:rPr lang="es-ES" dirty="0" err="1"/>
              <a:t>ssh</a:t>
            </a:r>
            <a:r>
              <a:rPr lang="es-ES" dirty="0"/>
              <a:t> de varios entornos y redes</a:t>
            </a:r>
            <a:endParaRPr lang="es-ES" dirty="0"/>
          </a:p>
          <a:p>
            <a:pPr lvl="1">
              <a:buFont typeface="Wingdings" panose="05000000000000000000" pitchFamily="2" charset="2"/>
              <a:buChar char="§"/>
            </a:pPr>
            <a:r>
              <a:rPr lang="es-ES" dirty="0"/>
              <a:t>Ejecutar un comando Shell de larga duración sin necesidad de mantener una sesión activa.</a:t>
            </a:r>
            <a:endParaRPr lang="es-ES" dirty="0"/>
          </a:p>
          <a:p>
            <a:pPr marL="201295" lvl="1" indent="0">
              <a:buNone/>
            </a:pPr>
            <a:r>
              <a:rPr lang="es-ES" b="1" dirty="0"/>
              <a:t>UTILIZACIÓN</a:t>
            </a:r>
            <a:endParaRPr lang="es-ES" b="1" dirty="0"/>
          </a:p>
          <a:p>
            <a:pPr marL="201295" lvl="1" indent="0">
              <a:buNone/>
            </a:pPr>
            <a:r>
              <a:rPr lang="es-ES" b="1" dirty="0"/>
              <a:t>Instalación y ayuda: </a:t>
            </a:r>
            <a:r>
              <a:rPr lang="es-ES" dirty="0"/>
              <a:t>Instalamos </a:t>
            </a:r>
            <a:r>
              <a:rPr lang="es-ES" dirty="0" err="1"/>
              <a:t>screen</a:t>
            </a:r>
            <a:r>
              <a:rPr lang="es-ES" dirty="0"/>
              <a:t> (</a:t>
            </a:r>
            <a:r>
              <a:rPr lang="es-ES" dirty="0" err="1"/>
              <a:t>apt</a:t>
            </a:r>
            <a:r>
              <a:rPr lang="es-ES" dirty="0"/>
              <a:t> </a:t>
            </a:r>
            <a:r>
              <a:rPr lang="es-ES" dirty="0" err="1"/>
              <a:t>install</a:t>
            </a:r>
            <a:r>
              <a:rPr lang="es-ES" dirty="0"/>
              <a:t> </a:t>
            </a:r>
            <a:r>
              <a:rPr lang="es-ES" dirty="0" err="1"/>
              <a:t>screen</a:t>
            </a:r>
            <a:r>
              <a:rPr lang="es-ES" dirty="0"/>
              <a:t>) y para ejecutar:</a:t>
            </a:r>
            <a:endParaRPr lang="es-ES" dirty="0"/>
          </a:p>
          <a:p>
            <a:pPr marL="201295" lvl="1" indent="0">
              <a:buNone/>
            </a:pPr>
            <a:r>
              <a:rPr lang="es-ES" b="1" dirty="0"/>
              <a:t>$ </a:t>
            </a:r>
            <a:r>
              <a:rPr lang="es-ES" b="1" dirty="0" err="1"/>
              <a:t>screen</a:t>
            </a:r>
            <a:endParaRPr lang="es-ES"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Configuración del </a:t>
            </a:r>
            <a:r>
              <a:rPr lang="es-ES" altLang="es-ES" sz="4400" dirty="0" err="1">
                <a:solidFill>
                  <a:srgbClr val="333333"/>
                </a:solidFill>
                <a:latin typeface="Helvetica" panose="020B0604020202020204" pitchFamily="34" charset="0"/>
              </a:rPr>
              <a:t>Bash</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3536052"/>
          </a:xfrm>
        </p:spPr>
        <p:txBody>
          <a:bodyPr>
            <a:normAutofit fontScale="85000" lnSpcReduction="20000"/>
          </a:bodyPr>
          <a:lstStyle/>
          <a:p>
            <a:r>
              <a:rPr lang="es-ES" b="1" dirty="0"/>
              <a:t>ARCHIVOS DE CONFIGURACIÓN</a:t>
            </a:r>
            <a:endParaRPr lang="es-ES" b="1" dirty="0"/>
          </a:p>
          <a:p>
            <a:r>
              <a:rPr lang="es-ES" sz="1400" dirty="0"/>
              <a:t>Un </a:t>
            </a:r>
            <a:r>
              <a:rPr lang="es-ES" sz="1400" b="1" dirty="0"/>
              <a:t>archivo de configuración</a:t>
            </a:r>
            <a:r>
              <a:rPr lang="es-ES" sz="1400" dirty="0"/>
              <a:t>. Un  archivo de configuración es un script de Shell, una secuencia de comandos individuales que tiene como meta configurar el entorno del usuario. Se puede lanzar el </a:t>
            </a:r>
            <a:r>
              <a:rPr lang="es-ES" sz="1400" dirty="0" err="1"/>
              <a:t>shell</a:t>
            </a:r>
            <a:r>
              <a:rPr lang="es-ES" sz="1400" dirty="0"/>
              <a:t> </a:t>
            </a:r>
            <a:r>
              <a:rPr lang="es-ES" sz="1400" dirty="0" err="1"/>
              <a:t>bash</a:t>
            </a:r>
            <a:r>
              <a:rPr lang="es-ES" sz="1400" dirty="0"/>
              <a:t> en varios modos:</a:t>
            </a:r>
            <a:endParaRPr lang="es-ES" sz="1400" dirty="0"/>
          </a:p>
          <a:p>
            <a:pPr lvl="1"/>
            <a:r>
              <a:rPr lang="es-ES" sz="1400" dirty="0"/>
              <a:t>Shell interactiva de conexión (</a:t>
            </a:r>
            <a:r>
              <a:rPr lang="es-ES" sz="1400" dirty="0" err="1"/>
              <a:t>login</a:t>
            </a:r>
            <a:r>
              <a:rPr lang="es-ES" sz="1400" dirty="0"/>
              <a:t> Shell)</a:t>
            </a:r>
            <a:endParaRPr lang="es-ES" sz="1400" dirty="0"/>
          </a:p>
          <a:p>
            <a:pPr lvl="1"/>
            <a:r>
              <a:rPr lang="es-ES" sz="1400" dirty="0"/>
              <a:t>Shell interactiva simple</a:t>
            </a:r>
            <a:endParaRPr lang="es-ES" sz="1400" dirty="0"/>
          </a:p>
          <a:p>
            <a:pPr lvl="1"/>
            <a:r>
              <a:rPr lang="es-ES" sz="1400" dirty="0"/>
              <a:t>Shell no interactiva</a:t>
            </a:r>
            <a:endParaRPr lang="es-ES" sz="1400" dirty="0"/>
          </a:p>
          <a:p>
            <a:pPr lvl="1"/>
            <a:r>
              <a:rPr lang="es-ES" sz="1400" dirty="0"/>
              <a:t>El modo </a:t>
            </a:r>
            <a:r>
              <a:rPr lang="es-ES" sz="1400" dirty="0" err="1"/>
              <a:t>sh</a:t>
            </a:r>
            <a:r>
              <a:rPr lang="es-ES" sz="1400" dirty="0"/>
              <a:t>; etc.</a:t>
            </a:r>
            <a:endParaRPr lang="es-ES" sz="1400" dirty="0"/>
          </a:p>
          <a:p>
            <a:r>
              <a:rPr lang="es-ES" sz="1400" b="1" dirty="0"/>
              <a:t>Shell de conexión: </a:t>
            </a:r>
            <a:r>
              <a:rPr lang="es-ES" sz="1400" dirty="0"/>
              <a:t>Se lanza el Shell de conexión después de la inserción del </a:t>
            </a:r>
            <a:r>
              <a:rPr lang="es-ES" sz="1400" dirty="0" err="1"/>
              <a:t>login</a:t>
            </a:r>
            <a:r>
              <a:rPr lang="es-ES" sz="1400" dirty="0"/>
              <a:t> y de la contraseña en la consola. Corresponde al que se ha precisado al final de cada línea de /</a:t>
            </a:r>
            <a:r>
              <a:rPr lang="es-ES" sz="1400" dirty="0" err="1"/>
              <a:t>etc</a:t>
            </a:r>
            <a:r>
              <a:rPr lang="es-ES" sz="1400" dirty="0"/>
              <a:t>/</a:t>
            </a:r>
            <a:r>
              <a:rPr lang="es-ES" sz="1400" dirty="0" err="1"/>
              <a:t>passwd</a:t>
            </a:r>
            <a:r>
              <a:rPr lang="es-ES" sz="1400" dirty="0"/>
              <a:t>. En este modo, el Shell busca ejecutar, en este orden y si están presentes:</a:t>
            </a:r>
            <a:endParaRPr lang="es-ES" sz="1400" dirty="0"/>
          </a:p>
          <a:p>
            <a:pPr lvl="1">
              <a:buFont typeface="Wingdings" panose="05000000000000000000" pitchFamily="2" charset="2"/>
              <a:buChar char="§"/>
            </a:pPr>
            <a:r>
              <a:rPr lang="es-ES" sz="1400" dirty="0"/>
              <a:t>/</a:t>
            </a:r>
            <a:r>
              <a:rPr lang="es-ES" sz="1400" dirty="0" err="1"/>
              <a:t>etc</a:t>
            </a:r>
            <a:r>
              <a:rPr lang="es-ES" sz="1400" dirty="0"/>
              <a:t>/</a:t>
            </a:r>
            <a:r>
              <a:rPr lang="es-ES" sz="1400" dirty="0" err="1"/>
              <a:t>profile</a:t>
            </a:r>
            <a:r>
              <a:rPr lang="es-ES" sz="1400" dirty="0"/>
              <a:t> (ejecutará /</a:t>
            </a:r>
            <a:r>
              <a:rPr lang="es-ES" sz="1400" dirty="0" err="1"/>
              <a:t>etc</a:t>
            </a:r>
            <a:r>
              <a:rPr lang="es-ES" sz="1400" dirty="0"/>
              <a:t>/</a:t>
            </a:r>
            <a:r>
              <a:rPr lang="es-ES" sz="1400" dirty="0" err="1"/>
              <a:t>profile</a:t>
            </a:r>
            <a:r>
              <a:rPr lang="es-ES" sz="1400" dirty="0"/>
              <a:t>/</a:t>
            </a:r>
            <a:r>
              <a:rPr lang="es-ES" sz="1400" dirty="0" err="1"/>
              <a:t>profile.d</a:t>
            </a:r>
            <a:r>
              <a:rPr lang="es-ES" sz="1400" dirty="0"/>
              <a:t>)</a:t>
            </a:r>
            <a:endParaRPr lang="es-ES" sz="1400" dirty="0"/>
          </a:p>
          <a:p>
            <a:pPr lvl="1">
              <a:buFont typeface="Wingdings" panose="05000000000000000000" pitchFamily="2" charset="2"/>
              <a:buChar char="§"/>
            </a:pPr>
            <a:r>
              <a:rPr lang="es-ES" sz="1400" dirty="0"/>
              <a:t>~/.</a:t>
            </a:r>
            <a:r>
              <a:rPr lang="es-ES" sz="1400" dirty="0" err="1"/>
              <a:t>bash_profile</a:t>
            </a:r>
            <a:endParaRPr lang="es-ES" sz="1400" dirty="0"/>
          </a:p>
          <a:p>
            <a:pPr lvl="1">
              <a:buFont typeface="Wingdings" panose="05000000000000000000" pitchFamily="2" charset="2"/>
              <a:buChar char="§"/>
            </a:pPr>
            <a:r>
              <a:rPr lang="es-ES" sz="1400" dirty="0"/>
              <a:t>~/</a:t>
            </a:r>
            <a:r>
              <a:rPr lang="es-ES" sz="1400" dirty="0" err="1"/>
              <a:t>bash_login</a:t>
            </a:r>
            <a:endParaRPr lang="es-ES" sz="1400" dirty="0"/>
          </a:p>
          <a:p>
            <a:pPr lvl="1">
              <a:buFont typeface="Wingdings" panose="05000000000000000000" pitchFamily="2" charset="2"/>
              <a:buChar char="§"/>
            </a:pPr>
            <a:r>
              <a:rPr lang="es-ES" sz="1400" dirty="0"/>
              <a:t>~/.</a:t>
            </a:r>
            <a:r>
              <a:rPr lang="es-ES" sz="1400" dirty="0" err="1"/>
              <a:t>profile</a:t>
            </a:r>
            <a:endParaRPr lang="es-ES" sz="1400" dirty="0"/>
          </a:p>
          <a:p>
            <a:pPr lvl="1">
              <a:buFont typeface="Wingdings" panose="05000000000000000000" pitchFamily="2" charset="2"/>
              <a:buChar char="§"/>
            </a:pPr>
            <a:r>
              <a:rPr lang="es-ES" sz="1400" dirty="0"/>
              <a:t>~/.</a:t>
            </a:r>
            <a:r>
              <a:rPr lang="es-ES" sz="1400" dirty="0" err="1"/>
              <a:t>bash_logout</a:t>
            </a:r>
            <a:r>
              <a:rPr lang="es-ES" sz="1400" dirty="0"/>
              <a:t> (para desconectarse)</a:t>
            </a:r>
            <a:endParaRPr lang="es-E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Configuración del </a:t>
            </a:r>
            <a:r>
              <a:rPr lang="es-ES" altLang="es-ES" sz="4400" dirty="0" err="1">
                <a:solidFill>
                  <a:srgbClr val="333333"/>
                </a:solidFill>
                <a:latin typeface="Helvetica" panose="020B0604020202020204" pitchFamily="34" charset="0"/>
              </a:rPr>
              <a:t>Bash</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5"/>
            <a:ext cx="9915378" cy="3536052"/>
          </a:xfrm>
        </p:spPr>
        <p:txBody>
          <a:bodyPr>
            <a:normAutofit lnSpcReduction="10000"/>
          </a:bodyPr>
          <a:lstStyle/>
          <a:p>
            <a:r>
              <a:rPr lang="es-ES" sz="1600" b="1" dirty="0"/>
              <a:t>ARCHIVOS DE CONFIGURACIÓN</a:t>
            </a:r>
            <a:endParaRPr lang="es-ES" sz="1600" b="1" dirty="0"/>
          </a:p>
          <a:p>
            <a:pPr marL="0" indent="0">
              <a:buNone/>
            </a:pPr>
            <a:r>
              <a:rPr lang="es-ES" sz="1400" b="1" dirty="0"/>
              <a:t>Shell simple: </a:t>
            </a:r>
            <a:r>
              <a:rPr lang="es-ES" sz="1400" dirty="0"/>
              <a:t>El Shell interactivo simple corresponde a la ejecución del </a:t>
            </a:r>
            <a:r>
              <a:rPr lang="es-ES" sz="1400" dirty="0" err="1"/>
              <a:t>bash</a:t>
            </a:r>
            <a:r>
              <a:rPr lang="es-ES" sz="1400" dirty="0"/>
              <a:t> de una ventana (</a:t>
            </a:r>
            <a:r>
              <a:rPr lang="es-ES" sz="1400" dirty="0" err="1"/>
              <a:t>xterm</a:t>
            </a:r>
            <a:r>
              <a:rPr lang="es-ES" sz="1400" dirty="0"/>
              <a:t>, </a:t>
            </a:r>
            <a:r>
              <a:rPr lang="es-ES" sz="1400" dirty="0" err="1"/>
              <a:t>konsole</a:t>
            </a:r>
            <a:r>
              <a:rPr lang="es-ES" sz="1400" dirty="0"/>
              <a:t>), una consola o manualmente (teclear </a:t>
            </a:r>
            <a:r>
              <a:rPr lang="es-ES" sz="1400" dirty="0" err="1"/>
              <a:t>bash</a:t>
            </a:r>
            <a:r>
              <a:rPr lang="es-ES" sz="1400" dirty="0"/>
              <a:t> en una consola). En este caso, sólo se ejecutará el archivo siguiente si existe:</a:t>
            </a:r>
            <a:endParaRPr lang="es-ES" sz="1400" dirty="0"/>
          </a:p>
          <a:p>
            <a:pPr lvl="1">
              <a:buFont typeface="Wingdings" panose="05000000000000000000" pitchFamily="2" charset="2"/>
              <a:buChar char="§"/>
            </a:pPr>
            <a:r>
              <a:rPr lang="es-ES" sz="1400" dirty="0"/>
              <a:t>~/.</a:t>
            </a:r>
            <a:r>
              <a:rPr lang="es-ES" sz="1400" dirty="0" err="1"/>
              <a:t>bashrc</a:t>
            </a:r>
            <a:endParaRPr lang="es-ES" sz="1400" dirty="0"/>
          </a:p>
          <a:p>
            <a:pPr marL="0" indent="0">
              <a:buNone/>
            </a:pPr>
            <a:r>
              <a:rPr lang="es-ES" sz="1400" b="1" dirty="0"/>
              <a:t>Modo </a:t>
            </a:r>
            <a:r>
              <a:rPr lang="es-ES" sz="1400" b="1" dirty="0" err="1"/>
              <a:t>Bourne</a:t>
            </a:r>
            <a:r>
              <a:rPr lang="es-ES" sz="1400" b="1" dirty="0"/>
              <a:t> Shell:</a:t>
            </a:r>
            <a:r>
              <a:rPr lang="es-ES" sz="1400" dirty="0"/>
              <a:t> Cuando se inicia el </a:t>
            </a:r>
            <a:r>
              <a:rPr lang="es-ES" sz="1400" dirty="0" err="1"/>
              <a:t>bash</a:t>
            </a:r>
            <a:r>
              <a:rPr lang="es-ES" sz="1400" dirty="0"/>
              <a:t> en modo </a:t>
            </a:r>
            <a:r>
              <a:rPr lang="es-ES" sz="1400" dirty="0" err="1"/>
              <a:t>Bourne</a:t>
            </a:r>
            <a:r>
              <a:rPr lang="es-ES" sz="1400" dirty="0"/>
              <a:t> Shell mediante el comando </a:t>
            </a:r>
            <a:r>
              <a:rPr lang="es-ES" sz="1400" dirty="0" err="1"/>
              <a:t>sh</a:t>
            </a:r>
            <a:r>
              <a:rPr lang="es-ES" sz="1400" dirty="0"/>
              <a:t>, en Shell de conexión o no, intenta ejecutar los archivos en este orden:</a:t>
            </a:r>
            <a:endParaRPr lang="es-ES" sz="1400" dirty="0"/>
          </a:p>
          <a:p>
            <a:pPr lvl="1">
              <a:buFont typeface="Wingdings" panose="05000000000000000000" pitchFamily="2" charset="2"/>
              <a:buChar char="§"/>
            </a:pPr>
            <a:r>
              <a:rPr lang="es-ES" sz="1400" dirty="0"/>
              <a:t>/</a:t>
            </a:r>
            <a:r>
              <a:rPr lang="es-ES" sz="1400" dirty="0" err="1"/>
              <a:t>etc</a:t>
            </a:r>
            <a:r>
              <a:rPr lang="es-ES" sz="1400" dirty="0"/>
              <a:t>/</a:t>
            </a:r>
            <a:r>
              <a:rPr lang="es-ES" sz="1400" dirty="0" err="1"/>
              <a:t>profile</a:t>
            </a:r>
            <a:endParaRPr lang="es-ES" sz="1400" dirty="0"/>
          </a:p>
          <a:p>
            <a:pPr lvl="1">
              <a:buFont typeface="Wingdings" panose="05000000000000000000" pitchFamily="2" charset="2"/>
              <a:buChar char="§"/>
            </a:pPr>
            <a:r>
              <a:rPr lang="es-ES" sz="1400" dirty="0"/>
              <a:t>~/.</a:t>
            </a:r>
            <a:r>
              <a:rPr lang="es-ES" sz="1400" dirty="0" err="1"/>
              <a:t>profile</a:t>
            </a:r>
            <a:endParaRPr lang="es-ES" sz="1400" dirty="0"/>
          </a:p>
          <a:p>
            <a:pPr marL="0">
              <a:buNone/>
            </a:pPr>
            <a:r>
              <a:rPr lang="es-ES" sz="1400" b="1" dirty="0"/>
              <a:t>Modo no interactivo: </a:t>
            </a:r>
            <a:r>
              <a:rPr lang="es-ES" sz="1400" dirty="0"/>
              <a:t>Se puede iniciar el Shell en modo interactivo. Suele ser así cuando ejecuta un script. En un caso así, no hay ningún script ejecutado por defecto en el momento del inicio salvo si especifica una variable llamada BASH_ENV que contiene la ruta de un script.</a:t>
            </a:r>
            <a:endParaRPr lang="es-ES" sz="1400" dirty="0"/>
          </a:p>
          <a:p>
            <a:pPr lvl="1">
              <a:buFont typeface="Wingdings" panose="05000000000000000000" pitchFamily="2" charset="2"/>
              <a:buChar char="§"/>
            </a:pPr>
            <a:endParaRPr lang="es-ES" sz="1200"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SQL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fontScale="92500" lnSpcReduction="10000"/>
          </a:bodyPr>
          <a:lstStyle/>
          <a:p>
            <a:pPr marL="0">
              <a:buNone/>
            </a:pPr>
            <a:r>
              <a:rPr lang="es-ES" b="1" dirty="0"/>
              <a:t>PRESENTACIÓN</a:t>
            </a:r>
            <a:endParaRPr lang="es-ES" b="1" dirty="0"/>
          </a:p>
          <a:p>
            <a:pPr marL="0">
              <a:buNone/>
            </a:pPr>
            <a:r>
              <a:rPr lang="es-ES" b="1" dirty="0"/>
              <a:t>SQL (</a:t>
            </a:r>
            <a:r>
              <a:rPr lang="es-ES" b="1" dirty="0" err="1"/>
              <a:t>structured</a:t>
            </a:r>
            <a:r>
              <a:rPr lang="es-ES" b="1" dirty="0"/>
              <a:t> </a:t>
            </a:r>
            <a:r>
              <a:rPr lang="es-ES" b="1" dirty="0" err="1"/>
              <a:t>Query</a:t>
            </a:r>
            <a:r>
              <a:rPr lang="es-ES" b="1" dirty="0"/>
              <a:t> </a:t>
            </a:r>
            <a:r>
              <a:rPr lang="es-ES" b="1" dirty="0" err="1"/>
              <a:t>Language</a:t>
            </a:r>
            <a:r>
              <a:rPr lang="es-ES" b="1" dirty="0"/>
              <a:t>), </a:t>
            </a:r>
            <a:r>
              <a:rPr lang="es-ES" dirty="0"/>
              <a:t>es un lenguaje estandarizado ISO de consulta y tratamiento de bases de datos relacionales. Se pueden descomponer sus posibilidades en cuatro funciones.</a:t>
            </a:r>
            <a:endParaRPr lang="es-ES" dirty="0"/>
          </a:p>
          <a:p>
            <a:pPr marL="194310" indent="-285750">
              <a:buFont typeface="Wingdings" panose="05000000000000000000" pitchFamily="2" charset="2"/>
              <a:buChar char="§"/>
            </a:pPr>
            <a:r>
              <a:rPr lang="es-ES" dirty="0"/>
              <a:t>El lenguaje de </a:t>
            </a:r>
            <a:r>
              <a:rPr lang="es-ES" b="1" dirty="0"/>
              <a:t>definición de datos</a:t>
            </a:r>
            <a:r>
              <a:rPr lang="es-ES" dirty="0"/>
              <a:t>: creación, modificación y supresión de las tablas, índice, coacciones, etc.</a:t>
            </a:r>
            <a:endParaRPr lang="es-ES" dirty="0"/>
          </a:p>
          <a:p>
            <a:pPr marL="194310" indent="-285750">
              <a:buFont typeface="Wingdings" panose="05000000000000000000" pitchFamily="2" charset="2"/>
              <a:buChar char="§"/>
            </a:pPr>
            <a:r>
              <a:rPr lang="es-ES" dirty="0"/>
              <a:t>El lenguaje de </a:t>
            </a:r>
            <a:r>
              <a:rPr lang="es-ES" b="1" dirty="0"/>
              <a:t>tratamiento de datos</a:t>
            </a:r>
            <a:r>
              <a:rPr lang="es-ES" dirty="0"/>
              <a:t>: seguramente el más famoso. Concierne a las peticiones “clásicas”: añadido, supresión, modificación y selección de datos.</a:t>
            </a:r>
            <a:endParaRPr lang="es-ES" dirty="0"/>
          </a:p>
          <a:p>
            <a:pPr marL="194310" indent="-285750">
              <a:buFont typeface="Wingdings" panose="05000000000000000000" pitchFamily="2" charset="2"/>
              <a:buChar char="§"/>
            </a:pPr>
            <a:r>
              <a:rPr lang="es-ES" dirty="0"/>
              <a:t>El lenguaje de </a:t>
            </a:r>
            <a:r>
              <a:rPr lang="es-ES" b="1" dirty="0"/>
              <a:t>control de datos</a:t>
            </a:r>
            <a:r>
              <a:rPr lang="es-ES" dirty="0"/>
              <a:t>: instalación y gestión de los privilegios de los usuarios de la base de datos.</a:t>
            </a:r>
            <a:endParaRPr lang="es-ES" dirty="0"/>
          </a:p>
          <a:p>
            <a:pPr marL="194310" indent="-285750">
              <a:buFont typeface="Wingdings" panose="05000000000000000000" pitchFamily="2" charset="2"/>
              <a:buChar char="§"/>
            </a:pPr>
            <a:r>
              <a:rPr lang="es-ES" dirty="0"/>
              <a:t>El lenguaje de </a:t>
            </a:r>
            <a:r>
              <a:rPr lang="es-ES" b="1" dirty="0"/>
              <a:t>control de las transacciones</a:t>
            </a:r>
            <a:r>
              <a:rPr lang="es-ES" dirty="0"/>
              <a:t>: instalación y gestión en particular de los “</a:t>
            </a:r>
            <a:r>
              <a:rPr lang="es-ES" dirty="0" err="1"/>
              <a:t>commit</a:t>
            </a:r>
            <a:r>
              <a:rPr lang="es-ES" dirty="0"/>
              <a:t>” y de las posibles vueltas atrás, procedimientos, etc.</a:t>
            </a:r>
            <a:endParaRPr lang="es-ES" dirty="0"/>
          </a:p>
          <a:p>
            <a:pPr marL="0">
              <a:buNone/>
            </a:pPr>
            <a:endParaRPr lang="es-ES"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SQL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b="1" dirty="0"/>
              <a:t>PETICIONES DE SELECCIÓN</a:t>
            </a:r>
            <a:endParaRPr lang="es-ES" b="1" dirty="0"/>
          </a:p>
          <a:p>
            <a:pPr marL="0">
              <a:buNone/>
            </a:pPr>
            <a:r>
              <a:rPr lang="es-ES" b="1" dirty="0" err="1"/>
              <a:t>Select</a:t>
            </a:r>
            <a:r>
              <a:rPr lang="es-ES" b="1" dirty="0"/>
              <a:t>: </a:t>
            </a:r>
            <a:r>
              <a:rPr lang="es-ES" dirty="0"/>
              <a:t>Las selecciones, con la instrucción SELECT, son las principales peticiones utilizadas en SQL, que permiten extraer datos de una o varias tablas según determinadas criterios.</a:t>
            </a:r>
            <a:endParaRPr lang="es-ES" dirty="0"/>
          </a:p>
          <a:p>
            <a:pPr marL="0">
              <a:buNone/>
            </a:pPr>
            <a:r>
              <a:rPr lang="es-ES" dirty="0"/>
              <a:t>Ejemplos: </a:t>
            </a:r>
            <a:endParaRPr lang="es-ES" dirty="0"/>
          </a:p>
          <a:p>
            <a:pPr marL="194310" indent="-285750"/>
            <a:r>
              <a:rPr lang="es-ES" dirty="0"/>
              <a:t>SELECT apellido, nombre FROM tabla;</a:t>
            </a:r>
            <a:endParaRPr lang="es-ES" dirty="0"/>
          </a:p>
          <a:p>
            <a:pPr marL="194310" indent="-285750"/>
            <a:r>
              <a:rPr lang="es-ES" dirty="0"/>
              <a:t>SELECT apellido, nombre, id AS identificador FROM usuarios;</a:t>
            </a:r>
            <a:endParaRPr lang="es-ES" dirty="0"/>
          </a:p>
          <a:p>
            <a:pPr marL="194310" indent="-285750"/>
            <a:r>
              <a:rPr lang="es-ES" dirty="0"/>
              <a:t>SELECT * FROM usuarios;</a:t>
            </a:r>
            <a:endParaRPr lang="es-E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SQL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b="1" dirty="0"/>
              <a:t>PETICIONES DE SELECCIÓN</a:t>
            </a:r>
            <a:endParaRPr lang="es-ES" b="1" dirty="0"/>
          </a:p>
          <a:p>
            <a:pPr marL="0">
              <a:buNone/>
            </a:pPr>
            <a:r>
              <a:rPr lang="es-ES" b="1" dirty="0" err="1"/>
              <a:t>Distinct</a:t>
            </a:r>
            <a:r>
              <a:rPr lang="es-ES" b="1" dirty="0"/>
              <a:t>: </a:t>
            </a:r>
            <a:r>
              <a:rPr lang="es-ES" dirty="0"/>
              <a:t>Si la petición devuelve líneas idénticas, pueden suprimir los duplicados con DISTINCT. En el caso siguiente, es lógico pensar que varios usuarios tienen el mismo nombre. La causa DISTINCT va a suprimir en salida los duplicados.</a:t>
            </a:r>
            <a:endParaRPr lang="es-ES" dirty="0"/>
          </a:p>
          <a:p>
            <a:pPr marL="0">
              <a:buNone/>
            </a:pPr>
            <a:r>
              <a:rPr lang="es-ES" dirty="0"/>
              <a:t>Ejemplos: . </a:t>
            </a:r>
            <a:endParaRPr lang="es-ES" dirty="0"/>
          </a:p>
          <a:p>
            <a:pPr marL="194310" indent="-285750"/>
            <a:r>
              <a:rPr lang="es-ES" dirty="0"/>
              <a:t>SELECT DISTINCT nombre FROM usuarios;</a:t>
            </a:r>
            <a:endParaRPr lang="es-ES" dirty="0"/>
          </a:p>
          <a:p>
            <a:pPr marL="0" indent="0">
              <a:buNone/>
            </a:pPr>
            <a:r>
              <a:rPr lang="es-ES" b="1" dirty="0" err="1"/>
              <a:t>Where</a:t>
            </a:r>
            <a:r>
              <a:rPr lang="es-ES" dirty="0"/>
              <a:t>: La cláusula WHERE especifica las condiciones de selección de las líneas.</a:t>
            </a:r>
            <a:endParaRPr lang="es-ES" dirty="0"/>
          </a:p>
          <a:p>
            <a:pPr marL="0" indent="0">
              <a:buNone/>
            </a:pPr>
            <a:r>
              <a:rPr lang="es-ES" dirty="0"/>
              <a:t>Ejemplos:</a:t>
            </a:r>
            <a:endParaRPr lang="es-ES" dirty="0"/>
          </a:p>
          <a:p>
            <a:r>
              <a:rPr lang="es-ES" dirty="0"/>
              <a:t>  SELECT apellido1, apellido2 FROM tabla WHERE condición;</a:t>
            </a:r>
            <a:endParaRPr lang="es-E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SQL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209822" y="1897184"/>
            <a:ext cx="9915378" cy="4273473"/>
          </a:xfrm>
        </p:spPr>
        <p:txBody>
          <a:bodyPr>
            <a:normAutofit/>
          </a:bodyPr>
          <a:lstStyle/>
          <a:p>
            <a:pPr marL="0">
              <a:buNone/>
            </a:pPr>
            <a:r>
              <a:rPr lang="es-ES" b="1" dirty="0"/>
              <a:t>Atributos de </a:t>
            </a:r>
            <a:r>
              <a:rPr lang="es-ES" b="1" dirty="0" err="1"/>
              <a:t>Where</a:t>
            </a:r>
            <a:r>
              <a:rPr lang="es-ES" b="1" dirty="0"/>
              <a:t>: </a:t>
            </a:r>
            <a:r>
              <a:rPr lang="es-ES" dirty="0"/>
              <a:t>Pueden utilizar los atributos LIKE, BETWEEN o IN en una cláusula WHERE</a:t>
            </a:r>
            <a:endParaRPr lang="es-ES" dirty="0"/>
          </a:p>
          <a:p>
            <a:pPr marL="194310" indent="-285750"/>
            <a:r>
              <a:rPr lang="es-ES" b="1" dirty="0"/>
              <a:t>LIKE</a:t>
            </a:r>
            <a:r>
              <a:rPr lang="es-ES" dirty="0"/>
              <a:t>: compara el valor de un campo con un valor de texto especificado con posibles caracteres de sustitución %: para una cadena cualquiera y “_” para un carácter cualquiera.</a:t>
            </a:r>
            <a:endParaRPr lang="es-ES" dirty="0"/>
          </a:p>
          <a:p>
            <a:pPr marL="194310" indent="-285750"/>
            <a:r>
              <a:rPr lang="es-ES" b="1" dirty="0"/>
              <a:t>BETWEEN</a:t>
            </a:r>
            <a:r>
              <a:rPr lang="es-ES" dirty="0"/>
              <a:t>: especifica un intervalo de datos.</a:t>
            </a:r>
            <a:endParaRPr lang="es-ES" dirty="0"/>
          </a:p>
          <a:p>
            <a:pPr marL="194310" indent="-285750"/>
            <a:r>
              <a:rPr lang="es-ES" b="1" dirty="0"/>
              <a:t>IN</a:t>
            </a:r>
            <a:r>
              <a:rPr lang="es-ES" dirty="0"/>
              <a:t>: propone una lista de elementos.</a:t>
            </a:r>
            <a:endParaRPr lang="es-ES" dirty="0"/>
          </a:p>
          <a:p>
            <a:pPr marL="194310" indent="-285750"/>
            <a:r>
              <a:rPr lang="es-ES" b="1" dirty="0"/>
              <a:t>Ejemplos</a:t>
            </a:r>
            <a:r>
              <a:rPr lang="es-ES" dirty="0"/>
              <a:t>: Esta petición extrae todos los registros cuyos id están incluidos entre 0 y 100</a:t>
            </a:r>
            <a:endParaRPr lang="es-ES" dirty="0"/>
          </a:p>
          <a:p>
            <a:pPr marL="194310" indent="-285750" algn="ctr"/>
            <a:r>
              <a:rPr lang="es-ES" dirty="0"/>
              <a:t>SELECT * FROM usuarios WHERE nombre LIKE ‘Juan %’;</a:t>
            </a:r>
            <a:endParaRPr lang="es-E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SQL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066800" y="1897184"/>
            <a:ext cx="10528852" cy="4273473"/>
          </a:xfrm>
        </p:spPr>
        <p:txBody>
          <a:bodyPr>
            <a:normAutofit/>
          </a:bodyPr>
          <a:lstStyle/>
          <a:p>
            <a:pPr marL="0">
              <a:buNone/>
            </a:pPr>
            <a:r>
              <a:rPr lang="es-ES" b="1" dirty="0"/>
              <a:t>EXPRESIONES Y LAS FUNCIONES</a:t>
            </a:r>
            <a:endParaRPr lang="es-ES" b="1" dirty="0"/>
          </a:p>
          <a:p>
            <a:pPr marL="0">
              <a:buNone/>
            </a:pPr>
            <a:r>
              <a:rPr lang="es-ES" sz="1600" dirty="0"/>
              <a:t>Puede utilizar expresiones, en particular aritméticas, dentro de la instrucción SELECT, tanto en la selección de los campos como en la cláusula WHERE. La petición siguiente calcula el precio NETO de un producto considerando que el campo </a:t>
            </a:r>
            <a:r>
              <a:rPr lang="es-ES" sz="1600" dirty="0" err="1"/>
              <a:t>iva</a:t>
            </a:r>
            <a:r>
              <a:rPr lang="es-ES" sz="1600" dirty="0"/>
              <a:t> contiene el porcentaje de IVA aplicado al producto.</a:t>
            </a:r>
            <a:endParaRPr lang="es-ES" sz="1600" dirty="0"/>
          </a:p>
          <a:p>
            <a:pPr marL="0" algn="ctr">
              <a:buNone/>
            </a:pPr>
            <a:r>
              <a:rPr lang="es-ES" sz="1600" b="1" dirty="0"/>
              <a:t>SELECT precio+(</a:t>
            </a:r>
            <a:r>
              <a:rPr lang="es-ES" sz="1600" b="1" dirty="0" err="1"/>
              <a:t>precio+iva</a:t>
            </a:r>
            <a:r>
              <a:rPr lang="es-ES" sz="1600" b="1" dirty="0"/>
              <a:t>) AS </a:t>
            </a:r>
            <a:r>
              <a:rPr lang="es-ES" sz="1600" b="1" dirty="0" err="1"/>
              <a:t>precio_neto</a:t>
            </a:r>
            <a:r>
              <a:rPr lang="es-ES" sz="1600" b="1" dirty="0"/>
              <a:t> FROM productos WHERE id=‘1245’;</a:t>
            </a:r>
            <a:endParaRPr lang="es-ES" sz="1600" b="1" dirty="0"/>
          </a:p>
          <a:p>
            <a:pPr marL="0">
              <a:buNone/>
            </a:pPr>
            <a:r>
              <a:rPr lang="es-ES" sz="1600" b="1" dirty="0"/>
              <a:t>Ejemplos: </a:t>
            </a:r>
            <a:endParaRPr lang="es-ES" sz="1600" b="1" dirty="0"/>
          </a:p>
          <a:p>
            <a:pPr marL="0">
              <a:buNone/>
            </a:pPr>
            <a:r>
              <a:rPr lang="es-ES" sz="1600" dirty="0"/>
              <a:t>Cuenta los registros de una tabla: </a:t>
            </a:r>
            <a:r>
              <a:rPr lang="es-ES" sz="1600" b="1" dirty="0"/>
              <a:t>SELECT </a:t>
            </a:r>
            <a:r>
              <a:rPr lang="es-ES" sz="1600" b="1" dirty="0" err="1"/>
              <a:t>count</a:t>
            </a:r>
            <a:r>
              <a:rPr lang="es-ES" sz="1600" b="1" dirty="0"/>
              <a:t> (*) FROM usuarios;</a:t>
            </a:r>
            <a:endParaRPr lang="es-ES" sz="1600" b="1" dirty="0"/>
          </a:p>
          <a:p>
            <a:pPr marL="0">
              <a:buNone/>
            </a:pPr>
            <a:r>
              <a:rPr lang="es-ES" sz="1600" dirty="0"/>
              <a:t>Extrae el mínimo, máximo y la media de un precio: </a:t>
            </a:r>
            <a:r>
              <a:rPr lang="es-ES" sz="1600" b="1" dirty="0"/>
              <a:t>SELECT min(precio), </a:t>
            </a:r>
            <a:r>
              <a:rPr lang="es-ES" sz="1600" b="1" dirty="0" err="1"/>
              <a:t>max</a:t>
            </a:r>
            <a:r>
              <a:rPr lang="es-ES" sz="1600" b="1" dirty="0"/>
              <a:t>(precio), </a:t>
            </a:r>
            <a:r>
              <a:rPr lang="es-ES" sz="1600" b="1" dirty="0" err="1"/>
              <a:t>avg</a:t>
            </a:r>
            <a:r>
              <a:rPr lang="es-ES" sz="1600" b="1" dirty="0"/>
              <a:t>(precio) </a:t>
            </a:r>
            <a:r>
              <a:rPr lang="es-ES" sz="1600" b="1" dirty="0" err="1"/>
              <a:t>from</a:t>
            </a:r>
            <a:r>
              <a:rPr lang="es-ES" sz="1600" b="1" dirty="0"/>
              <a:t> productos;</a:t>
            </a:r>
            <a:endParaRPr lang="es-ES" sz="1600" b="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SQL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066800" y="1897184"/>
            <a:ext cx="10528852" cy="4273473"/>
          </a:xfrm>
        </p:spPr>
        <p:txBody>
          <a:bodyPr>
            <a:normAutofit/>
          </a:bodyPr>
          <a:lstStyle/>
          <a:p>
            <a:pPr marL="0">
              <a:buNone/>
            </a:pPr>
            <a:r>
              <a:rPr lang="es-ES" b="1" dirty="0"/>
              <a:t>LA CLÁUSULA ORDER BY</a:t>
            </a:r>
            <a:endParaRPr lang="es-ES" b="1" dirty="0"/>
          </a:p>
          <a:p>
            <a:pPr marL="0">
              <a:buNone/>
            </a:pPr>
            <a:r>
              <a:rPr lang="es-ES" dirty="0"/>
              <a:t>La cláusula </a:t>
            </a:r>
            <a:r>
              <a:rPr lang="es-ES" b="1" dirty="0"/>
              <a:t>ORDER BY </a:t>
            </a:r>
            <a:r>
              <a:rPr lang="es-ES" dirty="0"/>
              <a:t>permite ordenar los resultados. Es posible indicar el tipo de ordenación, creciente con ASC, decreciente con DESC. La petición siguiente ordena los productos de más barato a más caro teniendo en cuenta el IVA.</a:t>
            </a:r>
            <a:endParaRPr lang="es-ES" dirty="0"/>
          </a:p>
          <a:p>
            <a:pPr marL="0">
              <a:buNone/>
            </a:pPr>
            <a:r>
              <a:rPr lang="es-ES" b="1" dirty="0"/>
              <a:t>LA CLAUSULA GROUP BY</a:t>
            </a:r>
            <a:endParaRPr lang="es-ES" b="1" dirty="0"/>
          </a:p>
          <a:p>
            <a:pPr marL="0">
              <a:buNone/>
            </a:pPr>
            <a:r>
              <a:rPr lang="es-ES" dirty="0"/>
              <a:t>La cláusula GROUP BY agrupa los resultados por campos de valores idénticos. La petición siguiente visualiza el id de proveedor y número total de productos en reserva por id de proveedor:</a:t>
            </a:r>
            <a:endParaRPr lang="es-ES" dirty="0"/>
          </a:p>
          <a:p>
            <a:pPr marL="0" algn="ctr">
              <a:buNone/>
            </a:pPr>
            <a:r>
              <a:rPr lang="es-ES" b="1" dirty="0"/>
              <a:t>SELECT </a:t>
            </a:r>
            <a:r>
              <a:rPr lang="es-ES" b="1" dirty="0" err="1"/>
              <a:t>id_proveedor</a:t>
            </a:r>
            <a:r>
              <a:rPr lang="es-ES" b="1" dirty="0"/>
              <a:t>, sum(</a:t>
            </a:r>
            <a:r>
              <a:rPr lang="es-ES" b="1" dirty="0" err="1"/>
              <a:t>ctd</a:t>
            </a:r>
            <a:r>
              <a:rPr lang="es-ES" b="1" dirty="0"/>
              <a:t>) FROM productos GROUP BY </a:t>
            </a:r>
            <a:r>
              <a:rPr lang="es-ES" b="1" dirty="0" err="1"/>
              <a:t>id_proveedor</a:t>
            </a:r>
            <a:r>
              <a:rPr lang="es-ES" b="1" dirty="0"/>
              <a:t>;</a:t>
            </a:r>
            <a:endParaRPr lang="es-ES"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SQL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066800" y="1897184"/>
            <a:ext cx="10528852" cy="4273473"/>
          </a:xfrm>
        </p:spPr>
        <p:txBody>
          <a:bodyPr>
            <a:normAutofit/>
          </a:bodyPr>
          <a:lstStyle/>
          <a:p>
            <a:pPr marL="0">
              <a:buNone/>
            </a:pPr>
            <a:r>
              <a:rPr lang="es-ES" b="1" dirty="0"/>
              <a:t>LAS COMBINACIONES</a:t>
            </a:r>
            <a:endParaRPr lang="es-ES" b="1" dirty="0"/>
          </a:p>
          <a:p>
            <a:pPr marL="0">
              <a:buNone/>
            </a:pPr>
            <a:r>
              <a:rPr lang="es-ES" sz="1600" dirty="0"/>
              <a:t>Hasta ahora las consultas afectaban a una única tabla, pero con SQL es posible recuperar registros de varias tablas al mismo tiempo. Para ello las tablas implicadas deben compartir campos que las puedan relacionar. La combinación de tablas se basa en la relación de varias tablas a través de uno o varios campos de cada tabla. No hay límite al número de tablas ni al de combinaciones.</a:t>
            </a:r>
            <a:endParaRPr lang="es-ES" sz="1600" dirty="0"/>
          </a:p>
          <a:p>
            <a:pPr marL="841375" lvl="4">
              <a:buNone/>
            </a:pPr>
            <a:r>
              <a:rPr lang="es-ES" sz="1600" b="1" dirty="0"/>
              <a:t>SELECT tabla1. campo, tabla2.campo FROM tabla1, tabla2 </a:t>
            </a:r>
            <a:endParaRPr lang="es-ES" sz="1600" b="1" dirty="0"/>
          </a:p>
          <a:p>
            <a:pPr marL="841375" lvl="4">
              <a:buNone/>
            </a:pPr>
            <a:r>
              <a:rPr lang="es-ES" sz="1600" b="1" dirty="0"/>
              <a:t>WHERE tabla1.campocomun=tabla2.campocomun;</a:t>
            </a:r>
            <a:endParaRPr lang="es-ES" sz="1600" b="1" dirty="0"/>
          </a:p>
          <a:p>
            <a:pPr marL="0">
              <a:buNone/>
            </a:pPr>
            <a:r>
              <a:rPr lang="es-ES" b="1" dirty="0"/>
              <a:t>SUBCONSULTAS</a:t>
            </a:r>
            <a:endParaRPr lang="es-ES" b="1" dirty="0"/>
          </a:p>
          <a:p>
            <a:pPr marL="0">
              <a:buNone/>
            </a:pPr>
            <a:r>
              <a:rPr lang="es-ES" sz="1600" b="1" dirty="0"/>
              <a:t>Es posible hacer selecciones anidadas: </a:t>
            </a:r>
            <a:r>
              <a:rPr lang="es-ES" sz="1600" dirty="0"/>
              <a:t>que la devolución de una primera selección sirve de criterio para una segunda selección.</a:t>
            </a:r>
            <a:endParaRPr lang="es-ES" sz="1600" dirty="0"/>
          </a:p>
          <a:p>
            <a:pPr marL="0" algn="ctr">
              <a:buNone/>
            </a:pPr>
            <a:r>
              <a:rPr lang="es-ES" sz="1600" b="1" dirty="0"/>
              <a:t>SELECT id FROM usuarios WHERE id IN (</a:t>
            </a:r>
            <a:r>
              <a:rPr lang="es-ES" sz="1600" b="1" dirty="0" err="1"/>
              <a:t>select</a:t>
            </a:r>
            <a:r>
              <a:rPr lang="es-ES" sz="1600" b="1" dirty="0"/>
              <a:t> id </a:t>
            </a:r>
            <a:r>
              <a:rPr lang="es-ES" sz="1600" b="1" dirty="0" err="1"/>
              <a:t>from</a:t>
            </a:r>
            <a:r>
              <a:rPr lang="es-ES" sz="1600" b="1" dirty="0"/>
              <a:t> usuarios WHERE id!=‘ ‘)</a:t>
            </a:r>
            <a:endParaRPr lang="es-ES" sz="1600"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87342"/>
            <a:ext cx="10058400" cy="836212"/>
          </a:xfrm>
        </p:spPr>
        <p:txBody>
          <a:bodyPr/>
          <a:lstStyle/>
          <a:p>
            <a:pPr lvl="0" eaLnBrk="0" fontAlgn="base" hangingPunct="0">
              <a:lnSpc>
                <a:spcPct val="100000"/>
              </a:lnSpc>
              <a:spcAft>
                <a:spcPct val="0"/>
              </a:spcAft>
            </a:pPr>
            <a:r>
              <a:rPr lang="es-ES" altLang="es-ES" sz="4400" dirty="0">
                <a:solidFill>
                  <a:srgbClr val="333333"/>
                </a:solidFill>
                <a:latin typeface="Helvetica" panose="020B0604020202020204" pitchFamily="34" charset="0"/>
              </a:rPr>
              <a:t>SQL</a:t>
            </a:r>
            <a:endParaRPr lang="es-ES" altLang="es-ES" sz="4400" dirty="0">
              <a:solidFill>
                <a:srgbClr val="333333"/>
              </a:solidFill>
              <a:latin typeface="Helvetica" panose="020B0604020202020204" pitchFamily="34" charset="0"/>
            </a:endParaRPr>
          </a:p>
        </p:txBody>
      </p:sp>
      <p:sp>
        <p:nvSpPr>
          <p:cNvPr id="4" name="Marcador de contenido 3"/>
          <p:cNvSpPr>
            <a:spLocks noGrp="1"/>
          </p:cNvSpPr>
          <p:nvPr>
            <p:ph idx="1"/>
          </p:nvPr>
        </p:nvSpPr>
        <p:spPr>
          <a:xfrm>
            <a:off x="1066800" y="1897184"/>
            <a:ext cx="10528852" cy="4273473"/>
          </a:xfrm>
        </p:spPr>
        <p:txBody>
          <a:bodyPr>
            <a:normAutofit fontScale="92500" lnSpcReduction="10000"/>
          </a:bodyPr>
          <a:lstStyle/>
          <a:p>
            <a:pPr marL="0">
              <a:buNone/>
            </a:pPr>
            <a:r>
              <a:rPr lang="es-ES" b="1" dirty="0"/>
              <a:t>LAS INSERCIONES</a:t>
            </a:r>
            <a:endParaRPr lang="es-ES" b="1" dirty="0"/>
          </a:p>
          <a:p>
            <a:pPr marL="0">
              <a:buNone/>
            </a:pPr>
            <a:r>
              <a:rPr lang="es-ES" dirty="0"/>
              <a:t>Insertamos registros en una tabla con el comando SQL </a:t>
            </a:r>
            <a:r>
              <a:rPr lang="es-ES" b="1" dirty="0"/>
              <a:t>INSERT</a:t>
            </a:r>
            <a:endParaRPr lang="es-ES" b="1" dirty="0"/>
          </a:p>
          <a:p>
            <a:pPr marL="0" algn="ctr">
              <a:buNone/>
            </a:pPr>
            <a:r>
              <a:rPr lang="es-ES" b="1" dirty="0"/>
              <a:t>INSERT INTO table (campo1,campo2, </a:t>
            </a:r>
            <a:r>
              <a:rPr lang="es-ES" b="1" dirty="0" err="1"/>
              <a:t>etc</a:t>
            </a:r>
            <a:r>
              <a:rPr lang="es-ES" b="1" dirty="0"/>
              <a:t>) VALUES (‘valor1’,’valor2’…);</a:t>
            </a:r>
            <a:endParaRPr lang="es-ES" b="1" dirty="0"/>
          </a:p>
          <a:p>
            <a:pPr marL="0">
              <a:buNone/>
            </a:pPr>
            <a:r>
              <a:rPr lang="es-ES" b="1" dirty="0"/>
              <a:t>ACTUALIZACIONES</a:t>
            </a:r>
            <a:endParaRPr lang="es-ES" b="1" dirty="0"/>
          </a:p>
          <a:p>
            <a:pPr marL="0">
              <a:buNone/>
            </a:pPr>
            <a:r>
              <a:rPr lang="es-ES" sz="1600" dirty="0"/>
              <a:t>La instrucción UPDATE actualiza uno o varios registros de una tabla. La cláusula WHERE es opcional. En el ejemplo, se actualizan todos los registros.</a:t>
            </a:r>
            <a:endParaRPr lang="es-ES" sz="1600" dirty="0"/>
          </a:p>
          <a:p>
            <a:pPr marL="0" algn="ctr">
              <a:buNone/>
            </a:pPr>
            <a:r>
              <a:rPr lang="es-ES" sz="1600" b="1" dirty="0"/>
              <a:t>UPDATE tabla SET campo1=‘valor’, campo2=‘valor’ WHERE </a:t>
            </a:r>
            <a:r>
              <a:rPr lang="es-ES" sz="1600" b="1" dirty="0" err="1"/>
              <a:t>campon</a:t>
            </a:r>
            <a:r>
              <a:rPr lang="es-ES" sz="1600" b="1" dirty="0"/>
              <a:t>=‘valor’</a:t>
            </a:r>
            <a:endParaRPr lang="es-ES" sz="1600" b="1" dirty="0"/>
          </a:p>
          <a:p>
            <a:pPr marL="0">
              <a:buNone/>
            </a:pPr>
            <a:r>
              <a:rPr lang="es-ES" sz="1600" b="1" dirty="0"/>
              <a:t>ELIMINACIÓN</a:t>
            </a:r>
            <a:endParaRPr lang="es-ES" sz="1600" b="1" dirty="0"/>
          </a:p>
          <a:p>
            <a:pPr marL="0">
              <a:buNone/>
            </a:pPr>
            <a:r>
              <a:rPr lang="es-ES" sz="1600" dirty="0"/>
              <a:t>La instrucción DELETE suprime uno o varios registros de una o varias tablas.</a:t>
            </a:r>
            <a:endParaRPr lang="es-ES" sz="1600" dirty="0"/>
          </a:p>
          <a:p>
            <a:pPr marL="0" algn="ctr">
              <a:buNone/>
            </a:pPr>
            <a:r>
              <a:rPr lang="es-ES" sz="1600" b="1" dirty="0"/>
              <a:t>DELETE FROM tabla WHERE campo1=‘valor’;</a:t>
            </a:r>
            <a:endParaRPr lang="es-ES" sz="1600" b="1" dirty="0"/>
          </a:p>
        </p:txBody>
      </p:sp>
    </p:spTree>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Arial Nova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Nov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23731</Words>
  <Application>WPS Presentation</Application>
  <PresentationFormat>Panorámica</PresentationFormat>
  <Paragraphs>851</Paragraphs>
  <Slides>51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51</vt:i4>
      </vt:variant>
    </vt:vector>
  </HeadingPairs>
  <TitlesOfParts>
    <vt:vector size="62" baseType="lpstr">
      <vt:lpstr>Arial</vt:lpstr>
      <vt:lpstr>SimSun</vt:lpstr>
      <vt:lpstr>Wingdings</vt:lpstr>
      <vt:lpstr>Calibri</vt:lpstr>
      <vt:lpstr>Helvetica</vt:lpstr>
      <vt:lpstr>Arial Nova</vt:lpstr>
      <vt:lpstr>Arial Nova Light</vt:lpstr>
      <vt:lpstr>Microsoft YaHei</vt:lpstr>
      <vt:lpstr>Arial Unicode MS</vt:lpstr>
      <vt:lpstr>Courier New</vt:lpstr>
      <vt:lpstr>RetrospectVTI</vt:lpstr>
      <vt:lpstr>Certificación LPI LPIC-1:  Linux Administrator  </vt:lpstr>
      <vt:lpstr>Administrar el entorno de consola</vt:lpstr>
      <vt:lpstr>Administrar el entorno de consola</vt:lpstr>
      <vt:lpstr>Administrar el entorno de consola</vt:lpstr>
      <vt:lpstr>Administrar el entorno de la consola</vt:lpstr>
      <vt:lpstr>Administrar el entorno de la consola</vt:lpstr>
      <vt:lpstr>Administrar el entorno de la consola</vt:lpstr>
      <vt:lpstr>Administrar el entorno de la consola</vt:lpstr>
      <vt:lpstr>Administrar el entorno de la consola</vt:lpstr>
      <vt:lpstr>Administrar el entorno de la consola</vt:lpstr>
      <vt:lpstr>Administrar el entorno de la consola</vt:lpstr>
      <vt:lpstr>Administrar el entorno de la consola</vt:lpstr>
      <vt:lpstr>Administrar el entorno de la consola</vt:lpstr>
      <vt:lpstr>Administrar el entorno de la consola</vt:lpstr>
      <vt:lpstr>Configuración del Bash</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Programación Shell</vt:lpstr>
      <vt:lpstr>Screen</vt:lpstr>
      <vt:lpstr>Configuración del Bash</vt:lpstr>
      <vt:lpstr>Configuración del Bash</vt:lpstr>
      <vt:lpstr>SQL</vt:lpstr>
      <vt:lpstr>SQL</vt:lpstr>
      <vt:lpstr>SQL</vt:lpstr>
      <vt:lpstr>SQL</vt:lpstr>
      <vt:lpstr>SQL</vt:lpstr>
      <vt:lpstr>SQL</vt:lpstr>
      <vt:lpstr>SQL</vt:lpstr>
      <vt:lpstr>SQL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Certificación LPI LPIC-1:  Linux Administrator</dc:title>
  <dc:creator>Sonia Fernandez</dc:creator>
  <cp:lastModifiedBy>paz13</cp:lastModifiedBy>
  <cp:revision>331</cp:revision>
  <dcterms:created xsi:type="dcterms:W3CDTF">2020-02-24T09:11:00Z</dcterms:created>
  <dcterms:modified xsi:type="dcterms:W3CDTF">2025-04-02T18:26:32Z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FAB6DC021D8644F999DD9E6509CD1174_13</vt:lpwstr>
  </property>
  <property fmtid="{D5CDD505-2E9C-101B-9397-08002B2CF9AE}" pid="3" name="KSOProductBuildVer">
    <vt:lpwstr>3082-12.2.0.20348</vt:lpwstr>
  </property>
</Properties>
</file>