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74" r:id="rId4"/>
    <p:sldId id="275" r:id="rId5"/>
    <p:sldId id="276" r:id="rId6"/>
    <p:sldId id="277" r:id="rId7"/>
    <p:sldId id="278" r:id="rId8"/>
    <p:sldId id="280" r:id="rId9"/>
    <p:sldId id="281" r:id="rId10"/>
    <p:sldId id="283" r:id="rId11"/>
    <p:sldId id="285" r:id="rId12"/>
    <p:sldId id="286" r:id="rId13"/>
    <p:sldId id="287" r:id="rId14"/>
    <p:sldId id="288" r:id="rId15"/>
    <p:sldId id="289" r:id="rId16"/>
    <p:sldId id="290" r:id="rId17"/>
    <p:sldId id="291" r:id="rId18"/>
    <p:sldId id="292" r:id="rId19"/>
    <p:sldId id="294" r:id="rId20"/>
    <p:sldId id="295" r:id="rId21"/>
    <p:sldId id="296" r:id="rId22"/>
    <p:sldId id="297" r:id="rId23"/>
    <p:sldId id="298" r:id="rId24"/>
    <p:sldId id="300" r:id="rId25"/>
    <p:sldId id="301" r:id="rId26"/>
    <p:sldId id="303" r:id="rId27"/>
    <p:sldId id="305" r:id="rId28"/>
    <p:sldId id="304" r:id="rId29"/>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249" autoAdjust="0"/>
  </p:normalViewPr>
  <p:slideViewPr>
    <p:cSldViewPr snapToGrid="0">
      <p:cViewPr varScale="1">
        <p:scale>
          <a:sx n="56" d="100"/>
          <a:sy n="56" d="100"/>
        </p:scale>
        <p:origin x="99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2" Type="http://schemas.openxmlformats.org/officeDocument/2006/relationships/tableStyles" Target="tableStyles.xml"/><Relationship Id="rId31" Type="http://schemas.openxmlformats.org/officeDocument/2006/relationships/viewProps" Target="viewProps.xml"/><Relationship Id="rId30" Type="http://schemas.openxmlformats.org/officeDocument/2006/relationships/presProps" Target="presProps.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10" name="Rectangle 9"/>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p:cNvSpPr>
            <a:spLocks noGrp="1"/>
          </p:cNvSpPr>
          <p:nvPr>
            <p:ph type="dt" sz="half" idx="10"/>
          </p:nvPr>
        </p:nvSpPr>
        <p:spPr/>
        <p:txBody>
          <a:bodyPr/>
          <a:lstStyle/>
          <a:p>
            <a:fld id="{9184DA70-C731-4C70-880D-CCD4705E623C}" type="datetime1">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4BE1D723-8F53-4F53-90B0-1982A396982E}" type="datetime1">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cxnSp>
        <p:nvCxnSpPr>
          <p:cNvPr id="9" name="Straight Connector 8"/>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p:cNvSpPr>
            <a:spLocks noGrp="1"/>
          </p:cNvSpPr>
          <p:nvPr>
            <p:ph type="dt" sz="half" idx="10"/>
          </p:nvPr>
        </p:nvSpPr>
        <p:spPr/>
        <p:txBody>
          <a:bodyPr/>
          <a:lstStyle/>
          <a:p>
            <a:fld id="{97669AF7-7BEB-44E4-9852-375E34362B5B}" type="datetime1">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11" name="Slide Number Placeholder 10"/>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2" name="Date Placeholder 1"/>
          <p:cNvSpPr>
            <a:spLocks noGrp="1"/>
          </p:cNvSpPr>
          <p:nvPr>
            <p:ph type="dt" sz="half" idx="10"/>
          </p:nvPr>
        </p:nvSpPr>
        <p:spPr/>
        <p:txBody>
          <a:bodyPr/>
          <a:lstStyle/>
          <a:p>
            <a:fld id="{BAAAC38D-0552-4C82-B593-E6124DFADBE2}" type="datetime1">
              <a:rPr lang="en-US" smtClean="0"/>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2" name="Date Placeholder 1"/>
          <p:cNvSpPr>
            <a:spLocks noGrp="1"/>
          </p:cNvSpPr>
          <p:nvPr>
            <p:ph type="dt" sz="half" idx="10"/>
          </p:nvPr>
        </p:nvSpPr>
        <p:spPr/>
        <p:txBody>
          <a:bodyPr/>
          <a:lstStyle/>
          <a:p>
            <a:fld id="{D9DF0F1C-5577-4ACB-BB62-DF8F3C494C7E}" type="datetime1">
              <a:rPr lang="en-US" smtClean="0"/>
            </a:fld>
            <a:endParaRPr lang="en-US" dirty="0"/>
          </a:p>
        </p:txBody>
      </p:sp>
      <p:sp>
        <p:nvSpPr>
          <p:cNvPr id="11" name="Footer Placeholder 10"/>
          <p:cNvSpPr>
            <a:spLocks noGrp="1"/>
          </p:cNvSpPr>
          <p:nvPr>
            <p:ph type="ftr" sz="quarter" idx="11"/>
          </p:nvPr>
        </p:nvSpPr>
        <p:spPr/>
        <p:txBody>
          <a:bodyPr/>
          <a:lstStyle/>
          <a:p>
            <a:endParaRPr lang="en-US" dirty="0"/>
          </a:p>
        </p:txBody>
      </p:sp>
      <p:sp>
        <p:nvSpPr>
          <p:cNvPr id="12" name="Slide Number Placeholder 11"/>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p:cNvSpPr>
            <a:spLocks noGrp="1"/>
          </p:cNvSpPr>
          <p:nvPr>
            <p:ph type="dt" sz="half" idx="10"/>
          </p:nvPr>
        </p:nvSpPr>
        <p:spPr/>
        <p:txBody>
          <a:bodyPr/>
          <a:lstStyle/>
          <a:p>
            <a:fld id="{1775B394-D9F9-4F0C-B15D-605F45CB9E9F}" type="datetime1">
              <a:rPr lang="en-US" smtClean="0"/>
            </a:fld>
            <a:endParaRPr lang="en-US" dirty="0"/>
          </a:p>
        </p:txBody>
      </p:sp>
      <p:sp>
        <p:nvSpPr>
          <p:cNvPr id="7" name="Footer Placeholder 6"/>
          <p:cNvSpPr>
            <a:spLocks noGrp="1"/>
          </p:cNvSpPr>
          <p:nvPr>
            <p:ph type="ftr" sz="quarter" idx="11"/>
          </p:nvPr>
        </p:nvSpPr>
        <p:spPr/>
        <p:txBody>
          <a:bodyPr/>
          <a:lstStyle/>
          <a:p>
            <a:endParaRPr lang="en-US" dirty="0"/>
          </a:p>
        </p:txBody>
      </p:sp>
      <p:sp>
        <p:nvSpPr>
          <p:cNvPr id="8" name="Slide Number Placeholder 7"/>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Blank">
    <p:spTree>
      <p:nvGrpSpPr>
        <p:cNvPr id="1" name=""/>
        <p:cNvGrpSpPr/>
        <p:nvPr/>
      </p:nvGrpSpPr>
      <p:grpSpPr>
        <a:xfrm>
          <a:off x="0" y="0"/>
          <a:ext cx="0" cy="0"/>
          <a:chOff x="0" y="0"/>
          <a:chExt cx="0" cy="0"/>
        </a:xfrm>
      </p:grpSpPr>
      <p:sp>
        <p:nvSpPr>
          <p:cNvPr id="10" name="Rectangle 9"/>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39667345-2558-425A-8533-9BFDBCE15005}" type="datetime1">
              <a:rPr lang="en-US" smtClean="0"/>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Content with Caption">
    <p:spTree>
      <p:nvGrpSpPr>
        <p:cNvPr id="1" name=""/>
        <p:cNvGrpSpPr/>
        <p:nvPr/>
      </p:nvGrpSpPr>
      <p:grpSpPr>
        <a:xfrm>
          <a:off x="0" y="0"/>
          <a:ext cx="0" cy="0"/>
          <a:chOff x="0" y="0"/>
          <a:chExt cx="0" cy="0"/>
        </a:xfrm>
      </p:grpSpPr>
      <p:sp>
        <p:nvSpPr>
          <p:cNvPr id="8" name="Rectangle 7"/>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spTree>
      <p:nvGrpSpPr>
        <p:cNvPr id="1" name=""/>
        <p:cNvGrpSpPr/>
        <p:nvPr/>
      </p:nvGrpSpPr>
      <p:grpSpPr>
        <a:xfrm>
          <a:off x="0" y="0"/>
          <a:ext cx="0" cy="0"/>
          <a:chOff x="0" y="0"/>
          <a:chExt cx="0" cy="0"/>
        </a:xfrm>
      </p:grpSpPr>
      <p:sp>
        <p:nvSpPr>
          <p:cNvPr id="8" name="Rectangle 7"/>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B612A279-0833-481D-8C56-F67FD0AC6C50}" type="datetime1">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showMasterSp="0">
  <p:cSld name="Vertical Title and Text">
    <p:spTree>
      <p:nvGrpSpPr>
        <p:cNvPr id="1" name=""/>
        <p:cNvGrpSpPr/>
        <p:nvPr/>
      </p:nvGrpSpPr>
      <p:grpSpPr>
        <a:xfrm>
          <a:off x="0" y="0"/>
          <a:ext cx="0" cy="0"/>
          <a:chOff x="0" y="0"/>
          <a:chExt cx="0" cy="0"/>
        </a:xfrm>
      </p:grpSpPr>
      <p:sp>
        <p:nvSpPr>
          <p:cNvPr id="9" name="Rectangle 8"/>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6587DA83-5663-4C9C-B9AA-0B40A3DAFF81}" type="datetime1">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800">
                <a:solidFill>
                  <a:srgbClr val="FFFFFF"/>
                </a:solidFill>
              </a:defRPr>
            </a:lvl1pPr>
          </a:lstStyle>
          <a:p>
            <a:fld id="{62D6E202-B606-4609-B914-27C9371A1F6D}" type="datetime1">
              <a:rPr lang="en-US" smtClean="0"/>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8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800">
                <a:solidFill>
                  <a:srgbClr val="FFFFFF"/>
                </a:solidFill>
              </a:defRPr>
            </a:lvl1pPr>
          </a:lstStyle>
          <a:p>
            <a:fld id="{3A98EE3D-8CD1-4C3F-BD1C-C98C9596463C}" type="slidenum">
              <a:rPr lang="en-US" smtClean="0"/>
            </a:fld>
            <a:endParaRPr lang="en-US" dirty="0"/>
          </a:p>
        </p:txBody>
      </p:sp>
      <p:cxnSp>
        <p:nvCxnSpPr>
          <p:cNvPr id="10" name="Straight Connector 9"/>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200" i="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20000"/>
        </a:lnSpc>
        <a:spcBef>
          <a:spcPts val="1200"/>
        </a:spcBef>
        <a:spcAft>
          <a:spcPts val="200"/>
        </a:spcAft>
        <a:buClr>
          <a:schemeClr val="accent1"/>
        </a:buClr>
        <a:buSzPct val="100000"/>
        <a:buFont typeface="Calibri" panose="020F0502020204030204" pitchFamily="34" charset="0"/>
        <a:buChar char=" "/>
        <a:defRPr sz="18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100000"/>
        </a:lnSpc>
        <a:spcBef>
          <a:spcPts val="200"/>
        </a:spcBef>
        <a:spcAft>
          <a:spcPts val="400"/>
        </a:spcAft>
        <a:buClrTx/>
        <a:buFont typeface="Calibri" panose="020F0502020204030204" pitchFamily="34" charset="0"/>
        <a:buChar char="◦"/>
        <a:defRPr sz="16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100000"/>
        </a:lnSpc>
        <a:spcBef>
          <a:spcPts val="200"/>
        </a:spcBef>
        <a:spcAft>
          <a:spcPts val="400"/>
        </a:spcAft>
        <a:buClrTx/>
        <a:buFont typeface="Calibri" panose="020F0502020204030204" pitchFamily="34" charset="0"/>
        <a:buChar char="◦"/>
        <a:defRPr sz="12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100000"/>
        </a:lnSpc>
        <a:spcBef>
          <a:spcPts val="200"/>
        </a:spcBef>
        <a:spcAft>
          <a:spcPts val="400"/>
        </a:spcAft>
        <a:buClrTx/>
        <a:buFont typeface="Calibri" panose="020F0502020204030204" pitchFamily="34" charset="0"/>
        <a:buChar char="◦"/>
        <a:defRPr sz="12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100000"/>
        </a:lnSpc>
        <a:spcBef>
          <a:spcPts val="200"/>
        </a:spcBef>
        <a:spcAft>
          <a:spcPts val="400"/>
        </a:spcAft>
        <a:buClrTx/>
        <a:buFont typeface="Calibri" panose="020F0502020204030204" pitchFamily="34" charset="0"/>
        <a:buChar char="◦"/>
        <a:defRPr sz="12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4.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png"/><Relationship Id="rId1" Type="http://schemas.openxmlformats.org/officeDocument/2006/relationships/image" Target="../media/image9.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localhost:631/"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1.png"/><Relationship Id="rId1" Type="http://schemas.openxmlformats.org/officeDocument/2006/relationships/hyperlink" Target="http://localhost:631/"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5.png"/><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p:cNvSpPr>
            <a:spLocks noGrp="1" noRot="1" noChangeAspect="1" noMove="1" noResize="1" noEditPoints="1" noAdjustHandles="1" noChangeArrowheads="1" noChangeShapeType="1" noTextEdit="1"/>
          </p:cNvSpPr>
          <p:nvPr/>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p:cNvSpPr>
            <a:spLocks noGrp="1"/>
          </p:cNvSpPr>
          <p:nvPr>
            <p:ph type="ctrTitle"/>
          </p:nvPr>
        </p:nvSpPr>
        <p:spPr>
          <a:xfrm>
            <a:off x="3958251" y="1417983"/>
            <a:ext cx="7319175" cy="2550028"/>
          </a:xfrm>
        </p:spPr>
        <p:txBody>
          <a:bodyPr>
            <a:normAutofit/>
          </a:bodyPr>
          <a:lstStyle/>
          <a:p>
            <a:r>
              <a:rPr lang="es-ES" sz="4800" dirty="0"/>
              <a:t>Certificación LPI LPIC-1: </a:t>
            </a:r>
            <a:br>
              <a:rPr lang="es-ES" sz="4800" dirty="0"/>
            </a:br>
            <a:r>
              <a:rPr lang="es-ES" sz="4800" dirty="0"/>
              <a:t>Linux Administrator </a:t>
            </a:r>
            <a:br>
              <a:rPr lang="es-ES" sz="4800" dirty="0"/>
            </a:br>
            <a:endParaRPr lang="es-ES" sz="4800" dirty="0"/>
          </a:p>
        </p:txBody>
      </p:sp>
      <p:pic>
        <p:nvPicPr>
          <p:cNvPr id="5" name="Imagen 4" descr="Imagen que contiene dibujo&#10;&#10;Descripción generada automáticamente"/>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20973" y="1781229"/>
            <a:ext cx="2758331" cy="2776843"/>
          </a:xfrm>
          <a:prstGeom prst="rect">
            <a:avLst/>
          </a:prstGeom>
        </p:spPr>
      </p:pic>
      <p:cxnSp>
        <p:nvCxnSpPr>
          <p:cNvPr id="12" name="Straight Connector 11"/>
          <p:cNvCxnSpPr>
            <a:cxnSpLocks noGrp="1" noRot="1" noChangeAspect="1" noMove="1" noResize="1" noEditPoints="1" noAdjustHandles="1" noChangeArrowheads="1" noChangeShapeType="1"/>
          </p:cNvCxnSpPr>
          <p:nvPr/>
        </p:nvCxnSpPr>
        <p:spPr>
          <a:xfrm>
            <a:off x="3958251" y="4294753"/>
            <a:ext cx="71323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4" name="Rectangle 13"/>
          <p:cNvSpPr>
            <a:spLocks noGrp="1" noRot="1" noChangeAspect="1" noMove="1" noResize="1" noEditPoints="1" noAdjustHandles="1" noChangeArrowheads="1" noChangeShapeType="1" noTextEdit="1"/>
          </p:cNvSpPr>
          <p:nvPr/>
        </p:nvSpPr>
        <p:spPr>
          <a:xfrm>
            <a:off x="0" y="6400800"/>
            <a:ext cx="12192000"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CuadroTexto 5"/>
          <p:cNvSpPr txBox="1"/>
          <p:nvPr/>
        </p:nvSpPr>
        <p:spPr>
          <a:xfrm>
            <a:off x="3918992" y="3767956"/>
            <a:ext cx="4267450" cy="400110"/>
          </a:xfrm>
          <a:prstGeom prst="rect">
            <a:avLst/>
          </a:prstGeom>
          <a:noFill/>
        </p:spPr>
        <p:txBody>
          <a:bodyPr wrap="none" rtlCol="0">
            <a:spAutoFit/>
          </a:bodyPr>
          <a:lstStyle/>
          <a:p>
            <a:r>
              <a:rPr lang="es-ES" sz="2000" dirty="0"/>
              <a:t>Tema 6: INTERFACES DE USUARIO</a:t>
            </a:r>
            <a:endParaRPr lang="es-E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854765"/>
            <a:ext cx="10058400" cy="882595"/>
          </a:xfrm>
        </p:spPr>
        <p:txBody>
          <a:bodyPr/>
          <a:lstStyle/>
          <a:p>
            <a:r>
              <a:rPr lang="es-ES" dirty="0"/>
              <a:t>Ventanas X, localización e impresión</a:t>
            </a:r>
            <a:endParaRPr lang="es-ES" dirty="0"/>
          </a:p>
        </p:txBody>
      </p:sp>
      <p:sp>
        <p:nvSpPr>
          <p:cNvPr id="3" name="Marcador de contenido 2"/>
          <p:cNvSpPr>
            <a:spLocks noGrp="1"/>
          </p:cNvSpPr>
          <p:nvPr>
            <p:ph idx="1"/>
          </p:nvPr>
        </p:nvSpPr>
        <p:spPr>
          <a:xfrm>
            <a:off x="1144749" y="1869662"/>
            <a:ext cx="6266144" cy="4446078"/>
          </a:xfrm>
        </p:spPr>
        <p:txBody>
          <a:bodyPr>
            <a:normAutofit/>
          </a:bodyPr>
          <a:lstStyle/>
          <a:p>
            <a:r>
              <a:rPr lang="es-ES" sz="1900" b="1" dirty="0"/>
              <a:t>Sobre Windows X </a:t>
            </a:r>
            <a:r>
              <a:rPr lang="es-ES" sz="1900" b="1" dirty="0" err="1"/>
              <a:t>System</a:t>
            </a:r>
            <a:endParaRPr lang="es-ES" sz="1900" b="1" dirty="0"/>
          </a:p>
          <a:p>
            <a:r>
              <a:rPr lang="es-ES" sz="1600" dirty="0"/>
              <a:t>En Linux la principal GUI se denomina sistema de ventanas X o “</a:t>
            </a:r>
            <a:r>
              <a:rPr lang="es-ES" sz="1600" i="1" dirty="0"/>
              <a:t>X Windows </a:t>
            </a:r>
            <a:r>
              <a:rPr lang="es-ES" sz="1600" i="1" dirty="0" err="1"/>
              <a:t>System</a:t>
            </a:r>
            <a:r>
              <a:rPr lang="es-ES" sz="1600" dirty="0"/>
              <a:t>” </a:t>
            </a:r>
            <a:endParaRPr lang="es-ES" sz="1600" dirty="0"/>
          </a:p>
          <a:p>
            <a:pPr marL="0" indent="0">
              <a:buNone/>
            </a:pPr>
            <a:r>
              <a:rPr lang="es-ES" sz="1600" dirty="0"/>
              <a:t>X no es sólo un simple programa. Es un sistema gráfico completo encargado de dibujar y gestionar los eventos de los componentes habituales de un entorno gráfico de usuario </a:t>
            </a:r>
            <a:r>
              <a:rPr lang="es-ES" sz="1600" b="1" dirty="0"/>
              <a:t>GUI</a:t>
            </a:r>
            <a:r>
              <a:rPr lang="es-ES" sz="1600" dirty="0"/>
              <a:t> (</a:t>
            </a:r>
            <a:r>
              <a:rPr lang="es-ES" sz="1600" i="1" dirty="0" err="1"/>
              <a:t>Graphical</a:t>
            </a:r>
            <a:r>
              <a:rPr lang="es-ES" sz="1600" i="1" dirty="0"/>
              <a:t> </a:t>
            </a:r>
            <a:r>
              <a:rPr lang="es-ES" sz="1600" i="1" dirty="0" err="1"/>
              <a:t>User</a:t>
            </a:r>
            <a:r>
              <a:rPr lang="es-ES" sz="1600" i="1" dirty="0"/>
              <a:t> Interface</a:t>
            </a:r>
            <a:r>
              <a:rPr lang="es-ES" sz="1600" dirty="0"/>
              <a:t>): ventanas, botones, menús, listas, menús desplegables, casillas de selección, cursores de ratón, etc. Tome nota: X puede gestionar y mostrar estos componentes gráficos, pero no se encarga de instalarlos. X sólo gestiona las interacciones entre el hombre y la máquina.</a:t>
            </a:r>
            <a:endParaRPr lang="es-ES" sz="1600" b="1" dirty="0"/>
          </a:p>
        </p:txBody>
      </p:sp>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845253" y="2210956"/>
            <a:ext cx="3440763" cy="34243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854765"/>
            <a:ext cx="10058400" cy="882595"/>
          </a:xfrm>
        </p:spPr>
        <p:txBody>
          <a:bodyPr/>
          <a:lstStyle/>
          <a:p>
            <a:r>
              <a:rPr lang="es-ES" dirty="0"/>
              <a:t>Ventanas X, localización e impresión</a:t>
            </a:r>
            <a:endParaRPr lang="es-ES" dirty="0"/>
          </a:p>
        </p:txBody>
      </p:sp>
      <p:sp>
        <p:nvSpPr>
          <p:cNvPr id="3" name="Marcador de contenido 2"/>
          <p:cNvSpPr>
            <a:spLocks noGrp="1"/>
          </p:cNvSpPr>
          <p:nvPr>
            <p:ph idx="1"/>
          </p:nvPr>
        </p:nvSpPr>
        <p:spPr>
          <a:xfrm>
            <a:off x="1144749" y="1869662"/>
            <a:ext cx="10058400" cy="4446078"/>
          </a:xfrm>
        </p:spPr>
        <p:txBody>
          <a:bodyPr>
            <a:normAutofit fontScale="62500" lnSpcReduction="20000"/>
          </a:bodyPr>
          <a:lstStyle/>
          <a:p>
            <a:r>
              <a:rPr lang="es-ES" sz="1900" b="1" dirty="0"/>
              <a:t>Sobre Windows X </a:t>
            </a:r>
            <a:r>
              <a:rPr lang="es-ES" sz="1900" b="1" dirty="0" err="1"/>
              <a:t>System</a:t>
            </a:r>
            <a:endParaRPr lang="es-ES" sz="1900" b="1" dirty="0"/>
          </a:p>
          <a:p>
            <a:r>
              <a:rPr lang="es-ES" sz="1900" dirty="0"/>
              <a:t>En Linux la principal GUI se denomina sistema de ventanas X o “</a:t>
            </a:r>
            <a:r>
              <a:rPr lang="es-ES" sz="1900" i="1" dirty="0"/>
              <a:t>X Windows </a:t>
            </a:r>
            <a:r>
              <a:rPr lang="es-ES" sz="1900" i="1" dirty="0" err="1"/>
              <a:t>System</a:t>
            </a:r>
            <a:r>
              <a:rPr lang="es-ES" sz="1900" dirty="0"/>
              <a:t>” </a:t>
            </a:r>
            <a:endParaRPr lang="es-ES" sz="1900" dirty="0"/>
          </a:p>
          <a:p>
            <a:r>
              <a:rPr lang="es-ES" sz="1900" dirty="0"/>
              <a:t>Además del gestor de ventanas también debemos ver el gestor de pantalla X y el gestor de archivo.</a:t>
            </a:r>
            <a:endParaRPr lang="es-ES" sz="1900" dirty="0"/>
          </a:p>
          <a:p>
            <a:r>
              <a:rPr lang="es-ES" sz="1900" b="1" dirty="0"/>
              <a:t>El </a:t>
            </a:r>
            <a:r>
              <a:rPr lang="es-ES" sz="1900" b="1" i="1" dirty="0"/>
              <a:t>gestor de pantalla X</a:t>
            </a:r>
            <a:r>
              <a:rPr lang="es-ES" sz="1900" b="1" dirty="0"/>
              <a:t> </a:t>
            </a:r>
            <a:r>
              <a:rPr lang="es-ES" sz="1900" dirty="0"/>
              <a:t>es una parte opcional del sistema </a:t>
            </a:r>
            <a:r>
              <a:rPr lang="es-ES" sz="1900" i="1" dirty="0"/>
              <a:t>X </a:t>
            </a:r>
            <a:r>
              <a:rPr lang="es-ES" sz="1900" i="1" dirty="0" err="1"/>
              <a:t>Window</a:t>
            </a:r>
            <a:r>
              <a:rPr lang="es-ES" sz="1900" dirty="0"/>
              <a:t> que se usa para la gestión de sesiones. </a:t>
            </a:r>
            <a:r>
              <a:rPr lang="es-ES" sz="1900" b="1" dirty="0"/>
              <a:t>XDM</a:t>
            </a:r>
            <a:r>
              <a:rPr lang="es-ES" sz="1900" dirty="0"/>
              <a:t> dispone de un interfaz gráfica para elegir a qué pantalla se quiere conectar y pedir la información de autentificación como el nombre de usuario y le contraseña. Esto quiere decir que se encarga de las entradas al sistema en la pantalla a la que está conectado y arranca el gestor de sesiones para que lo utilice el usuario.</a:t>
            </a:r>
            <a:endParaRPr lang="es-ES" sz="1900" dirty="0"/>
          </a:p>
          <a:p>
            <a:r>
              <a:rPr lang="es-ES" sz="1900" dirty="0"/>
              <a:t>El </a:t>
            </a:r>
            <a:r>
              <a:rPr lang="es-ES" sz="1900" b="1" dirty="0"/>
              <a:t>gestor de archivos</a:t>
            </a:r>
            <a:r>
              <a:rPr lang="es-ES" sz="1900" dirty="0"/>
              <a:t> proporciona un punto de acceso integrado a los archivos y aplicaciones. Mediante un gestor de archivos podremos crear, mostrar, gestionar y personalizar las carpetas y documentos, además de permitirnos navegar por el sistema de archivos. Existen multitud de </a:t>
            </a:r>
            <a:r>
              <a:rPr lang="es-ES" sz="1900" i="1" dirty="0"/>
              <a:t>gestores de archivos</a:t>
            </a:r>
            <a:r>
              <a:rPr lang="es-ES" sz="1900" dirty="0"/>
              <a:t> para </a:t>
            </a:r>
            <a:r>
              <a:rPr lang="es-ES" sz="1900" i="1" dirty="0"/>
              <a:t>GNU/Linux</a:t>
            </a:r>
            <a:r>
              <a:rPr lang="es-ES" sz="1900" dirty="0"/>
              <a:t> por </a:t>
            </a:r>
            <a:r>
              <a:rPr lang="es-ES" sz="1900" dirty="0" err="1"/>
              <a:t>ejemplo:</a:t>
            </a:r>
            <a:r>
              <a:rPr lang="es-ES" sz="1900" b="1" dirty="0" err="1"/>
              <a:t>Dolphin</a:t>
            </a:r>
            <a:r>
              <a:rPr lang="es-ES" sz="1900" dirty="0"/>
              <a:t>: Administrador de archivos por defecto en </a:t>
            </a:r>
            <a:r>
              <a:rPr lang="es-ES" sz="1900" i="1" dirty="0"/>
              <a:t>KDE</a:t>
            </a:r>
            <a:r>
              <a:rPr lang="es-ES" sz="1900" dirty="0"/>
              <a:t>. Cuenta con una interfaz fácil de usar.</a:t>
            </a:r>
            <a:endParaRPr lang="es-ES" sz="1900" dirty="0"/>
          </a:p>
          <a:p>
            <a:pPr lvl="1"/>
            <a:r>
              <a:rPr lang="es-ES" sz="1900" b="1" dirty="0" err="1"/>
              <a:t>Nautilus</a:t>
            </a:r>
            <a:r>
              <a:rPr lang="es-ES" sz="1900" dirty="0"/>
              <a:t>: Gestor de archivos por defecto en </a:t>
            </a:r>
            <a:r>
              <a:rPr lang="es-ES" sz="1900" i="1" dirty="0"/>
              <a:t>GNOME</a:t>
            </a:r>
            <a:r>
              <a:rPr lang="es-ES" sz="1900" dirty="0"/>
              <a:t>, </a:t>
            </a:r>
            <a:r>
              <a:rPr lang="es-ES" sz="1900" i="1" dirty="0" err="1"/>
              <a:t>Nautilus</a:t>
            </a:r>
            <a:r>
              <a:rPr lang="es-ES" sz="1900" dirty="0"/>
              <a:t> tiene una interfaz intuitiva y se puede ampliar mediante </a:t>
            </a:r>
            <a:r>
              <a:rPr lang="es-ES" sz="1900" dirty="0" err="1"/>
              <a:t>plugins</a:t>
            </a:r>
            <a:r>
              <a:rPr lang="es-ES" sz="1900" dirty="0"/>
              <a:t>.</a:t>
            </a:r>
            <a:endParaRPr lang="es-ES" sz="1900" dirty="0"/>
          </a:p>
          <a:p>
            <a:pPr lvl="1"/>
            <a:r>
              <a:rPr lang="es-ES" sz="1900" b="1" dirty="0" err="1"/>
              <a:t>Thunar</a:t>
            </a:r>
            <a:r>
              <a:rPr lang="es-ES" sz="1900" dirty="0"/>
              <a:t>: Es el administrador de archivos por defecto en el escritorio </a:t>
            </a:r>
            <a:r>
              <a:rPr lang="es-ES" sz="1900" i="1" dirty="0"/>
              <a:t>Xfce</a:t>
            </a:r>
            <a:r>
              <a:rPr lang="es-ES" sz="1900" dirty="0"/>
              <a:t>. Su objetivo es mantenerse simple ofreciendo únicamente las funciones básicas. No tiene soporte para el uso de pestañas pero cuenta con una barra lateral izquierda para acceder rápidamente a los lugares comunes</a:t>
            </a:r>
            <a:endParaRPr lang="es-ES" sz="1900" dirty="0"/>
          </a:p>
          <a:p>
            <a:pPr lvl="1"/>
            <a:r>
              <a:rPr lang="es-ES" sz="1900" b="1" dirty="0"/>
              <a:t>Nemo</a:t>
            </a:r>
            <a:r>
              <a:rPr lang="es-ES" sz="1900" dirty="0"/>
              <a:t>: Es el gestor de archivos por defecto en el entorno de escritorio </a:t>
            </a:r>
            <a:r>
              <a:rPr lang="es-ES" sz="1900" i="1" dirty="0" err="1"/>
              <a:t>Cinnamon</a:t>
            </a:r>
            <a:r>
              <a:rPr lang="es-ES" sz="1900" dirty="0"/>
              <a:t>. Es un </a:t>
            </a:r>
            <a:r>
              <a:rPr lang="es-ES" sz="1900" dirty="0" err="1"/>
              <a:t>fork</a:t>
            </a:r>
            <a:r>
              <a:rPr lang="es-ES" sz="1900" dirty="0"/>
              <a:t> de </a:t>
            </a:r>
            <a:r>
              <a:rPr lang="es-ES" sz="1900" i="1" dirty="0" err="1"/>
              <a:t>Nautilus</a:t>
            </a:r>
            <a:r>
              <a:rPr lang="es-ES" sz="1900" dirty="0"/>
              <a:t> pero ofrece algunas ventajas extras.</a:t>
            </a:r>
            <a:endParaRPr lang="es-ES" sz="1900" dirty="0"/>
          </a:p>
          <a:p>
            <a:pPr lvl="1"/>
            <a:r>
              <a:rPr lang="es-ES" sz="1900" b="1" dirty="0" err="1"/>
              <a:t>Double</a:t>
            </a:r>
            <a:r>
              <a:rPr lang="es-ES" sz="1900" b="1" dirty="0"/>
              <a:t> </a:t>
            </a:r>
            <a:r>
              <a:rPr lang="es-ES" sz="1900" b="1" dirty="0" err="1"/>
              <a:t>Commander</a:t>
            </a:r>
            <a:r>
              <a:rPr lang="es-ES" sz="1900" dirty="0"/>
              <a:t>: Ofrece dos interfaces, </a:t>
            </a:r>
            <a:r>
              <a:rPr lang="es-ES" sz="1900" b="1" dirty="0"/>
              <a:t>GTK</a:t>
            </a:r>
            <a:r>
              <a:rPr lang="es-ES" sz="1900" dirty="0"/>
              <a:t> y </a:t>
            </a:r>
            <a:r>
              <a:rPr lang="es-ES" sz="1900" b="1" dirty="0"/>
              <a:t>Qt</a:t>
            </a:r>
            <a:r>
              <a:rPr lang="es-ES" sz="1900" dirty="0"/>
              <a:t>. </a:t>
            </a:r>
            <a:r>
              <a:rPr lang="es-ES" sz="1900" i="1" dirty="0"/>
              <a:t>GTK</a:t>
            </a:r>
            <a:r>
              <a:rPr lang="es-ES" sz="1900" dirty="0"/>
              <a:t> combina bien con </a:t>
            </a:r>
            <a:r>
              <a:rPr lang="es-ES" sz="1900" i="1" dirty="0"/>
              <a:t>GNOME</a:t>
            </a:r>
            <a:r>
              <a:rPr lang="es-ES" sz="1900" dirty="0"/>
              <a:t>, mientras que </a:t>
            </a:r>
            <a:r>
              <a:rPr lang="es-ES" sz="1900" i="1" dirty="0"/>
              <a:t>Qt</a:t>
            </a:r>
            <a:r>
              <a:rPr lang="es-ES" sz="1900" dirty="0"/>
              <a:t> se adapta mejor en </a:t>
            </a:r>
            <a:r>
              <a:rPr lang="es-ES" sz="1900" i="1" dirty="0"/>
              <a:t>KDE</a:t>
            </a:r>
            <a:r>
              <a:rPr lang="es-ES" sz="1900" dirty="0"/>
              <a:t>. Viene con un estilo de doble panel e incluye un gran número de opciones de configuración.</a:t>
            </a:r>
            <a:endParaRPr lang="es-ES" sz="1900" dirty="0"/>
          </a:p>
          <a:p>
            <a:pPr lvl="1"/>
            <a:r>
              <a:rPr lang="es-ES" sz="1900" b="1" dirty="0" err="1"/>
              <a:t>Midnight</a:t>
            </a:r>
            <a:r>
              <a:rPr lang="es-ES" sz="1900" b="1" dirty="0"/>
              <a:t> </a:t>
            </a:r>
            <a:r>
              <a:rPr lang="es-ES" sz="1900" b="1" dirty="0" err="1"/>
              <a:t>Commander</a:t>
            </a:r>
            <a:r>
              <a:rPr lang="es-ES" sz="1900" dirty="0"/>
              <a:t>: Es un popular administrador de archivos de doble panel para la terminal, basado en la biblioteca </a:t>
            </a:r>
            <a:r>
              <a:rPr lang="es-ES" sz="1900" i="1" dirty="0" err="1"/>
              <a:t>ncurses</a:t>
            </a:r>
            <a:r>
              <a:rPr lang="es-ES" sz="1900" dirty="0"/>
              <a:t>.</a:t>
            </a:r>
            <a:endParaRPr lang="es-ES" sz="1900" dirty="0"/>
          </a:p>
          <a:p>
            <a:pPr marL="0" indent="0">
              <a:buNone/>
            </a:pPr>
            <a:endParaRPr lang="es-ES" b="1"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854765"/>
            <a:ext cx="10058400" cy="882595"/>
          </a:xfrm>
        </p:spPr>
        <p:txBody>
          <a:bodyPr/>
          <a:lstStyle/>
          <a:p>
            <a:r>
              <a:rPr lang="es-ES" dirty="0"/>
              <a:t>Ventanas X, localización e impresión</a:t>
            </a:r>
            <a:endParaRPr lang="es-ES" dirty="0"/>
          </a:p>
        </p:txBody>
      </p:sp>
      <p:sp>
        <p:nvSpPr>
          <p:cNvPr id="3" name="Marcador de contenido 2"/>
          <p:cNvSpPr>
            <a:spLocks noGrp="1"/>
          </p:cNvSpPr>
          <p:nvPr>
            <p:ph idx="1"/>
          </p:nvPr>
        </p:nvSpPr>
        <p:spPr>
          <a:xfrm>
            <a:off x="1144749" y="1869662"/>
            <a:ext cx="10058400" cy="4446078"/>
          </a:xfrm>
        </p:spPr>
        <p:txBody>
          <a:bodyPr>
            <a:normAutofit fontScale="55000" lnSpcReduction="20000"/>
          </a:bodyPr>
          <a:lstStyle/>
          <a:p>
            <a:r>
              <a:rPr lang="es-ES" sz="2500" b="1" dirty="0"/>
              <a:t>Entornos de escritorio</a:t>
            </a:r>
            <a:endParaRPr lang="es-ES" sz="2500" b="1" dirty="0"/>
          </a:p>
          <a:p>
            <a:r>
              <a:rPr lang="es-ES" dirty="0"/>
              <a:t>Un </a:t>
            </a:r>
            <a:r>
              <a:rPr lang="es-ES" i="1" dirty="0"/>
              <a:t>entorno de escritorio</a:t>
            </a:r>
            <a:r>
              <a:rPr lang="es-ES" dirty="0"/>
              <a:t> puede ser cualquier cosa que vaya desde un simple </a:t>
            </a:r>
            <a:r>
              <a:rPr lang="es-ES" i="1" dirty="0"/>
              <a:t>gestor de ventanas</a:t>
            </a:r>
            <a:r>
              <a:rPr lang="es-ES" dirty="0"/>
              <a:t> hasta una completa </a:t>
            </a:r>
            <a:r>
              <a:rPr lang="es-ES" i="1" dirty="0"/>
              <a:t>suite</a:t>
            </a:r>
            <a:r>
              <a:rPr lang="es-ES" dirty="0"/>
              <a:t> de aplicaciones de escritorio como </a:t>
            </a:r>
            <a:r>
              <a:rPr lang="es-ES" i="1" dirty="0"/>
              <a:t>KDE</a:t>
            </a:r>
            <a:r>
              <a:rPr lang="es-ES" dirty="0"/>
              <a:t> o </a:t>
            </a:r>
            <a:r>
              <a:rPr lang="es-ES" i="1" dirty="0"/>
              <a:t>GNOME</a:t>
            </a:r>
            <a:r>
              <a:rPr lang="es-ES" dirty="0"/>
              <a:t>, en la que se integra su propio gestor de ventanas, gestor de archivos y multitud de utilidades y aplicaciones que hacen la vida mas fácil al usuario del sistema.</a:t>
            </a:r>
            <a:endParaRPr lang="es-ES" dirty="0"/>
          </a:p>
          <a:p>
            <a:r>
              <a:rPr lang="es-ES" dirty="0"/>
              <a:t>Los principales entornos de escritorios son:</a:t>
            </a:r>
            <a:endParaRPr lang="es-ES" dirty="0"/>
          </a:p>
          <a:p>
            <a:r>
              <a:rPr lang="es-ES" b="1" dirty="0"/>
              <a:t>GNOME</a:t>
            </a:r>
            <a:r>
              <a:rPr lang="es-ES" dirty="0"/>
              <a:t>: Es un entorno de escritorio amigable que permite a los usuarios una configuración fácil de sus sistemas gracias a su panel con el que poder iniciar las aplicaciones y mostrar su estado, el escritorio y un conjunto de herramientas y aplicaciones de escritorio estándar. La manera más fácil de arrancar </a:t>
            </a:r>
            <a:r>
              <a:rPr lang="es-ES" i="1" dirty="0"/>
              <a:t>GNOME</a:t>
            </a:r>
            <a:r>
              <a:rPr lang="es-ES" dirty="0"/>
              <a:t> es con </a:t>
            </a:r>
            <a:r>
              <a:rPr lang="es-ES" i="1" dirty="0"/>
              <a:t>GDM</a:t>
            </a:r>
            <a:r>
              <a:rPr lang="es-ES" dirty="0"/>
              <a:t>, el gestor de pantalla de </a:t>
            </a:r>
            <a:r>
              <a:rPr lang="es-ES" i="1" dirty="0"/>
              <a:t>GNOME</a:t>
            </a:r>
            <a:r>
              <a:rPr lang="es-ES" dirty="0"/>
              <a:t>, que se instala con el escritorio </a:t>
            </a:r>
            <a:r>
              <a:rPr lang="es-ES" i="1" dirty="0"/>
              <a:t>GNOME</a:t>
            </a:r>
            <a:r>
              <a:rPr lang="es-ES" dirty="0"/>
              <a:t> al ser parte del mismo, aunque venga desactivado por omisión. Podremos activarlo añadiendo </a:t>
            </a:r>
            <a:r>
              <a:rPr lang="es-ES" i="1" dirty="0" err="1"/>
              <a:t>gdm_enable</a:t>
            </a:r>
            <a:r>
              <a:rPr lang="es-ES" i="1" dirty="0"/>
              <a:t>=”YES”</a:t>
            </a:r>
            <a:r>
              <a:rPr lang="es-ES" dirty="0"/>
              <a:t> a </a:t>
            </a:r>
            <a:r>
              <a:rPr lang="es-ES" i="1" dirty="0"/>
              <a:t>/</a:t>
            </a:r>
            <a:r>
              <a:rPr lang="es-ES" i="1" dirty="0" err="1"/>
              <a:t>etc</a:t>
            </a:r>
            <a:r>
              <a:rPr lang="es-ES" i="1" dirty="0"/>
              <a:t>/</a:t>
            </a:r>
            <a:r>
              <a:rPr lang="es-ES" i="1" dirty="0" err="1"/>
              <a:t>rc.conf</a:t>
            </a:r>
            <a:r>
              <a:rPr lang="es-ES" dirty="0"/>
              <a:t>. Tras reiniciar, </a:t>
            </a:r>
            <a:r>
              <a:rPr lang="es-ES" i="1" dirty="0"/>
              <a:t>GNOME</a:t>
            </a:r>
            <a:r>
              <a:rPr lang="es-ES" dirty="0"/>
              <a:t> arrancará automáticamente al acceder al sistema; no es necesario configurar nada más.</a:t>
            </a:r>
            <a:endParaRPr lang="es-ES" dirty="0"/>
          </a:p>
          <a:p>
            <a:r>
              <a:rPr lang="es-ES" b="1" dirty="0"/>
              <a:t>KDE</a:t>
            </a:r>
            <a:r>
              <a:rPr lang="es-ES" dirty="0"/>
              <a:t>: Es un entorno de escritorio contemporáneo y fácil de usar el cual ofrece al usuario un bonito escritorio y transparente en red, un sistema de ayuda integrado que facilita un acceso adecuado, un gran número de útiles aplicaciones como su famoso navegador web </a:t>
            </a:r>
            <a:r>
              <a:rPr lang="es-ES" i="1" dirty="0" err="1"/>
              <a:t>Konqueror</a:t>
            </a:r>
            <a:r>
              <a:rPr lang="es-ES" dirty="0"/>
              <a:t>, menús y barras de herramientas estándares, teclas programables, esquemas de color, </a:t>
            </a:r>
            <a:r>
              <a:rPr lang="es-ES" dirty="0" err="1"/>
              <a:t>etc</a:t>
            </a:r>
            <a:endParaRPr lang="es-ES" dirty="0"/>
          </a:p>
          <a:p>
            <a:r>
              <a:rPr lang="es-ES" b="1" dirty="0" err="1"/>
              <a:t>XFce</a:t>
            </a:r>
            <a:r>
              <a:rPr lang="es-ES" dirty="0"/>
              <a:t>: Es un entorno de escritorio basado en el </a:t>
            </a:r>
            <a:r>
              <a:rPr lang="es-ES" i="1" dirty="0" err="1"/>
              <a:t>toolkit</a:t>
            </a:r>
            <a:r>
              <a:rPr lang="es-ES" dirty="0"/>
              <a:t> GTK utilizado por </a:t>
            </a:r>
            <a:r>
              <a:rPr lang="es-ES" i="1" dirty="0"/>
              <a:t>GNOME</a:t>
            </a:r>
            <a:r>
              <a:rPr lang="es-ES" dirty="0"/>
              <a:t> pero es mucho más ligero y está pensado para aquellos que quieran un escritorio sencillo, eficiente y fácil de </a:t>
            </a:r>
            <a:r>
              <a:rPr lang="es-ES" dirty="0" err="1"/>
              <a:t>utlizar</a:t>
            </a:r>
            <a:r>
              <a:rPr lang="es-ES" dirty="0"/>
              <a:t> y configurar. </a:t>
            </a:r>
            <a:r>
              <a:rPr lang="es-ES" i="1" dirty="0" err="1"/>
              <a:t>XFce</a:t>
            </a:r>
            <a:r>
              <a:rPr lang="es-ES" dirty="0"/>
              <a:t> ofrece interesantes características como su fácil configuración utilizando el ratón (con arrastrar y soltar), menú y accesos directos a aplicaciones, gestor de ventanas integrado, rápido, ligero y eficiente (ideal para máquinas viejas o con escasos recursos.</a:t>
            </a:r>
            <a:endParaRPr lang="es-ES" dirty="0"/>
          </a:p>
          <a:p>
            <a:r>
              <a:rPr lang="es-ES" b="1" dirty="0" err="1"/>
              <a:t>Cinnamon</a:t>
            </a:r>
            <a:r>
              <a:rPr lang="es-ES" dirty="0"/>
              <a:t>: Es un </a:t>
            </a:r>
            <a:r>
              <a:rPr lang="es-ES" dirty="0" err="1"/>
              <a:t>fork</a:t>
            </a:r>
            <a:r>
              <a:rPr lang="es-ES" dirty="0"/>
              <a:t> (derivación) de </a:t>
            </a:r>
            <a:r>
              <a:rPr lang="es-ES" dirty="0" err="1"/>
              <a:t>Gnome</a:t>
            </a:r>
            <a:r>
              <a:rPr lang="es-ES" dirty="0"/>
              <a:t> Shell, basado en </a:t>
            </a:r>
            <a:r>
              <a:rPr lang="es-ES" dirty="0" err="1"/>
              <a:t>Gnome</a:t>
            </a:r>
            <a:r>
              <a:rPr lang="es-ES" dirty="0"/>
              <a:t> 3. Tiene una apariencia minimalista pero bastante bonita y la funcionalidad de </a:t>
            </a:r>
            <a:r>
              <a:rPr lang="es-ES" dirty="0" err="1"/>
              <a:t>Gnome</a:t>
            </a:r>
            <a:r>
              <a:rPr lang="es-ES" dirty="0"/>
              <a:t> 2 mezclada con algunas cosas de </a:t>
            </a:r>
            <a:r>
              <a:rPr lang="es-ES" dirty="0" err="1"/>
              <a:t>Gnome</a:t>
            </a:r>
            <a:r>
              <a:rPr lang="es-ES" dirty="0"/>
              <a:t> 3 como el área de aplicaciones y escritorios ya bien conocida en </a:t>
            </a:r>
            <a:r>
              <a:rPr lang="es-ES" dirty="0" err="1"/>
              <a:t>Gnome</a:t>
            </a:r>
            <a:r>
              <a:rPr lang="es-ES" dirty="0"/>
              <a:t> Shell. La distribución con la que fue desarrollada fue Linux </a:t>
            </a:r>
            <a:r>
              <a:rPr lang="es-ES" dirty="0" err="1"/>
              <a:t>Mint</a:t>
            </a:r>
            <a:r>
              <a:rPr lang="es-ES" dirty="0"/>
              <a:t> la cual está bastante orientada al usuario Novel y proveniente de otros sistemas como Mac o Windows</a:t>
            </a:r>
            <a:endParaRPr lang="es-ES" dirty="0"/>
          </a:p>
          <a:p>
            <a:br>
              <a:rPr lang="es-ES" sz="2000" dirty="0"/>
            </a:br>
            <a:endParaRPr lang="es-ES" b="1"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854765"/>
            <a:ext cx="10058400" cy="882595"/>
          </a:xfrm>
        </p:spPr>
        <p:txBody>
          <a:bodyPr/>
          <a:lstStyle/>
          <a:p>
            <a:r>
              <a:rPr lang="es-ES" dirty="0"/>
              <a:t>Ventanas X, localización e impresión</a:t>
            </a:r>
            <a:endParaRPr lang="es-ES" dirty="0"/>
          </a:p>
        </p:txBody>
      </p:sp>
      <p:sp>
        <p:nvSpPr>
          <p:cNvPr id="3" name="Marcador de contenido 2"/>
          <p:cNvSpPr>
            <a:spLocks noGrp="1"/>
          </p:cNvSpPr>
          <p:nvPr>
            <p:ph idx="1"/>
          </p:nvPr>
        </p:nvSpPr>
        <p:spPr>
          <a:xfrm>
            <a:off x="1144749" y="1869662"/>
            <a:ext cx="10058400" cy="4446078"/>
          </a:xfrm>
        </p:spPr>
        <p:txBody>
          <a:bodyPr>
            <a:normAutofit/>
          </a:bodyPr>
          <a:lstStyle/>
          <a:p>
            <a:r>
              <a:rPr lang="es-ES" b="1" dirty="0"/>
              <a:t>Servidores X</a:t>
            </a:r>
            <a:endParaRPr lang="es-ES" b="1" dirty="0"/>
          </a:p>
          <a:p>
            <a:r>
              <a:rPr lang="es-ES" dirty="0"/>
              <a:t>Principales servidores X</a:t>
            </a:r>
            <a:endParaRPr lang="es-ES" dirty="0"/>
          </a:p>
          <a:p>
            <a:r>
              <a:rPr lang="es-ES" b="1" dirty="0"/>
              <a:t>XFree86</a:t>
            </a:r>
            <a:r>
              <a:rPr lang="es-ES" dirty="0"/>
              <a:t>: Servidor X dominante hasta 2004, la mayoría de los sistemas modernos ejecutan XFree86 4.x o X.org-X11. Con algunas tarjetas antiguas es posible que tenga que recurrir a este servidor X e incluso a versiones anteriores a la 4.x</a:t>
            </a:r>
            <a:endParaRPr lang="es-ES" dirty="0"/>
          </a:p>
          <a:p>
            <a:r>
              <a:rPr lang="es-ES" b="1" dirty="0"/>
              <a:t>X.org-X11</a:t>
            </a:r>
            <a:r>
              <a:rPr lang="es-ES" dirty="0"/>
              <a:t>: Es el servidor incluido en las distribuciones mas modernas, se basa en XFree86, ambos son virtualmente idénticos en la mayoría de los aspectos importantes. Una diferencia significativa es el nombre del archivo de configuración y la ubicación de las fuentes.</a:t>
            </a:r>
            <a:endParaRPr lang="es-ES" dirty="0"/>
          </a:p>
          <a:p>
            <a:br>
              <a:rPr lang="es-ES" sz="2000" dirty="0"/>
            </a:br>
            <a:endParaRPr lang="es-ES" b="1"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854765"/>
            <a:ext cx="10058400" cy="882595"/>
          </a:xfrm>
        </p:spPr>
        <p:txBody>
          <a:bodyPr/>
          <a:lstStyle/>
          <a:p>
            <a:r>
              <a:rPr lang="es-ES" dirty="0"/>
              <a:t>Ventanas X, localización e impresión</a:t>
            </a:r>
            <a:endParaRPr lang="es-ES" dirty="0"/>
          </a:p>
        </p:txBody>
      </p:sp>
      <p:sp>
        <p:nvSpPr>
          <p:cNvPr id="3" name="Marcador de contenido 2"/>
          <p:cNvSpPr>
            <a:spLocks noGrp="1"/>
          </p:cNvSpPr>
          <p:nvPr>
            <p:ph idx="1"/>
          </p:nvPr>
        </p:nvSpPr>
        <p:spPr>
          <a:xfrm>
            <a:off x="1144749" y="1869662"/>
            <a:ext cx="10058400" cy="4446078"/>
          </a:xfrm>
        </p:spPr>
        <p:txBody>
          <a:bodyPr>
            <a:normAutofit fontScale="70000" lnSpcReduction="20000"/>
          </a:bodyPr>
          <a:lstStyle/>
          <a:p>
            <a:r>
              <a:rPr lang="es-ES" sz="2200" b="1" dirty="0"/>
              <a:t>Herramientas, configuración y opciones del servidor X</a:t>
            </a:r>
            <a:endParaRPr lang="es-ES" sz="2200" b="1" dirty="0"/>
          </a:p>
          <a:p>
            <a:r>
              <a:rPr lang="es-ES" dirty="0"/>
              <a:t>En ocasiones tendrá que recurrir a los archivos de configuración del servidor X.</a:t>
            </a:r>
            <a:endParaRPr lang="es-ES" dirty="0"/>
          </a:p>
          <a:p>
            <a:r>
              <a:rPr lang="es-ES" dirty="0"/>
              <a:t>El servidor X posee la capacidad de consultar el hardware y generar un archivo de configuración mediante las herramientas </a:t>
            </a:r>
            <a:r>
              <a:rPr lang="es-ES" b="1" dirty="0"/>
              <a:t>xfree86 -configure</a:t>
            </a:r>
            <a:r>
              <a:rPr lang="es-ES" dirty="0"/>
              <a:t> o </a:t>
            </a:r>
            <a:r>
              <a:rPr lang="es-ES" b="1" dirty="0" err="1"/>
              <a:t>xorg</a:t>
            </a:r>
            <a:r>
              <a:rPr lang="es-ES" b="1" dirty="0"/>
              <a:t> -configure</a:t>
            </a:r>
            <a:r>
              <a:rPr lang="es-ES" dirty="0"/>
              <a:t> que cargarán todos los drivers y módulos del hardware y lo escribirán en un archivo </a:t>
            </a:r>
            <a:r>
              <a:rPr lang="es-ES" i="1" dirty="0"/>
              <a:t>xf86config.new</a:t>
            </a:r>
            <a:r>
              <a:rPr lang="es-ES" dirty="0"/>
              <a:t> o </a:t>
            </a:r>
            <a:r>
              <a:rPr lang="es-ES" i="1" dirty="0" err="1"/>
              <a:t>xorg.conf</a:t>
            </a:r>
            <a:r>
              <a:rPr lang="es-ES" dirty="0"/>
              <a:t> que nos valdrá como punto de partida. Es indispensable ejecutar estos comandos en modo </a:t>
            </a:r>
            <a:r>
              <a:rPr lang="es-ES" i="1" dirty="0"/>
              <a:t>monousuario</a:t>
            </a:r>
            <a:r>
              <a:rPr lang="es-ES" dirty="0"/>
              <a:t> o </a:t>
            </a:r>
            <a:r>
              <a:rPr lang="es-ES" i="1" dirty="0" err="1"/>
              <a:t>runlevel</a:t>
            </a:r>
            <a:r>
              <a:rPr lang="es-ES" i="1" dirty="0"/>
              <a:t> 3</a:t>
            </a:r>
            <a:r>
              <a:rPr lang="es-ES" dirty="0"/>
              <a:t>, donde la interfaz gráfica no esté configurada para iniciarse. Si hemos realizado algunos cambios podremos arrancar nuevamente X para comprobarlos con </a:t>
            </a:r>
            <a:r>
              <a:rPr lang="es-ES" b="1" dirty="0" err="1"/>
              <a:t>startx</a:t>
            </a:r>
            <a:r>
              <a:rPr lang="es-ES" dirty="0"/>
              <a:t> o pasando a un modo de ejecución donde X este activa. Si seguimos sin conseguir los objetivos podremos pasar nuevamente a modos de consola. Una vez hayamos configurado en gran medida nuestro servidor X podremos ejecutar</a:t>
            </a:r>
            <a:r>
              <a:rPr lang="es-ES" b="1" dirty="0"/>
              <a:t> </a:t>
            </a:r>
            <a:r>
              <a:rPr lang="es-ES" b="1" dirty="0" err="1"/>
              <a:t>telinit</a:t>
            </a:r>
            <a:r>
              <a:rPr lang="es-ES" b="1" dirty="0"/>
              <a:t> 5</a:t>
            </a:r>
            <a:r>
              <a:rPr lang="es-ES" dirty="0"/>
              <a:t> para activar el modo gráfico. En sistemas </a:t>
            </a:r>
            <a:r>
              <a:rPr lang="es-ES" i="1" dirty="0"/>
              <a:t>Debian</a:t>
            </a:r>
            <a:r>
              <a:rPr lang="es-ES" dirty="0"/>
              <a:t> y derivados lo mejor será matar el servidor X mediante el comando </a:t>
            </a:r>
            <a:r>
              <a:rPr lang="es-ES" b="1" dirty="0" err="1"/>
              <a:t>kill</a:t>
            </a:r>
            <a:r>
              <a:rPr lang="es-ES" dirty="0"/>
              <a:t> o </a:t>
            </a:r>
            <a:r>
              <a:rPr lang="es-ES" b="1" dirty="0" err="1"/>
              <a:t>Control+Alt+Retroceso</a:t>
            </a:r>
            <a:r>
              <a:rPr lang="es-ES" dirty="0"/>
              <a:t> y volviendo a iniciar con el script de inicio.</a:t>
            </a:r>
            <a:endParaRPr lang="es-ES" dirty="0"/>
          </a:p>
          <a:p>
            <a:r>
              <a:rPr lang="es-ES" dirty="0"/>
              <a:t>Cada distribución suele contar con sus propias herramientas para configurar el servidor X como es el caso de </a:t>
            </a:r>
            <a:r>
              <a:rPr lang="es-ES" i="1" dirty="0" err="1"/>
              <a:t>RedHat</a:t>
            </a:r>
            <a:r>
              <a:rPr lang="es-ES" dirty="0"/>
              <a:t> que cuenta con </a:t>
            </a:r>
            <a:r>
              <a:rPr lang="es-ES" b="1" dirty="0" err="1"/>
              <a:t>system</a:t>
            </a:r>
            <a:r>
              <a:rPr lang="es-ES" b="1" dirty="0"/>
              <a:t>-</a:t>
            </a:r>
            <a:r>
              <a:rPr lang="es-ES" b="1" dirty="0" err="1"/>
              <a:t>config</a:t>
            </a:r>
            <a:r>
              <a:rPr lang="es-ES" b="1" dirty="0"/>
              <a:t>-display</a:t>
            </a:r>
            <a:r>
              <a:rPr lang="es-ES" dirty="0"/>
              <a:t> o la distribución SUSE con sus herramientas </a:t>
            </a:r>
            <a:r>
              <a:rPr lang="es-ES" b="1" dirty="0" err="1"/>
              <a:t>YaST</a:t>
            </a:r>
            <a:r>
              <a:rPr lang="es-ES" dirty="0"/>
              <a:t> o </a:t>
            </a:r>
            <a:r>
              <a:rPr lang="es-ES" b="1" dirty="0"/>
              <a:t>YaST2</a:t>
            </a:r>
            <a:r>
              <a:rPr lang="es-ES" dirty="0"/>
              <a:t>.</a:t>
            </a:r>
            <a:endParaRPr lang="es-ES" dirty="0"/>
          </a:p>
          <a:p>
            <a:r>
              <a:rPr lang="es-ES" dirty="0"/>
              <a:t>Para versiones anteriores a </a:t>
            </a:r>
            <a:r>
              <a:rPr lang="es-ES" i="1" dirty="0"/>
              <a:t>XFree86 4.x</a:t>
            </a:r>
            <a:r>
              <a:rPr lang="es-ES" dirty="0"/>
              <a:t>  se cuenta con herramientas como </a:t>
            </a:r>
            <a:r>
              <a:rPr lang="es-ES" b="1" dirty="0"/>
              <a:t>xf86config</a:t>
            </a:r>
            <a:r>
              <a:rPr lang="es-ES" dirty="0"/>
              <a:t>, </a:t>
            </a:r>
            <a:r>
              <a:rPr lang="es-ES" b="1" dirty="0" err="1"/>
              <a:t>xconfigurator</a:t>
            </a:r>
            <a:r>
              <a:rPr lang="es-ES" dirty="0"/>
              <a:t> o </a:t>
            </a:r>
            <a:r>
              <a:rPr lang="es-ES" b="1" dirty="0"/>
              <a:t>xf86setup</a:t>
            </a:r>
            <a:r>
              <a:rPr lang="es-ES" dirty="0"/>
              <a:t>.</a:t>
            </a:r>
            <a:endParaRPr lang="es-ES" dirty="0"/>
          </a:p>
          <a:p>
            <a:br>
              <a:rPr lang="es-ES" sz="2000" dirty="0"/>
            </a:br>
            <a:endParaRPr lang="es-ES" b="1"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854765"/>
            <a:ext cx="10058400" cy="882595"/>
          </a:xfrm>
        </p:spPr>
        <p:txBody>
          <a:bodyPr/>
          <a:lstStyle/>
          <a:p>
            <a:r>
              <a:rPr lang="es-ES" dirty="0"/>
              <a:t>Ventanas X, localización e impresión</a:t>
            </a:r>
            <a:endParaRPr lang="es-ES" dirty="0"/>
          </a:p>
        </p:txBody>
      </p:sp>
      <p:sp>
        <p:nvSpPr>
          <p:cNvPr id="3" name="Marcador de contenido 2"/>
          <p:cNvSpPr>
            <a:spLocks noGrp="1"/>
          </p:cNvSpPr>
          <p:nvPr>
            <p:ph idx="1"/>
          </p:nvPr>
        </p:nvSpPr>
        <p:spPr>
          <a:xfrm>
            <a:off x="1144749" y="1869662"/>
            <a:ext cx="10058400" cy="4446078"/>
          </a:xfrm>
        </p:spPr>
        <p:txBody>
          <a:bodyPr>
            <a:normAutofit fontScale="92500" lnSpcReduction="20000"/>
          </a:bodyPr>
          <a:lstStyle/>
          <a:p>
            <a:r>
              <a:rPr lang="es-ES" b="1" dirty="0"/>
              <a:t>ADMINISTRA ACCESOS GUI</a:t>
            </a:r>
            <a:endParaRPr lang="es-ES" b="1" dirty="0"/>
          </a:p>
          <a:p>
            <a:r>
              <a:rPr lang="es-ES" dirty="0"/>
              <a:t>X es una GUI con acceso a red. Utiliza el protocolo </a:t>
            </a:r>
            <a:r>
              <a:rPr lang="es-ES" b="1" dirty="0"/>
              <a:t>XDMCP</a:t>
            </a:r>
            <a:r>
              <a:rPr lang="es-ES" dirty="0"/>
              <a:t>, por lo que podría administrar tanto la pantalla del servidor X local, como escuchar las conexiones de un servidor X remoto.</a:t>
            </a:r>
            <a:endParaRPr lang="es-ES" dirty="0"/>
          </a:p>
          <a:p>
            <a:r>
              <a:rPr lang="es-ES" dirty="0"/>
              <a:t>Existen varios métodos para iniciar el servidor </a:t>
            </a:r>
            <a:r>
              <a:rPr lang="es-ES" i="1" dirty="0"/>
              <a:t>XDMCP</a:t>
            </a:r>
            <a:r>
              <a:rPr lang="es-ES" dirty="0"/>
              <a:t>. Los dos más comunes son iniciarlo de manera más o menos directa desde </a:t>
            </a:r>
            <a:r>
              <a:rPr lang="es-ES" dirty="0" err="1"/>
              <a:t>init</a:t>
            </a:r>
            <a:r>
              <a:rPr lang="es-ES" dirty="0"/>
              <a:t>, a través de una entrada en /</a:t>
            </a:r>
            <a:r>
              <a:rPr lang="es-ES" dirty="0" err="1"/>
              <a:t>etc</a:t>
            </a:r>
            <a:r>
              <a:rPr lang="es-ES" dirty="0"/>
              <a:t>/</a:t>
            </a:r>
            <a:r>
              <a:rPr lang="es-ES" dirty="0" err="1"/>
              <a:t>inittab</a:t>
            </a:r>
            <a:r>
              <a:rPr lang="es-ES" dirty="0"/>
              <a:t> o sus archivos de configuración auxiliares, o bien iniciarlo como parte de un conjunto de scripts de inicio de un modo de ejecución. Podríamos iniciar o parar un servidor </a:t>
            </a:r>
            <a:r>
              <a:rPr lang="es-ES" i="1" dirty="0"/>
              <a:t>XDMCP</a:t>
            </a:r>
            <a:r>
              <a:rPr lang="es-ES" dirty="0"/>
              <a:t> con los scripts </a:t>
            </a:r>
            <a:r>
              <a:rPr lang="es-ES" dirty="0" err="1"/>
              <a:t>SysV</a:t>
            </a:r>
            <a:r>
              <a:rPr lang="es-ES" dirty="0"/>
              <a:t> </a:t>
            </a:r>
            <a:r>
              <a:rPr lang="es-ES" i="1" dirty="0"/>
              <a:t>/</a:t>
            </a:r>
            <a:r>
              <a:rPr lang="es-ES" i="1" dirty="0" err="1"/>
              <a:t>etc</a:t>
            </a:r>
            <a:r>
              <a:rPr lang="es-ES" i="1" dirty="0"/>
              <a:t>/</a:t>
            </a:r>
            <a:r>
              <a:rPr lang="es-ES" i="1" dirty="0" err="1"/>
              <a:t>init.d</a:t>
            </a:r>
            <a:r>
              <a:rPr lang="es-ES" i="1" dirty="0"/>
              <a:t>/</a:t>
            </a:r>
            <a:r>
              <a:rPr lang="es-ES" i="1" dirty="0" err="1"/>
              <a:t>xdm</a:t>
            </a:r>
            <a:r>
              <a:rPr lang="es-ES" dirty="0"/>
              <a:t>, </a:t>
            </a:r>
            <a:r>
              <a:rPr lang="es-ES" i="1" dirty="0" err="1"/>
              <a:t>kdm</a:t>
            </a:r>
            <a:r>
              <a:rPr lang="es-ES" dirty="0"/>
              <a:t>, </a:t>
            </a:r>
            <a:r>
              <a:rPr lang="es-ES" i="1" dirty="0" err="1"/>
              <a:t>mdm</a:t>
            </a:r>
            <a:r>
              <a:rPr lang="es-ES" dirty="0"/>
              <a:t> o </a:t>
            </a:r>
            <a:r>
              <a:rPr lang="es-ES" i="1" dirty="0" err="1"/>
              <a:t>gdm</a:t>
            </a:r>
            <a:r>
              <a:rPr lang="es-ES" dirty="0"/>
              <a:t>.</a:t>
            </a:r>
            <a:endParaRPr lang="es-ES" dirty="0"/>
          </a:p>
          <a:p>
            <a:r>
              <a:rPr lang="es-ES" dirty="0"/>
              <a:t>La mayoría de las distribuciones definen un servidor </a:t>
            </a:r>
            <a:r>
              <a:rPr lang="es-ES" i="1" dirty="0"/>
              <a:t>XDMCP</a:t>
            </a:r>
            <a:r>
              <a:rPr lang="es-ES" dirty="0"/>
              <a:t> de dos modos:</a:t>
            </a:r>
            <a:endParaRPr lang="es-ES" dirty="0"/>
          </a:p>
          <a:p>
            <a:r>
              <a:rPr lang="es-ES" dirty="0"/>
              <a:t>Selección mediante archivo de configuración (</a:t>
            </a:r>
            <a:r>
              <a:rPr lang="es-ES" i="1" dirty="0"/>
              <a:t>/</a:t>
            </a:r>
            <a:r>
              <a:rPr lang="es-ES" i="1" dirty="0" err="1"/>
              <a:t>etc</a:t>
            </a:r>
            <a:r>
              <a:rPr lang="es-ES" i="1" dirty="0"/>
              <a:t>/</a:t>
            </a:r>
            <a:r>
              <a:rPr lang="es-ES" i="1" dirty="0" err="1"/>
              <a:t>sysconfig</a:t>
            </a:r>
            <a:r>
              <a:rPr lang="es-ES" i="1" dirty="0"/>
              <a:t>/desktop</a:t>
            </a:r>
            <a:r>
              <a:rPr lang="es-ES" dirty="0"/>
              <a:t>), definiendo la variable </a:t>
            </a:r>
            <a:r>
              <a:rPr lang="es-ES" b="1" dirty="0"/>
              <a:t>DISPLAYMANAGER=/</a:t>
            </a:r>
            <a:r>
              <a:rPr lang="es-ES" b="1" dirty="0" err="1"/>
              <a:t>etc</a:t>
            </a:r>
            <a:r>
              <a:rPr lang="es-ES" b="1" dirty="0"/>
              <a:t>/</a:t>
            </a:r>
            <a:r>
              <a:rPr lang="es-ES" b="1" dirty="0" err="1"/>
              <a:t>xdm</a:t>
            </a:r>
            <a:r>
              <a:rPr lang="es-ES" dirty="0"/>
              <a:t> o </a:t>
            </a:r>
            <a:r>
              <a:rPr lang="es-ES" b="1" dirty="0"/>
              <a:t>DISPLAYMANAGER=</a:t>
            </a:r>
            <a:r>
              <a:rPr lang="es-ES" b="1" dirty="0" err="1"/>
              <a:t>xdm</a:t>
            </a:r>
            <a:endParaRPr lang="es-ES" dirty="0"/>
          </a:p>
          <a:p>
            <a:r>
              <a:rPr lang="es-ES" dirty="0"/>
              <a:t>Selección mediante Script de inicio: </a:t>
            </a:r>
            <a:r>
              <a:rPr lang="es-ES" dirty="0" err="1"/>
              <a:t>SysV</a:t>
            </a:r>
            <a:r>
              <a:rPr lang="es-ES" dirty="0"/>
              <a:t> (</a:t>
            </a:r>
            <a:r>
              <a:rPr lang="es-ES" i="1" dirty="0" err="1"/>
              <a:t>xdm</a:t>
            </a:r>
            <a:r>
              <a:rPr lang="es-ES" dirty="0"/>
              <a:t>, </a:t>
            </a:r>
            <a:r>
              <a:rPr lang="es-ES" i="1" dirty="0" err="1"/>
              <a:t>kdm</a:t>
            </a:r>
            <a:r>
              <a:rPr lang="es-ES" dirty="0"/>
              <a:t>, </a:t>
            </a:r>
            <a:r>
              <a:rPr lang="es-ES" i="1" dirty="0" err="1"/>
              <a:t>gdm</a:t>
            </a:r>
            <a:r>
              <a:rPr lang="es-ES" dirty="0"/>
              <a:t>…), </a:t>
            </a:r>
            <a:r>
              <a:rPr lang="es-ES" dirty="0" err="1"/>
              <a:t>Upstart</a:t>
            </a:r>
            <a:r>
              <a:rPr lang="es-ES" dirty="0"/>
              <a:t> o </a:t>
            </a:r>
            <a:r>
              <a:rPr lang="es-ES" dirty="0" err="1"/>
              <a:t>Systemd</a:t>
            </a:r>
            <a:endParaRPr lang="es-ES" dirty="0"/>
          </a:p>
          <a:p>
            <a:pPr marL="201295" lvl="1" indent="0">
              <a:buNone/>
            </a:pPr>
            <a:br>
              <a:rPr lang="es-ES" sz="1800" dirty="0"/>
            </a:br>
            <a:endParaRPr lang="es-ES" b="1"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854765"/>
            <a:ext cx="10058400" cy="882595"/>
          </a:xfrm>
        </p:spPr>
        <p:txBody>
          <a:bodyPr/>
          <a:lstStyle/>
          <a:p>
            <a:r>
              <a:rPr lang="es-ES" dirty="0"/>
              <a:t>Ventanas X, localización e impresión</a:t>
            </a:r>
            <a:endParaRPr lang="es-ES" dirty="0"/>
          </a:p>
        </p:txBody>
      </p:sp>
      <p:sp>
        <p:nvSpPr>
          <p:cNvPr id="3" name="Marcador de contenido 2"/>
          <p:cNvSpPr>
            <a:spLocks noGrp="1"/>
          </p:cNvSpPr>
          <p:nvPr>
            <p:ph idx="1"/>
          </p:nvPr>
        </p:nvSpPr>
        <p:spPr>
          <a:xfrm>
            <a:off x="1144749" y="1869662"/>
            <a:ext cx="10058400" cy="4446078"/>
          </a:xfrm>
        </p:spPr>
        <p:txBody>
          <a:bodyPr>
            <a:normAutofit fontScale="55000" lnSpcReduction="20000"/>
          </a:bodyPr>
          <a:lstStyle/>
          <a:p>
            <a:r>
              <a:rPr lang="es-ES" b="1" dirty="0"/>
              <a:t>Configurar servidores XDMCP</a:t>
            </a:r>
            <a:endParaRPr lang="es-ES" b="1" dirty="0"/>
          </a:p>
          <a:p>
            <a:r>
              <a:rPr lang="es-ES" dirty="0"/>
              <a:t>En Linux son habituales cinco servidores </a:t>
            </a:r>
            <a:r>
              <a:rPr lang="es-ES" i="1" dirty="0"/>
              <a:t>XDMCP</a:t>
            </a:r>
            <a:r>
              <a:rPr lang="es-ES" dirty="0"/>
              <a:t> (</a:t>
            </a:r>
            <a:r>
              <a:rPr lang="es-ES" i="1" dirty="0"/>
              <a:t>X Display Manager Control </a:t>
            </a:r>
            <a:r>
              <a:rPr lang="es-ES" i="1" dirty="0" err="1"/>
              <a:t>Protocol</a:t>
            </a:r>
            <a:r>
              <a:rPr lang="es-ES" dirty="0"/>
              <a:t>):</a:t>
            </a:r>
            <a:endParaRPr lang="es-ES" dirty="0"/>
          </a:p>
          <a:p>
            <a:r>
              <a:rPr lang="es-ES" b="1" dirty="0"/>
              <a:t>XDM</a:t>
            </a:r>
            <a:r>
              <a:rPr lang="es-ES" dirty="0"/>
              <a:t> (</a:t>
            </a:r>
            <a:r>
              <a:rPr lang="es-ES" i="1" dirty="0"/>
              <a:t>X Display Manager</a:t>
            </a:r>
            <a:r>
              <a:rPr lang="es-ES" dirty="0"/>
              <a:t>): Mas antiguo y con menos funcionalidades. Acepta nombres de usuario y contraseñas pero no permite a los usuarios realizar otras acciones, como por ejemplo escoger que entorno de escritorio ejecutar</a:t>
            </a:r>
            <a:endParaRPr lang="es-ES" dirty="0"/>
          </a:p>
          <a:p>
            <a:pPr lvl="1"/>
            <a:r>
              <a:rPr lang="es-ES" dirty="0"/>
              <a:t>Su archivo de configuración principal es </a:t>
            </a:r>
            <a:r>
              <a:rPr lang="es-ES" i="1" dirty="0"/>
              <a:t>/</a:t>
            </a:r>
            <a:r>
              <a:rPr lang="es-ES" i="1" dirty="0" err="1"/>
              <a:t>etc</a:t>
            </a:r>
            <a:r>
              <a:rPr lang="es-ES" i="1" dirty="0"/>
              <a:t>/X11/</a:t>
            </a:r>
            <a:r>
              <a:rPr lang="es-ES" i="1" dirty="0" err="1"/>
              <a:t>xdm</a:t>
            </a:r>
            <a:r>
              <a:rPr lang="es-ES" i="1" dirty="0"/>
              <a:t>/</a:t>
            </a:r>
            <a:r>
              <a:rPr lang="es-ES" i="1" dirty="0" err="1"/>
              <a:t>xdm-config</a:t>
            </a:r>
            <a:r>
              <a:rPr lang="es-ES" dirty="0"/>
              <a:t>.</a:t>
            </a:r>
            <a:endParaRPr lang="es-ES" dirty="0"/>
          </a:p>
          <a:p>
            <a:pPr lvl="1"/>
            <a:r>
              <a:rPr lang="es-ES" dirty="0"/>
              <a:t>Existen diferentes archivos de configuración importantes relacionados con </a:t>
            </a:r>
            <a:r>
              <a:rPr lang="es-ES" b="1" dirty="0" err="1"/>
              <a:t>xdm</a:t>
            </a:r>
            <a:r>
              <a:rPr lang="es-ES" dirty="0"/>
              <a:t>. Cuando ejecutamos </a:t>
            </a:r>
            <a:r>
              <a:rPr lang="es-ES" b="1" dirty="0" err="1"/>
              <a:t>startx</a:t>
            </a:r>
            <a:r>
              <a:rPr lang="es-ES" b="1" dirty="0"/>
              <a:t>* </a:t>
            </a:r>
            <a:r>
              <a:rPr lang="es-ES" dirty="0"/>
              <a:t>este pasa a </a:t>
            </a:r>
            <a:r>
              <a:rPr lang="es-ES" i="1" dirty="0" err="1"/>
              <a:t>xinit</a:t>
            </a:r>
            <a:r>
              <a:rPr lang="es-ES" dirty="0"/>
              <a:t> el </a:t>
            </a:r>
            <a:r>
              <a:rPr lang="es-ES" dirty="0" err="1"/>
              <a:t>shell</a:t>
            </a:r>
            <a:r>
              <a:rPr lang="es-ES" dirty="0"/>
              <a:t> script </a:t>
            </a:r>
            <a:r>
              <a:rPr lang="es-ES" b="1" dirty="0"/>
              <a:t>/</a:t>
            </a:r>
            <a:r>
              <a:rPr lang="es-ES" b="1" dirty="0" err="1"/>
              <a:t>etc</a:t>
            </a:r>
            <a:r>
              <a:rPr lang="es-ES" b="1" dirty="0"/>
              <a:t>/X11/</a:t>
            </a:r>
            <a:r>
              <a:rPr lang="es-ES" b="1" dirty="0" err="1"/>
              <a:t>xinit</a:t>
            </a:r>
            <a:r>
              <a:rPr lang="es-ES" b="1" dirty="0"/>
              <a:t>/</a:t>
            </a:r>
            <a:r>
              <a:rPr lang="es-ES" b="1" dirty="0" err="1"/>
              <a:t>xinitrc</a:t>
            </a:r>
            <a:r>
              <a:rPr lang="es-ES" dirty="0"/>
              <a:t>, en el cual se pueden definir aspectos globales de configuración X,</a:t>
            </a:r>
            <a:endParaRPr lang="es-ES" dirty="0"/>
          </a:p>
          <a:p>
            <a:r>
              <a:rPr lang="es-ES" b="1" dirty="0"/>
              <a:t>KDM</a:t>
            </a:r>
            <a:r>
              <a:rPr lang="es-ES" dirty="0"/>
              <a:t>: Asociado con el proyecto KDE. KDM está basado en XDM por lo que comparte muchas de sus opciones de configuración. La ubicación de los archivos de configuración de KDM es impredecible, en ocasiones utiliza archivos de configuración de XDM (/</a:t>
            </a:r>
            <a:r>
              <a:rPr lang="es-ES" dirty="0" err="1"/>
              <a:t>etc</a:t>
            </a:r>
            <a:r>
              <a:rPr lang="es-ES" dirty="0"/>
              <a:t>/X11/…) y otras se encuentran en ubicaciones extrañas como /</a:t>
            </a:r>
            <a:r>
              <a:rPr lang="es-ES" dirty="0" err="1"/>
              <a:t>etc</a:t>
            </a:r>
            <a:r>
              <a:rPr lang="es-ES" dirty="0"/>
              <a:t>/</a:t>
            </a:r>
            <a:r>
              <a:rPr lang="es-ES" dirty="0" err="1"/>
              <a:t>kde</a:t>
            </a:r>
            <a:r>
              <a:rPr lang="es-ES" dirty="0"/>
              <a:t>//</a:t>
            </a:r>
            <a:r>
              <a:rPr lang="es-ES" dirty="0" err="1"/>
              <a:t>kdm</a:t>
            </a:r>
            <a:r>
              <a:rPr lang="es-ES" dirty="0"/>
              <a:t> o /</a:t>
            </a:r>
            <a:r>
              <a:rPr lang="es-ES" dirty="0" err="1"/>
              <a:t>usr</a:t>
            </a:r>
            <a:r>
              <a:rPr lang="es-ES" dirty="0"/>
              <a:t>/share/kd4/. KDM amplia XDM permitiendo a los usuarios seleccionar un tipo de sesión cuando acceden. La mayoría de estas opciones se encuentran definidas en el archivo </a:t>
            </a:r>
            <a:r>
              <a:rPr lang="es-ES" dirty="0" err="1"/>
              <a:t>kdmrc</a:t>
            </a:r>
            <a:r>
              <a:rPr lang="es-ES" dirty="0"/>
              <a:t>. Este archivo puede encontrarse seccionado con etiquetas como por ejemplo:</a:t>
            </a:r>
            <a:r>
              <a:rPr lang="es-ES" b="1" dirty="0"/>
              <a:t>[General]</a:t>
            </a:r>
            <a:r>
              <a:rPr lang="es-ES" dirty="0"/>
              <a:t>: Contiene las opciones globales como, </a:t>
            </a:r>
            <a:r>
              <a:rPr lang="es-ES" i="1" dirty="0" err="1"/>
              <a:t>ConfigVersión</a:t>
            </a:r>
            <a:r>
              <a:rPr lang="es-ES" dirty="0"/>
              <a:t> (no modificar, limpia las actualizaciones de versión automática), </a:t>
            </a:r>
            <a:r>
              <a:rPr lang="es-ES" i="1" dirty="0" err="1"/>
              <a:t>ConsoleTTYs</a:t>
            </a:r>
            <a:r>
              <a:rPr lang="es-ES" dirty="0"/>
              <a:t> (cuando pasamos al modo consola </a:t>
            </a:r>
            <a:r>
              <a:rPr lang="es-ES" b="1" dirty="0" err="1"/>
              <a:t>kdm</a:t>
            </a:r>
            <a:r>
              <a:rPr lang="es-ES" dirty="0"/>
              <a:t> monitorizará todas las líneas aquí presente), </a:t>
            </a:r>
            <a:r>
              <a:rPr lang="es-ES" i="1" dirty="0" err="1"/>
              <a:t>LockPidFile</a:t>
            </a:r>
            <a:r>
              <a:rPr lang="es-ES" dirty="0"/>
              <a:t> (por defecto en </a:t>
            </a:r>
            <a:r>
              <a:rPr lang="es-ES" i="1" dirty="0"/>
              <a:t>True</a:t>
            </a:r>
            <a:r>
              <a:rPr lang="es-ES" dirty="0"/>
              <a:t>, </a:t>
            </a:r>
            <a:r>
              <a:rPr lang="es-ES" dirty="0" err="1"/>
              <a:t>kdm</a:t>
            </a:r>
            <a:r>
              <a:rPr lang="es-ES" dirty="0"/>
              <a:t> utiliza el bloqueo de archivo para guardar múltiples administradores de pantallas en ejecución).</a:t>
            </a:r>
            <a:r>
              <a:rPr lang="es-ES" b="1" dirty="0"/>
              <a:t>[</a:t>
            </a:r>
            <a:r>
              <a:rPr lang="es-ES" b="1" dirty="0" err="1"/>
              <a:t>Xdmcp</a:t>
            </a:r>
            <a:r>
              <a:rPr lang="es-ES" b="1" dirty="0"/>
              <a:t>]:</a:t>
            </a:r>
            <a:r>
              <a:rPr lang="es-ES" dirty="0"/>
              <a:t>  Aquí se ajustan opciones relacionadas con el trabajo en red. De estar en </a:t>
            </a:r>
            <a:r>
              <a:rPr lang="es-ES" dirty="0" err="1"/>
              <a:t>en</a:t>
            </a:r>
            <a:r>
              <a:rPr lang="es-ES" dirty="0"/>
              <a:t> </a:t>
            </a:r>
            <a:r>
              <a:rPr lang="es-ES" i="1" dirty="0" err="1"/>
              <a:t>Enable</a:t>
            </a:r>
            <a:r>
              <a:rPr lang="es-ES" dirty="0"/>
              <a:t> se escucharán peticiones remotas, </a:t>
            </a:r>
            <a:r>
              <a:rPr lang="es-ES" i="1" dirty="0"/>
              <a:t>Port</a:t>
            </a:r>
            <a:r>
              <a:rPr lang="es-ES" dirty="0"/>
              <a:t> (indica el número de puerto, </a:t>
            </a:r>
            <a:r>
              <a:rPr lang="es-ES" b="1" dirty="0"/>
              <a:t>117</a:t>
            </a:r>
            <a:r>
              <a:rPr lang="es-ES" dirty="0"/>
              <a:t> para </a:t>
            </a:r>
            <a:r>
              <a:rPr lang="es-ES" i="1" dirty="0"/>
              <a:t>XDMCP</a:t>
            </a:r>
            <a:r>
              <a:rPr lang="es-ES" dirty="0"/>
              <a:t>).</a:t>
            </a:r>
            <a:r>
              <a:rPr lang="es-ES" b="1" dirty="0"/>
              <a:t>[</a:t>
            </a:r>
            <a:r>
              <a:rPr lang="es-ES" b="1" dirty="0" err="1"/>
              <a:t>Shutdown</a:t>
            </a:r>
            <a:r>
              <a:rPr lang="es-ES" b="1" dirty="0"/>
              <a:t>]:</a:t>
            </a:r>
            <a:r>
              <a:rPr lang="es-ES" dirty="0"/>
              <a:t> Contiene las opciones globales referentes al apagado del sistema.</a:t>
            </a:r>
            <a:r>
              <a:rPr lang="es-ES" b="1" dirty="0"/>
              <a:t>[X-*-</a:t>
            </a:r>
            <a:r>
              <a:rPr lang="es-ES" b="1" dirty="0" err="1"/>
              <a:t>Greeter</a:t>
            </a:r>
            <a:r>
              <a:rPr lang="es-ES" b="1" dirty="0"/>
              <a:t>]:</a:t>
            </a:r>
            <a:r>
              <a:rPr lang="es-ES" dirty="0"/>
              <a:t> Contiene las opciones relativas a la pantalla de ‘Bienvenida’. </a:t>
            </a:r>
            <a:r>
              <a:rPr lang="es-ES" i="1" dirty="0" err="1"/>
              <a:t>ColorSheme</a:t>
            </a:r>
            <a:r>
              <a:rPr lang="es-ES" dirty="0"/>
              <a:t> (configura el color de la pantalla de Bienvenida), </a:t>
            </a:r>
            <a:r>
              <a:rPr lang="es-ES" i="1" dirty="0" err="1"/>
              <a:t>GreetString</a:t>
            </a:r>
            <a:r>
              <a:rPr lang="es-ES" dirty="0"/>
              <a:t> (cabecera de la pantalla de Bienvenida), </a:t>
            </a:r>
            <a:r>
              <a:rPr lang="es-ES" i="1" dirty="0" err="1"/>
              <a:t>GreetFont</a:t>
            </a:r>
            <a:r>
              <a:rPr lang="es-ES" dirty="0"/>
              <a:t> (la fuente utilizada para la cabecera de Bienvenida), en definitiva, todo lo relacionado con la pantalla de bienvenida.</a:t>
            </a:r>
            <a:endParaRPr lang="es-ES" dirty="0"/>
          </a:p>
          <a:p>
            <a:r>
              <a:rPr lang="es-ES" b="1" dirty="0"/>
              <a:t>GDM</a:t>
            </a:r>
            <a:r>
              <a:rPr lang="es-ES" dirty="0"/>
              <a:t>: Gestor de pantallas de </a:t>
            </a:r>
            <a:r>
              <a:rPr lang="es-ES" i="1" dirty="0"/>
              <a:t>GNOME</a:t>
            </a:r>
            <a:r>
              <a:rPr lang="es-ES" dirty="0"/>
              <a:t>. Se ejecuta en 2º plano, dirige las sesiones de X y el inicio de sesión de usuario. No utiliza ningún código de </a:t>
            </a:r>
            <a:r>
              <a:rPr lang="es-ES" i="1" dirty="0"/>
              <a:t>XDM</a:t>
            </a:r>
            <a:r>
              <a:rPr lang="es-ES" dirty="0"/>
              <a:t> y es compatible con </a:t>
            </a:r>
            <a:r>
              <a:rPr lang="es-ES" i="1" dirty="0"/>
              <a:t>XDMCP</a:t>
            </a:r>
            <a:r>
              <a:rPr lang="es-ES" dirty="0"/>
              <a:t>. Puede ser instalado mediante el paquete </a:t>
            </a:r>
            <a:r>
              <a:rPr lang="es-ES" b="1" dirty="0" err="1"/>
              <a:t>gdm</a:t>
            </a:r>
            <a:r>
              <a:rPr lang="es-ES" dirty="0"/>
              <a:t> de los repositorios oficiales. Deberá de ser activado por </a:t>
            </a:r>
            <a:r>
              <a:rPr lang="es-ES" i="1" dirty="0" err="1"/>
              <a:t>systemd</a:t>
            </a:r>
            <a:r>
              <a:rPr lang="es-ES" i="1" dirty="0"/>
              <a:t>,</a:t>
            </a:r>
            <a:r>
              <a:rPr lang="es-ES" dirty="0"/>
              <a:t> mediante su script de inicio </a:t>
            </a:r>
            <a:r>
              <a:rPr lang="es-ES" dirty="0" err="1"/>
              <a:t>SysV</a:t>
            </a:r>
            <a:r>
              <a:rPr lang="es-ES" dirty="0"/>
              <a:t> o archivo de configuración </a:t>
            </a:r>
            <a:r>
              <a:rPr lang="es-ES" i="1" dirty="0" err="1"/>
              <a:t>Upstar</a:t>
            </a:r>
            <a:r>
              <a:rPr lang="es-ES" dirty="0"/>
              <a:t> (</a:t>
            </a:r>
            <a:r>
              <a:rPr lang="es-ES" i="1" dirty="0"/>
              <a:t>.</a:t>
            </a:r>
            <a:r>
              <a:rPr lang="es-ES" i="1" dirty="0" err="1"/>
              <a:t>conf</a:t>
            </a:r>
            <a:r>
              <a:rPr lang="es-ES" dirty="0"/>
              <a:t>). Desde la versión 2.28 no dispone de su herramienta de configuración ‘</a:t>
            </a:r>
            <a:r>
              <a:rPr lang="es-ES" i="1" dirty="0" err="1"/>
              <a:t>gdmsetup</a:t>
            </a:r>
            <a:r>
              <a:rPr lang="es-ES" dirty="0"/>
              <a:t>‘, debido a que ha sido integrado con el resto de </a:t>
            </a:r>
            <a:r>
              <a:rPr lang="es-ES" i="1" dirty="0"/>
              <a:t>GNOME</a:t>
            </a:r>
            <a:r>
              <a:rPr lang="es-ES" dirty="0"/>
              <a:t>. Su archivo de configuración se encuentra en </a:t>
            </a:r>
            <a:r>
              <a:rPr lang="es-ES" i="1" dirty="0"/>
              <a:t>/</a:t>
            </a:r>
            <a:r>
              <a:rPr lang="es-ES" i="1" dirty="0" err="1"/>
              <a:t>etc</a:t>
            </a:r>
            <a:r>
              <a:rPr lang="es-ES" i="1" dirty="0"/>
              <a:t>/</a:t>
            </a:r>
            <a:r>
              <a:rPr lang="es-ES" i="1" dirty="0" err="1"/>
              <a:t>gdm</a:t>
            </a:r>
            <a:r>
              <a:rPr lang="es-ES" i="1" dirty="0"/>
              <a:t>/</a:t>
            </a:r>
            <a:r>
              <a:rPr lang="es-ES" i="1" dirty="0" err="1"/>
              <a:t>custom.conf</a:t>
            </a:r>
            <a:r>
              <a:rPr lang="es-ES" dirty="0"/>
              <a:t> en el que podremos efectuar cambios como iniciar sesión automáticamente, iniciar sin contraseña, cerrar sin contraseña, cambiar la sesión predeterminada de inicio… Se encuentra seccionado como el de </a:t>
            </a:r>
            <a:r>
              <a:rPr lang="es-ES" dirty="0" err="1"/>
              <a:t>kdm</a:t>
            </a:r>
            <a:r>
              <a:rPr lang="es-ES" dirty="0"/>
              <a:t>.</a:t>
            </a:r>
            <a:endParaRPr lang="es-ES" dirty="0"/>
          </a:p>
          <a:p>
            <a:pPr marL="201295" lvl="1" indent="0">
              <a:buNone/>
            </a:pPr>
            <a:br>
              <a:rPr lang="es-ES" sz="1800" dirty="0"/>
            </a:br>
            <a:endParaRPr lang="es-ES" b="1"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854765"/>
            <a:ext cx="10058400" cy="882595"/>
          </a:xfrm>
        </p:spPr>
        <p:txBody>
          <a:bodyPr/>
          <a:lstStyle/>
          <a:p>
            <a:r>
              <a:rPr lang="es-ES" dirty="0"/>
              <a:t>Ventanas X, localización e impresión</a:t>
            </a:r>
            <a:endParaRPr lang="es-ES" dirty="0"/>
          </a:p>
        </p:txBody>
      </p:sp>
      <p:sp>
        <p:nvSpPr>
          <p:cNvPr id="3" name="Marcador de contenido 2"/>
          <p:cNvSpPr>
            <a:spLocks noGrp="1"/>
          </p:cNvSpPr>
          <p:nvPr>
            <p:ph idx="1"/>
          </p:nvPr>
        </p:nvSpPr>
        <p:spPr>
          <a:xfrm>
            <a:off x="1144749" y="1869662"/>
            <a:ext cx="10058400" cy="4446078"/>
          </a:xfrm>
        </p:spPr>
        <p:txBody>
          <a:bodyPr>
            <a:normAutofit fontScale="55000" lnSpcReduction="20000"/>
          </a:bodyPr>
          <a:lstStyle/>
          <a:p>
            <a:r>
              <a:rPr lang="es-ES" sz="2500" b="1" dirty="0"/>
              <a:t>AJUSTAR LA HORA Y LA CONFIGURACIÓN LOCAL</a:t>
            </a:r>
            <a:endParaRPr lang="es-ES" sz="2500" b="1" dirty="0"/>
          </a:p>
          <a:p>
            <a:r>
              <a:rPr lang="es-ES" b="1" dirty="0"/>
              <a:t>Definir su zona horaria</a:t>
            </a:r>
            <a:endParaRPr lang="es-ES" b="1" dirty="0"/>
          </a:p>
          <a:p>
            <a:r>
              <a:rPr lang="es-ES" dirty="0"/>
              <a:t>Cuando nos comunicamos con otros ordenadores es aconsejable la definición de la zona horaria en cada equipo o incluso en cada sesión de cada equipo para ‘</a:t>
            </a:r>
            <a:r>
              <a:rPr lang="es-ES" i="1" dirty="0"/>
              <a:t>situarnos</a:t>
            </a:r>
            <a:r>
              <a:rPr lang="es-ES" dirty="0"/>
              <a:t>‘ mejor en el ambiente de trabajo, por ejemplo cuando estamos trabajando sobre un servidor localizado en Chicago y nosotros nos encontramos en nuestra oficina de España, podría resultar cómodo ver la hora en nuestro sistema y posteriormente en el servidor y comprobar que estamos bajo la misma franja horaria, es mas, será conveniente incluso utilizar la hora </a:t>
            </a:r>
            <a:r>
              <a:rPr lang="es-ES" b="1" dirty="0"/>
              <a:t>UTC</a:t>
            </a:r>
            <a:r>
              <a:rPr lang="es-ES" dirty="0"/>
              <a:t>, ya que es la utilizada para las marcas de tiempo en los nuevos archivos y directorios. De este modo se establecerán correctamente las marcas horarias de sus archivos y evitaremos extraños problemas temporales al intercambiar datos con estos servidores.</a:t>
            </a:r>
            <a:endParaRPr lang="es-ES" dirty="0"/>
          </a:p>
          <a:p>
            <a:r>
              <a:rPr lang="es-ES" b="1" u="sng" dirty="0"/>
              <a:t>¿De donde surge el </a:t>
            </a:r>
            <a:r>
              <a:rPr lang="es-ES" b="1" u="sng" dirty="0" err="1"/>
              <a:t>estandar</a:t>
            </a:r>
            <a:r>
              <a:rPr lang="es-ES" b="1" u="sng" dirty="0"/>
              <a:t> UTC?</a:t>
            </a:r>
            <a:endParaRPr lang="es-ES" b="1" dirty="0"/>
          </a:p>
          <a:p>
            <a:r>
              <a:rPr lang="es-ES" dirty="0"/>
              <a:t>Cuando la comunicación entre distintos puntos distantes de la tierra se hizo algo elemental y necesario, apareció la necesidad de tener una hora común, por lo que se definió un estándar mundial de medición horaria. Este estándar se llama hora universal UT o </a:t>
            </a:r>
            <a:r>
              <a:rPr lang="es-ES" b="1" dirty="0"/>
              <a:t>UTC</a:t>
            </a:r>
            <a:r>
              <a:rPr lang="es-ES" dirty="0"/>
              <a:t> (</a:t>
            </a:r>
            <a:r>
              <a:rPr lang="es-ES" i="1" dirty="0" err="1"/>
              <a:t>Coordinated</a:t>
            </a:r>
            <a:r>
              <a:rPr lang="es-ES" i="1" dirty="0"/>
              <a:t> Universal Time</a:t>
            </a:r>
            <a:r>
              <a:rPr lang="es-ES" dirty="0"/>
              <a:t>) formalmente conocido como ‘</a:t>
            </a:r>
            <a:r>
              <a:rPr lang="es-ES" i="1" dirty="0"/>
              <a:t>Greenwich Mean Time</a:t>
            </a:r>
            <a:r>
              <a:rPr lang="es-ES" dirty="0"/>
              <a:t>‘ o </a:t>
            </a:r>
            <a:r>
              <a:rPr lang="es-ES" b="1" dirty="0"/>
              <a:t>GMT</a:t>
            </a:r>
            <a:r>
              <a:rPr lang="es-ES" dirty="0"/>
              <a:t>, debido a que se utiliza como hora local en </a:t>
            </a:r>
            <a:r>
              <a:rPr lang="es-ES" i="1" dirty="0" err="1"/>
              <a:t>Greenwich</a:t>
            </a:r>
            <a:r>
              <a:rPr lang="es-ES" dirty="0" err="1"/>
              <a:t>,Inglaterra</a:t>
            </a:r>
            <a:r>
              <a:rPr lang="es-ES" dirty="0"/>
              <a:t>. Cuando personas con diferentes horas locales necesitan comunicarse, pueden expresar el tiempo en hora universal, para que no exista confusión acerca de cuando deben suceder las cosas.</a:t>
            </a:r>
            <a:endParaRPr lang="es-ES" dirty="0"/>
          </a:p>
          <a:p>
            <a:r>
              <a:rPr lang="es-ES" b="1" u="sng" dirty="0"/>
              <a:t>¿Porque existe el horario local o ‘time </a:t>
            </a:r>
            <a:r>
              <a:rPr lang="es-ES" b="1" u="sng" dirty="0" err="1"/>
              <a:t>zone</a:t>
            </a:r>
            <a:r>
              <a:rPr lang="es-ES" b="1" u="sng" dirty="0"/>
              <a:t>’?</a:t>
            </a:r>
            <a:endParaRPr lang="es-ES" b="1" dirty="0"/>
          </a:p>
          <a:p>
            <a:r>
              <a:rPr lang="es-ES" dirty="0"/>
              <a:t>El mediodía es el momento del día en el cual el Sol se encuentra en la posición más alta debido a la rotación de la Tierra. El momento del mediodía sucede en diferentes momentos en diferentes lugares. Esto nos conduce al concepto de hora local. Existen 24 zonas horarias en el planeta.</a:t>
            </a:r>
            <a:br>
              <a:rPr lang="es-ES" dirty="0"/>
            </a:br>
            <a:r>
              <a:rPr lang="es-ES" dirty="0"/>
              <a:t>Es posible pensar que todos los lugares en donde el mediodía sucede en el mismo momento tienen la misma zona horaria, políticamente no siempre esto es posible. Por diversas razones, varios países adoptan el “horario de verano” (</a:t>
            </a:r>
            <a:r>
              <a:rPr lang="es-ES" i="1" dirty="0" err="1"/>
              <a:t>daylight</a:t>
            </a:r>
            <a:r>
              <a:rPr lang="es-ES" i="1" dirty="0"/>
              <a:t> </a:t>
            </a:r>
            <a:r>
              <a:rPr lang="es-ES" i="1" dirty="0" err="1"/>
              <a:t>savings</a:t>
            </a:r>
            <a:r>
              <a:rPr lang="es-ES" i="1" dirty="0"/>
              <a:t> time</a:t>
            </a:r>
            <a:r>
              <a:rPr lang="es-ES" dirty="0"/>
              <a:t>) para atender las demandas económicas.</a:t>
            </a:r>
            <a:endParaRPr lang="es-ES" dirty="0"/>
          </a:p>
          <a:p>
            <a:r>
              <a:rPr lang="es-ES" dirty="0"/>
              <a:t>Linux tiene un paquete de zonas horarias que reconoce todas las zonas horarias existentes, y puede ser fácilmente actualizado cuando las reglas cambian. Todos los usuarios pueden seleccionar la zona horaria apropiada.</a:t>
            </a:r>
            <a:endParaRPr lang="es-ES" dirty="0"/>
          </a:p>
          <a:p>
            <a:pPr marL="201295" lvl="1" indent="0">
              <a:buNone/>
            </a:pPr>
            <a:endParaRPr lang="es-ES" b="1"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854765"/>
            <a:ext cx="10058400" cy="882595"/>
          </a:xfrm>
        </p:spPr>
        <p:txBody>
          <a:bodyPr/>
          <a:lstStyle/>
          <a:p>
            <a:r>
              <a:rPr lang="es-ES" dirty="0"/>
              <a:t>Ventanas X, localización e impresión</a:t>
            </a:r>
            <a:endParaRPr lang="es-ES" dirty="0"/>
          </a:p>
        </p:txBody>
      </p:sp>
      <p:sp>
        <p:nvSpPr>
          <p:cNvPr id="3" name="Marcador de contenido 2"/>
          <p:cNvSpPr>
            <a:spLocks noGrp="1"/>
          </p:cNvSpPr>
          <p:nvPr>
            <p:ph idx="1"/>
          </p:nvPr>
        </p:nvSpPr>
        <p:spPr>
          <a:xfrm>
            <a:off x="1097280" y="1902220"/>
            <a:ext cx="10058400" cy="4254691"/>
          </a:xfrm>
        </p:spPr>
        <p:txBody>
          <a:bodyPr>
            <a:normAutofit fontScale="70000" lnSpcReduction="20000"/>
          </a:bodyPr>
          <a:lstStyle/>
          <a:p>
            <a:r>
              <a:rPr lang="es-ES" sz="2500" b="1" dirty="0"/>
              <a:t>AJUSTAR LA HORA Y LA CONFIGURACIÓN LOCAL</a:t>
            </a:r>
            <a:endParaRPr lang="es-ES" sz="2500" b="1" dirty="0"/>
          </a:p>
          <a:p>
            <a:r>
              <a:rPr lang="es-ES" b="1" dirty="0"/>
              <a:t>Reloj de Hardware y reloj de Software</a:t>
            </a:r>
            <a:endParaRPr lang="es-ES" b="1" dirty="0"/>
          </a:p>
          <a:p>
            <a:r>
              <a:rPr lang="es-ES" dirty="0"/>
              <a:t>Una computadora tiene un </a:t>
            </a:r>
            <a:r>
              <a:rPr lang="es-ES" i="1" dirty="0"/>
              <a:t>reloj de hardware</a:t>
            </a:r>
            <a:r>
              <a:rPr lang="es-ES" dirty="0"/>
              <a:t> alimentado por una batería y que puede ser configurado directamente desde su </a:t>
            </a:r>
            <a:r>
              <a:rPr lang="es-ES" i="1" dirty="0"/>
              <a:t>BIOS</a:t>
            </a:r>
            <a:r>
              <a:rPr lang="es-ES" dirty="0"/>
              <a:t> o </a:t>
            </a:r>
            <a:r>
              <a:rPr lang="es-ES" i="1" dirty="0"/>
              <a:t>UEFI</a:t>
            </a:r>
            <a:r>
              <a:rPr lang="es-ES" dirty="0"/>
              <a:t>. La batería asegura que el reloj siga funcionando incluso cuando la computadora se encuentra sin suministro eléctrico. Este reloj suele configurarse con la hora </a:t>
            </a:r>
            <a:r>
              <a:rPr lang="es-ES" i="1" dirty="0"/>
              <a:t>UTC</a:t>
            </a:r>
            <a:r>
              <a:rPr lang="es-ES" dirty="0"/>
              <a:t>.</a:t>
            </a:r>
            <a:endParaRPr lang="es-ES" dirty="0"/>
          </a:p>
          <a:p>
            <a:r>
              <a:rPr lang="es-ES" dirty="0"/>
              <a:t>Por otra parte el </a:t>
            </a:r>
            <a:r>
              <a:rPr lang="es-ES" dirty="0" err="1"/>
              <a:t>kernel</a:t>
            </a:r>
            <a:r>
              <a:rPr lang="es-ES" dirty="0"/>
              <a:t> de Linux mantiene la fecha y hora de manera independiente al reloj de hardware, ya que acceder continuamente al reloj de hardware es lento y complicado. Durante el arranque, el </a:t>
            </a:r>
            <a:r>
              <a:rPr lang="es-ES" dirty="0" err="1"/>
              <a:t>kernel</a:t>
            </a:r>
            <a:r>
              <a:rPr lang="es-ES" dirty="0"/>
              <a:t> de Linux fija su hora basándose en la hora </a:t>
            </a:r>
            <a:r>
              <a:rPr lang="es-ES" i="1" dirty="0"/>
              <a:t>UTC</a:t>
            </a:r>
            <a:r>
              <a:rPr lang="es-ES" dirty="0"/>
              <a:t> del hardware, de manera que </a:t>
            </a:r>
            <a:r>
              <a:rPr lang="es-ES" i="1" dirty="0"/>
              <a:t>Linux</a:t>
            </a:r>
            <a:r>
              <a:rPr lang="es-ES" dirty="0"/>
              <a:t> posteriormente pueda aplicar sobre esta, el horario de verano o </a:t>
            </a:r>
            <a:r>
              <a:rPr lang="es-ES" b="1" dirty="0"/>
              <a:t>DST</a:t>
            </a:r>
            <a:r>
              <a:rPr lang="es-ES" dirty="0"/>
              <a:t> (</a:t>
            </a:r>
            <a:r>
              <a:rPr lang="es-ES" i="1" dirty="0" err="1"/>
              <a:t>Daylight</a:t>
            </a:r>
            <a:r>
              <a:rPr lang="es-ES" i="1" dirty="0"/>
              <a:t> </a:t>
            </a:r>
            <a:r>
              <a:rPr lang="es-ES" i="1" dirty="0" err="1"/>
              <a:t>Savings</a:t>
            </a:r>
            <a:r>
              <a:rPr lang="es-ES" i="1" dirty="0"/>
              <a:t> Time</a:t>
            </a:r>
            <a:r>
              <a:rPr lang="es-ES" dirty="0"/>
              <a:t>) y configurar así su hora local o </a:t>
            </a:r>
            <a:r>
              <a:rPr lang="es-ES" i="1" dirty="0" err="1"/>
              <a:t>zone</a:t>
            </a:r>
            <a:r>
              <a:rPr lang="es-ES" i="1" dirty="0"/>
              <a:t> time</a:t>
            </a:r>
            <a:r>
              <a:rPr lang="es-ES" dirty="0"/>
              <a:t>.</a:t>
            </a:r>
            <a:endParaRPr lang="es-ES" dirty="0"/>
          </a:p>
          <a:p>
            <a:r>
              <a:rPr lang="es-ES" b="1" dirty="0"/>
              <a:t>Configurar y visualizar la hora en un equipo Linux</a:t>
            </a:r>
            <a:endParaRPr lang="es-ES" b="1" dirty="0"/>
          </a:p>
          <a:p>
            <a:r>
              <a:rPr lang="es-ES" dirty="0"/>
              <a:t>En Linux, la zona horaria del sistema es determinada por </a:t>
            </a:r>
            <a:r>
              <a:rPr lang="es-ES" i="1" dirty="0"/>
              <a:t>/</a:t>
            </a:r>
            <a:r>
              <a:rPr lang="es-ES" i="1" dirty="0" err="1"/>
              <a:t>etc</a:t>
            </a:r>
            <a:r>
              <a:rPr lang="es-ES" i="1" dirty="0"/>
              <a:t>/</a:t>
            </a:r>
            <a:r>
              <a:rPr lang="es-ES" i="1" dirty="0" err="1"/>
              <a:t>localtime</a:t>
            </a:r>
            <a:r>
              <a:rPr lang="es-ES" dirty="0"/>
              <a:t>, que en ocasiones es un enlace simbólico que apunta a un archivo de datos de zona horaria que describe la zona horaria local. Los archivos de datos de zonas horarias están ubicados bajo el directorio </a:t>
            </a:r>
            <a:r>
              <a:rPr lang="es-ES" i="1" dirty="0"/>
              <a:t>/</a:t>
            </a:r>
            <a:r>
              <a:rPr lang="es-ES" i="1" dirty="0" err="1"/>
              <a:t>usr</a:t>
            </a:r>
            <a:r>
              <a:rPr lang="es-ES" i="1" dirty="0"/>
              <a:t>/</a:t>
            </a:r>
            <a:r>
              <a:rPr lang="es-ES" i="1" dirty="0" err="1"/>
              <a:t>lib</a:t>
            </a:r>
            <a:r>
              <a:rPr lang="es-ES" i="1" dirty="0"/>
              <a:t>/</a:t>
            </a:r>
            <a:r>
              <a:rPr lang="es-ES" i="1" dirty="0" err="1"/>
              <a:t>zoneinfo</a:t>
            </a:r>
            <a:r>
              <a:rPr lang="es-ES" dirty="0"/>
              <a:t> o </a:t>
            </a:r>
            <a:r>
              <a:rPr lang="es-ES" i="1" dirty="0"/>
              <a:t>/</a:t>
            </a:r>
            <a:r>
              <a:rPr lang="es-ES" i="1" dirty="0" err="1"/>
              <a:t>usr</a:t>
            </a:r>
            <a:r>
              <a:rPr lang="es-ES" i="1" dirty="0"/>
              <a:t>/share/</a:t>
            </a:r>
            <a:r>
              <a:rPr lang="es-ES" i="1" dirty="0" err="1"/>
              <a:t>zoneinfo</a:t>
            </a:r>
            <a:r>
              <a:rPr lang="es-ES" dirty="0"/>
              <a:t>. Para cambiar la zona horaria, vale con enlazar </a:t>
            </a:r>
            <a:r>
              <a:rPr lang="es-ES" i="1" dirty="0"/>
              <a:t>/</a:t>
            </a:r>
            <a:r>
              <a:rPr lang="es-ES" i="1" dirty="0" err="1"/>
              <a:t>etc</a:t>
            </a:r>
            <a:r>
              <a:rPr lang="es-ES" i="1" dirty="0"/>
              <a:t>/</a:t>
            </a:r>
            <a:r>
              <a:rPr lang="es-ES" i="1" dirty="0" err="1"/>
              <a:t>localtime</a:t>
            </a:r>
            <a:r>
              <a:rPr lang="es-ES" dirty="0"/>
              <a:t> y el archivo de configuración </a:t>
            </a:r>
            <a:r>
              <a:rPr lang="es-ES" i="1" dirty="0"/>
              <a:t>/</a:t>
            </a:r>
            <a:r>
              <a:rPr lang="es-ES" i="1" dirty="0" err="1"/>
              <a:t>usr</a:t>
            </a:r>
            <a:r>
              <a:rPr lang="es-ES" i="1" dirty="0"/>
              <a:t>/share/</a:t>
            </a:r>
            <a:r>
              <a:rPr lang="es-ES" i="1" dirty="0" err="1"/>
              <a:t>zoneinfo</a:t>
            </a:r>
            <a:r>
              <a:rPr lang="es-ES" i="1" dirty="0"/>
              <a:t>/UE/</a:t>
            </a:r>
            <a:r>
              <a:rPr lang="es-ES" i="1" dirty="0" err="1"/>
              <a:t>Amsterdam</a:t>
            </a:r>
            <a:r>
              <a:rPr lang="es-ES" dirty="0"/>
              <a:t> (por ejemplo) o </a:t>
            </a:r>
            <a:r>
              <a:rPr lang="es-ES" i="1" dirty="0"/>
              <a:t>/</a:t>
            </a:r>
            <a:r>
              <a:rPr lang="es-ES" i="1" dirty="0" err="1"/>
              <a:t>usr</a:t>
            </a:r>
            <a:r>
              <a:rPr lang="es-ES" i="1" dirty="0"/>
              <a:t>/</a:t>
            </a:r>
            <a:r>
              <a:rPr lang="es-ES" i="1" dirty="0" err="1"/>
              <a:t>lib</a:t>
            </a:r>
            <a:r>
              <a:rPr lang="es-ES" i="1" dirty="0"/>
              <a:t>/</a:t>
            </a:r>
            <a:r>
              <a:rPr lang="es-ES" i="1" dirty="0" err="1"/>
              <a:t>zoneinfo</a:t>
            </a:r>
            <a:r>
              <a:rPr lang="es-ES" i="1" dirty="0"/>
              <a:t>/UE/</a:t>
            </a:r>
            <a:r>
              <a:rPr lang="es-ES" i="1" dirty="0" err="1"/>
              <a:t>Amsterdam</a:t>
            </a:r>
            <a:r>
              <a:rPr lang="es-ES" dirty="0"/>
              <a:t>.</a:t>
            </a:r>
            <a:endParaRPr lang="es-ES" dirty="0"/>
          </a:p>
          <a:p>
            <a:endParaRPr lang="es-ES" dirty="0"/>
          </a:p>
          <a:p>
            <a:endParaRPr lang="es-ES" dirty="0"/>
          </a:p>
          <a:p>
            <a:pPr marL="201295" lvl="1" indent="0">
              <a:buNone/>
            </a:pPr>
            <a:endParaRPr lang="es-ES" b="1" dirty="0"/>
          </a:p>
        </p:txBody>
      </p:sp>
      <p:sp>
        <p:nvSpPr>
          <p:cNvPr id="7" name="Rectangle 3"/>
          <p:cNvSpPr>
            <a:spLocks noChangeArrowheads="1"/>
          </p:cNvSpPr>
          <p:nvPr/>
        </p:nvSpPr>
        <p:spPr bwMode="auto">
          <a:xfrm>
            <a:off x="1235503" y="5650983"/>
            <a:ext cx="4006348" cy="261610"/>
          </a:xfrm>
          <a:prstGeom prst="rect">
            <a:avLst/>
          </a:prstGeom>
          <a:solidFill>
            <a:srgbClr val="F1F1F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s-ES" altLang="es-ES" sz="1000" b="0" i="0" u="none" strike="noStrike" cap="none" normalizeH="0" baseline="0" dirty="0">
                <a:ln>
                  <a:noFill/>
                </a:ln>
                <a:solidFill>
                  <a:srgbClr val="333333"/>
                </a:solidFill>
                <a:effectLst/>
                <a:latin typeface="Courier New" panose="02070309020205020404" pitchFamily="49" charset="0"/>
                <a:cs typeface="Courier New" panose="02070309020205020404" pitchFamily="49" charset="0"/>
              </a:rPr>
              <a:t>$sudo </a:t>
            </a:r>
            <a:r>
              <a:rPr kumimoji="0" lang="es-ES" altLang="es-ES" sz="1000" b="0" i="0" u="none" strike="noStrike" cap="none" normalizeH="0" baseline="0" dirty="0" err="1">
                <a:ln>
                  <a:noFill/>
                </a:ln>
                <a:solidFill>
                  <a:srgbClr val="333333"/>
                </a:solidFill>
                <a:effectLst/>
                <a:latin typeface="Courier New" panose="02070309020205020404" pitchFamily="49" charset="0"/>
                <a:cs typeface="Courier New" panose="02070309020205020404" pitchFamily="49" charset="0"/>
              </a:rPr>
              <a:t>mv</a:t>
            </a:r>
            <a:r>
              <a:rPr kumimoji="0" lang="es-ES" altLang="es-ES" sz="1000" b="0" i="0" u="none" strike="noStrike" cap="none" normalizeH="0" baseline="0" dirty="0">
                <a:ln>
                  <a:noFill/>
                </a:ln>
                <a:solidFill>
                  <a:srgbClr val="333333"/>
                </a:solidFill>
                <a:effectLst/>
                <a:latin typeface="Courier New" panose="02070309020205020404" pitchFamily="49" charset="0"/>
                <a:cs typeface="Courier New" panose="02070309020205020404" pitchFamily="49" charset="0"/>
              </a:rPr>
              <a:t> /</a:t>
            </a:r>
            <a:r>
              <a:rPr kumimoji="0" lang="es-ES" altLang="es-ES" sz="1000" b="0" i="0" u="none" strike="noStrike" cap="none" normalizeH="0" baseline="0" dirty="0" err="1">
                <a:ln>
                  <a:noFill/>
                </a:ln>
                <a:solidFill>
                  <a:srgbClr val="333333"/>
                </a:solidFill>
                <a:effectLst/>
                <a:latin typeface="Courier New" panose="02070309020205020404" pitchFamily="49" charset="0"/>
                <a:cs typeface="Courier New" panose="02070309020205020404" pitchFamily="49" charset="0"/>
              </a:rPr>
              <a:t>etc</a:t>
            </a:r>
            <a:r>
              <a:rPr kumimoji="0" lang="es-ES" altLang="es-ES" sz="1000" b="0" i="0" u="none" strike="noStrike" cap="none" normalizeH="0" baseline="0" dirty="0">
                <a:ln>
                  <a:noFill/>
                </a:ln>
                <a:solidFill>
                  <a:srgbClr val="333333"/>
                </a:solidFill>
                <a:effectLst/>
                <a:latin typeface="Courier New" panose="02070309020205020404" pitchFamily="49" charset="0"/>
                <a:cs typeface="Courier New" panose="02070309020205020404" pitchFamily="49" charset="0"/>
              </a:rPr>
              <a:t>/</a:t>
            </a:r>
            <a:r>
              <a:rPr kumimoji="0" lang="es-ES" altLang="es-ES" sz="1000" b="0" i="0" u="none" strike="noStrike" cap="none" normalizeH="0" baseline="0" dirty="0" err="1">
                <a:ln>
                  <a:noFill/>
                </a:ln>
                <a:solidFill>
                  <a:srgbClr val="333333"/>
                </a:solidFill>
                <a:effectLst/>
                <a:latin typeface="Courier New" panose="02070309020205020404" pitchFamily="49" charset="0"/>
                <a:cs typeface="Courier New" panose="02070309020205020404" pitchFamily="49" charset="0"/>
              </a:rPr>
              <a:t>localtime</a:t>
            </a:r>
            <a:r>
              <a:rPr kumimoji="0" lang="es-ES" altLang="es-ES" sz="1000" b="0" i="0" u="none" strike="noStrike" cap="none" normalizeH="0" baseline="0" dirty="0">
                <a:ln>
                  <a:noFill/>
                </a:ln>
                <a:solidFill>
                  <a:srgbClr val="333333"/>
                </a:solidFill>
                <a:effectLst/>
                <a:latin typeface="Courier New" panose="02070309020205020404" pitchFamily="49" charset="0"/>
                <a:cs typeface="Courier New" panose="02070309020205020404" pitchFamily="49" charset="0"/>
              </a:rPr>
              <a:t> /</a:t>
            </a:r>
            <a:r>
              <a:rPr kumimoji="0" lang="es-ES" altLang="es-ES" sz="1000" b="0" i="0" u="none" strike="noStrike" cap="none" normalizeH="0" baseline="0" dirty="0" err="1">
                <a:ln>
                  <a:noFill/>
                </a:ln>
                <a:solidFill>
                  <a:srgbClr val="333333"/>
                </a:solidFill>
                <a:effectLst/>
                <a:latin typeface="Courier New" panose="02070309020205020404" pitchFamily="49" charset="0"/>
                <a:cs typeface="Courier New" panose="02070309020205020404" pitchFamily="49" charset="0"/>
              </a:rPr>
              <a:t>etc</a:t>
            </a:r>
            <a:r>
              <a:rPr kumimoji="0" lang="es-ES" altLang="es-ES" sz="1000" b="0" i="0" u="none" strike="noStrike" cap="none" normalizeH="0" baseline="0" dirty="0">
                <a:ln>
                  <a:noFill/>
                </a:ln>
                <a:solidFill>
                  <a:srgbClr val="333333"/>
                </a:solidFill>
                <a:effectLst/>
                <a:latin typeface="Courier New" panose="02070309020205020404" pitchFamily="49" charset="0"/>
                <a:cs typeface="Courier New" panose="02070309020205020404" pitchFamily="49" charset="0"/>
              </a:rPr>
              <a:t>/</a:t>
            </a:r>
            <a:r>
              <a:rPr kumimoji="0" lang="es-ES" altLang="es-ES" sz="1000" b="0" i="0" u="none" strike="noStrike" cap="none" normalizeH="0" baseline="0" dirty="0" err="1">
                <a:ln>
                  <a:noFill/>
                </a:ln>
                <a:solidFill>
                  <a:srgbClr val="333333"/>
                </a:solidFill>
                <a:effectLst/>
                <a:latin typeface="Courier New" panose="02070309020205020404" pitchFamily="49" charset="0"/>
                <a:cs typeface="Courier New" panose="02070309020205020404" pitchFamily="49" charset="0"/>
              </a:rPr>
              <a:t>localtime.original</a:t>
            </a:r>
            <a:r>
              <a:rPr kumimoji="0" lang="es-ES" altLang="es-ES" sz="1100" b="0" i="0" u="none" strike="noStrike" cap="none" normalizeH="0" baseline="0" dirty="0">
                <a:ln>
                  <a:noFill/>
                </a:ln>
                <a:solidFill>
                  <a:schemeClr val="tx1"/>
                </a:solidFill>
                <a:effectLst/>
              </a:rPr>
              <a:t> </a:t>
            </a: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10" name="Rectangle 6"/>
          <p:cNvSpPr>
            <a:spLocks noChangeArrowheads="1"/>
          </p:cNvSpPr>
          <p:nvPr/>
        </p:nvSpPr>
        <p:spPr bwMode="auto">
          <a:xfrm>
            <a:off x="5454500" y="5650938"/>
            <a:ext cx="5050467" cy="261610"/>
          </a:xfrm>
          <a:prstGeom prst="rect">
            <a:avLst/>
          </a:prstGeom>
          <a:solidFill>
            <a:srgbClr val="F1F1F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s-ES" altLang="es-ES" sz="1000" b="0" i="0" u="none" strike="noStrike" cap="none" normalizeH="0" baseline="0" dirty="0">
                <a:ln>
                  <a:noFill/>
                </a:ln>
                <a:solidFill>
                  <a:srgbClr val="333333"/>
                </a:solidFill>
                <a:effectLst/>
                <a:latin typeface="Courier New" panose="02070309020205020404" pitchFamily="49" charset="0"/>
                <a:cs typeface="Courier New" panose="02070309020205020404" pitchFamily="49" charset="0"/>
              </a:rPr>
              <a:t>$sudo </a:t>
            </a:r>
            <a:r>
              <a:rPr kumimoji="0" lang="es-ES" altLang="es-ES" sz="1000" b="0" i="0" u="none" strike="noStrike" cap="none" normalizeH="0" baseline="0" dirty="0" err="1">
                <a:ln>
                  <a:noFill/>
                </a:ln>
                <a:solidFill>
                  <a:srgbClr val="333333"/>
                </a:solidFill>
                <a:effectLst/>
                <a:latin typeface="Courier New" panose="02070309020205020404" pitchFamily="49" charset="0"/>
                <a:cs typeface="Courier New" panose="02070309020205020404" pitchFamily="49" charset="0"/>
              </a:rPr>
              <a:t>ln</a:t>
            </a:r>
            <a:r>
              <a:rPr kumimoji="0" lang="es-ES" altLang="es-ES" sz="1000" b="0" i="0" u="none" strike="noStrike" cap="none" normalizeH="0" baseline="0" dirty="0">
                <a:ln>
                  <a:noFill/>
                </a:ln>
                <a:solidFill>
                  <a:srgbClr val="333333"/>
                </a:solidFill>
                <a:effectLst/>
                <a:latin typeface="Courier New" panose="02070309020205020404" pitchFamily="49" charset="0"/>
                <a:cs typeface="Courier New" panose="02070309020205020404" pitchFamily="49" charset="0"/>
              </a:rPr>
              <a:t> -s /</a:t>
            </a:r>
            <a:r>
              <a:rPr kumimoji="0" lang="es-ES" altLang="es-ES" sz="1000" b="0" i="0" u="none" strike="noStrike" cap="none" normalizeH="0" baseline="0" dirty="0" err="1">
                <a:ln>
                  <a:noFill/>
                </a:ln>
                <a:solidFill>
                  <a:srgbClr val="333333"/>
                </a:solidFill>
                <a:effectLst/>
                <a:latin typeface="Courier New" panose="02070309020205020404" pitchFamily="49" charset="0"/>
                <a:cs typeface="Courier New" panose="02070309020205020404" pitchFamily="49" charset="0"/>
              </a:rPr>
              <a:t>usr</a:t>
            </a:r>
            <a:r>
              <a:rPr kumimoji="0" lang="es-ES" altLang="es-ES" sz="1000" b="0" i="0" u="none" strike="noStrike" cap="none" normalizeH="0" baseline="0" dirty="0">
                <a:ln>
                  <a:noFill/>
                </a:ln>
                <a:solidFill>
                  <a:srgbClr val="333333"/>
                </a:solidFill>
                <a:effectLst/>
                <a:latin typeface="Courier New" panose="02070309020205020404" pitchFamily="49" charset="0"/>
                <a:cs typeface="Courier New" panose="02070309020205020404" pitchFamily="49" charset="0"/>
              </a:rPr>
              <a:t>/share/</a:t>
            </a:r>
            <a:r>
              <a:rPr kumimoji="0" lang="es-ES" altLang="es-ES" sz="1000" b="0" i="0" u="none" strike="noStrike" cap="none" normalizeH="0" baseline="0" dirty="0" err="1">
                <a:ln>
                  <a:noFill/>
                </a:ln>
                <a:solidFill>
                  <a:srgbClr val="333333"/>
                </a:solidFill>
                <a:effectLst/>
                <a:latin typeface="Courier New" panose="02070309020205020404" pitchFamily="49" charset="0"/>
                <a:cs typeface="Courier New" panose="02070309020205020404" pitchFamily="49" charset="0"/>
              </a:rPr>
              <a:t>zoneinfo</a:t>
            </a:r>
            <a:r>
              <a:rPr kumimoji="0" lang="es-ES" altLang="es-ES" sz="1000" b="0" i="0" u="none" strike="noStrike" cap="none" normalizeH="0" baseline="0" dirty="0">
                <a:ln>
                  <a:noFill/>
                </a:ln>
                <a:solidFill>
                  <a:srgbClr val="333333"/>
                </a:solidFill>
                <a:effectLst/>
                <a:latin typeface="Courier New" panose="02070309020205020404" pitchFamily="49" charset="0"/>
                <a:cs typeface="Courier New" panose="02070309020205020404" pitchFamily="49" charset="0"/>
              </a:rPr>
              <a:t>/UE/</a:t>
            </a:r>
            <a:r>
              <a:rPr kumimoji="0" lang="es-ES" altLang="es-ES" sz="1000" b="0" i="0" u="none" strike="noStrike" cap="none" normalizeH="0" baseline="0" dirty="0" err="1">
                <a:ln>
                  <a:noFill/>
                </a:ln>
                <a:solidFill>
                  <a:srgbClr val="333333"/>
                </a:solidFill>
                <a:effectLst/>
                <a:latin typeface="Courier New" panose="02070309020205020404" pitchFamily="49" charset="0"/>
                <a:cs typeface="Courier New" panose="02070309020205020404" pitchFamily="49" charset="0"/>
              </a:rPr>
              <a:t>Amsterdam</a:t>
            </a:r>
            <a:r>
              <a:rPr kumimoji="0" lang="es-ES" altLang="es-ES" sz="1000" b="0" i="0" u="none" strike="noStrike" cap="none" normalizeH="0" baseline="0" dirty="0">
                <a:ln>
                  <a:noFill/>
                </a:ln>
                <a:solidFill>
                  <a:srgbClr val="333333"/>
                </a:solidFill>
                <a:effectLst/>
                <a:latin typeface="Courier New" panose="02070309020205020404" pitchFamily="49" charset="0"/>
                <a:cs typeface="Courier New" panose="02070309020205020404" pitchFamily="49" charset="0"/>
              </a:rPr>
              <a:t> /</a:t>
            </a:r>
            <a:r>
              <a:rPr kumimoji="0" lang="es-ES" altLang="es-ES" sz="1000" b="0" i="0" u="none" strike="noStrike" cap="none" normalizeH="0" baseline="0" dirty="0" err="1">
                <a:ln>
                  <a:noFill/>
                </a:ln>
                <a:solidFill>
                  <a:srgbClr val="333333"/>
                </a:solidFill>
                <a:effectLst/>
                <a:latin typeface="Courier New" panose="02070309020205020404" pitchFamily="49" charset="0"/>
                <a:cs typeface="Courier New" panose="02070309020205020404" pitchFamily="49" charset="0"/>
              </a:rPr>
              <a:t>etc</a:t>
            </a:r>
            <a:r>
              <a:rPr kumimoji="0" lang="es-ES" altLang="es-ES" sz="1000" b="0" i="0" u="none" strike="noStrike" cap="none" normalizeH="0" baseline="0" dirty="0">
                <a:ln>
                  <a:noFill/>
                </a:ln>
                <a:solidFill>
                  <a:srgbClr val="333333"/>
                </a:solidFill>
                <a:effectLst/>
                <a:latin typeface="Courier New" panose="02070309020205020404" pitchFamily="49" charset="0"/>
                <a:cs typeface="Courier New" panose="02070309020205020404" pitchFamily="49" charset="0"/>
              </a:rPr>
              <a:t>/</a:t>
            </a:r>
            <a:r>
              <a:rPr kumimoji="0" lang="es-ES" altLang="es-ES" sz="1000" b="0" i="0" u="none" strike="noStrike" cap="none" normalizeH="0" baseline="0" dirty="0" err="1">
                <a:ln>
                  <a:noFill/>
                </a:ln>
                <a:solidFill>
                  <a:srgbClr val="333333"/>
                </a:solidFill>
                <a:effectLst/>
                <a:latin typeface="Courier New" panose="02070309020205020404" pitchFamily="49" charset="0"/>
                <a:cs typeface="Courier New" panose="02070309020205020404" pitchFamily="49" charset="0"/>
              </a:rPr>
              <a:t>localtime</a:t>
            </a:r>
            <a:r>
              <a:rPr kumimoji="0" lang="es-ES" altLang="es-ES" sz="1100" b="0" i="0" u="none" strike="noStrike" cap="none" normalizeH="0" baseline="0" dirty="0">
                <a:ln>
                  <a:noFill/>
                </a:ln>
                <a:solidFill>
                  <a:schemeClr val="tx1"/>
                </a:solidFill>
                <a:effectLst/>
              </a:rPr>
              <a:t> </a:t>
            </a: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854765"/>
            <a:ext cx="10058400" cy="882595"/>
          </a:xfrm>
        </p:spPr>
        <p:txBody>
          <a:bodyPr/>
          <a:lstStyle/>
          <a:p>
            <a:r>
              <a:rPr lang="es-ES" dirty="0"/>
              <a:t>Ventanas X, localización e impresión</a:t>
            </a:r>
            <a:endParaRPr lang="es-ES" dirty="0"/>
          </a:p>
        </p:txBody>
      </p:sp>
      <p:sp>
        <p:nvSpPr>
          <p:cNvPr id="3" name="Marcador de contenido 2"/>
          <p:cNvSpPr>
            <a:spLocks noGrp="1"/>
          </p:cNvSpPr>
          <p:nvPr>
            <p:ph idx="1"/>
          </p:nvPr>
        </p:nvSpPr>
        <p:spPr>
          <a:xfrm>
            <a:off x="1097280" y="1888549"/>
            <a:ext cx="10058400" cy="4417248"/>
          </a:xfrm>
        </p:spPr>
        <p:txBody>
          <a:bodyPr>
            <a:normAutofit fontScale="62500" lnSpcReduction="20000"/>
          </a:bodyPr>
          <a:lstStyle/>
          <a:p>
            <a:pPr>
              <a:spcBef>
                <a:spcPts val="200"/>
              </a:spcBef>
            </a:pPr>
            <a:r>
              <a:rPr lang="es-ES" sz="2500" b="1" dirty="0"/>
              <a:t>AJUSTAR LA HORA Y LA CONFIGURACIÓN LOCAL</a:t>
            </a:r>
            <a:endParaRPr lang="es-ES" sz="2500" b="1" dirty="0"/>
          </a:p>
          <a:p>
            <a:pPr marL="0" indent="0">
              <a:spcBef>
                <a:spcPts val="200"/>
              </a:spcBef>
              <a:buNone/>
            </a:pPr>
            <a:endParaRPr lang="es-ES" sz="2600" b="1" dirty="0"/>
          </a:p>
          <a:p>
            <a:pPr marL="0" lvl="0" indent="0" eaLnBrk="0" fontAlgn="base" hangingPunct="0">
              <a:lnSpc>
                <a:spcPct val="100000"/>
              </a:lnSpc>
              <a:spcBef>
                <a:spcPct val="0"/>
              </a:spcBef>
              <a:spcAft>
                <a:spcPct val="0"/>
              </a:spcAft>
              <a:buClrTx/>
              <a:buSzTx/>
              <a:buNone/>
            </a:pPr>
            <a:r>
              <a:rPr lang="es-ES" altLang="es-ES" sz="2600" b="1" dirty="0">
                <a:solidFill>
                  <a:schemeClr val="tx1"/>
                </a:solidFill>
              </a:rPr>
              <a:t>Configurar la hora de forma manual</a:t>
            </a:r>
            <a:endParaRPr lang="es-ES" altLang="es-ES" sz="2600" b="1" dirty="0">
              <a:solidFill>
                <a:schemeClr val="tx1"/>
              </a:solidFill>
            </a:endParaRPr>
          </a:p>
          <a:p>
            <a:pPr lvl="0" fontAlgn="base">
              <a:lnSpc>
                <a:spcPct val="140000"/>
              </a:lnSpc>
            </a:pPr>
            <a:r>
              <a:rPr lang="es-ES" altLang="es-ES" sz="2300" dirty="0"/>
              <a:t>Tanto el reloj de hardware como el de software son poco fiables en x86 y x86-64 estándar, ambos tienden a desajustarse levemente, por lo que no es extraño que en un mes o dos después de ser ajustados acaben con una diferencia de varios minutos con respecto al tiempo correcto. Para salvaguardar esta situación podremos emplear varios métodos, como por ejemplo configurar la hora manualmente Podremos configurar la hora del reloj de software con el comando date, cuya sintaxis es la siguiente:</a:t>
            </a:r>
            <a:endParaRPr lang="es-ES" altLang="es-ES" sz="2300" dirty="0"/>
          </a:p>
          <a:p>
            <a:pPr lvl="0" algn="ctr" fontAlgn="base">
              <a:lnSpc>
                <a:spcPct val="140000"/>
              </a:lnSpc>
            </a:pPr>
            <a:r>
              <a:rPr lang="es-ES" altLang="es-ES" sz="2300" b="1" dirty="0"/>
              <a:t>date [-u | --</a:t>
            </a:r>
            <a:r>
              <a:rPr lang="es-ES" altLang="es-ES" sz="2300" b="1" dirty="0" err="1"/>
              <a:t>utc</a:t>
            </a:r>
            <a:r>
              <a:rPr lang="es-ES" altLang="es-ES" sz="2300" b="1" dirty="0"/>
              <a:t> | --universal] [</a:t>
            </a:r>
            <a:r>
              <a:rPr lang="es-ES" altLang="es-ES" sz="2300" b="1" dirty="0" err="1"/>
              <a:t>MMDDhhmm</a:t>
            </a:r>
            <a:r>
              <a:rPr lang="es-ES" altLang="es-ES" sz="2300" b="1" dirty="0"/>
              <a:t>[[CC]AA] [.</a:t>
            </a:r>
            <a:r>
              <a:rPr lang="es-ES" altLang="es-ES" sz="2300" b="1" dirty="0" err="1"/>
              <a:t>ss</a:t>
            </a:r>
            <a:r>
              <a:rPr lang="es-ES" altLang="es-ES" sz="2300" b="1" dirty="0"/>
              <a:t>]]</a:t>
            </a:r>
            <a:endParaRPr lang="es-ES" altLang="es-ES" sz="2300" b="1" dirty="0"/>
          </a:p>
          <a:p>
            <a:pPr lvl="0" fontAlgn="base">
              <a:lnSpc>
                <a:spcPct val="140000"/>
              </a:lnSpc>
            </a:pPr>
            <a:r>
              <a:rPr lang="es-ES" altLang="es-ES" sz="2300" dirty="0"/>
              <a:t>El formato para date debe contener como mínimo un mes, un día, una hora y un minuto (</a:t>
            </a:r>
            <a:r>
              <a:rPr lang="es-ES" altLang="es-ES" sz="2300" dirty="0" err="1"/>
              <a:t>MMDDhhmm</a:t>
            </a:r>
            <a:r>
              <a:rPr lang="es-ES" altLang="es-ES" sz="2300" dirty="0"/>
              <a:t>), pudiendo añadir un año de dos o cuatro dígitos e incluso los segundos. La hora debe de ser configurada en formato 24 horas.</a:t>
            </a:r>
            <a:endParaRPr lang="es-ES" altLang="es-ES" sz="2300" dirty="0"/>
          </a:p>
          <a:p>
            <a:pPr lvl="0" fontAlgn="base">
              <a:lnSpc>
                <a:spcPct val="140000"/>
              </a:lnSpc>
            </a:pPr>
            <a:r>
              <a:rPr lang="es-ES" altLang="es-ES" sz="2300" dirty="0"/>
              <a:t>Ajustar la hora a las 5:45 AM del 15 de Enero del 2015:</a:t>
            </a:r>
            <a:endParaRPr lang="es-ES" altLang="es-ES" sz="2300" dirty="0"/>
          </a:p>
          <a:p>
            <a:pPr lvl="0" algn="ctr" fontAlgn="base">
              <a:lnSpc>
                <a:spcPct val="140000"/>
              </a:lnSpc>
            </a:pPr>
            <a:r>
              <a:rPr lang="es-ES" altLang="es-ES" sz="2300" b="1" dirty="0"/>
              <a:t># date 011505452015 </a:t>
            </a:r>
            <a:endParaRPr lang="es-ES" altLang="es-ES" sz="2300" b="1" dirty="0"/>
          </a:p>
          <a:p>
            <a:endParaRPr lang="es-ES" dirty="0"/>
          </a:p>
          <a:p>
            <a:endParaRPr lang="es-ES" dirty="0"/>
          </a:p>
          <a:p>
            <a:pPr marL="201295" lvl="1" indent="0">
              <a:buNone/>
            </a:pPr>
            <a:endParaRPr lang="es-ES" b="1"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854765"/>
            <a:ext cx="10058400" cy="882595"/>
          </a:xfrm>
        </p:spPr>
        <p:txBody>
          <a:bodyPr/>
          <a:lstStyle/>
          <a:p>
            <a:r>
              <a:rPr lang="es-ES" dirty="0"/>
              <a:t>Ventanas X, localización e impresión</a:t>
            </a:r>
            <a:endParaRPr lang="es-ES" dirty="0"/>
          </a:p>
        </p:txBody>
      </p:sp>
      <p:sp>
        <p:nvSpPr>
          <p:cNvPr id="3" name="Marcador de contenido 2"/>
          <p:cNvSpPr>
            <a:spLocks noGrp="1"/>
          </p:cNvSpPr>
          <p:nvPr>
            <p:ph idx="1"/>
          </p:nvPr>
        </p:nvSpPr>
        <p:spPr>
          <a:xfrm>
            <a:off x="1097280" y="1888549"/>
            <a:ext cx="10058400" cy="4254691"/>
          </a:xfrm>
        </p:spPr>
        <p:txBody>
          <a:bodyPr>
            <a:normAutofit fontScale="32500" lnSpcReduction="20000"/>
          </a:bodyPr>
          <a:lstStyle/>
          <a:p>
            <a:r>
              <a:rPr lang="es-ES" sz="6200" b="1" dirty="0"/>
              <a:t>AJUSTAR LA HORA Y LA CONFIGURACIÓN LOCAL</a:t>
            </a:r>
            <a:endParaRPr lang="es-ES" sz="6200" b="1" dirty="0"/>
          </a:p>
          <a:p>
            <a:pPr marR="0" lvl="0" indent="0">
              <a:spcBef>
                <a:spcPts val="600"/>
              </a:spcBef>
              <a:buClrTx/>
              <a:buSzTx/>
              <a:buFontTx/>
              <a:buNone/>
            </a:pPr>
            <a:r>
              <a:rPr lang="es-ES" altLang="es-ES" sz="4900" dirty="0"/>
              <a:t>Con el comando </a:t>
            </a:r>
            <a:r>
              <a:rPr lang="es-ES" altLang="es-ES" sz="4900" b="1" dirty="0" err="1"/>
              <a:t>hwclock</a:t>
            </a:r>
            <a:r>
              <a:rPr lang="es-ES" altLang="es-ES" sz="4900" dirty="0"/>
              <a:t> podremos ajustar el reloj de hardware a partir de la hora del reloj de software o viceversa. </a:t>
            </a:r>
            <a:r>
              <a:rPr lang="es-ES" altLang="es-ES" sz="4900" b="1" dirty="0" err="1"/>
              <a:t>hwclock</a:t>
            </a:r>
            <a:r>
              <a:rPr lang="es-ES" altLang="es-ES" sz="4900" dirty="0"/>
              <a:t> permite un argumento como opción, con el que podremos ajustar la hora de varias maneras o imprimir la hora actual.</a:t>
            </a:r>
            <a:endParaRPr lang="es-ES" altLang="es-ES" sz="4900" dirty="0"/>
          </a:p>
          <a:p>
            <a:pPr marL="777240" indent="-685800">
              <a:spcBef>
                <a:spcPts val="600"/>
              </a:spcBef>
              <a:buClrTx/>
              <a:buSzTx/>
              <a:buFont typeface="Wingdings" panose="05000000000000000000" pitchFamily="2" charset="2"/>
              <a:buChar char="§"/>
            </a:pPr>
            <a:r>
              <a:rPr lang="es-ES" altLang="es-ES" sz="4900" dirty="0"/>
              <a:t>Ajustar el reloj de hardware a partir del reloj de software: </a:t>
            </a:r>
            <a:r>
              <a:rPr lang="es-ES" altLang="es-ES" sz="4900" b="1" dirty="0"/>
              <a:t># </a:t>
            </a:r>
            <a:r>
              <a:rPr lang="es-ES" altLang="es-ES" sz="4900" b="1" dirty="0" err="1"/>
              <a:t>hwclock</a:t>
            </a:r>
            <a:r>
              <a:rPr lang="es-ES" altLang="es-ES" sz="4900" b="1" dirty="0"/>
              <a:t> - -</a:t>
            </a:r>
            <a:r>
              <a:rPr lang="es-ES" altLang="es-ES" sz="4900" b="1" dirty="0" err="1"/>
              <a:t>systohc</a:t>
            </a:r>
            <a:r>
              <a:rPr lang="es-ES" altLang="es-ES" sz="4900" b="1" dirty="0"/>
              <a:t> (-w)</a:t>
            </a:r>
            <a:endParaRPr lang="es-ES" altLang="es-ES" sz="4900" b="1" dirty="0"/>
          </a:p>
          <a:p>
            <a:pPr marL="777240" indent="-685800">
              <a:spcBef>
                <a:spcPts val="600"/>
              </a:spcBef>
              <a:buClrTx/>
              <a:buSzTx/>
              <a:buFont typeface="Wingdings" panose="05000000000000000000" pitchFamily="2" charset="2"/>
              <a:buChar char="§"/>
            </a:pPr>
            <a:r>
              <a:rPr lang="es-ES" altLang="es-ES" sz="4900" dirty="0"/>
              <a:t>Ajustar el reloj de software a partir del reloj de hardware: </a:t>
            </a:r>
            <a:r>
              <a:rPr lang="es-ES" altLang="es-ES" sz="4900" b="1" dirty="0"/>
              <a:t># </a:t>
            </a:r>
            <a:r>
              <a:rPr lang="es-ES" altLang="es-ES" sz="4900" b="1" dirty="0" err="1"/>
              <a:t>hwclock</a:t>
            </a:r>
            <a:r>
              <a:rPr lang="es-ES" altLang="es-ES" sz="4900" b="1" dirty="0"/>
              <a:t> –</a:t>
            </a:r>
            <a:r>
              <a:rPr lang="es-ES" altLang="es-ES" sz="4900" b="1" dirty="0" err="1"/>
              <a:t>hctosys</a:t>
            </a:r>
            <a:r>
              <a:rPr lang="es-ES" altLang="es-ES" sz="4900" b="1" dirty="0"/>
              <a:t> (-s)</a:t>
            </a:r>
            <a:endParaRPr lang="es-ES" altLang="es-ES" sz="4900" b="1" dirty="0"/>
          </a:p>
          <a:p>
            <a:pPr marR="0" lvl="0" indent="0">
              <a:spcBef>
                <a:spcPts val="600"/>
              </a:spcBef>
              <a:buClrTx/>
              <a:buSzTx/>
              <a:buFontTx/>
              <a:buNone/>
            </a:pPr>
            <a:r>
              <a:rPr lang="es-ES" altLang="es-ES" sz="4900" dirty="0"/>
              <a:t>Esta opción suele ser común en los script de inicio para ajustar el reloj al inicio del sistema.</a:t>
            </a:r>
            <a:endParaRPr lang="es-ES" altLang="es-ES" sz="4900" dirty="0"/>
          </a:p>
          <a:p>
            <a:pPr lvl="1">
              <a:lnSpc>
                <a:spcPct val="120000"/>
              </a:lnSpc>
              <a:spcBef>
                <a:spcPts val="600"/>
              </a:spcBef>
            </a:pPr>
            <a:r>
              <a:rPr lang="es-ES" altLang="es-ES" sz="4900" dirty="0"/>
              <a:t>Mostrar la hora del reloj de hardware: </a:t>
            </a:r>
            <a:r>
              <a:rPr lang="es-ES" altLang="es-ES" sz="4900" b="1" dirty="0"/>
              <a:t># </a:t>
            </a:r>
            <a:r>
              <a:rPr lang="es-ES" altLang="es-ES" sz="4900" b="1" dirty="0" err="1"/>
              <a:t>hwclock</a:t>
            </a:r>
            <a:r>
              <a:rPr lang="es-ES" altLang="es-ES" sz="4900" b="1" dirty="0"/>
              <a:t> -r | --show</a:t>
            </a:r>
            <a:endParaRPr lang="es-ES" altLang="es-ES" sz="4900" b="1" dirty="0"/>
          </a:p>
          <a:p>
            <a:pPr lvl="1">
              <a:lnSpc>
                <a:spcPct val="120000"/>
              </a:lnSpc>
              <a:spcBef>
                <a:spcPts val="600"/>
              </a:spcBef>
            </a:pPr>
            <a:r>
              <a:rPr lang="es-ES" altLang="es-ES" sz="4900" dirty="0"/>
              <a:t>Configurar de forma manual la hora del reloj de hardware: </a:t>
            </a:r>
            <a:r>
              <a:rPr lang="es-ES" altLang="es-ES" sz="4900" b="1" dirty="0"/>
              <a:t># </a:t>
            </a:r>
            <a:r>
              <a:rPr lang="es-ES" altLang="es-ES" sz="4900" b="1" dirty="0" err="1"/>
              <a:t>hwclock</a:t>
            </a:r>
            <a:r>
              <a:rPr lang="es-ES" altLang="es-ES" sz="4900" b="1" dirty="0"/>
              <a:t> --set --date=011505452015</a:t>
            </a:r>
            <a:endParaRPr lang="es-ES" altLang="es-ES" sz="4900" b="1" dirty="0"/>
          </a:p>
          <a:p>
            <a:pPr marR="0" lvl="0" indent="0">
              <a:spcBef>
                <a:spcPts val="600"/>
              </a:spcBef>
              <a:buClrTx/>
              <a:buSzTx/>
              <a:buFontTx/>
              <a:buNone/>
            </a:pPr>
            <a:r>
              <a:rPr lang="es-ES" altLang="es-ES" sz="4900" dirty="0"/>
              <a:t>Usamos el mismo formato que para el comando date</a:t>
            </a:r>
            <a:endParaRPr lang="es-ES" altLang="es-ES" sz="4900" dirty="0"/>
          </a:p>
          <a:p>
            <a:pPr marL="285750" marR="0" lvl="0" indent="-285750">
              <a:spcBef>
                <a:spcPts val="600"/>
              </a:spcBef>
              <a:buClrTx/>
              <a:buSzTx/>
              <a:buFont typeface="Arial" panose="020B0604020202020204" pitchFamily="34" charset="0"/>
              <a:buChar char="•"/>
            </a:pPr>
            <a:r>
              <a:rPr lang="es-ES" altLang="es-ES" sz="4900" dirty="0"/>
              <a:t>Guardar la hora como UTC o como hora local: opciones </a:t>
            </a:r>
            <a:r>
              <a:rPr lang="es-ES" altLang="es-ES" sz="4900" b="1" dirty="0"/>
              <a:t> –</a:t>
            </a:r>
            <a:r>
              <a:rPr lang="es-ES" altLang="es-ES" sz="4900" b="1" dirty="0" err="1"/>
              <a:t>utc</a:t>
            </a:r>
            <a:r>
              <a:rPr lang="es-ES" altLang="es-ES" sz="4900" b="1" dirty="0"/>
              <a:t>  –</a:t>
            </a:r>
            <a:r>
              <a:rPr lang="es-ES" altLang="es-ES" sz="4900" b="1" dirty="0" err="1"/>
              <a:t>localtime</a:t>
            </a:r>
            <a:endParaRPr lang="es-ES" altLang="es-ES" sz="4900" b="1" dirty="0"/>
          </a:p>
          <a:p>
            <a:endParaRPr lang="es-ES" sz="2500" b="1" dirty="0"/>
          </a:p>
          <a:p>
            <a:endParaRPr lang="es-ES" dirty="0"/>
          </a:p>
          <a:p>
            <a:endParaRPr lang="es-ES" dirty="0"/>
          </a:p>
          <a:p>
            <a:pPr marL="201295" lvl="1" indent="0">
              <a:buNone/>
            </a:pPr>
            <a:endParaRPr lang="es-ES" b="1"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854765"/>
            <a:ext cx="10058400" cy="882595"/>
          </a:xfrm>
        </p:spPr>
        <p:txBody>
          <a:bodyPr/>
          <a:lstStyle/>
          <a:p>
            <a:r>
              <a:rPr lang="es-ES" dirty="0"/>
              <a:t>Ventanas X, localización e impresión</a:t>
            </a:r>
            <a:endParaRPr lang="es-ES" dirty="0"/>
          </a:p>
        </p:txBody>
      </p:sp>
      <p:sp>
        <p:nvSpPr>
          <p:cNvPr id="3" name="Marcador de contenido 2"/>
          <p:cNvSpPr>
            <a:spLocks noGrp="1"/>
          </p:cNvSpPr>
          <p:nvPr>
            <p:ph idx="1"/>
          </p:nvPr>
        </p:nvSpPr>
        <p:spPr>
          <a:xfrm>
            <a:off x="1097280" y="1888549"/>
            <a:ext cx="10058400" cy="4254691"/>
          </a:xfrm>
        </p:spPr>
        <p:txBody>
          <a:bodyPr>
            <a:normAutofit/>
          </a:bodyPr>
          <a:lstStyle/>
          <a:p>
            <a:r>
              <a:rPr lang="es-ES" sz="1600" b="1" dirty="0"/>
              <a:t>AJUSTAR LA HORA Y LA CONFIGURACIÓN LOCAL</a:t>
            </a:r>
            <a:endParaRPr lang="es-ES" sz="1600" b="1" dirty="0"/>
          </a:p>
          <a:p>
            <a:endParaRPr lang="es-ES" dirty="0"/>
          </a:p>
          <a:p>
            <a:endParaRPr lang="es-ES" dirty="0"/>
          </a:p>
          <a:p>
            <a:pPr marL="201295" lvl="1" indent="0">
              <a:buNone/>
            </a:pPr>
            <a:endParaRPr lang="es-ES" b="1" dirty="0"/>
          </a:p>
        </p:txBody>
      </p:sp>
      <p:sp>
        <p:nvSpPr>
          <p:cNvPr id="4" name="Rectangle 1"/>
          <p:cNvSpPr>
            <a:spLocks noChangeArrowheads="1"/>
          </p:cNvSpPr>
          <p:nvPr/>
        </p:nvSpPr>
        <p:spPr bwMode="auto">
          <a:xfrm>
            <a:off x="874231" y="2298296"/>
            <a:ext cx="6072669" cy="343519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20574" tIns="0" rIns="0" bIns="125373"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s-ES" b="1" dirty="0"/>
              <a:t>Fundamentos  de NTP</a:t>
            </a:r>
            <a:endParaRPr lang="es-ES" b="1" dirty="0"/>
          </a:p>
          <a:p>
            <a:pPr>
              <a:spcBef>
                <a:spcPts val="600"/>
              </a:spcBef>
            </a:pPr>
            <a:r>
              <a:rPr lang="es-ES" sz="1400" dirty="0"/>
              <a:t>Una de las herramientas más populares para configurar la hora de la red es </a:t>
            </a:r>
            <a:r>
              <a:rPr lang="es-ES" sz="1400" b="1" dirty="0"/>
              <a:t>NTP</a:t>
            </a:r>
            <a:r>
              <a:rPr lang="es-ES" sz="1400" dirty="0"/>
              <a:t>. Este protocolo crea una jerarquía por capas de fuentes horarias. En la parte superior de la estructura, se encuentran una o varias fuentes horarias que normalmente son relojes atómicos o receptores de radio que obtienen sus horas de señales horarias basadas en relojes atómicos.</a:t>
            </a:r>
            <a:endParaRPr lang="es-ES" sz="1400" dirty="0"/>
          </a:p>
          <a:p>
            <a:pPr>
              <a:spcBef>
                <a:spcPts val="600"/>
              </a:spcBef>
            </a:pPr>
            <a:endParaRPr lang="es-ES" sz="1400" dirty="0"/>
          </a:p>
          <a:p>
            <a:pPr lvl="0">
              <a:spcBef>
                <a:spcPts val="600"/>
              </a:spcBef>
            </a:pPr>
            <a:r>
              <a:rPr lang="es-ES" sz="1400" i="1" dirty="0"/>
              <a:t>NTP</a:t>
            </a:r>
            <a:r>
              <a:rPr lang="es-ES" sz="1400" dirty="0"/>
              <a:t> funciona midiendo el tiempo de ida y vuelta de los paquetes entre el servidor y el cliente. Los dos sistemas intercambian paquetes con marcas temporales incrustadas; el cliente ajusta su hora para que esté sincronizada con la marca temporal del origen pero añade una pequeña cantidad de tiempo para tener en cuenta el retardo del trayecto de ida y vuelta.</a:t>
            </a:r>
            <a:endParaRPr kumimoji="0" lang="es-ES" altLang="es-ES" sz="1400" b="0" i="0" u="none" strike="noStrike" cap="none" normalizeH="0" baseline="0" dirty="0">
              <a:ln>
                <a:noFill/>
              </a:ln>
              <a:solidFill>
                <a:schemeClr val="tx1"/>
              </a:solidFill>
              <a:effectLst/>
              <a:latin typeface="+mj-lt"/>
            </a:endParaRPr>
          </a:p>
        </p:txBody>
      </p:sp>
      <p:pic>
        <p:nvPicPr>
          <p:cNvPr id="1026" name="Picture 2" descr="Protocolo NTP - Los Miércoles de Tecnología - Blog DAVANTEL"/>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27265" y="2533311"/>
            <a:ext cx="2899460" cy="25050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854765"/>
            <a:ext cx="10058400" cy="882595"/>
          </a:xfrm>
        </p:spPr>
        <p:txBody>
          <a:bodyPr/>
          <a:lstStyle/>
          <a:p>
            <a:r>
              <a:rPr lang="es-ES" dirty="0"/>
              <a:t>Ventanas X, localización e impresión</a:t>
            </a:r>
            <a:endParaRPr lang="es-ES" dirty="0"/>
          </a:p>
        </p:txBody>
      </p:sp>
      <p:sp>
        <p:nvSpPr>
          <p:cNvPr id="3" name="Marcador de contenido 2"/>
          <p:cNvSpPr>
            <a:spLocks noGrp="1"/>
          </p:cNvSpPr>
          <p:nvPr>
            <p:ph idx="1"/>
          </p:nvPr>
        </p:nvSpPr>
        <p:spPr>
          <a:xfrm>
            <a:off x="1097280" y="1888549"/>
            <a:ext cx="10058400" cy="4254691"/>
          </a:xfrm>
        </p:spPr>
        <p:txBody>
          <a:bodyPr>
            <a:normAutofit/>
          </a:bodyPr>
          <a:lstStyle/>
          <a:p>
            <a:r>
              <a:rPr lang="es-ES" sz="1600" b="1" dirty="0"/>
              <a:t>AJUSTAR LA HORA Y LA CONFIGURACIÓN LOCAL</a:t>
            </a:r>
            <a:endParaRPr lang="es-ES" sz="1600" b="1" dirty="0"/>
          </a:p>
          <a:p>
            <a:pPr marL="0" eaLnBrk="0" fontAlgn="base" hangingPunct="0">
              <a:spcBef>
                <a:spcPct val="0"/>
              </a:spcBef>
              <a:spcAft>
                <a:spcPct val="0"/>
              </a:spcAft>
            </a:pPr>
            <a:r>
              <a:rPr lang="es-ES" b="1" dirty="0">
                <a:solidFill>
                  <a:schemeClr val="tx1"/>
                </a:solidFill>
                <a:latin typeface="Arial" panose="020B0604020202020204" pitchFamily="34" charset="0"/>
              </a:rPr>
              <a:t>Configurando un servidor NTP</a:t>
            </a:r>
            <a:endParaRPr lang="es-ES" b="1" dirty="0">
              <a:solidFill>
                <a:schemeClr val="tx1"/>
              </a:solidFill>
              <a:latin typeface="Arial" panose="020B0604020202020204" pitchFamily="34" charset="0"/>
            </a:endParaRPr>
          </a:p>
          <a:p>
            <a:pPr marL="342900" indent="-342900">
              <a:buFont typeface="+mj-lt"/>
              <a:buAutoNum type="arabicPeriod"/>
            </a:pPr>
            <a:r>
              <a:rPr lang="es-ES" sz="1600" dirty="0">
                <a:solidFill>
                  <a:schemeClr val="tx1"/>
                </a:solidFill>
              </a:rPr>
              <a:t>Instalaremos (en caso de que no lo esté) el paquete </a:t>
            </a:r>
            <a:r>
              <a:rPr lang="es-ES" sz="1600" b="1" dirty="0" err="1">
                <a:solidFill>
                  <a:schemeClr val="tx1"/>
                </a:solidFill>
              </a:rPr>
              <a:t>ntp</a:t>
            </a:r>
            <a:r>
              <a:rPr lang="es-ES" sz="1600" dirty="0">
                <a:solidFill>
                  <a:schemeClr val="tx1"/>
                </a:solidFill>
              </a:rPr>
              <a:t> o </a:t>
            </a:r>
            <a:r>
              <a:rPr lang="es-ES" sz="1600" b="1" dirty="0" err="1">
                <a:solidFill>
                  <a:schemeClr val="tx1"/>
                </a:solidFill>
              </a:rPr>
              <a:t>ntpd</a:t>
            </a:r>
            <a:r>
              <a:rPr lang="es-ES" sz="1600" dirty="0">
                <a:solidFill>
                  <a:schemeClr val="tx1"/>
                </a:solidFill>
              </a:rPr>
              <a:t> de los repositorios oficiales. </a:t>
            </a:r>
            <a:endParaRPr lang="es-ES" sz="1600" dirty="0">
              <a:solidFill>
                <a:schemeClr val="tx1"/>
              </a:solidFill>
            </a:endParaRPr>
          </a:p>
          <a:p>
            <a:pPr marL="342900" indent="-342900">
              <a:buFont typeface="+mj-lt"/>
              <a:buAutoNum type="arabicPeriod"/>
            </a:pPr>
            <a:r>
              <a:rPr lang="es-ES" sz="1600" dirty="0">
                <a:solidFill>
                  <a:schemeClr val="tx1"/>
                </a:solidFill>
              </a:rPr>
              <a:t>Cuando el sistema esté equipado con este paquete, pasaremos  a editar su archivo de configuración para determinar las características y opciones de nuestro servidor </a:t>
            </a:r>
            <a:r>
              <a:rPr lang="es-ES" sz="1600" i="1" dirty="0">
                <a:solidFill>
                  <a:schemeClr val="tx1"/>
                </a:solidFill>
              </a:rPr>
              <a:t>NTP</a:t>
            </a:r>
            <a:r>
              <a:rPr lang="es-ES" sz="1600" dirty="0">
                <a:solidFill>
                  <a:schemeClr val="tx1"/>
                </a:solidFill>
              </a:rPr>
              <a:t>. El archivo de configuración suele ser </a:t>
            </a:r>
            <a:r>
              <a:rPr lang="es-ES" sz="1600" b="1" dirty="0">
                <a:solidFill>
                  <a:schemeClr val="tx1"/>
                </a:solidFill>
              </a:rPr>
              <a:t>/</a:t>
            </a:r>
            <a:r>
              <a:rPr lang="es-ES" sz="1600" b="1" dirty="0" err="1">
                <a:solidFill>
                  <a:schemeClr val="tx1"/>
                </a:solidFill>
              </a:rPr>
              <a:t>etc</a:t>
            </a:r>
            <a:r>
              <a:rPr lang="es-ES" sz="1600" b="1" dirty="0">
                <a:solidFill>
                  <a:schemeClr val="tx1"/>
                </a:solidFill>
              </a:rPr>
              <a:t>/</a:t>
            </a:r>
            <a:r>
              <a:rPr lang="es-ES" sz="1600" b="1" dirty="0" err="1">
                <a:solidFill>
                  <a:schemeClr val="tx1"/>
                </a:solidFill>
              </a:rPr>
              <a:t>ntp.conf</a:t>
            </a:r>
            <a:r>
              <a:rPr lang="es-ES" sz="1600" dirty="0">
                <a:solidFill>
                  <a:schemeClr val="tx1"/>
                </a:solidFill>
              </a:rPr>
              <a:t> y las líneas a las que mayor atención deberemos de prestar serán a las que empiezan por la palabra ‘</a:t>
            </a:r>
            <a:r>
              <a:rPr lang="es-ES" sz="1600" b="1" dirty="0">
                <a:solidFill>
                  <a:schemeClr val="tx1"/>
                </a:solidFill>
              </a:rPr>
              <a:t>server</a:t>
            </a:r>
            <a:r>
              <a:rPr lang="es-ES" sz="1600" dirty="0">
                <a:solidFill>
                  <a:schemeClr val="tx1"/>
                </a:solidFill>
              </a:rPr>
              <a:t>‘ ya que son las que indicarán con que servidores temporales queremos sincronizar. Lo normal es tener entre 2 y 3 líneas con servidores temporales, ya que de estar uno caído u ofreciendo una hora desfasada, automáticamente </a:t>
            </a:r>
            <a:r>
              <a:rPr lang="es-ES" sz="1600" i="1" dirty="0">
                <a:solidFill>
                  <a:schemeClr val="tx1"/>
                </a:solidFill>
              </a:rPr>
              <a:t>NTP</a:t>
            </a:r>
            <a:r>
              <a:rPr lang="es-ES" sz="1600" dirty="0">
                <a:solidFill>
                  <a:schemeClr val="tx1"/>
                </a:solidFill>
              </a:rPr>
              <a:t> sincronizará con otro servidor de la lista. </a:t>
            </a:r>
            <a:endParaRPr lang="es-ES" sz="1600" dirty="0">
              <a:solidFill>
                <a:schemeClr val="tx1"/>
              </a:solidFill>
            </a:endParaRPr>
          </a:p>
          <a:p>
            <a:endParaRPr lang="es-ES" sz="2800" dirty="0"/>
          </a:p>
          <a:p>
            <a:endParaRPr lang="es-ES" sz="2500" b="1" dirty="0"/>
          </a:p>
          <a:p>
            <a:endParaRPr lang="es-ES" dirty="0"/>
          </a:p>
          <a:p>
            <a:endParaRPr lang="es-ES" dirty="0"/>
          </a:p>
          <a:p>
            <a:pPr marL="201295" lvl="1" indent="0">
              <a:buNone/>
            </a:pPr>
            <a:endParaRPr lang="es-ES" b="1"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854765"/>
            <a:ext cx="10058400" cy="882595"/>
          </a:xfrm>
        </p:spPr>
        <p:txBody>
          <a:bodyPr/>
          <a:lstStyle/>
          <a:p>
            <a:r>
              <a:rPr lang="es-ES" dirty="0"/>
              <a:t>Ventanas X, localización e impresión</a:t>
            </a:r>
            <a:endParaRPr lang="es-ES" dirty="0"/>
          </a:p>
        </p:txBody>
      </p:sp>
      <p:pic>
        <p:nvPicPr>
          <p:cNvPr id="7" name="Marcador de contenido 6"/>
          <p:cNvPicPr>
            <a:picLocks noGrp="1" noChangeAspect="1"/>
          </p:cNvPicPr>
          <p:nvPr>
            <p:ph idx="1"/>
          </p:nvPr>
        </p:nvPicPr>
        <p:blipFill>
          <a:blip r:embed="rId1"/>
          <a:stretch>
            <a:fillRect/>
          </a:stretch>
        </p:blipFill>
        <p:spPr>
          <a:xfrm>
            <a:off x="1183112" y="2352122"/>
            <a:ext cx="5303014" cy="3508828"/>
          </a:xfrm>
          <a:prstGeom prst="rect">
            <a:avLst/>
          </a:prstGeom>
        </p:spPr>
      </p:pic>
      <p:pic>
        <p:nvPicPr>
          <p:cNvPr id="8" name="Imagen 7"/>
          <p:cNvPicPr>
            <a:picLocks noChangeAspect="1"/>
          </p:cNvPicPr>
          <p:nvPr/>
        </p:nvPicPr>
        <p:blipFill>
          <a:blip r:embed="rId2"/>
          <a:stretch>
            <a:fillRect/>
          </a:stretch>
        </p:blipFill>
        <p:spPr>
          <a:xfrm>
            <a:off x="6771009" y="2092269"/>
            <a:ext cx="4808978" cy="3910966"/>
          </a:xfrm>
          <a:prstGeom prst="rect">
            <a:avLst/>
          </a:prstGeom>
        </p:spPr>
      </p:pic>
      <p:sp>
        <p:nvSpPr>
          <p:cNvPr id="9" name="CuadroTexto 8"/>
          <p:cNvSpPr txBox="1"/>
          <p:nvPr/>
        </p:nvSpPr>
        <p:spPr>
          <a:xfrm>
            <a:off x="1183112" y="2006930"/>
            <a:ext cx="3495766" cy="338554"/>
          </a:xfrm>
          <a:prstGeom prst="rect">
            <a:avLst/>
          </a:prstGeom>
          <a:noFill/>
        </p:spPr>
        <p:txBody>
          <a:bodyPr wrap="square" rtlCol="0">
            <a:spAutoFit/>
          </a:bodyPr>
          <a:lstStyle/>
          <a:p>
            <a:r>
              <a:rPr lang="es-ES" sz="1600" dirty="0" err="1"/>
              <a:t>ntpd.conf</a:t>
            </a:r>
            <a:endParaRPr lang="es-E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854765"/>
            <a:ext cx="10058400" cy="882595"/>
          </a:xfrm>
        </p:spPr>
        <p:txBody>
          <a:bodyPr/>
          <a:lstStyle/>
          <a:p>
            <a:r>
              <a:rPr lang="es-ES" dirty="0"/>
              <a:t>Ventanas X, localización e impresión</a:t>
            </a:r>
            <a:endParaRPr lang="es-ES" dirty="0"/>
          </a:p>
        </p:txBody>
      </p:sp>
      <p:sp>
        <p:nvSpPr>
          <p:cNvPr id="3" name="Marcador de contenido 2"/>
          <p:cNvSpPr>
            <a:spLocks noGrp="1"/>
          </p:cNvSpPr>
          <p:nvPr>
            <p:ph idx="1"/>
          </p:nvPr>
        </p:nvSpPr>
        <p:spPr>
          <a:xfrm>
            <a:off x="605642" y="1888177"/>
            <a:ext cx="10550038" cy="4255063"/>
          </a:xfrm>
        </p:spPr>
        <p:txBody>
          <a:bodyPr>
            <a:normAutofit/>
          </a:bodyPr>
          <a:lstStyle/>
          <a:p>
            <a:r>
              <a:rPr lang="es-ES" sz="1600" b="1" dirty="0"/>
              <a:t>AJUSTAR LA HORA Y LA CONFIGURACIÓN LOCAL</a:t>
            </a:r>
            <a:endParaRPr lang="es-ES" sz="1600" b="1" dirty="0"/>
          </a:p>
          <a:p>
            <a:pPr marL="0" eaLnBrk="0" fontAlgn="base" hangingPunct="0">
              <a:spcBef>
                <a:spcPct val="0"/>
              </a:spcBef>
              <a:spcAft>
                <a:spcPct val="0"/>
              </a:spcAft>
            </a:pPr>
            <a:r>
              <a:rPr lang="es-ES" b="1" dirty="0">
                <a:solidFill>
                  <a:schemeClr val="tx1"/>
                </a:solidFill>
                <a:latin typeface="Arial" panose="020B0604020202020204" pitchFamily="34" charset="0"/>
              </a:rPr>
              <a:t>Configurando un servidor NTP</a:t>
            </a:r>
            <a:endParaRPr lang="es-ES" b="1" dirty="0">
              <a:solidFill>
                <a:schemeClr val="tx1"/>
              </a:solidFill>
              <a:latin typeface="Arial" panose="020B0604020202020204" pitchFamily="34" charset="0"/>
            </a:endParaRPr>
          </a:p>
          <a:p>
            <a:pPr marL="0" eaLnBrk="0" fontAlgn="base" hangingPunct="0">
              <a:spcBef>
                <a:spcPct val="0"/>
              </a:spcBef>
              <a:spcAft>
                <a:spcPct val="0"/>
              </a:spcAft>
            </a:pPr>
            <a:r>
              <a:rPr lang="es-ES" altLang="es-ES" dirty="0">
                <a:solidFill>
                  <a:srgbClr val="333333"/>
                </a:solidFill>
                <a:latin typeface="Helvetica" panose="020B0604020202020204" pitchFamily="34" charset="0"/>
              </a:rPr>
              <a:t>Si invocamos a </a:t>
            </a:r>
            <a:r>
              <a:rPr lang="es-ES" altLang="es-ES" i="1" dirty="0" err="1">
                <a:solidFill>
                  <a:srgbClr val="333333"/>
                </a:solidFill>
                <a:latin typeface="Helvetica" panose="020B0604020202020204" pitchFamily="34" charset="0"/>
              </a:rPr>
              <a:t>ntpq</a:t>
            </a:r>
            <a:r>
              <a:rPr lang="es-ES" altLang="es-ES" dirty="0">
                <a:solidFill>
                  <a:srgbClr val="333333"/>
                </a:solidFill>
                <a:latin typeface="Helvetica" panose="020B0604020202020204" pitchFamily="34" charset="0"/>
              </a:rPr>
              <a:t> directamente sin opciones, se desplegará un </a:t>
            </a:r>
            <a:r>
              <a:rPr lang="es-ES" altLang="es-ES" i="1" dirty="0" err="1">
                <a:solidFill>
                  <a:srgbClr val="333333"/>
                </a:solidFill>
                <a:latin typeface="Helvetica" panose="020B0604020202020204" pitchFamily="34" charset="0"/>
              </a:rPr>
              <a:t>prompt</a:t>
            </a:r>
            <a:r>
              <a:rPr lang="es-ES" altLang="es-ES" dirty="0">
                <a:solidFill>
                  <a:srgbClr val="333333"/>
                </a:solidFill>
                <a:latin typeface="Helvetica" panose="020B0604020202020204" pitchFamily="34" charset="0"/>
              </a:rPr>
              <a:t> (</a:t>
            </a:r>
            <a:r>
              <a:rPr lang="es-ES" altLang="es-ES" b="1" dirty="0" err="1">
                <a:solidFill>
                  <a:srgbClr val="333333"/>
                </a:solidFill>
                <a:latin typeface="Helvetica" panose="020B0604020202020204" pitchFamily="34" charset="0"/>
              </a:rPr>
              <a:t>ntpq</a:t>
            </a:r>
            <a:r>
              <a:rPr lang="es-ES" altLang="es-ES" b="1" dirty="0">
                <a:solidFill>
                  <a:srgbClr val="333333"/>
                </a:solidFill>
                <a:latin typeface="Helvetica" panose="020B0604020202020204" pitchFamily="34" charset="0"/>
              </a:rPr>
              <a:t>&gt;</a:t>
            </a:r>
            <a:r>
              <a:rPr lang="es-ES" altLang="es-ES" dirty="0">
                <a:solidFill>
                  <a:srgbClr val="333333"/>
                </a:solidFill>
                <a:latin typeface="Helvetica" panose="020B0604020202020204" pitchFamily="34" charset="0"/>
              </a:rPr>
              <a:t> ) donde podremos teclear los comandos aceptados por </a:t>
            </a:r>
            <a:r>
              <a:rPr lang="es-ES" altLang="es-ES" i="1" dirty="0" err="1">
                <a:solidFill>
                  <a:srgbClr val="333333"/>
                </a:solidFill>
                <a:latin typeface="Helvetica" panose="020B0604020202020204" pitchFamily="34" charset="0"/>
              </a:rPr>
              <a:t>ntpq</a:t>
            </a:r>
            <a:r>
              <a:rPr lang="es-ES" altLang="es-ES" dirty="0">
                <a:solidFill>
                  <a:srgbClr val="333333"/>
                </a:solidFill>
                <a:latin typeface="Helvetica" panose="020B0604020202020204" pitchFamily="34" charset="0"/>
              </a:rPr>
              <a:t>, por ejemplo:</a:t>
            </a:r>
            <a:endParaRPr lang="es-ES" altLang="es-ES" sz="2800" dirty="0">
              <a:solidFill>
                <a:schemeClr val="tx1"/>
              </a:solidFill>
            </a:endParaRPr>
          </a:p>
          <a:p>
            <a:pPr marL="0" eaLnBrk="0" fontAlgn="base" hangingPunct="0">
              <a:spcBef>
                <a:spcPct val="0"/>
              </a:spcBef>
              <a:spcAft>
                <a:spcPct val="0"/>
              </a:spcAft>
            </a:pPr>
            <a:endParaRPr lang="es-ES" b="1" dirty="0">
              <a:solidFill>
                <a:schemeClr val="tx1"/>
              </a:solidFill>
              <a:latin typeface="Arial" panose="020B0604020202020204" pitchFamily="34" charset="0"/>
            </a:endParaRPr>
          </a:p>
          <a:p>
            <a:endParaRPr lang="es-ES" sz="2800" dirty="0"/>
          </a:p>
          <a:p>
            <a:endParaRPr lang="es-ES" sz="2500" b="1" dirty="0"/>
          </a:p>
          <a:p>
            <a:endParaRPr lang="es-ES" dirty="0"/>
          </a:p>
          <a:p>
            <a:endParaRPr lang="es-ES" dirty="0"/>
          </a:p>
          <a:p>
            <a:pPr marL="201295" lvl="1" indent="0">
              <a:buNone/>
            </a:pPr>
            <a:endParaRPr lang="es-ES" b="1" dirty="0"/>
          </a:p>
        </p:txBody>
      </p:sp>
      <p:pic>
        <p:nvPicPr>
          <p:cNvPr id="5" name="Imagen 4"/>
          <p:cNvPicPr>
            <a:picLocks noChangeAspect="1"/>
          </p:cNvPicPr>
          <p:nvPr/>
        </p:nvPicPr>
        <p:blipFill>
          <a:blip r:embed="rId1"/>
          <a:stretch>
            <a:fillRect/>
          </a:stretch>
        </p:blipFill>
        <p:spPr>
          <a:xfrm>
            <a:off x="2534824" y="3429000"/>
            <a:ext cx="6219825" cy="238125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854765"/>
            <a:ext cx="10058400" cy="882595"/>
          </a:xfrm>
        </p:spPr>
        <p:txBody>
          <a:bodyPr/>
          <a:lstStyle/>
          <a:p>
            <a:r>
              <a:rPr lang="es-ES" dirty="0"/>
              <a:t>Ventanas X, localización e impresión</a:t>
            </a:r>
            <a:endParaRPr lang="es-ES" dirty="0"/>
          </a:p>
        </p:txBody>
      </p:sp>
      <p:sp>
        <p:nvSpPr>
          <p:cNvPr id="3" name="Marcador de contenido 2"/>
          <p:cNvSpPr>
            <a:spLocks noGrp="1"/>
          </p:cNvSpPr>
          <p:nvPr>
            <p:ph idx="1"/>
          </p:nvPr>
        </p:nvSpPr>
        <p:spPr>
          <a:xfrm>
            <a:off x="605642" y="1888177"/>
            <a:ext cx="10550038" cy="4255063"/>
          </a:xfrm>
        </p:spPr>
        <p:txBody>
          <a:bodyPr>
            <a:normAutofit/>
          </a:bodyPr>
          <a:lstStyle/>
          <a:p>
            <a:r>
              <a:rPr lang="es-ES" sz="1600" b="1" dirty="0"/>
              <a:t>AJUSTAR LA HORA Y LA CONFIGURACIÓN LOCAL</a:t>
            </a:r>
            <a:endParaRPr lang="es-ES" sz="1600" b="1" dirty="0"/>
          </a:p>
          <a:p>
            <a:pPr marL="0" eaLnBrk="0" fontAlgn="base" hangingPunct="0">
              <a:spcBef>
                <a:spcPct val="0"/>
              </a:spcBef>
              <a:spcAft>
                <a:spcPct val="0"/>
              </a:spcAft>
            </a:pPr>
            <a:r>
              <a:rPr lang="es-ES" b="1" dirty="0">
                <a:solidFill>
                  <a:schemeClr val="tx1"/>
                </a:solidFill>
                <a:latin typeface="Arial" panose="020B0604020202020204" pitchFamily="34" charset="0"/>
              </a:rPr>
              <a:t>Configurando un servidor NTP</a:t>
            </a:r>
            <a:endParaRPr lang="es-ES" b="1" dirty="0">
              <a:solidFill>
                <a:schemeClr val="tx1"/>
              </a:solidFill>
              <a:latin typeface="Arial" panose="020B0604020202020204" pitchFamily="34" charset="0"/>
            </a:endParaRPr>
          </a:p>
          <a:p>
            <a:pPr marL="0" eaLnBrk="0" fontAlgn="base" hangingPunct="0">
              <a:spcBef>
                <a:spcPct val="0"/>
              </a:spcBef>
              <a:spcAft>
                <a:spcPct val="0"/>
              </a:spcAft>
            </a:pPr>
            <a:endParaRPr lang="es-ES" b="1" dirty="0">
              <a:solidFill>
                <a:schemeClr val="tx1"/>
              </a:solidFill>
              <a:latin typeface="Arial" panose="020B0604020202020204" pitchFamily="34" charset="0"/>
            </a:endParaRPr>
          </a:p>
          <a:p>
            <a:endParaRPr lang="es-ES" sz="2800" dirty="0"/>
          </a:p>
          <a:p>
            <a:endParaRPr lang="es-ES" sz="2500" b="1" dirty="0"/>
          </a:p>
          <a:p>
            <a:endParaRPr lang="es-ES" dirty="0"/>
          </a:p>
          <a:p>
            <a:endParaRPr lang="es-ES" dirty="0"/>
          </a:p>
          <a:p>
            <a:pPr marL="201295" lvl="1" indent="0">
              <a:buNone/>
            </a:pPr>
            <a:endParaRPr lang="es-ES" b="1" dirty="0"/>
          </a:p>
        </p:txBody>
      </p:sp>
      <p:pic>
        <p:nvPicPr>
          <p:cNvPr id="5" name="Imagen 4"/>
          <p:cNvPicPr>
            <a:picLocks noChangeAspect="1"/>
          </p:cNvPicPr>
          <p:nvPr/>
        </p:nvPicPr>
        <p:blipFill rotWithShape="1">
          <a:blip r:embed="rId1"/>
          <a:srcRect b="72945"/>
          <a:stretch>
            <a:fillRect/>
          </a:stretch>
        </p:blipFill>
        <p:spPr>
          <a:xfrm>
            <a:off x="5022941" y="2539835"/>
            <a:ext cx="6219825" cy="644236"/>
          </a:xfrm>
          <a:prstGeom prst="rect">
            <a:avLst/>
          </a:prstGeom>
        </p:spPr>
      </p:pic>
      <p:sp>
        <p:nvSpPr>
          <p:cNvPr id="4" name="Rectángulo 3"/>
          <p:cNvSpPr/>
          <p:nvPr/>
        </p:nvSpPr>
        <p:spPr>
          <a:xfrm>
            <a:off x="605642" y="3184071"/>
            <a:ext cx="10637124" cy="2954655"/>
          </a:xfrm>
          <a:prstGeom prst="rect">
            <a:avLst/>
          </a:prstGeom>
        </p:spPr>
        <p:txBody>
          <a:bodyPr wrap="square">
            <a:spAutoFit/>
          </a:bodyPr>
          <a:lstStyle/>
          <a:p>
            <a:r>
              <a:rPr lang="es-ES" sz="1400" dirty="0">
                <a:solidFill>
                  <a:srgbClr val="333333"/>
                </a:solidFill>
              </a:rPr>
              <a:t>Interpretación de la salida </a:t>
            </a:r>
            <a:r>
              <a:rPr lang="es-ES" sz="1400" dirty="0" err="1">
                <a:solidFill>
                  <a:srgbClr val="333333"/>
                </a:solidFill>
              </a:rPr>
              <a:t>ntpq</a:t>
            </a:r>
            <a:r>
              <a:rPr lang="es-ES" sz="1400" dirty="0">
                <a:solidFill>
                  <a:srgbClr val="333333"/>
                </a:solidFill>
              </a:rPr>
              <a:t> :</a:t>
            </a:r>
            <a:endParaRPr lang="es-ES" sz="1400" dirty="0">
              <a:solidFill>
                <a:srgbClr val="333333"/>
              </a:solidFill>
            </a:endParaRPr>
          </a:p>
          <a:p>
            <a:pPr marL="285750" indent="-285750">
              <a:buFont typeface="Arial" panose="020B0604020202020204" pitchFamily="34" charset="0"/>
              <a:buChar char="•"/>
            </a:pPr>
            <a:r>
              <a:rPr lang="es-ES" sz="1400" b="1" dirty="0" err="1">
                <a:solidFill>
                  <a:srgbClr val="333333"/>
                </a:solidFill>
              </a:rPr>
              <a:t>remote</a:t>
            </a:r>
            <a:r>
              <a:rPr lang="es-ES" sz="1400" dirty="0">
                <a:solidFill>
                  <a:srgbClr val="333333"/>
                </a:solidFill>
              </a:rPr>
              <a:t>: Muestra los servidores configurados con los que sincronizar la hora. </a:t>
            </a:r>
            <a:endParaRPr lang="es-ES" sz="1400" dirty="0">
              <a:solidFill>
                <a:srgbClr val="333333"/>
              </a:solidFill>
            </a:endParaRPr>
          </a:p>
          <a:p>
            <a:pPr marL="285750" indent="-285750">
              <a:buFont typeface="Arial" panose="020B0604020202020204" pitchFamily="34" charset="0"/>
              <a:buChar char="•"/>
            </a:pPr>
            <a:r>
              <a:rPr lang="es-ES" sz="1400" b="1" dirty="0" err="1">
                <a:solidFill>
                  <a:srgbClr val="333333"/>
                </a:solidFill>
              </a:rPr>
              <a:t>refid</a:t>
            </a:r>
            <a:r>
              <a:rPr lang="es-ES" sz="1400" dirty="0">
                <a:solidFill>
                  <a:srgbClr val="333333"/>
                </a:solidFill>
              </a:rPr>
              <a:t>: Referencia los servidores a los que sincroniza cada sistema ‘</a:t>
            </a:r>
            <a:r>
              <a:rPr lang="es-ES" sz="1400" i="1" dirty="0" err="1">
                <a:solidFill>
                  <a:srgbClr val="333333"/>
                </a:solidFill>
              </a:rPr>
              <a:t>remote</a:t>
            </a:r>
            <a:r>
              <a:rPr lang="es-ES" sz="1400" dirty="0">
                <a:solidFill>
                  <a:srgbClr val="333333"/>
                </a:solidFill>
              </a:rPr>
              <a:t>‘</a:t>
            </a:r>
            <a:endParaRPr lang="es-ES" sz="1400" dirty="0">
              <a:solidFill>
                <a:srgbClr val="333333"/>
              </a:solidFill>
            </a:endParaRPr>
          </a:p>
          <a:p>
            <a:pPr marL="285750" indent="-285750">
              <a:buFont typeface="Arial" panose="020B0604020202020204" pitchFamily="34" charset="0"/>
              <a:buChar char="•"/>
            </a:pPr>
            <a:r>
              <a:rPr lang="es-ES" sz="1400" b="1" dirty="0" err="1">
                <a:solidFill>
                  <a:srgbClr val="333333"/>
                </a:solidFill>
              </a:rPr>
              <a:t>st</a:t>
            </a:r>
            <a:r>
              <a:rPr lang="es-ES" sz="1400" dirty="0">
                <a:solidFill>
                  <a:srgbClr val="333333"/>
                </a:solidFill>
              </a:rPr>
              <a:t>: Muestra el estrato del servidor, en nuestro caso 2 y 3.</a:t>
            </a:r>
            <a:endParaRPr lang="es-ES" sz="1400" dirty="0">
              <a:solidFill>
                <a:srgbClr val="333333"/>
              </a:solidFill>
            </a:endParaRPr>
          </a:p>
          <a:p>
            <a:pPr marL="285750" indent="-285750">
              <a:buFont typeface="Arial" panose="020B0604020202020204" pitchFamily="34" charset="0"/>
              <a:buChar char="•"/>
            </a:pPr>
            <a:r>
              <a:rPr lang="es-ES" sz="1400" b="1" dirty="0">
                <a:solidFill>
                  <a:srgbClr val="333333"/>
                </a:solidFill>
              </a:rPr>
              <a:t>t</a:t>
            </a:r>
            <a:r>
              <a:rPr lang="es-ES" sz="1400" dirty="0">
                <a:solidFill>
                  <a:srgbClr val="333333"/>
                </a:solidFill>
              </a:rPr>
              <a:t>: Los tipos disponibles (</a:t>
            </a:r>
            <a:r>
              <a:rPr lang="es-ES" sz="1400" b="1" dirty="0">
                <a:solidFill>
                  <a:srgbClr val="333333"/>
                </a:solidFill>
              </a:rPr>
              <a:t>u</a:t>
            </a:r>
            <a:r>
              <a:rPr lang="es-ES" sz="1400" dirty="0">
                <a:solidFill>
                  <a:srgbClr val="333333"/>
                </a:solidFill>
              </a:rPr>
              <a:t>: </a:t>
            </a:r>
            <a:r>
              <a:rPr lang="es-ES" sz="1400" dirty="0" err="1">
                <a:solidFill>
                  <a:srgbClr val="333333"/>
                </a:solidFill>
              </a:rPr>
              <a:t>unicast</a:t>
            </a:r>
            <a:r>
              <a:rPr lang="es-ES" sz="1400" dirty="0">
                <a:solidFill>
                  <a:srgbClr val="333333"/>
                </a:solidFill>
              </a:rPr>
              <a:t>, es el mas común. </a:t>
            </a:r>
            <a:r>
              <a:rPr lang="es-ES" sz="1400" b="1" dirty="0">
                <a:solidFill>
                  <a:srgbClr val="333333"/>
                </a:solidFill>
              </a:rPr>
              <a:t>l</a:t>
            </a:r>
            <a:r>
              <a:rPr lang="es-ES" sz="1400" dirty="0">
                <a:solidFill>
                  <a:srgbClr val="333333"/>
                </a:solidFill>
              </a:rPr>
              <a:t>: local, </a:t>
            </a:r>
            <a:r>
              <a:rPr lang="es-ES" sz="1400" b="1" dirty="0">
                <a:solidFill>
                  <a:srgbClr val="333333"/>
                </a:solidFill>
              </a:rPr>
              <a:t>m</a:t>
            </a:r>
            <a:r>
              <a:rPr lang="es-ES" sz="1400" dirty="0">
                <a:solidFill>
                  <a:srgbClr val="333333"/>
                </a:solidFill>
              </a:rPr>
              <a:t>: </a:t>
            </a:r>
            <a:r>
              <a:rPr lang="es-ES" sz="1400" dirty="0" err="1">
                <a:solidFill>
                  <a:srgbClr val="333333"/>
                </a:solidFill>
              </a:rPr>
              <a:t>multicast</a:t>
            </a:r>
            <a:r>
              <a:rPr lang="es-ES" sz="1400" dirty="0">
                <a:solidFill>
                  <a:srgbClr val="333333"/>
                </a:solidFill>
              </a:rPr>
              <a:t>, </a:t>
            </a:r>
            <a:r>
              <a:rPr lang="es-ES" sz="1400" b="1" dirty="0">
                <a:solidFill>
                  <a:srgbClr val="333333"/>
                </a:solidFill>
              </a:rPr>
              <a:t>b</a:t>
            </a:r>
            <a:r>
              <a:rPr lang="es-ES" sz="1400" dirty="0">
                <a:solidFill>
                  <a:srgbClr val="333333"/>
                </a:solidFill>
              </a:rPr>
              <a:t>: broadcast,</a:t>
            </a:r>
            <a:r>
              <a:rPr lang="es-ES" sz="1400" b="1" dirty="0">
                <a:solidFill>
                  <a:srgbClr val="333333"/>
                </a:solidFill>
              </a:rPr>
              <a:t> –</a:t>
            </a:r>
            <a:r>
              <a:rPr lang="es-ES" sz="1400" dirty="0">
                <a:solidFill>
                  <a:srgbClr val="333333"/>
                </a:solidFill>
              </a:rPr>
              <a:t>: </a:t>
            </a:r>
            <a:r>
              <a:rPr lang="es-ES" sz="1400" dirty="0" err="1">
                <a:solidFill>
                  <a:srgbClr val="333333"/>
                </a:solidFill>
              </a:rPr>
              <a:t>netaddr</a:t>
            </a:r>
            <a:r>
              <a:rPr lang="es-ES" sz="1400" dirty="0">
                <a:solidFill>
                  <a:srgbClr val="333333"/>
                </a:solidFill>
              </a:rPr>
              <a:t>)</a:t>
            </a:r>
            <a:endParaRPr lang="es-ES" sz="1400" dirty="0">
              <a:solidFill>
                <a:srgbClr val="333333"/>
              </a:solidFill>
            </a:endParaRPr>
          </a:p>
          <a:p>
            <a:pPr marL="285750" indent="-285750">
              <a:buFont typeface="Arial" panose="020B0604020202020204" pitchFamily="34" charset="0"/>
              <a:buChar char="•"/>
            </a:pPr>
            <a:r>
              <a:rPr lang="es-ES" sz="1400" b="1" dirty="0" err="1">
                <a:solidFill>
                  <a:srgbClr val="333333"/>
                </a:solidFill>
              </a:rPr>
              <a:t>when</a:t>
            </a:r>
            <a:r>
              <a:rPr lang="es-ES" sz="1400" dirty="0">
                <a:solidFill>
                  <a:srgbClr val="333333"/>
                </a:solidFill>
              </a:rPr>
              <a:t>: Número de segundos transcurridos desde la última respuesta</a:t>
            </a:r>
            <a:endParaRPr lang="es-ES" sz="1400" dirty="0">
              <a:solidFill>
                <a:srgbClr val="333333"/>
              </a:solidFill>
            </a:endParaRPr>
          </a:p>
          <a:p>
            <a:pPr marL="285750" indent="-285750">
              <a:buFont typeface="Arial" panose="020B0604020202020204" pitchFamily="34" charset="0"/>
              <a:buChar char="•"/>
            </a:pPr>
            <a:r>
              <a:rPr lang="es-ES" sz="1400" b="1" dirty="0" err="1">
                <a:solidFill>
                  <a:srgbClr val="333333"/>
                </a:solidFill>
              </a:rPr>
              <a:t>poll</a:t>
            </a:r>
            <a:r>
              <a:rPr lang="es-ES" sz="1400" dirty="0">
                <a:solidFill>
                  <a:srgbClr val="333333"/>
                </a:solidFill>
              </a:rPr>
              <a:t>: Intervalo de sondeo en segundos para las fuentes.</a:t>
            </a:r>
            <a:endParaRPr lang="es-ES" sz="1400" dirty="0">
              <a:solidFill>
                <a:srgbClr val="333333"/>
              </a:solidFill>
            </a:endParaRPr>
          </a:p>
          <a:p>
            <a:pPr marL="285750" indent="-285750">
              <a:buFont typeface="Arial" panose="020B0604020202020204" pitchFamily="34" charset="0"/>
              <a:buChar char="•"/>
            </a:pPr>
            <a:r>
              <a:rPr lang="es-ES" sz="1400" b="1" dirty="0" err="1">
                <a:solidFill>
                  <a:srgbClr val="333333"/>
                </a:solidFill>
              </a:rPr>
              <a:t>reach</a:t>
            </a:r>
            <a:r>
              <a:rPr lang="es-ES" sz="1400" dirty="0">
                <a:solidFill>
                  <a:srgbClr val="333333"/>
                </a:solidFill>
              </a:rPr>
              <a:t>: Código que indica si ha fracasado o ha tenido éxito (377) la localización de la fuente.</a:t>
            </a:r>
            <a:endParaRPr lang="es-ES" sz="1400" dirty="0">
              <a:solidFill>
                <a:srgbClr val="333333"/>
              </a:solidFill>
            </a:endParaRPr>
          </a:p>
          <a:p>
            <a:pPr marL="285750" indent="-285750">
              <a:buFont typeface="Arial" panose="020B0604020202020204" pitchFamily="34" charset="0"/>
              <a:buChar char="•"/>
            </a:pPr>
            <a:r>
              <a:rPr lang="es-ES" sz="1400" b="1" dirty="0" err="1">
                <a:solidFill>
                  <a:srgbClr val="333333"/>
                </a:solidFill>
              </a:rPr>
              <a:t>delay</a:t>
            </a:r>
            <a:r>
              <a:rPr lang="es-ES" sz="1400" dirty="0">
                <a:solidFill>
                  <a:srgbClr val="333333"/>
                </a:solidFill>
              </a:rPr>
              <a:t>: Indica el tiempo de ida y vuelta del paquete de respuesta (en milisegundos)</a:t>
            </a:r>
            <a:endParaRPr lang="es-ES" sz="1400" dirty="0">
              <a:solidFill>
                <a:srgbClr val="333333"/>
              </a:solidFill>
            </a:endParaRPr>
          </a:p>
          <a:p>
            <a:pPr marL="285750" indent="-285750">
              <a:buFont typeface="Arial" panose="020B0604020202020204" pitchFamily="34" charset="0"/>
              <a:buChar char="•"/>
            </a:pPr>
            <a:r>
              <a:rPr lang="es-ES" sz="1400" b="1" dirty="0">
                <a:solidFill>
                  <a:srgbClr val="333333"/>
                </a:solidFill>
              </a:rPr>
              <a:t>offset</a:t>
            </a:r>
            <a:r>
              <a:rPr lang="es-ES" sz="1400" dirty="0">
                <a:solidFill>
                  <a:srgbClr val="333333"/>
                </a:solidFill>
              </a:rPr>
              <a:t>: Indica el desfase de tiempo entre el cliente y el servidor</a:t>
            </a:r>
            <a:endParaRPr lang="es-ES" sz="1400" dirty="0">
              <a:solidFill>
                <a:srgbClr val="333333"/>
              </a:solidFill>
            </a:endParaRPr>
          </a:p>
          <a:p>
            <a:pPr marL="285750" indent="-285750">
              <a:buFont typeface="Arial" panose="020B0604020202020204" pitchFamily="34" charset="0"/>
              <a:buChar char="•"/>
            </a:pPr>
            <a:r>
              <a:rPr lang="es-ES" sz="1400" b="1" dirty="0" err="1">
                <a:solidFill>
                  <a:srgbClr val="333333"/>
                </a:solidFill>
              </a:rPr>
              <a:t>jitter</a:t>
            </a:r>
            <a:r>
              <a:rPr lang="es-ES" sz="1400" dirty="0">
                <a:solidFill>
                  <a:srgbClr val="333333"/>
                </a:solidFill>
              </a:rPr>
              <a:t>: Indica la diferencia de tiempo entre dos muestras (en milisegundos)</a:t>
            </a:r>
            <a:endParaRPr lang="es-ES" sz="1400" dirty="0">
              <a:solidFill>
                <a:srgbClr val="333333"/>
              </a:solidFill>
            </a:endParaRPr>
          </a:p>
          <a:p>
            <a:pPr marL="285750" indent="-285750">
              <a:buFont typeface="Arial" panose="020B0604020202020204" pitchFamily="34" charset="0"/>
              <a:buChar char="•"/>
            </a:pPr>
            <a:endParaRPr lang="es-ES" sz="1400" dirty="0">
              <a:solidFill>
                <a:srgbClr val="333333"/>
              </a:solidFill>
            </a:endParaRPr>
          </a:p>
          <a:p>
            <a:r>
              <a:rPr lang="es-ES" sz="1400" dirty="0">
                <a:solidFill>
                  <a:srgbClr val="333333"/>
                </a:solidFill>
              </a:rPr>
              <a:t>Podemos comprobar cuanto de desfasado está el reloj del sistema con:  </a:t>
            </a:r>
            <a:r>
              <a:rPr lang="es-ES" b="1" dirty="0" err="1"/>
              <a:t>ntpdc</a:t>
            </a:r>
            <a:r>
              <a:rPr lang="es-ES" b="1" dirty="0"/>
              <a:t> -c </a:t>
            </a:r>
            <a:r>
              <a:rPr lang="es-ES" b="1" dirty="0" err="1"/>
              <a:t>loopinfo</a:t>
            </a:r>
            <a:endParaRPr lang="es-ES" sz="1400" dirty="0">
              <a:solidFill>
                <a:srgbClr val="333333"/>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854765"/>
            <a:ext cx="10058400" cy="882595"/>
          </a:xfrm>
        </p:spPr>
        <p:txBody>
          <a:bodyPr/>
          <a:lstStyle/>
          <a:p>
            <a:r>
              <a:rPr lang="es-ES" dirty="0"/>
              <a:t>Ventanas X, localización e impresión</a:t>
            </a:r>
            <a:endParaRPr lang="es-ES" dirty="0"/>
          </a:p>
        </p:txBody>
      </p:sp>
      <p:sp>
        <p:nvSpPr>
          <p:cNvPr id="3" name="Marcador de contenido 2"/>
          <p:cNvSpPr>
            <a:spLocks noGrp="1"/>
          </p:cNvSpPr>
          <p:nvPr>
            <p:ph idx="1"/>
          </p:nvPr>
        </p:nvSpPr>
        <p:spPr>
          <a:xfrm>
            <a:off x="605642" y="1888177"/>
            <a:ext cx="10550038" cy="4255063"/>
          </a:xfrm>
        </p:spPr>
        <p:txBody>
          <a:bodyPr>
            <a:normAutofit/>
          </a:bodyPr>
          <a:lstStyle/>
          <a:p>
            <a:r>
              <a:rPr lang="es-ES" sz="1600" b="1" dirty="0"/>
              <a:t>AJUSTAR LA HORA Y LA CONFIGURACIÓN LOCAL</a:t>
            </a:r>
            <a:endParaRPr lang="es-ES" sz="1600" b="1" dirty="0"/>
          </a:p>
          <a:p>
            <a:pPr marL="0" eaLnBrk="0" fontAlgn="base" hangingPunct="0">
              <a:spcBef>
                <a:spcPct val="0"/>
              </a:spcBef>
              <a:spcAft>
                <a:spcPct val="0"/>
              </a:spcAft>
            </a:pPr>
            <a:r>
              <a:rPr lang="es-ES" b="1" dirty="0">
                <a:solidFill>
                  <a:schemeClr val="tx1"/>
                </a:solidFill>
                <a:latin typeface="Arial" panose="020B0604020202020204" pitchFamily="34" charset="0"/>
              </a:rPr>
              <a:t>Configurando un cliente NTP</a:t>
            </a:r>
            <a:endParaRPr lang="es-ES" b="1" dirty="0">
              <a:solidFill>
                <a:schemeClr val="tx1"/>
              </a:solidFill>
              <a:latin typeface="Arial" panose="020B0604020202020204" pitchFamily="34" charset="0"/>
            </a:endParaRPr>
          </a:p>
          <a:p>
            <a:pPr marL="0" eaLnBrk="0" fontAlgn="base" hangingPunct="0">
              <a:spcBef>
                <a:spcPct val="0"/>
              </a:spcBef>
              <a:spcAft>
                <a:spcPct val="0"/>
              </a:spcAft>
            </a:pPr>
            <a:endParaRPr lang="es-ES" b="1" dirty="0">
              <a:solidFill>
                <a:schemeClr val="tx1"/>
              </a:solidFill>
              <a:latin typeface="Arial" panose="020B0604020202020204" pitchFamily="34" charset="0"/>
            </a:endParaRPr>
          </a:p>
          <a:p>
            <a:endParaRPr lang="es-ES" sz="2800" dirty="0"/>
          </a:p>
          <a:p>
            <a:endParaRPr lang="es-ES" sz="2500" b="1" dirty="0"/>
          </a:p>
          <a:p>
            <a:endParaRPr lang="es-ES" dirty="0"/>
          </a:p>
          <a:p>
            <a:endParaRPr lang="es-ES" dirty="0"/>
          </a:p>
          <a:p>
            <a:pPr marL="201295" lvl="1" indent="0">
              <a:buNone/>
            </a:pPr>
            <a:endParaRPr lang="es-ES" b="1" dirty="0"/>
          </a:p>
        </p:txBody>
      </p:sp>
      <p:sp>
        <p:nvSpPr>
          <p:cNvPr id="4" name="Rectángulo 3"/>
          <p:cNvSpPr/>
          <p:nvPr/>
        </p:nvSpPr>
        <p:spPr>
          <a:xfrm>
            <a:off x="605642" y="2586915"/>
            <a:ext cx="10637124" cy="3570208"/>
          </a:xfrm>
          <a:prstGeom prst="rect">
            <a:avLst/>
          </a:prstGeom>
        </p:spPr>
        <p:txBody>
          <a:bodyPr wrap="square">
            <a:spAutoFit/>
          </a:bodyPr>
          <a:lstStyle/>
          <a:p>
            <a:r>
              <a:rPr lang="es-ES" sz="1600" dirty="0"/>
              <a:t>La configuración de los clientes es similar a la de los servidores con un par de excepciones:</a:t>
            </a:r>
            <a:endParaRPr lang="es-ES" sz="1600" dirty="0"/>
          </a:p>
          <a:p>
            <a:r>
              <a:rPr lang="es-ES" sz="1600" dirty="0"/>
              <a:t>Se configuran de modo que hagan referencia al servidor o los servidores </a:t>
            </a:r>
            <a:r>
              <a:rPr lang="es-ES" sz="1600" i="1" dirty="0"/>
              <a:t>NTP</a:t>
            </a:r>
            <a:r>
              <a:rPr lang="es-ES" sz="1600" dirty="0"/>
              <a:t> que se hayan configurado en un entorno local y no a fuentes externas.</a:t>
            </a:r>
            <a:endParaRPr lang="es-ES" sz="1600" dirty="0"/>
          </a:p>
          <a:p>
            <a:endParaRPr lang="es-ES" sz="1600" dirty="0"/>
          </a:p>
          <a:p>
            <a:r>
              <a:rPr lang="es-ES" sz="1600" dirty="0"/>
              <a:t>Como medida de seguridad es recomendable asegurarse de que no se puede acceder a sus clientes </a:t>
            </a:r>
            <a:r>
              <a:rPr lang="es-ES" sz="1600" i="1" dirty="0"/>
              <a:t>NTP</a:t>
            </a:r>
            <a:r>
              <a:rPr lang="es-ES" sz="1600" dirty="0"/>
              <a:t> como si se tratase de servidores. Esto se puede hacer bien con una regla de cortafuegos o con la línea ‘</a:t>
            </a:r>
            <a:r>
              <a:rPr lang="es-ES" sz="1600" i="1" dirty="0" err="1"/>
              <a:t>restrict</a:t>
            </a:r>
            <a:r>
              <a:rPr lang="es-ES" sz="1600" i="1" dirty="0"/>
              <a:t> default ignore</a:t>
            </a:r>
            <a:r>
              <a:rPr lang="es-ES" sz="1600" dirty="0"/>
              <a:t>‘ de </a:t>
            </a:r>
            <a:r>
              <a:rPr lang="es-ES" sz="1600" i="1" dirty="0" err="1"/>
              <a:t>ntp.conf</a:t>
            </a:r>
            <a:r>
              <a:rPr lang="es-ES" sz="1600" dirty="0"/>
              <a:t> o con ambas.</a:t>
            </a:r>
            <a:endParaRPr lang="es-ES" sz="1600" dirty="0"/>
          </a:p>
          <a:p>
            <a:endParaRPr lang="es-ES" sz="1600" dirty="0"/>
          </a:p>
          <a:p>
            <a:r>
              <a:rPr lang="es-ES" sz="1600" dirty="0"/>
              <a:t>Cuando haya configurado un cliente, reinicie su demonio </a:t>
            </a:r>
            <a:r>
              <a:rPr lang="es-ES" sz="1600" i="1" dirty="0"/>
              <a:t>NTP</a:t>
            </a:r>
            <a:r>
              <a:rPr lang="es-ES" sz="1600" dirty="0"/>
              <a:t>. Entonces, podrá utilizar </a:t>
            </a:r>
            <a:r>
              <a:rPr lang="es-ES" sz="1600" i="1" dirty="0" err="1"/>
              <a:t>ntpq</a:t>
            </a:r>
            <a:r>
              <a:rPr lang="es-ES" sz="1600" dirty="0"/>
              <a:t> para verificar el estado. En algunos casos, es mas sencillo configurar la hora en un cliente utilizando el comando </a:t>
            </a:r>
            <a:r>
              <a:rPr lang="es-ES" sz="1600" b="1" dirty="0" err="1"/>
              <a:t>ntpdate</a:t>
            </a:r>
            <a:r>
              <a:rPr lang="es-ES" sz="1600" dirty="0"/>
              <a:t>. Este programa forma parte de la suite </a:t>
            </a:r>
            <a:r>
              <a:rPr lang="es-ES" sz="1600" i="1" dirty="0"/>
              <a:t>NTP</a:t>
            </a:r>
            <a:r>
              <a:rPr lang="es-ES" sz="1600" dirty="0"/>
              <a:t> y configura el reloj en un solo paso. El comando </a:t>
            </a:r>
            <a:r>
              <a:rPr lang="es-ES" sz="1600" i="1" dirty="0" err="1"/>
              <a:t>ntpdate</a:t>
            </a:r>
            <a:r>
              <a:rPr lang="es-ES" sz="1600" dirty="0"/>
              <a:t> ha caído en desuso y podría desaparecer del paquete </a:t>
            </a:r>
            <a:r>
              <a:rPr lang="es-ES" sz="1600" i="1" dirty="0"/>
              <a:t>NTP</a:t>
            </a:r>
            <a:r>
              <a:rPr lang="es-ES" sz="1600" dirty="0"/>
              <a:t> en cualquier </a:t>
            </a:r>
            <a:r>
              <a:rPr lang="es-ES" sz="1600" dirty="0" err="1"/>
              <a:t>momento.Aún</a:t>
            </a:r>
            <a:r>
              <a:rPr lang="es-ES" sz="1600" dirty="0"/>
              <a:t> así podemos probar con la siguiente sintaxis (con la opción –g podemos configurar el reloj en un solo paso):</a:t>
            </a:r>
            <a:endParaRPr lang="es-ES" sz="1600" dirty="0"/>
          </a:p>
          <a:p>
            <a:endParaRPr lang="es-ES" dirty="0"/>
          </a:p>
        </p:txBody>
      </p:sp>
      <p:pic>
        <p:nvPicPr>
          <p:cNvPr id="6" name="Imagen 5"/>
          <p:cNvPicPr>
            <a:picLocks noChangeAspect="1"/>
          </p:cNvPicPr>
          <p:nvPr/>
        </p:nvPicPr>
        <p:blipFill>
          <a:blip r:embed="rId1"/>
          <a:stretch>
            <a:fillRect/>
          </a:stretch>
        </p:blipFill>
        <p:spPr>
          <a:xfrm>
            <a:off x="7442972" y="5676860"/>
            <a:ext cx="2562225" cy="56197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854765"/>
            <a:ext cx="10058400" cy="882595"/>
          </a:xfrm>
        </p:spPr>
        <p:txBody>
          <a:bodyPr/>
          <a:lstStyle/>
          <a:p>
            <a:r>
              <a:rPr lang="es-ES" dirty="0"/>
              <a:t>Ventanas X, localización e impresión</a:t>
            </a:r>
            <a:endParaRPr lang="es-ES" dirty="0"/>
          </a:p>
        </p:txBody>
      </p:sp>
      <p:sp>
        <p:nvSpPr>
          <p:cNvPr id="3" name="Marcador de contenido 2"/>
          <p:cNvSpPr>
            <a:spLocks noGrp="1"/>
          </p:cNvSpPr>
          <p:nvPr>
            <p:ph idx="1"/>
          </p:nvPr>
        </p:nvSpPr>
        <p:spPr>
          <a:xfrm>
            <a:off x="605642" y="1888177"/>
            <a:ext cx="10550038" cy="4255063"/>
          </a:xfrm>
        </p:spPr>
        <p:txBody>
          <a:bodyPr>
            <a:normAutofit/>
          </a:bodyPr>
          <a:lstStyle/>
          <a:p>
            <a:r>
              <a:rPr lang="es-ES" sz="1600" b="1" dirty="0"/>
              <a:t>CONFIGURAR LA CONFIGURACIÓN LOCAL</a:t>
            </a:r>
            <a:endParaRPr lang="es-ES" sz="1600" b="1" dirty="0"/>
          </a:p>
          <a:p>
            <a:pPr marL="0" eaLnBrk="0" fontAlgn="base" hangingPunct="0">
              <a:spcBef>
                <a:spcPct val="0"/>
              </a:spcBef>
              <a:spcAft>
                <a:spcPct val="0"/>
              </a:spcAft>
            </a:pPr>
            <a:endParaRPr lang="es-ES" b="1" dirty="0">
              <a:solidFill>
                <a:schemeClr val="tx1"/>
              </a:solidFill>
              <a:latin typeface="Arial" panose="020B0604020202020204" pitchFamily="34" charset="0"/>
            </a:endParaRPr>
          </a:p>
          <a:p>
            <a:pPr marL="0" indent="0">
              <a:buNone/>
            </a:pPr>
            <a:endParaRPr lang="es-ES" sz="2800" dirty="0"/>
          </a:p>
          <a:p>
            <a:endParaRPr lang="es-ES" sz="2500" b="1" dirty="0"/>
          </a:p>
          <a:p>
            <a:endParaRPr lang="es-ES" dirty="0"/>
          </a:p>
          <a:p>
            <a:endParaRPr lang="es-ES" dirty="0"/>
          </a:p>
          <a:p>
            <a:pPr marL="201295" lvl="1" indent="0">
              <a:buNone/>
            </a:pPr>
            <a:endParaRPr lang="es-ES" b="1" dirty="0"/>
          </a:p>
        </p:txBody>
      </p:sp>
      <p:sp>
        <p:nvSpPr>
          <p:cNvPr id="4" name="Rectángulo 3"/>
          <p:cNvSpPr/>
          <p:nvPr/>
        </p:nvSpPr>
        <p:spPr>
          <a:xfrm>
            <a:off x="605642" y="2231406"/>
            <a:ext cx="10637124" cy="4062651"/>
          </a:xfrm>
          <a:prstGeom prst="rect">
            <a:avLst/>
          </a:prstGeom>
        </p:spPr>
        <p:txBody>
          <a:bodyPr wrap="square">
            <a:spAutoFit/>
          </a:bodyPr>
          <a:lstStyle/>
          <a:p>
            <a:r>
              <a:rPr lang="es-ES" sz="1600" dirty="0"/>
              <a:t>La configuración local es un modo de especificar el idioma, el país del ordenador o usuario y la información relacionada relativa a la personalización de la visualización del entorno.</a:t>
            </a:r>
            <a:endParaRPr lang="es-ES" sz="1600" dirty="0"/>
          </a:p>
          <a:p>
            <a:r>
              <a:rPr lang="es-ES" sz="1600" dirty="0"/>
              <a:t>Código de configuración local:</a:t>
            </a:r>
            <a:endParaRPr lang="es-ES" sz="1600" dirty="0"/>
          </a:p>
          <a:p>
            <a:endParaRPr lang="es-ES" sz="1600" dirty="0"/>
          </a:p>
          <a:p>
            <a:endParaRPr lang="es-ES" sz="1600" dirty="0"/>
          </a:p>
          <a:p>
            <a:pPr marL="285750" indent="-285750">
              <a:buFont typeface="Arial" panose="020B0604020202020204" pitchFamily="34" charset="0"/>
              <a:buChar char="•"/>
            </a:pPr>
            <a:r>
              <a:rPr lang="es-ES" sz="1600" i="1" dirty="0"/>
              <a:t>Idioma</a:t>
            </a:r>
            <a:r>
              <a:rPr lang="es-ES" sz="1600" dirty="0"/>
              <a:t>: </a:t>
            </a:r>
            <a:r>
              <a:rPr lang="es-ES" sz="1600" b="1" dirty="0"/>
              <a:t>en</a:t>
            </a:r>
            <a:r>
              <a:rPr lang="es-ES" sz="1600" dirty="0"/>
              <a:t> (inglés), </a:t>
            </a:r>
            <a:r>
              <a:rPr lang="es-ES" sz="1600" b="1" dirty="0" err="1"/>
              <a:t>fr</a:t>
            </a:r>
            <a:r>
              <a:rPr lang="es-ES" sz="1600" dirty="0"/>
              <a:t> (francés), </a:t>
            </a:r>
            <a:r>
              <a:rPr lang="es-ES" sz="1600" b="1" dirty="0"/>
              <a:t>es</a:t>
            </a:r>
            <a:r>
              <a:rPr lang="es-ES" sz="1600" dirty="0"/>
              <a:t> (español), etc..</a:t>
            </a:r>
            <a:endParaRPr lang="es-ES" sz="1600" dirty="0"/>
          </a:p>
          <a:p>
            <a:pPr marL="285750" indent="-285750">
              <a:buFont typeface="Arial" panose="020B0604020202020204" pitchFamily="34" charset="0"/>
              <a:buChar char="•"/>
            </a:pPr>
            <a:r>
              <a:rPr lang="es-ES" sz="1600" i="1" dirty="0"/>
              <a:t>Territorio</a:t>
            </a:r>
            <a:r>
              <a:rPr lang="es-ES" sz="1600" dirty="0"/>
              <a:t>: </a:t>
            </a:r>
            <a:r>
              <a:rPr lang="es-ES" sz="1600" b="1" dirty="0"/>
              <a:t>FR</a:t>
            </a:r>
            <a:r>
              <a:rPr lang="es-ES" sz="1600" dirty="0"/>
              <a:t> (Francia), </a:t>
            </a:r>
            <a:r>
              <a:rPr lang="es-ES" sz="1600" b="1" dirty="0"/>
              <a:t>JP</a:t>
            </a:r>
            <a:r>
              <a:rPr lang="es-ES" sz="1600" dirty="0"/>
              <a:t> (Japón), </a:t>
            </a:r>
            <a:r>
              <a:rPr lang="es-ES" sz="1600" b="1" dirty="0"/>
              <a:t>US</a:t>
            </a:r>
            <a:r>
              <a:rPr lang="es-ES" sz="1600" dirty="0"/>
              <a:t> (Estados Unidos)…</a:t>
            </a:r>
            <a:endParaRPr lang="es-ES" sz="1600" dirty="0"/>
          </a:p>
          <a:p>
            <a:pPr marL="285750" indent="-285750">
              <a:buFont typeface="Arial" panose="020B0604020202020204" pitchFamily="34" charset="0"/>
              <a:buChar char="•"/>
            </a:pPr>
            <a:r>
              <a:rPr lang="es-ES" sz="1600" i="1" dirty="0"/>
              <a:t>Conjunto de códigos</a:t>
            </a:r>
            <a:r>
              <a:rPr lang="es-ES" sz="1600" dirty="0"/>
              <a:t>: Son los métodos de codificación.</a:t>
            </a:r>
            <a:endParaRPr lang="es-ES" sz="1600" dirty="0"/>
          </a:p>
          <a:p>
            <a:pPr marL="742950" lvl="1" indent="-285750">
              <a:buFont typeface="Arial" panose="020B0604020202020204" pitchFamily="34" charset="0"/>
              <a:buChar char="•"/>
            </a:pPr>
            <a:r>
              <a:rPr lang="es-ES" sz="1600" b="1" dirty="0"/>
              <a:t>ASCII</a:t>
            </a:r>
            <a:r>
              <a:rPr lang="es-ES" sz="1600" dirty="0"/>
              <a:t>: Método de codificación mas antiguo y primitivo, emplea codificación de 7 bits, suele utilizarse para el inglés. No puede procesar los caracteres que se emplean en la mayoría de los otros idiomas.</a:t>
            </a:r>
            <a:endParaRPr lang="es-ES" sz="1600" dirty="0"/>
          </a:p>
          <a:p>
            <a:pPr marL="742950" lvl="1" indent="-285750">
              <a:buFont typeface="Arial" panose="020B0604020202020204" pitchFamily="34" charset="0"/>
              <a:buChar char="•"/>
            </a:pPr>
            <a:r>
              <a:rPr lang="es-ES" sz="1600" b="1" dirty="0"/>
              <a:t>ISO-8859</a:t>
            </a:r>
            <a:r>
              <a:rPr lang="es-ES" sz="1600" dirty="0"/>
              <a:t>: Fue uno de los primeros intentos de ampliar </a:t>
            </a:r>
            <a:r>
              <a:rPr lang="es-ES" sz="1600" i="1" dirty="0"/>
              <a:t>ASCII</a:t>
            </a:r>
            <a:r>
              <a:rPr lang="es-ES" sz="1600" dirty="0"/>
              <a:t>, </a:t>
            </a:r>
            <a:r>
              <a:rPr lang="es-ES" sz="1600" dirty="0" err="1"/>
              <a:t>empeando</a:t>
            </a:r>
            <a:r>
              <a:rPr lang="es-ES" sz="1600" dirty="0"/>
              <a:t> un octavo bit para ampliar </a:t>
            </a:r>
            <a:r>
              <a:rPr lang="es-ES" sz="1600" i="1" dirty="0"/>
              <a:t>ASCII</a:t>
            </a:r>
            <a:r>
              <a:rPr lang="es-ES" sz="1600" dirty="0"/>
              <a:t> a 128 caracteres. Se divide en muchos subestándares, por ejemplo </a:t>
            </a:r>
            <a:r>
              <a:rPr lang="es-ES" sz="1600" i="1" dirty="0"/>
              <a:t>ISO-8859-1</a:t>
            </a:r>
            <a:r>
              <a:rPr lang="es-ES" sz="1600" dirty="0"/>
              <a:t> que abarca los idiomas de Europa del este</a:t>
            </a:r>
            <a:endParaRPr lang="es-ES" sz="1600" dirty="0"/>
          </a:p>
          <a:p>
            <a:pPr marL="742950" lvl="1" indent="-285750">
              <a:buFont typeface="Arial" panose="020B0604020202020204" pitchFamily="34" charset="0"/>
              <a:buChar char="•"/>
            </a:pPr>
            <a:r>
              <a:rPr lang="es-ES" sz="1600" b="1" dirty="0"/>
              <a:t>UTF-8</a:t>
            </a:r>
            <a:r>
              <a:rPr lang="es-ES" sz="1600" dirty="0"/>
              <a:t>: </a:t>
            </a:r>
            <a:r>
              <a:rPr lang="es-ES" sz="1600" i="1" dirty="0"/>
              <a:t>8-bit Unicode </a:t>
            </a:r>
            <a:r>
              <a:rPr lang="es-ES" sz="1600" i="1" dirty="0" err="1"/>
              <a:t>Transformation</a:t>
            </a:r>
            <a:r>
              <a:rPr lang="es-ES" sz="1600" i="1" dirty="0"/>
              <a:t> </a:t>
            </a:r>
            <a:r>
              <a:rPr lang="es-ES" sz="1600" i="1" dirty="0" err="1"/>
              <a:t>Format</a:t>
            </a:r>
            <a:r>
              <a:rPr lang="es-ES" sz="1600" dirty="0"/>
              <a:t> o </a:t>
            </a:r>
            <a:r>
              <a:rPr lang="es-ES" sz="1600" i="1" dirty="0"/>
              <a:t>Formato de transformación Unicode de 8 bits</a:t>
            </a:r>
            <a:r>
              <a:rPr lang="es-ES" sz="1600" dirty="0"/>
              <a:t>.</a:t>
            </a:r>
            <a:endParaRPr lang="es-ES" sz="1600" dirty="0"/>
          </a:p>
          <a:p>
            <a:endParaRPr lang="es-ES" sz="1600" dirty="0"/>
          </a:p>
          <a:p>
            <a:endParaRPr lang="es-ES" dirty="0"/>
          </a:p>
        </p:txBody>
      </p:sp>
      <p:pic>
        <p:nvPicPr>
          <p:cNvPr id="5" name="Imagen 4"/>
          <p:cNvPicPr>
            <a:picLocks noChangeAspect="1"/>
          </p:cNvPicPr>
          <p:nvPr/>
        </p:nvPicPr>
        <p:blipFill>
          <a:blip r:embed="rId1"/>
          <a:stretch>
            <a:fillRect/>
          </a:stretch>
        </p:blipFill>
        <p:spPr>
          <a:xfrm>
            <a:off x="4233058" y="2867025"/>
            <a:ext cx="4343400" cy="56197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854765"/>
            <a:ext cx="10058400" cy="882595"/>
          </a:xfrm>
        </p:spPr>
        <p:txBody>
          <a:bodyPr/>
          <a:lstStyle/>
          <a:p>
            <a:r>
              <a:rPr lang="es-ES" dirty="0"/>
              <a:t>Ventanas X, localización e impresión</a:t>
            </a:r>
            <a:endParaRPr lang="es-ES" dirty="0"/>
          </a:p>
        </p:txBody>
      </p:sp>
      <p:sp>
        <p:nvSpPr>
          <p:cNvPr id="3" name="Marcador de contenido 2"/>
          <p:cNvSpPr>
            <a:spLocks noGrp="1"/>
          </p:cNvSpPr>
          <p:nvPr>
            <p:ph idx="1"/>
          </p:nvPr>
        </p:nvSpPr>
        <p:spPr>
          <a:xfrm>
            <a:off x="605642" y="1888177"/>
            <a:ext cx="10550038" cy="4255063"/>
          </a:xfrm>
        </p:spPr>
        <p:txBody>
          <a:bodyPr>
            <a:normAutofit/>
          </a:bodyPr>
          <a:lstStyle/>
          <a:p>
            <a:r>
              <a:rPr lang="es-ES" sz="1600" b="1" dirty="0"/>
              <a:t>CONFIGURAR LA CONFIGURACIÓN LOCAL</a:t>
            </a:r>
            <a:endParaRPr lang="es-ES" sz="1600" b="1" dirty="0"/>
          </a:p>
          <a:p>
            <a:r>
              <a:rPr lang="es-ES" sz="1600" b="1" dirty="0"/>
              <a:t>¿Cual es su configuración local?</a:t>
            </a:r>
            <a:endParaRPr lang="es-ES" sz="1600" b="1" dirty="0"/>
          </a:p>
          <a:p>
            <a:r>
              <a:rPr lang="es-ES" sz="1600" dirty="0"/>
              <a:t>El código de configuración local se puede asignar a una o varias variables de entorno. Ejecute el comando </a:t>
            </a:r>
            <a:r>
              <a:rPr lang="es-ES" sz="1600" b="1" dirty="0" err="1"/>
              <a:t>locale</a:t>
            </a:r>
            <a:r>
              <a:rPr lang="es-ES" sz="1600" dirty="0"/>
              <a:t> para saber cómo están configuradas en su sistema.</a:t>
            </a:r>
            <a:endParaRPr lang="es-ES" sz="1600" dirty="0"/>
          </a:p>
          <a:p>
            <a:r>
              <a:rPr lang="es-ES" sz="1600" dirty="0"/>
              <a:t>Cuando los programas consultan estas variables, realizan automáticamente ajustes en función de sus valores. La mayoría de estas variables de configuración local definen características obvias y específicas, como </a:t>
            </a:r>
            <a:r>
              <a:rPr lang="es-ES" sz="1600" i="1" dirty="0"/>
              <a:t>LC_PAPER</a:t>
            </a:r>
            <a:r>
              <a:rPr lang="es-ES" sz="1600" dirty="0"/>
              <a:t> (tamaño del papel), </a:t>
            </a:r>
            <a:r>
              <a:rPr lang="es-ES" sz="1600" i="1" dirty="0"/>
              <a:t>LC_MEASUREMENT</a:t>
            </a:r>
            <a:r>
              <a:rPr lang="es-ES" sz="1600" dirty="0"/>
              <a:t> (unidades de medidas), </a:t>
            </a:r>
            <a:r>
              <a:rPr lang="es-ES" sz="1600" dirty="0" err="1"/>
              <a:t>etc</a:t>
            </a:r>
            <a:r>
              <a:rPr lang="es-ES" sz="1600" dirty="0"/>
              <a:t>…</a:t>
            </a:r>
            <a:endParaRPr lang="es-ES" sz="1600" dirty="0"/>
          </a:p>
          <a:p>
            <a:r>
              <a:rPr lang="es-ES" sz="1600" dirty="0"/>
              <a:t>La variable</a:t>
            </a:r>
            <a:r>
              <a:rPr lang="es-ES" sz="1600" i="1" dirty="0"/>
              <a:t> LC_ALL</a:t>
            </a:r>
            <a:r>
              <a:rPr lang="es-ES" sz="1600" dirty="0"/>
              <a:t> se emplea para realizar lo que podríamos denominar invalidaciones maestras, es decir, invalida el resto de las variables </a:t>
            </a:r>
            <a:r>
              <a:rPr lang="es-ES" sz="1600" i="1" dirty="0"/>
              <a:t>LC_*</a:t>
            </a:r>
            <a:endParaRPr lang="es-ES" sz="1600" dirty="0"/>
          </a:p>
          <a:p>
            <a:r>
              <a:rPr lang="es-ES" sz="1600" dirty="0"/>
              <a:t>Otra variable relacionada es </a:t>
            </a:r>
            <a:r>
              <a:rPr lang="es-ES" sz="1600" i="1" dirty="0"/>
              <a:t>LANG</a:t>
            </a:r>
            <a:r>
              <a:rPr lang="es-ES" sz="1600" dirty="0"/>
              <a:t> que define la configuración local en caso de que las variables </a:t>
            </a:r>
            <a:r>
              <a:rPr lang="es-ES" sz="1600" i="1" dirty="0"/>
              <a:t>LC_*</a:t>
            </a:r>
            <a:r>
              <a:rPr lang="es-ES" sz="1600" dirty="0"/>
              <a:t> no se hayan definido. </a:t>
            </a:r>
            <a:r>
              <a:rPr lang="es-ES" sz="1600" b="1" i="1" dirty="0" err="1"/>
              <a:t>locale</a:t>
            </a:r>
            <a:r>
              <a:rPr lang="es-ES" sz="1600" b="1" i="1" dirty="0"/>
              <a:t> -a</a:t>
            </a:r>
            <a:r>
              <a:rPr lang="es-ES" sz="1600" dirty="0"/>
              <a:t> </a:t>
            </a:r>
            <a:r>
              <a:rPr lang="es-ES" sz="1600" dirty="0" err="1"/>
              <a:t>identidfica</a:t>
            </a:r>
            <a:r>
              <a:rPr lang="es-ES" sz="1600" dirty="0"/>
              <a:t> todas las configuraciones locales disponibles.</a:t>
            </a:r>
            <a:endParaRPr lang="es-ES" sz="1600" dirty="0"/>
          </a:p>
          <a:p>
            <a:endParaRPr lang="es-ES" sz="1600" b="1" dirty="0"/>
          </a:p>
          <a:p>
            <a:pPr marL="0" eaLnBrk="0" fontAlgn="base" hangingPunct="0">
              <a:spcBef>
                <a:spcPct val="0"/>
              </a:spcBef>
              <a:spcAft>
                <a:spcPct val="0"/>
              </a:spcAft>
            </a:pPr>
            <a:endParaRPr lang="es-ES" b="1" dirty="0">
              <a:solidFill>
                <a:schemeClr val="tx1"/>
              </a:solidFill>
              <a:latin typeface="Arial" panose="020B0604020202020204" pitchFamily="34" charset="0"/>
            </a:endParaRPr>
          </a:p>
          <a:p>
            <a:endParaRPr lang="es-ES" sz="2500" b="1" dirty="0"/>
          </a:p>
          <a:p>
            <a:endParaRPr lang="es-ES" dirty="0"/>
          </a:p>
          <a:p>
            <a:endParaRPr lang="es-ES" dirty="0"/>
          </a:p>
          <a:p>
            <a:pPr marL="201295" lvl="1" indent="0">
              <a:buNone/>
            </a:pPr>
            <a:endParaRPr lang="es-ES" b="1" dirty="0"/>
          </a:p>
        </p:txBody>
      </p:sp>
      <p:sp>
        <p:nvSpPr>
          <p:cNvPr id="4" name="Rectángulo 3"/>
          <p:cNvSpPr/>
          <p:nvPr/>
        </p:nvSpPr>
        <p:spPr>
          <a:xfrm>
            <a:off x="1199408" y="5865256"/>
            <a:ext cx="10637124" cy="615553"/>
          </a:xfrm>
          <a:prstGeom prst="rect">
            <a:avLst/>
          </a:prstGeom>
        </p:spPr>
        <p:txBody>
          <a:bodyPr wrap="square">
            <a:spAutoFit/>
          </a:bodyPr>
          <a:lstStyle/>
          <a:p>
            <a:endParaRPr lang="es-ES" sz="1600" dirty="0"/>
          </a:p>
          <a:p>
            <a:endParaRPr lang="es-E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854765"/>
            <a:ext cx="10058400" cy="882595"/>
          </a:xfrm>
        </p:spPr>
        <p:txBody>
          <a:bodyPr/>
          <a:lstStyle/>
          <a:p>
            <a:r>
              <a:rPr lang="es-ES" dirty="0"/>
              <a:t>Ventanas X, localización e impresión</a:t>
            </a:r>
            <a:endParaRPr lang="es-ES" dirty="0"/>
          </a:p>
        </p:txBody>
      </p:sp>
      <p:sp>
        <p:nvSpPr>
          <p:cNvPr id="3" name="Marcador de contenido 2"/>
          <p:cNvSpPr>
            <a:spLocks noGrp="1"/>
          </p:cNvSpPr>
          <p:nvPr>
            <p:ph idx="1"/>
          </p:nvPr>
        </p:nvSpPr>
        <p:spPr>
          <a:xfrm>
            <a:off x="605642" y="1888177"/>
            <a:ext cx="10550038" cy="4255063"/>
          </a:xfrm>
        </p:spPr>
        <p:txBody>
          <a:bodyPr>
            <a:normAutofit fontScale="25000" lnSpcReduction="20000"/>
          </a:bodyPr>
          <a:lstStyle/>
          <a:p>
            <a:r>
              <a:rPr lang="es-ES" sz="6400" b="1" dirty="0"/>
              <a:t>CONFIGURAR LA CONFIGURACIÓN LOCAL</a:t>
            </a:r>
            <a:endParaRPr lang="es-ES" sz="6400" b="1" dirty="0"/>
          </a:p>
          <a:p>
            <a:r>
              <a:rPr lang="es-ES" sz="5600" b="1" dirty="0"/>
              <a:t>Modificar su configuración local</a:t>
            </a:r>
            <a:endParaRPr lang="es-ES" sz="5600" b="1" dirty="0"/>
          </a:p>
          <a:p>
            <a:r>
              <a:rPr lang="es-ES" sz="4800" dirty="0"/>
              <a:t>Para cambiar su configuración local el método mas sencillo es definir la variable de entorno LC_ALL, por seguridad debería de definir también LANG en sus archivos de script de inicio de </a:t>
            </a:r>
            <a:r>
              <a:rPr lang="es-ES" sz="4800" dirty="0" err="1"/>
              <a:t>bash</a:t>
            </a:r>
            <a:r>
              <a:rPr lang="es-ES" sz="4800" dirty="0"/>
              <a:t>, como ~/.</a:t>
            </a:r>
            <a:r>
              <a:rPr lang="es-ES" sz="4800" dirty="0" err="1"/>
              <a:t>bashrc</a:t>
            </a:r>
            <a:r>
              <a:rPr lang="es-ES" sz="4800" dirty="0"/>
              <a:t> o /</a:t>
            </a:r>
            <a:r>
              <a:rPr lang="es-ES" sz="4800" dirty="0" err="1"/>
              <a:t>etc</a:t>
            </a:r>
            <a:r>
              <a:rPr lang="es-ES" sz="4800" dirty="0"/>
              <a:t>/</a:t>
            </a:r>
            <a:r>
              <a:rPr lang="es-ES" sz="4800" dirty="0" err="1"/>
              <a:t>profile</a:t>
            </a:r>
            <a:endParaRPr lang="es-ES" sz="4800" dirty="0"/>
          </a:p>
          <a:p>
            <a:endParaRPr lang="es-ES" sz="4800" b="1" dirty="0"/>
          </a:p>
          <a:p>
            <a:pPr marL="0" eaLnBrk="0" fontAlgn="base" hangingPunct="0">
              <a:spcBef>
                <a:spcPct val="0"/>
              </a:spcBef>
              <a:spcAft>
                <a:spcPct val="0"/>
              </a:spcAft>
            </a:pPr>
            <a:endParaRPr lang="es-ES" sz="4800" b="1" dirty="0">
              <a:solidFill>
                <a:schemeClr val="tx1"/>
              </a:solidFill>
            </a:endParaRPr>
          </a:p>
          <a:p>
            <a:r>
              <a:rPr lang="es-ES" sz="4800" dirty="0"/>
              <a:t>Cuando establece </a:t>
            </a:r>
            <a:r>
              <a:rPr lang="es-ES" sz="4800" b="1" i="1" dirty="0"/>
              <a:t>LANG=C</a:t>
            </a:r>
            <a:r>
              <a:rPr lang="es-ES" sz="4800" b="1" dirty="0"/>
              <a:t> </a:t>
            </a:r>
            <a:r>
              <a:rPr lang="es-ES" sz="4800" dirty="0"/>
              <a:t>los programas que ven esta variable de entorno muestran una salida que no ha pasado por el filtro de las traducciones de las configuraciones locales, útil en casos en los que la configuración local daña la salida de un programa.</a:t>
            </a:r>
            <a:endParaRPr lang="es-ES" sz="4800" dirty="0"/>
          </a:p>
          <a:p>
            <a:r>
              <a:rPr lang="es-ES" sz="4800" dirty="0"/>
              <a:t>A veces ocurre que un editor de texto admita </a:t>
            </a:r>
            <a:r>
              <a:rPr lang="es-ES" sz="4800" i="1" dirty="0"/>
              <a:t>UTF-8</a:t>
            </a:r>
            <a:r>
              <a:rPr lang="es-ES" sz="4800" dirty="0"/>
              <a:t> pero no</a:t>
            </a:r>
            <a:r>
              <a:rPr lang="es-ES" sz="4800" i="1" dirty="0"/>
              <a:t> ISO-8859</a:t>
            </a:r>
            <a:r>
              <a:rPr lang="es-ES" sz="4800" dirty="0"/>
              <a:t>, si trabajas con archivos </a:t>
            </a:r>
            <a:r>
              <a:rPr lang="es-ES" sz="4800" i="1" dirty="0"/>
              <a:t>ASCII</a:t>
            </a:r>
            <a:r>
              <a:rPr lang="es-ES" sz="4800" dirty="0"/>
              <a:t> no habrá problemas, pero si recibe un archivo de texto </a:t>
            </a:r>
            <a:r>
              <a:rPr lang="es-ES" sz="4800" i="1" dirty="0"/>
              <a:t>ISO-8859-1</a:t>
            </a:r>
            <a:r>
              <a:rPr lang="es-ES" sz="4800" dirty="0"/>
              <a:t> con caracteres no romanos, como las diéresis, su editor podría mostrarlos de una manera extraña. La </a:t>
            </a:r>
            <a:r>
              <a:rPr lang="es-ES" sz="4800" dirty="0" err="1"/>
              <a:t>utlidad</a:t>
            </a:r>
            <a:r>
              <a:rPr lang="es-ES" sz="4800" dirty="0"/>
              <a:t> </a:t>
            </a:r>
            <a:r>
              <a:rPr lang="es-ES" sz="4800" b="1" dirty="0" err="1"/>
              <a:t>iconv</a:t>
            </a:r>
            <a:r>
              <a:rPr lang="es-ES" sz="4800" dirty="0"/>
              <a:t> puede resolver este problema ya que realiza conversiones entre conjuntos de caracteres. Su sintaxis es: </a:t>
            </a:r>
            <a:r>
              <a:rPr lang="es-ES" sz="4800" b="1" dirty="0" err="1"/>
              <a:t>incov</a:t>
            </a:r>
            <a:r>
              <a:rPr lang="es-ES" sz="4800" b="1" dirty="0"/>
              <a:t> -f codificación [-t codificación] [archivo de entrada…]</a:t>
            </a:r>
            <a:endParaRPr lang="es-ES" sz="4800" dirty="0"/>
          </a:p>
          <a:p>
            <a:endParaRPr lang="es-ES" sz="4800" dirty="0"/>
          </a:p>
          <a:p>
            <a:r>
              <a:rPr lang="es-ES" sz="4800" dirty="0"/>
              <a:t>Las opciones </a:t>
            </a:r>
            <a:r>
              <a:rPr lang="es-ES" sz="4800" b="1" dirty="0"/>
              <a:t>-f</a:t>
            </a:r>
            <a:r>
              <a:rPr lang="es-ES" sz="4800" dirty="0"/>
              <a:t> y </a:t>
            </a:r>
            <a:r>
              <a:rPr lang="es-ES" sz="4800" b="1" dirty="0"/>
              <a:t>-t</a:t>
            </a:r>
            <a:r>
              <a:rPr lang="es-ES" sz="4800" dirty="0"/>
              <a:t> especifican la codificación de origen y de destino. Podremos obtener una lista de codificaciones con la opción </a:t>
            </a:r>
            <a:r>
              <a:rPr lang="es-ES" sz="4800" b="1" dirty="0"/>
              <a:t>–</a:t>
            </a:r>
            <a:r>
              <a:rPr lang="es-ES" sz="4800" b="1" dirty="0" err="1"/>
              <a:t>list</a:t>
            </a:r>
            <a:r>
              <a:rPr lang="es-ES" sz="4800" dirty="0"/>
              <a:t>.</a:t>
            </a:r>
            <a:endParaRPr lang="es-ES" sz="4800" dirty="0"/>
          </a:p>
          <a:p>
            <a:r>
              <a:rPr lang="es-ES" sz="4800" dirty="0"/>
              <a:t>Por defecto </a:t>
            </a:r>
            <a:r>
              <a:rPr lang="es-ES" sz="4800" dirty="0" err="1"/>
              <a:t>iconv</a:t>
            </a:r>
            <a:r>
              <a:rPr lang="es-ES" sz="4800" dirty="0"/>
              <a:t> envía la salida a la salida estándar, si deseas almacenar los datos en un archivo podrías redireccionar la salida:</a:t>
            </a:r>
            <a:endParaRPr lang="es-ES" sz="4800" dirty="0"/>
          </a:p>
          <a:p>
            <a:br>
              <a:rPr lang="es-ES" sz="2800" dirty="0"/>
            </a:br>
            <a:endParaRPr lang="es-ES" sz="2500" b="1" dirty="0"/>
          </a:p>
          <a:p>
            <a:endParaRPr lang="es-ES" dirty="0"/>
          </a:p>
          <a:p>
            <a:endParaRPr lang="es-ES" dirty="0"/>
          </a:p>
          <a:p>
            <a:pPr marL="201295" lvl="1" indent="0">
              <a:buNone/>
            </a:pPr>
            <a:endParaRPr lang="es-ES" b="1" dirty="0"/>
          </a:p>
        </p:txBody>
      </p:sp>
      <p:sp>
        <p:nvSpPr>
          <p:cNvPr id="4" name="Rectángulo 3"/>
          <p:cNvSpPr/>
          <p:nvPr/>
        </p:nvSpPr>
        <p:spPr>
          <a:xfrm>
            <a:off x="1199408" y="5865256"/>
            <a:ext cx="10637124" cy="615553"/>
          </a:xfrm>
          <a:prstGeom prst="rect">
            <a:avLst/>
          </a:prstGeom>
        </p:spPr>
        <p:txBody>
          <a:bodyPr wrap="square">
            <a:spAutoFit/>
          </a:bodyPr>
          <a:lstStyle/>
          <a:p>
            <a:endParaRPr lang="es-ES" sz="1600" dirty="0"/>
          </a:p>
          <a:p>
            <a:endParaRPr lang="es-ES" dirty="0"/>
          </a:p>
        </p:txBody>
      </p:sp>
      <p:pic>
        <p:nvPicPr>
          <p:cNvPr id="5" name="Imagen 4"/>
          <p:cNvPicPr>
            <a:picLocks noChangeAspect="1"/>
          </p:cNvPicPr>
          <p:nvPr/>
        </p:nvPicPr>
        <p:blipFill>
          <a:blip r:embed="rId1"/>
          <a:stretch>
            <a:fillRect/>
          </a:stretch>
        </p:blipFill>
        <p:spPr>
          <a:xfrm>
            <a:off x="5880661" y="3020258"/>
            <a:ext cx="2676525" cy="781050"/>
          </a:xfrm>
          <a:prstGeom prst="rect">
            <a:avLst/>
          </a:prstGeom>
        </p:spPr>
      </p:pic>
      <p:pic>
        <p:nvPicPr>
          <p:cNvPr id="6" name="Imagen 5"/>
          <p:cNvPicPr>
            <a:picLocks noChangeAspect="1"/>
          </p:cNvPicPr>
          <p:nvPr/>
        </p:nvPicPr>
        <p:blipFill rotWithShape="1">
          <a:blip r:embed="rId2"/>
          <a:srcRect b="22726"/>
          <a:stretch>
            <a:fillRect/>
          </a:stretch>
        </p:blipFill>
        <p:spPr>
          <a:xfrm>
            <a:off x="3489886" y="4992642"/>
            <a:ext cx="4781550" cy="434258"/>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854765"/>
            <a:ext cx="10058400" cy="882595"/>
          </a:xfrm>
        </p:spPr>
        <p:txBody>
          <a:bodyPr/>
          <a:lstStyle/>
          <a:p>
            <a:r>
              <a:rPr lang="es-ES" dirty="0"/>
              <a:t>Ventanas X, localización e impresión</a:t>
            </a:r>
            <a:endParaRPr lang="es-ES" dirty="0"/>
          </a:p>
        </p:txBody>
      </p:sp>
      <p:sp>
        <p:nvSpPr>
          <p:cNvPr id="3" name="Marcador de contenido 2"/>
          <p:cNvSpPr>
            <a:spLocks noGrp="1"/>
          </p:cNvSpPr>
          <p:nvPr>
            <p:ph idx="1"/>
          </p:nvPr>
        </p:nvSpPr>
        <p:spPr>
          <a:xfrm>
            <a:off x="605642" y="1888177"/>
            <a:ext cx="10550038" cy="4255063"/>
          </a:xfrm>
        </p:spPr>
        <p:txBody>
          <a:bodyPr>
            <a:normAutofit fontScale="92500" lnSpcReduction="10000"/>
          </a:bodyPr>
          <a:lstStyle/>
          <a:p>
            <a:r>
              <a:rPr lang="es-ES" sz="1600" b="1" dirty="0"/>
              <a:t>CONFIGURAR IMPRESORAS </a:t>
            </a:r>
            <a:endParaRPr lang="es-ES" sz="1600" b="1" dirty="0"/>
          </a:p>
          <a:p>
            <a:r>
              <a:rPr lang="es-ES" dirty="0"/>
              <a:t>Sobre las impresoras en Linux</a:t>
            </a:r>
            <a:endParaRPr lang="es-ES" dirty="0"/>
          </a:p>
          <a:p>
            <a:r>
              <a:rPr lang="es-ES" b="1" dirty="0" err="1"/>
              <a:t>lpr</a:t>
            </a:r>
            <a:r>
              <a:rPr lang="es-ES" dirty="0"/>
              <a:t> es el programa encargado de </a:t>
            </a:r>
            <a:r>
              <a:rPr lang="es-ES" dirty="0" err="1"/>
              <a:t>envíar</a:t>
            </a:r>
            <a:r>
              <a:rPr lang="es-ES" dirty="0"/>
              <a:t> las tareas de impresión (la envía a una cola especificada, que suele encontrarse en un subdirectorio de (</a:t>
            </a:r>
            <a:r>
              <a:rPr lang="es-ES" i="1" dirty="0"/>
              <a:t>/</a:t>
            </a:r>
            <a:r>
              <a:rPr lang="es-ES" i="1" dirty="0" err="1"/>
              <a:t>var</a:t>
            </a:r>
            <a:r>
              <a:rPr lang="es-ES" i="1" dirty="0"/>
              <a:t>/</a:t>
            </a:r>
            <a:r>
              <a:rPr lang="es-ES" i="1" dirty="0" err="1"/>
              <a:t>spool</a:t>
            </a:r>
            <a:r>
              <a:rPr lang="es-ES" i="1" dirty="0"/>
              <a:t>/cups</a:t>
            </a:r>
            <a:r>
              <a:rPr lang="es-ES" dirty="0"/>
              <a:t>) a la impresora, que puede ser invocado por el usuario o la aplicación desde la que se ejecuta la orden de imprimir.</a:t>
            </a:r>
            <a:endParaRPr lang="es-ES" dirty="0"/>
          </a:p>
          <a:p>
            <a:r>
              <a:rPr lang="es-ES" dirty="0"/>
              <a:t>La cola de impresión es gestionada por un software conocido como </a:t>
            </a:r>
            <a:r>
              <a:rPr lang="es-ES" b="1" dirty="0"/>
              <a:t>CUPS</a:t>
            </a:r>
            <a:r>
              <a:rPr lang="es-ES" dirty="0"/>
              <a:t> (</a:t>
            </a:r>
            <a:r>
              <a:rPr lang="es-ES" i="1" dirty="0" err="1"/>
              <a:t>Common</a:t>
            </a:r>
            <a:r>
              <a:rPr lang="es-ES" i="1" dirty="0"/>
              <a:t> Unix </a:t>
            </a:r>
            <a:r>
              <a:rPr lang="es-ES" i="1" dirty="0" err="1"/>
              <a:t>Printer</a:t>
            </a:r>
            <a:r>
              <a:rPr lang="es-ES" i="1" dirty="0"/>
              <a:t> </a:t>
            </a:r>
            <a:r>
              <a:rPr lang="es-ES" i="1" dirty="0" err="1"/>
              <a:t>System</a:t>
            </a:r>
            <a:r>
              <a:rPr lang="es-ES" dirty="0"/>
              <a:t>) que filtra el documento determinando a una cola de impresión concreta. </a:t>
            </a:r>
            <a:r>
              <a:rPr lang="es-ES" i="1" dirty="0"/>
              <a:t>CUPS</a:t>
            </a:r>
            <a:r>
              <a:rPr lang="es-ES" dirty="0"/>
              <a:t> puede funcionar como cliente, enviando tareas de impresión a otros ordenadores que ejecuten los mismos protocolos. Pueden existir varias colas, que imprimirán de maneras distintas en la misma impresora</a:t>
            </a:r>
            <a:r>
              <a:rPr lang="es-ES" sz="2800" dirty="0"/>
              <a:t>.</a:t>
            </a:r>
            <a:endParaRPr lang="es-ES" sz="2800" dirty="0"/>
          </a:p>
          <a:p>
            <a:r>
              <a:rPr lang="es-ES" i="1" dirty="0"/>
              <a:t>CUPS</a:t>
            </a:r>
            <a:r>
              <a:rPr lang="es-ES" dirty="0"/>
              <a:t> dispone de una </a:t>
            </a:r>
            <a:r>
              <a:rPr lang="es-ES" dirty="0" err="1"/>
              <a:t>herramientra</a:t>
            </a:r>
            <a:r>
              <a:rPr lang="es-ES" dirty="0"/>
              <a:t> web a la que podemos acceder </a:t>
            </a:r>
            <a:r>
              <a:rPr lang="es-ES" dirty="0" err="1"/>
              <a:t>via</a:t>
            </a:r>
            <a:r>
              <a:rPr lang="es-ES" dirty="0"/>
              <a:t> </a:t>
            </a:r>
            <a:r>
              <a:rPr lang="es-ES" i="1" dirty="0">
                <a:hlinkClick r:id="rId1"/>
              </a:rPr>
              <a:t>http://localhost:631</a:t>
            </a:r>
            <a:r>
              <a:rPr lang="es-ES" dirty="0"/>
              <a:t> o por el puerto </a:t>
            </a:r>
            <a:r>
              <a:rPr lang="es-ES" i="1" dirty="0"/>
              <a:t>639</a:t>
            </a:r>
            <a:r>
              <a:rPr lang="es-ES" dirty="0"/>
              <a:t> si se trata de </a:t>
            </a:r>
            <a:r>
              <a:rPr lang="es-ES" i="1" dirty="0"/>
              <a:t>https</a:t>
            </a:r>
            <a:r>
              <a:rPr lang="es-ES" dirty="0"/>
              <a:t>, en la cual podremos definir las impresoras, </a:t>
            </a:r>
            <a:r>
              <a:rPr lang="es-ES" dirty="0" err="1"/>
              <a:t>características,etc</a:t>
            </a:r>
            <a:r>
              <a:rPr lang="es-ES" dirty="0"/>
              <a:t>…</a:t>
            </a:r>
            <a:endParaRPr lang="es-ES" dirty="0"/>
          </a:p>
          <a:p>
            <a:endParaRPr lang="es-ES" sz="2500" b="1" dirty="0"/>
          </a:p>
          <a:p>
            <a:endParaRPr lang="es-ES" dirty="0"/>
          </a:p>
          <a:p>
            <a:endParaRPr lang="es-ES" dirty="0"/>
          </a:p>
          <a:p>
            <a:pPr marL="201295" lvl="1" indent="0">
              <a:buNone/>
            </a:pPr>
            <a:endParaRPr lang="es-ES" b="1"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854765"/>
            <a:ext cx="10058400" cy="882595"/>
          </a:xfrm>
        </p:spPr>
        <p:txBody>
          <a:bodyPr/>
          <a:lstStyle/>
          <a:p>
            <a:r>
              <a:rPr lang="es-ES" dirty="0"/>
              <a:t>Ventanas X, localización e impresión</a:t>
            </a:r>
            <a:endParaRPr lang="es-ES" dirty="0"/>
          </a:p>
        </p:txBody>
      </p:sp>
      <p:sp>
        <p:nvSpPr>
          <p:cNvPr id="3" name="Marcador de contenido 2"/>
          <p:cNvSpPr>
            <a:spLocks noGrp="1"/>
          </p:cNvSpPr>
          <p:nvPr>
            <p:ph idx="1"/>
          </p:nvPr>
        </p:nvSpPr>
        <p:spPr>
          <a:xfrm>
            <a:off x="605642" y="1888177"/>
            <a:ext cx="10550038" cy="4255063"/>
          </a:xfrm>
        </p:spPr>
        <p:txBody>
          <a:bodyPr>
            <a:normAutofit fontScale="85000" lnSpcReduction="20000"/>
          </a:bodyPr>
          <a:lstStyle/>
          <a:p>
            <a:r>
              <a:rPr lang="es-ES" sz="1900" b="1" dirty="0"/>
              <a:t>CONFIGURAR IMPRESORAS </a:t>
            </a:r>
            <a:endParaRPr lang="es-ES" sz="1900" b="1" dirty="0"/>
          </a:p>
          <a:p>
            <a:r>
              <a:rPr lang="es-ES" b="1" dirty="0"/>
              <a:t>Sobre las impresoras en Linux</a:t>
            </a:r>
            <a:endParaRPr lang="es-ES" b="1" dirty="0"/>
          </a:p>
          <a:p>
            <a:r>
              <a:rPr lang="es-ES" dirty="0"/>
              <a:t>Este tipo de archivos (</a:t>
            </a:r>
            <a:r>
              <a:rPr lang="es-ES" b="1" dirty="0"/>
              <a:t>PPD</a:t>
            </a:r>
            <a:r>
              <a:rPr lang="es-ES" dirty="0"/>
              <a:t>) son el “pegamento” perfecto para unir la impresora con </a:t>
            </a:r>
            <a:r>
              <a:rPr lang="es-ES" i="1" dirty="0"/>
              <a:t>CUPS</a:t>
            </a:r>
            <a:r>
              <a:rPr lang="es-ES" dirty="0"/>
              <a:t>, digamos que son los drivers, su definición en sí. Para realizar una configuración al detalle tendremos el archivo </a:t>
            </a:r>
            <a:r>
              <a:rPr lang="es-ES" i="1" dirty="0"/>
              <a:t>/</a:t>
            </a:r>
            <a:r>
              <a:rPr lang="es-ES" i="1" dirty="0" err="1"/>
              <a:t>etc</a:t>
            </a:r>
            <a:r>
              <a:rPr lang="es-ES" i="1" dirty="0"/>
              <a:t>/cups/</a:t>
            </a:r>
            <a:r>
              <a:rPr lang="es-ES" i="1" dirty="0" err="1"/>
              <a:t>cupsd.conf</a:t>
            </a:r>
            <a:r>
              <a:rPr lang="es-ES" dirty="0"/>
              <a:t>, archivo que tiene una estructura parecida a </a:t>
            </a:r>
            <a:r>
              <a:rPr lang="es-ES" i="1" dirty="0" err="1"/>
              <a:t>httpd.conf</a:t>
            </a:r>
            <a:r>
              <a:rPr lang="es-ES" dirty="0"/>
              <a:t>, por lo que nos </a:t>
            </a:r>
            <a:r>
              <a:rPr lang="es-ES" dirty="0" err="1"/>
              <a:t>permitira</a:t>
            </a:r>
            <a:r>
              <a:rPr lang="es-ES" dirty="0"/>
              <a:t> ajustar incluso la seguridad, denegar acceso a hosts, acceder a impresoras IPP remotas, </a:t>
            </a:r>
            <a:r>
              <a:rPr lang="es-ES" dirty="0" err="1"/>
              <a:t>etc</a:t>
            </a:r>
            <a:r>
              <a:rPr lang="es-ES" dirty="0"/>
              <a:t>…</a:t>
            </a:r>
            <a:endParaRPr lang="es-ES" dirty="0"/>
          </a:p>
          <a:p>
            <a:r>
              <a:rPr lang="es-ES" b="1" dirty="0"/>
              <a:t>Configurar y compartir la impresora</a:t>
            </a:r>
            <a:endParaRPr lang="es-ES" b="1" dirty="0"/>
          </a:p>
          <a:p>
            <a:r>
              <a:rPr lang="es-ES" dirty="0"/>
              <a:t>Podemos compartir impresoras mediante un servidor </a:t>
            </a:r>
            <a:r>
              <a:rPr lang="es-ES" i="1" dirty="0"/>
              <a:t>samba</a:t>
            </a:r>
            <a:r>
              <a:rPr lang="es-ES" dirty="0"/>
              <a:t> para redes mixtas (</a:t>
            </a:r>
            <a:r>
              <a:rPr lang="es-ES" i="1" dirty="0"/>
              <a:t>Windows</a:t>
            </a:r>
            <a:r>
              <a:rPr lang="es-ES" dirty="0"/>
              <a:t> y </a:t>
            </a:r>
            <a:r>
              <a:rPr lang="es-ES" i="1" dirty="0"/>
              <a:t>Linux</a:t>
            </a:r>
            <a:r>
              <a:rPr lang="es-ES" dirty="0"/>
              <a:t>). Si tenemos una impresora compartida mediante </a:t>
            </a:r>
            <a:r>
              <a:rPr lang="es-ES" i="1" dirty="0"/>
              <a:t>samba</a:t>
            </a:r>
            <a:r>
              <a:rPr lang="es-ES" dirty="0"/>
              <a:t> y el demonio </a:t>
            </a:r>
            <a:r>
              <a:rPr lang="es-ES" i="1" dirty="0" err="1"/>
              <a:t>cupsd</a:t>
            </a:r>
            <a:r>
              <a:rPr lang="es-ES" dirty="0"/>
              <a:t> corriendo en nuestra máquina Linux, podremos añadir la impresora mediante la ruta:</a:t>
            </a:r>
            <a:endParaRPr lang="es-ES" dirty="0"/>
          </a:p>
          <a:p>
            <a:endParaRPr lang="es-ES" dirty="0"/>
          </a:p>
          <a:p>
            <a:r>
              <a:rPr lang="es-ES" dirty="0"/>
              <a:t>Si en cambio vamos a imprimir en un equipo Linux o UNIX, que utilice el antiguo formato </a:t>
            </a:r>
            <a:r>
              <a:rPr lang="es-ES" b="1" dirty="0"/>
              <a:t>LPD</a:t>
            </a:r>
            <a:r>
              <a:rPr lang="es-ES" dirty="0"/>
              <a:t> (</a:t>
            </a:r>
            <a:r>
              <a:rPr lang="es-ES" i="1" dirty="0"/>
              <a:t>BSD Line </a:t>
            </a:r>
            <a:r>
              <a:rPr lang="es-ES" i="1" dirty="0" err="1"/>
              <a:t>Printer</a:t>
            </a:r>
            <a:r>
              <a:rPr lang="es-ES" i="1" dirty="0"/>
              <a:t> Daemon</a:t>
            </a:r>
            <a:r>
              <a:rPr lang="es-ES" dirty="0"/>
              <a:t>) utilizaremos la ruta:</a:t>
            </a:r>
            <a:endParaRPr lang="es-ES" dirty="0"/>
          </a:p>
          <a:p>
            <a:endParaRPr lang="es-ES" dirty="0"/>
          </a:p>
          <a:p>
            <a:endParaRPr lang="es-ES" sz="2500" b="1" dirty="0"/>
          </a:p>
          <a:p>
            <a:endParaRPr lang="es-ES" dirty="0"/>
          </a:p>
          <a:p>
            <a:endParaRPr lang="es-ES" dirty="0"/>
          </a:p>
          <a:p>
            <a:pPr marL="201295" lvl="1" indent="0">
              <a:buNone/>
            </a:pPr>
            <a:endParaRPr lang="es-ES" b="1" dirty="0"/>
          </a:p>
        </p:txBody>
      </p:sp>
      <p:sp>
        <p:nvSpPr>
          <p:cNvPr id="4" name="Rectangle 1"/>
          <p:cNvSpPr>
            <a:spLocks noChangeArrowheads="1"/>
          </p:cNvSpPr>
          <p:nvPr/>
        </p:nvSpPr>
        <p:spPr bwMode="auto">
          <a:xfrm>
            <a:off x="2627253" y="4996070"/>
            <a:ext cx="6268278" cy="307777"/>
          </a:xfrm>
          <a:prstGeom prst="rect">
            <a:avLst/>
          </a:prstGeom>
          <a:solidFill>
            <a:srgbClr val="F1F1F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s-ES" altLang="es-ES" sz="1400" b="0" i="0" u="none" strike="noStrike" cap="none" normalizeH="0" baseline="0" dirty="0" err="1">
                <a:ln>
                  <a:noFill/>
                </a:ln>
                <a:solidFill>
                  <a:srgbClr val="333333"/>
                </a:solidFill>
                <a:effectLst/>
              </a:rPr>
              <a:t>smb</a:t>
            </a:r>
            <a:r>
              <a:rPr kumimoji="0" lang="es-ES" altLang="es-ES" sz="1400" b="0" i="0" u="none" strike="noStrike" cap="none" normalizeH="0" baseline="0" dirty="0">
                <a:ln>
                  <a:noFill/>
                </a:ln>
                <a:solidFill>
                  <a:srgbClr val="333333"/>
                </a:solidFill>
                <a:effectLst/>
              </a:rPr>
              <a:t>://</a:t>
            </a:r>
            <a:r>
              <a:rPr kumimoji="0" lang="es-ES" altLang="es-ES" sz="1400" b="0" i="0" u="none" strike="noStrike" cap="none" normalizeH="0" baseline="0" dirty="0" err="1">
                <a:ln>
                  <a:noFill/>
                </a:ln>
                <a:solidFill>
                  <a:srgbClr val="333333"/>
                </a:solidFill>
                <a:effectLst/>
              </a:rPr>
              <a:t>nombredeusuario:contraseña@SERVIDOR</a:t>
            </a:r>
            <a:r>
              <a:rPr kumimoji="0" lang="es-ES" altLang="es-ES" sz="1400" b="0" i="0" u="none" strike="noStrike" cap="none" normalizeH="0" baseline="0" dirty="0">
                <a:ln>
                  <a:noFill/>
                </a:ln>
                <a:solidFill>
                  <a:srgbClr val="333333"/>
                </a:solidFill>
                <a:effectLst/>
              </a:rPr>
              <a:t>/RECURSO_COMPARTIDO</a:t>
            </a:r>
            <a:r>
              <a:rPr kumimoji="0" lang="es-ES" altLang="es-ES" sz="1400" b="0" i="0" u="none" strike="noStrike" cap="none" normalizeH="0" baseline="0" dirty="0">
                <a:ln>
                  <a:noFill/>
                </a:ln>
                <a:solidFill>
                  <a:schemeClr val="tx1"/>
                </a:solidFill>
                <a:effectLst/>
              </a:rPr>
              <a:t> </a:t>
            </a:r>
            <a:endParaRPr kumimoji="0" lang="es-ES" altLang="es-ES" sz="1400" b="0" i="0" u="none" strike="noStrike" cap="none" normalizeH="0" baseline="0" dirty="0">
              <a:ln>
                <a:noFill/>
              </a:ln>
              <a:solidFill>
                <a:schemeClr val="tx1"/>
              </a:solidFill>
              <a:effectLst/>
            </a:endParaRPr>
          </a:p>
        </p:txBody>
      </p:sp>
      <p:sp>
        <p:nvSpPr>
          <p:cNvPr id="5" name="Rectangle 1"/>
          <p:cNvSpPr>
            <a:spLocks noChangeArrowheads="1"/>
          </p:cNvSpPr>
          <p:nvPr/>
        </p:nvSpPr>
        <p:spPr bwMode="auto">
          <a:xfrm>
            <a:off x="2769705" y="5975148"/>
            <a:ext cx="4439478" cy="307777"/>
          </a:xfrm>
          <a:prstGeom prst="rect">
            <a:avLst/>
          </a:prstGeom>
          <a:solidFill>
            <a:srgbClr val="F1F1F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s-ES" altLang="es-ES" sz="1400" b="0" i="0" u="none" strike="noStrike" cap="none" normalizeH="0" baseline="0" dirty="0">
                <a:ln>
                  <a:noFill/>
                </a:ln>
                <a:solidFill>
                  <a:srgbClr val="333333"/>
                </a:solidFill>
                <a:effectLst/>
              </a:rPr>
              <a:t>lpd://nombredehost/cola o ipp://nombrehost/cola</a:t>
            </a:r>
            <a:r>
              <a:rPr kumimoji="0" lang="es-ES" altLang="es-ES" sz="1400" b="0" i="0" u="none" strike="noStrike" cap="none" normalizeH="0" baseline="0" dirty="0">
                <a:ln>
                  <a:noFill/>
                </a:ln>
                <a:solidFill>
                  <a:schemeClr val="tx1"/>
                </a:solidFill>
                <a:effectLst/>
              </a:rPr>
              <a:t> </a:t>
            </a:r>
            <a:endParaRPr kumimoji="0" lang="es-ES" altLang="es-ES" sz="1400" b="0" i="0" u="none" strike="noStrike" cap="none" normalizeH="0" baseline="0" dirty="0">
              <a:ln>
                <a:noFill/>
              </a:ln>
              <a:solidFill>
                <a:schemeClr val="tx1"/>
              </a:solidFill>
              <a:effectLst/>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854765"/>
            <a:ext cx="10058400" cy="882595"/>
          </a:xfrm>
        </p:spPr>
        <p:txBody>
          <a:bodyPr/>
          <a:lstStyle/>
          <a:p>
            <a:r>
              <a:rPr lang="es-ES" dirty="0"/>
              <a:t>Ventanas X, localización e impresión</a:t>
            </a:r>
            <a:endParaRPr lang="es-ES" dirty="0"/>
          </a:p>
        </p:txBody>
      </p:sp>
      <p:sp>
        <p:nvSpPr>
          <p:cNvPr id="3" name="Marcador de contenido 2"/>
          <p:cNvSpPr>
            <a:spLocks noGrp="1"/>
          </p:cNvSpPr>
          <p:nvPr>
            <p:ph idx="1"/>
          </p:nvPr>
        </p:nvSpPr>
        <p:spPr>
          <a:xfrm>
            <a:off x="605642" y="1888177"/>
            <a:ext cx="10550038" cy="4255063"/>
          </a:xfrm>
        </p:spPr>
        <p:txBody>
          <a:bodyPr>
            <a:normAutofit fontScale="62500" lnSpcReduction="20000"/>
          </a:bodyPr>
          <a:lstStyle/>
          <a:p>
            <a:r>
              <a:rPr lang="es-ES" sz="1900" b="1" dirty="0"/>
              <a:t>CONFIGURAR IMPRESORAS </a:t>
            </a:r>
            <a:endParaRPr lang="es-ES" sz="1900" b="1" dirty="0"/>
          </a:p>
          <a:p>
            <a:r>
              <a:rPr lang="es-ES" sz="2200" dirty="0"/>
              <a:t>La forma por defecto de añadir una impresora con </a:t>
            </a:r>
            <a:r>
              <a:rPr lang="es-ES" sz="2200" i="1" dirty="0"/>
              <a:t>CUPS</a:t>
            </a:r>
            <a:r>
              <a:rPr lang="es-ES" sz="2200" dirty="0"/>
              <a:t> es:</a:t>
            </a:r>
            <a:endParaRPr lang="es-ES" sz="2200" dirty="0"/>
          </a:p>
          <a:p>
            <a:pPr marL="342900" indent="-342900">
              <a:spcBef>
                <a:spcPts val="600"/>
              </a:spcBef>
              <a:buFont typeface="+mj-lt"/>
              <a:buAutoNum type="arabicPeriod"/>
            </a:pPr>
            <a:r>
              <a:rPr lang="es-ES" sz="2200" dirty="0"/>
              <a:t>Acceder a CUPS GUI </a:t>
            </a:r>
            <a:r>
              <a:rPr lang="es-ES" sz="2200" i="1" dirty="0">
                <a:hlinkClick r:id="rId1"/>
              </a:rPr>
              <a:t>http://localhost:631</a:t>
            </a:r>
            <a:r>
              <a:rPr lang="es-ES" sz="2200" dirty="0"/>
              <a:t>, escribir usuario y </a:t>
            </a:r>
            <a:r>
              <a:rPr lang="es-ES" sz="2200" dirty="0" err="1"/>
              <a:t>password</a:t>
            </a:r>
            <a:r>
              <a:rPr lang="es-ES" sz="2200" dirty="0"/>
              <a:t> de </a:t>
            </a:r>
            <a:r>
              <a:rPr lang="es-ES" sz="2200" dirty="0" err="1"/>
              <a:t>root</a:t>
            </a:r>
            <a:r>
              <a:rPr lang="es-ES" sz="2200" dirty="0"/>
              <a:t> (si la solicita) y clicar en la pestaña ‘</a:t>
            </a:r>
            <a:r>
              <a:rPr lang="es-ES" sz="2200" b="1" dirty="0"/>
              <a:t>Administración</a:t>
            </a:r>
            <a:r>
              <a:rPr lang="es-ES" sz="2200" dirty="0"/>
              <a:t>‘ &gt; ‘</a:t>
            </a:r>
            <a:r>
              <a:rPr lang="es-ES" sz="2200" b="1" dirty="0" err="1"/>
              <a:t>Add</a:t>
            </a:r>
            <a:r>
              <a:rPr lang="es-ES" sz="2200" b="1" dirty="0"/>
              <a:t> </a:t>
            </a:r>
            <a:r>
              <a:rPr lang="es-ES" sz="2200" b="1" dirty="0" err="1"/>
              <a:t>printer</a:t>
            </a:r>
            <a:r>
              <a:rPr lang="es-ES" sz="2200" dirty="0"/>
              <a:t>‘</a:t>
            </a:r>
            <a:endParaRPr lang="es-ES" sz="2200" dirty="0"/>
          </a:p>
          <a:p>
            <a:pPr marL="342900" indent="-342900">
              <a:spcBef>
                <a:spcPts val="600"/>
              </a:spcBef>
              <a:buFont typeface="+mj-lt"/>
              <a:buAutoNum type="arabicPeriod"/>
            </a:pPr>
            <a:r>
              <a:rPr lang="es-ES" sz="2200" dirty="0"/>
              <a:t>Podremos añadir una impresora a partir de tres categorías: </a:t>
            </a:r>
            <a:r>
              <a:rPr lang="es-ES" sz="2200" i="1" dirty="0"/>
              <a:t>local</a:t>
            </a:r>
            <a:r>
              <a:rPr lang="es-ES" sz="2200" dirty="0"/>
              <a:t>, </a:t>
            </a:r>
            <a:r>
              <a:rPr lang="es-ES" sz="2200" i="1" dirty="0"/>
              <a:t>impresora de red detectada</a:t>
            </a:r>
            <a:r>
              <a:rPr lang="es-ES" sz="2200" dirty="0"/>
              <a:t> o </a:t>
            </a:r>
            <a:r>
              <a:rPr lang="es-ES" sz="2200" i="1" dirty="0"/>
              <a:t>otra impresora de red</a:t>
            </a:r>
            <a:r>
              <a:rPr lang="es-ES" sz="2200" dirty="0"/>
              <a:t>.</a:t>
            </a:r>
            <a:endParaRPr lang="es-ES" sz="2200" b="1" dirty="0"/>
          </a:p>
          <a:p>
            <a:pPr marL="342900" indent="-342900">
              <a:spcBef>
                <a:spcPts val="600"/>
              </a:spcBef>
              <a:buFont typeface="+mj-lt"/>
              <a:buAutoNum type="arabicPeriod"/>
            </a:pPr>
            <a:r>
              <a:rPr lang="es-ES" sz="2200" dirty="0"/>
              <a:t>Si por ejemplo usamos ‘</a:t>
            </a:r>
            <a:r>
              <a:rPr lang="es-ES" sz="2200" i="1" dirty="0"/>
              <a:t>impresora de red</a:t>
            </a:r>
            <a:r>
              <a:rPr lang="es-ES" sz="2200" dirty="0"/>
              <a:t>‘, introduciremos la ruta completa del dispositivo como mencionamos anteriormente, supongamos</a:t>
            </a:r>
            <a:endParaRPr lang="es-ES" sz="2200" dirty="0"/>
          </a:p>
          <a:p>
            <a:pPr marL="342900" indent="-342900">
              <a:spcBef>
                <a:spcPts val="600"/>
              </a:spcBef>
              <a:buFont typeface="+mj-lt"/>
              <a:buAutoNum type="arabicPeriod" startAt="4"/>
            </a:pPr>
            <a:r>
              <a:rPr lang="es-ES" sz="2200" dirty="0"/>
              <a:t> Ahora estaremos en la página en la que podremos introducir el </a:t>
            </a:r>
            <a:r>
              <a:rPr lang="es-ES" sz="2200" i="1" dirty="0"/>
              <a:t>nombre de la impresora</a:t>
            </a:r>
            <a:r>
              <a:rPr lang="es-ES" sz="2200" dirty="0"/>
              <a:t>, </a:t>
            </a:r>
            <a:r>
              <a:rPr lang="es-ES" sz="2200" i="1" dirty="0"/>
              <a:t>su descripción</a:t>
            </a:r>
            <a:r>
              <a:rPr lang="es-ES" sz="2200" dirty="0"/>
              <a:t> y </a:t>
            </a:r>
            <a:r>
              <a:rPr lang="es-ES" sz="2200" i="1" dirty="0"/>
              <a:t>ubicación</a:t>
            </a:r>
            <a:r>
              <a:rPr lang="es-ES" sz="2200" dirty="0"/>
              <a:t>. Conviene que el nombre de la impresora sea </a:t>
            </a:r>
            <a:r>
              <a:rPr lang="es-ES" sz="2200" u="sng" dirty="0"/>
              <a:t>corto y entendible</a:t>
            </a:r>
            <a:r>
              <a:rPr lang="es-ES" sz="2200" dirty="0"/>
              <a:t>, ya que lo usaremos para lanzar impresión desde línea de comandos o para localizarla desde GUI. Igualmente, en esta página podremos marcar la opción ‘</a:t>
            </a:r>
            <a:r>
              <a:rPr lang="es-ES" sz="2200" b="1" dirty="0"/>
              <a:t>Share </a:t>
            </a:r>
            <a:r>
              <a:rPr lang="es-ES" sz="2200" b="1" dirty="0" err="1"/>
              <a:t>This</a:t>
            </a:r>
            <a:r>
              <a:rPr lang="es-ES" sz="2200" b="1" dirty="0"/>
              <a:t> </a:t>
            </a:r>
            <a:r>
              <a:rPr lang="es-ES" sz="2200" b="1" dirty="0" err="1"/>
              <a:t>Print</a:t>
            </a:r>
            <a:r>
              <a:rPr lang="es-ES" sz="2200" dirty="0"/>
              <a:t>‘</a:t>
            </a:r>
            <a:endParaRPr lang="es-ES" sz="2200" b="1" dirty="0"/>
          </a:p>
          <a:p>
            <a:pPr marL="342900" indent="-342900">
              <a:spcBef>
                <a:spcPts val="600"/>
              </a:spcBef>
              <a:buFont typeface="+mj-lt"/>
              <a:buAutoNum type="arabicPeriod" startAt="4"/>
            </a:pPr>
            <a:r>
              <a:rPr lang="es-ES" sz="2200" dirty="0"/>
              <a:t>A continuación seleccionaremos un </a:t>
            </a:r>
            <a:r>
              <a:rPr lang="es-ES" sz="2200" i="1" dirty="0"/>
              <a:t>fabricante</a:t>
            </a:r>
            <a:r>
              <a:rPr lang="es-ES" sz="2200" dirty="0"/>
              <a:t> y clicaremos en ‘</a:t>
            </a:r>
            <a:r>
              <a:rPr lang="es-ES" sz="2200" b="1" dirty="0" err="1"/>
              <a:t>Continue</a:t>
            </a:r>
            <a:r>
              <a:rPr lang="es-ES" sz="2200" dirty="0"/>
              <a:t>‘ o bien hacer referencia directamente a un archivo </a:t>
            </a:r>
            <a:r>
              <a:rPr lang="es-ES" sz="2200" b="1" dirty="0"/>
              <a:t>PPD</a:t>
            </a:r>
            <a:r>
              <a:rPr lang="es-ES" sz="2200" dirty="0"/>
              <a:t> que tengamos en el PC.</a:t>
            </a:r>
            <a:endParaRPr lang="es-ES" sz="2200" dirty="0"/>
          </a:p>
          <a:p>
            <a:pPr marL="342900" indent="-342900">
              <a:spcBef>
                <a:spcPts val="600"/>
              </a:spcBef>
              <a:buFont typeface="+mj-lt"/>
              <a:buAutoNum type="arabicPeriod" startAt="4"/>
            </a:pPr>
            <a:r>
              <a:rPr lang="es-ES" sz="2200" dirty="0"/>
              <a:t> Si eligió un archivo </a:t>
            </a:r>
            <a:r>
              <a:rPr lang="es-ES" sz="2200" i="1" dirty="0"/>
              <a:t>PPD</a:t>
            </a:r>
            <a:r>
              <a:rPr lang="es-ES" sz="2200" dirty="0"/>
              <a:t>, puede saltarse este paso, de lo contrario deberá de seleccionar un </a:t>
            </a:r>
            <a:r>
              <a:rPr lang="es-ES" sz="2200" i="1" dirty="0"/>
              <a:t>modelo de impresora</a:t>
            </a:r>
            <a:r>
              <a:rPr lang="es-ES" sz="2200" dirty="0"/>
              <a:t> y continuar.</a:t>
            </a:r>
            <a:endParaRPr lang="es-ES" sz="2200" dirty="0"/>
          </a:p>
          <a:p>
            <a:pPr marL="342900" indent="-342900">
              <a:spcBef>
                <a:spcPts val="600"/>
              </a:spcBef>
              <a:buFont typeface="+mj-lt"/>
              <a:buAutoNum type="arabicPeriod" startAt="4"/>
            </a:pPr>
            <a:r>
              <a:rPr lang="es-ES" sz="2200" dirty="0"/>
              <a:t>Aquí podremos seleccionar las </a:t>
            </a:r>
            <a:r>
              <a:rPr lang="es-ES" sz="2200" u="sng" dirty="0"/>
              <a:t>opciones específicas</a:t>
            </a:r>
            <a:r>
              <a:rPr lang="es-ES" sz="2200" dirty="0"/>
              <a:t> para la impresora como el tamaño del papel, la resolución, </a:t>
            </a:r>
            <a:r>
              <a:rPr lang="es-ES" sz="2200" dirty="0" err="1"/>
              <a:t>etc</a:t>
            </a:r>
            <a:r>
              <a:rPr lang="es-ES" sz="2200" dirty="0"/>
              <a:t>… clicaremos ‘</a:t>
            </a:r>
            <a:r>
              <a:rPr lang="es-ES" sz="2200" b="1" dirty="0"/>
              <a:t>Set </a:t>
            </a:r>
            <a:r>
              <a:rPr lang="es-ES" sz="2200" b="1" dirty="0" err="1"/>
              <a:t>Printer</a:t>
            </a:r>
            <a:r>
              <a:rPr lang="es-ES" sz="2200" b="1" dirty="0"/>
              <a:t> </a:t>
            </a:r>
            <a:r>
              <a:rPr lang="es-ES" sz="2200" b="1" dirty="0" err="1"/>
              <a:t>Options</a:t>
            </a:r>
            <a:r>
              <a:rPr lang="es-ES" sz="2200" dirty="0"/>
              <a:t>‘ para terminar.</a:t>
            </a:r>
            <a:endParaRPr lang="es-ES" sz="2200" dirty="0"/>
          </a:p>
          <a:p>
            <a:endParaRPr lang="es-ES" dirty="0"/>
          </a:p>
          <a:p>
            <a:pPr marL="201295" lvl="1" indent="0">
              <a:buNone/>
            </a:pPr>
            <a:endParaRPr lang="es-ES" b="1" dirty="0"/>
          </a:p>
        </p:txBody>
      </p:sp>
      <p:pic>
        <p:nvPicPr>
          <p:cNvPr id="6" name="Imagen 5"/>
          <p:cNvPicPr>
            <a:picLocks noChangeAspect="1"/>
          </p:cNvPicPr>
          <p:nvPr/>
        </p:nvPicPr>
        <p:blipFill>
          <a:blip r:embed="rId2"/>
          <a:stretch>
            <a:fillRect/>
          </a:stretch>
        </p:blipFill>
        <p:spPr>
          <a:xfrm>
            <a:off x="5880661" y="5768027"/>
            <a:ext cx="3115718" cy="52603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854765"/>
            <a:ext cx="10058400" cy="882595"/>
          </a:xfrm>
        </p:spPr>
        <p:txBody>
          <a:bodyPr/>
          <a:lstStyle/>
          <a:p>
            <a:r>
              <a:rPr lang="es-ES" dirty="0"/>
              <a:t>Ventanas X, localización e impresión</a:t>
            </a:r>
            <a:endParaRPr lang="es-ES" dirty="0"/>
          </a:p>
        </p:txBody>
      </p:sp>
      <p:sp>
        <p:nvSpPr>
          <p:cNvPr id="3" name="Marcador de contenido 2"/>
          <p:cNvSpPr>
            <a:spLocks noGrp="1"/>
          </p:cNvSpPr>
          <p:nvPr>
            <p:ph idx="1"/>
          </p:nvPr>
        </p:nvSpPr>
        <p:spPr>
          <a:xfrm>
            <a:off x="605642" y="1888177"/>
            <a:ext cx="10550038" cy="4255063"/>
          </a:xfrm>
        </p:spPr>
        <p:txBody>
          <a:bodyPr>
            <a:normAutofit/>
          </a:bodyPr>
          <a:lstStyle/>
          <a:p>
            <a:r>
              <a:rPr lang="es-ES" sz="1900" b="1" dirty="0"/>
              <a:t>CONFIGURAR IMPRESORAS </a:t>
            </a:r>
            <a:endParaRPr lang="es-ES" sz="1900" b="1" dirty="0"/>
          </a:p>
          <a:p>
            <a:r>
              <a:rPr lang="es-ES" b="1" dirty="0"/>
              <a:t>Herramientas para el uso de impresoras</a:t>
            </a:r>
            <a:endParaRPr lang="es-ES" b="1" dirty="0"/>
          </a:p>
          <a:p>
            <a:r>
              <a:rPr lang="es-ES" dirty="0"/>
              <a:t>Podemos usar varias herramientas para imprimir y gestionar las colas de impresión desde la línea de comandos como por ejemplo, si queremos enviar trabajos a la cola de impresión o modificar esta, podremos usar </a:t>
            </a:r>
            <a:r>
              <a:rPr lang="es-ES" b="1" dirty="0" err="1"/>
              <a:t>lp</a:t>
            </a:r>
            <a:r>
              <a:rPr lang="es-ES" dirty="0"/>
              <a:t> o </a:t>
            </a:r>
            <a:r>
              <a:rPr lang="es-ES" b="1" dirty="0" err="1"/>
              <a:t>lpr</a:t>
            </a:r>
            <a:r>
              <a:rPr lang="es-ES" dirty="0"/>
              <a:t>, si queremos ver el estado de la cola de impresión </a:t>
            </a:r>
            <a:r>
              <a:rPr lang="es-ES" b="1" dirty="0" err="1"/>
              <a:t>lpq</a:t>
            </a:r>
            <a:r>
              <a:rPr lang="es-ES" dirty="0"/>
              <a:t> o </a:t>
            </a:r>
            <a:r>
              <a:rPr lang="es-ES" b="1" dirty="0" err="1"/>
              <a:t>lpc</a:t>
            </a:r>
            <a:r>
              <a:rPr lang="es-ES" dirty="0"/>
              <a:t> que ofrece opciones extras, con </a:t>
            </a:r>
            <a:r>
              <a:rPr lang="es-ES" b="1" dirty="0" err="1"/>
              <a:t>lprm</a:t>
            </a:r>
            <a:r>
              <a:rPr lang="es-ES" dirty="0"/>
              <a:t> o </a:t>
            </a:r>
            <a:r>
              <a:rPr lang="es-ES" b="1" dirty="0"/>
              <a:t>cancel</a:t>
            </a:r>
            <a:r>
              <a:rPr lang="es-ES" dirty="0"/>
              <a:t> podremos cancelar trabajos en la cola de impresión o moverlos con </a:t>
            </a:r>
            <a:r>
              <a:rPr lang="es-ES" b="1" dirty="0" err="1"/>
              <a:t>lpmove</a:t>
            </a:r>
            <a:r>
              <a:rPr lang="es-ES" b="1" dirty="0"/>
              <a:t>. </a:t>
            </a:r>
            <a:r>
              <a:rPr lang="es-ES" dirty="0"/>
              <a:t>El comando</a:t>
            </a:r>
            <a:r>
              <a:rPr lang="es-ES" b="1" dirty="0"/>
              <a:t> </a:t>
            </a:r>
            <a:r>
              <a:rPr lang="es-ES" b="1" dirty="0" err="1"/>
              <a:t>lpadmin</a:t>
            </a:r>
            <a:r>
              <a:rPr lang="es-ES" dirty="0"/>
              <a:t> nos permite una administración de las impresoras a través de CUPS.</a:t>
            </a:r>
            <a:endParaRPr lang="es-ES" dirty="0"/>
          </a:p>
          <a:p>
            <a:r>
              <a:rPr lang="es-ES" dirty="0"/>
              <a:t>Otras herramientas </a:t>
            </a:r>
            <a:r>
              <a:rPr lang="es-ES" dirty="0" err="1"/>
              <a:t>podrian</a:t>
            </a:r>
            <a:r>
              <a:rPr lang="es-ES" dirty="0"/>
              <a:t> ser: </a:t>
            </a:r>
            <a:r>
              <a:rPr lang="es-ES" b="1" dirty="0" err="1"/>
              <a:t>lpstat</a:t>
            </a:r>
            <a:r>
              <a:rPr lang="es-ES" b="1" dirty="0"/>
              <a:t>,</a:t>
            </a:r>
            <a:r>
              <a:rPr lang="es-ES" dirty="0"/>
              <a:t> </a:t>
            </a:r>
            <a:r>
              <a:rPr lang="es-ES" b="1" dirty="0" err="1"/>
              <a:t>lpoptions</a:t>
            </a:r>
            <a:r>
              <a:rPr lang="es-ES" dirty="0"/>
              <a:t>, </a:t>
            </a:r>
            <a:r>
              <a:rPr lang="es-ES" b="1" dirty="0" err="1"/>
              <a:t>cupsaccept</a:t>
            </a:r>
            <a:r>
              <a:rPr lang="es-ES" dirty="0"/>
              <a:t>, </a:t>
            </a:r>
            <a:r>
              <a:rPr lang="es-ES" b="1" dirty="0" err="1"/>
              <a:t>cupreject</a:t>
            </a:r>
            <a:r>
              <a:rPr lang="es-ES" dirty="0"/>
              <a:t>, </a:t>
            </a:r>
            <a:r>
              <a:rPr lang="es-ES" b="1" dirty="0" err="1"/>
              <a:t>cupsenable</a:t>
            </a:r>
            <a:r>
              <a:rPr lang="es-ES" dirty="0"/>
              <a:t> y </a:t>
            </a:r>
            <a:r>
              <a:rPr lang="es-ES" b="1" dirty="0" err="1"/>
              <a:t>cupsdisable</a:t>
            </a:r>
            <a:r>
              <a:rPr lang="es-ES" dirty="0"/>
              <a:t>. Estos y los anteriores serán estudiados a fondo en la sección de comandos de este mismo capítulo.</a:t>
            </a:r>
            <a:endParaRPr lang="es-ES" dirty="0"/>
          </a:p>
          <a:p>
            <a:endParaRPr lang="es-ES" dirty="0"/>
          </a:p>
          <a:p>
            <a:endParaRPr lang="es-ES" dirty="0"/>
          </a:p>
          <a:p>
            <a:endParaRPr lang="es-ES" sz="2500" b="1" dirty="0"/>
          </a:p>
          <a:p>
            <a:endParaRPr lang="es-ES" dirty="0"/>
          </a:p>
          <a:p>
            <a:endParaRPr lang="es-ES" dirty="0"/>
          </a:p>
          <a:p>
            <a:pPr marL="201295" lvl="1" indent="0">
              <a:buNone/>
            </a:pPr>
            <a:endParaRPr lang="es-ES" b="1"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854765"/>
            <a:ext cx="10058400" cy="882595"/>
          </a:xfrm>
        </p:spPr>
        <p:txBody>
          <a:bodyPr/>
          <a:lstStyle/>
          <a:p>
            <a:r>
              <a:rPr lang="es-ES" dirty="0"/>
              <a:t>Ventanas X, localización e impresión</a:t>
            </a:r>
            <a:endParaRPr lang="es-ES" dirty="0"/>
          </a:p>
        </p:txBody>
      </p:sp>
      <p:sp>
        <p:nvSpPr>
          <p:cNvPr id="3" name="Marcador de contenido 2"/>
          <p:cNvSpPr>
            <a:spLocks noGrp="1"/>
          </p:cNvSpPr>
          <p:nvPr>
            <p:ph idx="1"/>
          </p:nvPr>
        </p:nvSpPr>
        <p:spPr>
          <a:xfrm>
            <a:off x="605642" y="1888177"/>
            <a:ext cx="10550038" cy="4255063"/>
          </a:xfrm>
        </p:spPr>
        <p:txBody>
          <a:bodyPr>
            <a:normAutofit/>
          </a:bodyPr>
          <a:lstStyle/>
          <a:p>
            <a:r>
              <a:rPr lang="es-ES" b="1" dirty="0"/>
              <a:t>Herramientas para el uso de impresoras</a:t>
            </a:r>
            <a:endParaRPr lang="es-ES" b="1" dirty="0"/>
          </a:p>
          <a:p>
            <a:r>
              <a:rPr lang="es-ES" dirty="0"/>
              <a:t>Ver la impresora : </a:t>
            </a:r>
            <a:endParaRPr lang="es-ES" dirty="0"/>
          </a:p>
          <a:p>
            <a:pPr lvl="1"/>
            <a:r>
              <a:rPr lang="es-ES" dirty="0" err="1"/>
              <a:t>lpstat</a:t>
            </a:r>
            <a:r>
              <a:rPr lang="es-ES" dirty="0"/>
              <a:t> –a</a:t>
            </a:r>
            <a:endParaRPr lang="es-ES" dirty="0"/>
          </a:p>
          <a:p>
            <a:pPr lvl="1"/>
            <a:r>
              <a:rPr lang="es-ES" dirty="0" err="1"/>
              <a:t>lpstat</a:t>
            </a:r>
            <a:r>
              <a:rPr lang="es-ES" dirty="0"/>
              <a:t> –p</a:t>
            </a:r>
            <a:endParaRPr lang="es-ES" dirty="0"/>
          </a:p>
          <a:p>
            <a:pPr lvl="1"/>
            <a:r>
              <a:rPr lang="es-ES" dirty="0"/>
              <a:t>sudo </a:t>
            </a:r>
            <a:r>
              <a:rPr lang="es-ES" dirty="0" err="1"/>
              <a:t>lpinfo</a:t>
            </a:r>
            <a:r>
              <a:rPr lang="es-ES" dirty="0"/>
              <a:t> –v</a:t>
            </a:r>
            <a:endParaRPr lang="es-ES" dirty="0"/>
          </a:p>
          <a:p>
            <a:pPr marL="201295" lvl="1" indent="0">
              <a:buNone/>
            </a:pPr>
            <a:r>
              <a:rPr lang="es-ES" dirty="0"/>
              <a:t>Configurar la impresora por defecto (por ejemplo a la impresora virtual </a:t>
            </a:r>
            <a:r>
              <a:rPr lang="es-ES" dirty="0" err="1"/>
              <a:t>pdf</a:t>
            </a:r>
            <a:r>
              <a:rPr lang="es-ES" dirty="0"/>
              <a:t>)</a:t>
            </a:r>
            <a:endParaRPr lang="es-ES" dirty="0"/>
          </a:p>
          <a:p>
            <a:pPr lvl="1"/>
            <a:r>
              <a:rPr lang="es-ES" dirty="0" err="1"/>
              <a:t>lpadmin</a:t>
            </a:r>
            <a:r>
              <a:rPr lang="es-ES" dirty="0"/>
              <a:t> –d PDF</a:t>
            </a:r>
            <a:endParaRPr lang="es-ES" dirty="0"/>
          </a:p>
          <a:p>
            <a:pPr lvl="1"/>
            <a:r>
              <a:rPr lang="es-ES" dirty="0" err="1"/>
              <a:t>lpstat</a:t>
            </a:r>
            <a:r>
              <a:rPr lang="es-ES" dirty="0"/>
              <a:t> –p –d</a:t>
            </a:r>
            <a:endParaRPr lang="es-ES" dirty="0"/>
          </a:p>
          <a:p>
            <a:pPr marL="201295" lvl="1" indent="0">
              <a:buNone/>
            </a:pPr>
            <a:r>
              <a:rPr lang="es-ES" dirty="0"/>
              <a:t>Imprimir (en </a:t>
            </a:r>
            <a:r>
              <a:rPr lang="es-ES"/>
              <a:t>la impresora PDF):</a:t>
            </a:r>
            <a:endParaRPr lang="es-ES" dirty="0"/>
          </a:p>
          <a:p>
            <a:pPr lvl="1"/>
            <a:r>
              <a:rPr lang="es-ES" dirty="0" err="1"/>
              <a:t>lp</a:t>
            </a:r>
            <a:r>
              <a:rPr lang="es-ES" dirty="0"/>
              <a:t> –d PDF prueba.txt </a:t>
            </a:r>
            <a:endParaRPr lang="es-ES" dirty="0"/>
          </a:p>
          <a:p>
            <a:pPr lvl="6"/>
            <a:endParaRPr lang="es-ES" dirty="0"/>
          </a:p>
          <a:p>
            <a:endParaRPr lang="es-ES" dirty="0"/>
          </a:p>
          <a:p>
            <a:endParaRPr lang="es-ES" sz="2500" b="1" dirty="0"/>
          </a:p>
          <a:p>
            <a:endParaRPr lang="es-ES" dirty="0"/>
          </a:p>
          <a:p>
            <a:endParaRPr lang="es-ES" dirty="0"/>
          </a:p>
          <a:p>
            <a:pPr marL="201295" lvl="1" indent="0">
              <a:buNone/>
            </a:pPr>
            <a:endParaRPr lang="es-ES" b="1"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854765"/>
            <a:ext cx="10058400" cy="882595"/>
          </a:xfrm>
        </p:spPr>
        <p:txBody>
          <a:bodyPr/>
          <a:lstStyle/>
          <a:p>
            <a:r>
              <a:rPr lang="es-ES" dirty="0"/>
              <a:t>Ventanas X, localización e impresión</a:t>
            </a:r>
            <a:endParaRPr lang="es-ES" dirty="0"/>
          </a:p>
        </p:txBody>
      </p:sp>
      <p:sp>
        <p:nvSpPr>
          <p:cNvPr id="3" name="Marcador de contenido 2"/>
          <p:cNvSpPr>
            <a:spLocks noGrp="1"/>
          </p:cNvSpPr>
          <p:nvPr>
            <p:ph idx="1"/>
          </p:nvPr>
        </p:nvSpPr>
        <p:spPr>
          <a:xfrm>
            <a:off x="605642" y="1888177"/>
            <a:ext cx="10550038" cy="4255063"/>
          </a:xfrm>
        </p:spPr>
        <p:txBody>
          <a:bodyPr>
            <a:normAutofit/>
          </a:bodyPr>
          <a:lstStyle/>
          <a:p>
            <a:r>
              <a:rPr lang="es-ES" sz="1900" b="1" dirty="0"/>
              <a:t>CONFIGURAR IMPRESORAS </a:t>
            </a:r>
            <a:endParaRPr lang="es-ES" sz="1900" b="1" dirty="0"/>
          </a:p>
          <a:p>
            <a:r>
              <a:rPr lang="es-ES" b="1" dirty="0"/>
              <a:t>Herramientas para el uso de impresoras</a:t>
            </a:r>
            <a:endParaRPr lang="es-ES" b="1" dirty="0"/>
          </a:p>
          <a:p>
            <a:r>
              <a:rPr lang="es-ES" dirty="0"/>
              <a:t>Algunos ejemplos:</a:t>
            </a:r>
            <a:endParaRPr lang="es-ES" dirty="0"/>
          </a:p>
          <a:p>
            <a:r>
              <a:rPr lang="es-ES" dirty="0"/>
              <a:t>Imprimir un archivo y eliminarlo a su finalización:</a:t>
            </a:r>
            <a:endParaRPr lang="es-ES" dirty="0"/>
          </a:p>
          <a:p>
            <a:r>
              <a:rPr lang="es-ES" dirty="0"/>
              <a:t>Enviar una notificación por correo:</a:t>
            </a:r>
            <a:endParaRPr lang="es-ES" dirty="0"/>
          </a:p>
          <a:p>
            <a:r>
              <a:rPr lang="es-ES" dirty="0"/>
              <a:t>Ver las colas existentes:</a:t>
            </a:r>
            <a:endParaRPr lang="es-ES" dirty="0"/>
          </a:p>
          <a:p>
            <a:r>
              <a:rPr lang="es-ES" dirty="0"/>
              <a:t>Eliminar una tarea en concreto:</a:t>
            </a:r>
            <a:endParaRPr lang="es-ES" dirty="0"/>
          </a:p>
          <a:p>
            <a:endParaRPr lang="es-ES" dirty="0"/>
          </a:p>
          <a:p>
            <a:endParaRPr lang="es-ES" dirty="0"/>
          </a:p>
          <a:p>
            <a:endParaRPr lang="es-ES" sz="2500" b="1" dirty="0"/>
          </a:p>
          <a:p>
            <a:endParaRPr lang="es-ES" dirty="0"/>
          </a:p>
          <a:p>
            <a:endParaRPr lang="es-ES" dirty="0"/>
          </a:p>
          <a:p>
            <a:pPr marL="201295" lvl="1" indent="0">
              <a:buNone/>
            </a:pPr>
            <a:endParaRPr lang="es-ES" b="1" dirty="0"/>
          </a:p>
        </p:txBody>
      </p:sp>
      <p:pic>
        <p:nvPicPr>
          <p:cNvPr id="4" name="Imagen 3"/>
          <p:cNvPicPr>
            <a:picLocks noChangeAspect="1"/>
          </p:cNvPicPr>
          <p:nvPr/>
        </p:nvPicPr>
        <p:blipFill>
          <a:blip r:embed="rId1"/>
          <a:stretch>
            <a:fillRect/>
          </a:stretch>
        </p:blipFill>
        <p:spPr>
          <a:xfrm>
            <a:off x="5880661" y="3381076"/>
            <a:ext cx="2219325" cy="533400"/>
          </a:xfrm>
          <a:prstGeom prst="rect">
            <a:avLst/>
          </a:prstGeom>
        </p:spPr>
      </p:pic>
      <p:pic>
        <p:nvPicPr>
          <p:cNvPr id="5" name="Imagen 4"/>
          <p:cNvPicPr>
            <a:picLocks noChangeAspect="1"/>
          </p:cNvPicPr>
          <p:nvPr/>
        </p:nvPicPr>
        <p:blipFill>
          <a:blip r:embed="rId2"/>
          <a:stretch>
            <a:fillRect/>
          </a:stretch>
        </p:blipFill>
        <p:spPr>
          <a:xfrm>
            <a:off x="5880661" y="3920610"/>
            <a:ext cx="1952625" cy="523875"/>
          </a:xfrm>
          <a:prstGeom prst="rect">
            <a:avLst/>
          </a:prstGeom>
        </p:spPr>
      </p:pic>
      <p:pic>
        <p:nvPicPr>
          <p:cNvPr id="6" name="Imagen 5"/>
          <p:cNvPicPr>
            <a:picLocks noChangeAspect="1"/>
          </p:cNvPicPr>
          <p:nvPr/>
        </p:nvPicPr>
        <p:blipFill>
          <a:blip r:embed="rId3"/>
          <a:stretch>
            <a:fillRect/>
          </a:stretch>
        </p:blipFill>
        <p:spPr>
          <a:xfrm>
            <a:off x="5903861" y="4387942"/>
            <a:ext cx="2219325" cy="542925"/>
          </a:xfrm>
          <a:prstGeom prst="rect">
            <a:avLst/>
          </a:prstGeom>
        </p:spPr>
      </p:pic>
      <p:pic>
        <p:nvPicPr>
          <p:cNvPr id="7" name="Imagen 6"/>
          <p:cNvPicPr>
            <a:picLocks noChangeAspect="1"/>
          </p:cNvPicPr>
          <p:nvPr/>
        </p:nvPicPr>
        <p:blipFill>
          <a:blip r:embed="rId4"/>
          <a:stretch>
            <a:fillRect/>
          </a:stretch>
        </p:blipFill>
        <p:spPr>
          <a:xfrm>
            <a:off x="5880661" y="4886421"/>
            <a:ext cx="1638300" cy="390525"/>
          </a:xfrm>
          <a:prstGeom prst="rect">
            <a:avLst/>
          </a:prstGeom>
        </p:spPr>
      </p:pic>
    </p:spTree>
  </p:cSld>
  <p:clrMapOvr>
    <a:masterClrMapping/>
  </p:clrMapOvr>
</p:sld>
</file>

<file path=ppt/theme/theme1.xml><?xml version="1.0" encoding="utf-8"?>
<a:theme xmlns:a="http://schemas.openxmlformats.org/drawingml/2006/main" name="RetrospectVTI">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Arial Nova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Nova"/>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28154</Words>
  <Application>WPS Presentation</Application>
  <PresentationFormat>Panorámica</PresentationFormat>
  <Paragraphs>367</Paragraphs>
  <Slides>27</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27</vt:i4>
      </vt:variant>
    </vt:vector>
  </HeadingPairs>
  <TitlesOfParts>
    <vt:vector size="38" baseType="lpstr">
      <vt:lpstr>Arial</vt:lpstr>
      <vt:lpstr>SimSun</vt:lpstr>
      <vt:lpstr>Wingdings</vt:lpstr>
      <vt:lpstr>Calibri</vt:lpstr>
      <vt:lpstr>Courier New</vt:lpstr>
      <vt:lpstr>Arial Nova</vt:lpstr>
      <vt:lpstr>Arial Nova Light</vt:lpstr>
      <vt:lpstr>Microsoft YaHei</vt:lpstr>
      <vt:lpstr>Arial Unicode MS</vt:lpstr>
      <vt:lpstr>Helvetica</vt:lpstr>
      <vt:lpstr>RetrospectVTI</vt:lpstr>
      <vt:lpstr>Certificación LPI LPIC-1:  Linux Administrator  </vt:lpstr>
      <vt:lpstr>Ventanas X, localización e impresión</vt:lpstr>
      <vt:lpstr>Ventanas X, localización e impresión</vt:lpstr>
      <vt:lpstr>Ventanas X, localización e impresión</vt:lpstr>
      <vt:lpstr>Ventanas X, localización e impresión</vt:lpstr>
      <vt:lpstr>Ventanas X, localización e impresión</vt:lpstr>
      <vt:lpstr>Ventanas X, localización e impresión</vt:lpstr>
      <vt:lpstr>Ventanas X, localización e impresión</vt:lpstr>
      <vt:lpstr>Ventanas X, localización e impresión</vt:lpstr>
      <vt:lpstr>Ventanas X, localización e impresión</vt:lpstr>
      <vt:lpstr>Ventanas X, localización e impresión</vt:lpstr>
      <vt:lpstr>Ventanas X, localización e impresión</vt:lpstr>
      <vt:lpstr>Ventanas X, localización e impresión</vt:lpstr>
      <vt:lpstr>Ventanas X, localización e impresión</vt:lpstr>
      <vt:lpstr>Ventanas X, localización e impresión</vt:lpstr>
      <vt:lpstr>Ventanas X, localización e impresión</vt:lpstr>
      <vt:lpstr>Ventanas X, localización e impresión</vt:lpstr>
      <vt:lpstr>Ventanas X, localización e impresión</vt:lpstr>
      <vt:lpstr>Ventanas X, localización e impresión</vt:lpstr>
      <vt:lpstr>Ventanas X, localización e impresión</vt:lpstr>
      <vt:lpstr>Ventanas X, localización e impresión</vt:lpstr>
      <vt:lpstr>Ventanas X, localización e impresión</vt:lpstr>
      <vt:lpstr>Ventanas X, localización e impresión</vt:lpstr>
      <vt:lpstr>Ventanas X, localización e impresión</vt:lpstr>
      <vt:lpstr>Ventanas X, localización e impresión</vt:lpstr>
      <vt:lpstr>Ventanas X, localización e impresión</vt:lpstr>
      <vt:lpstr>Ventanas X, localización e impresión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Certificación LPI LPIC-1:  Linux Administrator</dc:title>
  <dc:creator>Sonia Fernandez</dc:creator>
  <cp:lastModifiedBy>paz13</cp:lastModifiedBy>
  <cp:revision>332</cp:revision>
  <dcterms:created xsi:type="dcterms:W3CDTF">2020-02-24T09:11:00Z</dcterms:created>
  <dcterms:modified xsi:type="dcterms:W3CDTF">2025-04-02T18:27:35Z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C42588ADAFE7427F81C4A11C1D43EF21_13</vt:lpwstr>
  </property>
  <property fmtid="{D5CDD505-2E9C-101B-9397-08002B2CF9AE}" pid="3" name="KSOProductBuildVer">
    <vt:lpwstr>3082-12.2.0.20348</vt:lpwstr>
  </property>
</Properties>
</file>