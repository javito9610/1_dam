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7" r:id="rId4"/>
    <p:sldId id="268" r:id="rId5"/>
    <p:sldId id="270" r:id="rId6"/>
    <p:sldId id="271" r:id="rId7"/>
    <p:sldId id="272" r:id="rId8"/>
    <p:sldId id="273" r:id="rId9"/>
    <p:sldId id="274" r:id="rId10"/>
    <p:sldId id="275" r:id="rId11"/>
    <p:sldId id="276" r:id="rId12"/>
    <p:sldId id="277" r:id="rId13"/>
    <p:sldId id="278" r:id="rId14"/>
    <p:sldId id="325" r:id="rId15"/>
    <p:sldId id="326" r:id="rId16"/>
    <p:sldId id="336" r:id="rId17"/>
    <p:sldId id="279" r:id="rId18"/>
    <p:sldId id="281" r:id="rId19"/>
    <p:sldId id="282" r:id="rId20"/>
    <p:sldId id="332" r:id="rId21"/>
    <p:sldId id="283" r:id="rId22"/>
    <p:sldId id="284" r:id="rId23"/>
    <p:sldId id="328" r:id="rId24"/>
    <p:sldId id="286" r:id="rId25"/>
    <p:sldId id="330" r:id="rId26"/>
    <p:sldId id="329" r:id="rId27"/>
    <p:sldId id="331" r:id="rId28"/>
    <p:sldId id="288" r:id="rId29"/>
    <p:sldId id="289" r:id="rId30"/>
    <p:sldId id="290" r:id="rId31"/>
    <p:sldId id="327" r:id="rId32"/>
    <p:sldId id="287" r:id="rId33"/>
    <p:sldId id="333" r:id="rId34"/>
    <p:sldId id="337" r:id="rId35"/>
    <p:sldId id="338" r:id="rId36"/>
    <p:sldId id="291" r:id="rId37"/>
    <p:sldId id="339" r:id="rId38"/>
    <p:sldId id="340" r:id="rId39"/>
    <p:sldId id="293" r:id="rId40"/>
    <p:sldId id="341" r:id="rId41"/>
    <p:sldId id="334" r:id="rId42"/>
    <p:sldId id="335" r:id="rId43"/>
    <p:sldId id="294" r:id="rId44"/>
    <p:sldId id="295" r:id="rId45"/>
    <p:sldId id="297" r:id="rId46"/>
    <p:sldId id="296" r:id="rId47"/>
    <p:sldId id="299" r:id="rId48"/>
    <p:sldId id="298" r:id="rId49"/>
    <p:sldId id="300" r:id="rId50"/>
    <p:sldId id="301" r:id="rId51"/>
    <p:sldId id="302" r:id="rId52"/>
    <p:sldId id="303" r:id="rId53"/>
    <p:sldId id="342" r:id="rId54"/>
    <p:sldId id="304" r:id="rId55"/>
    <p:sldId id="343" r:id="rId56"/>
    <p:sldId id="305" r:id="rId57"/>
    <p:sldId id="306" r:id="rId58"/>
    <p:sldId id="344" r:id="rId59"/>
    <p:sldId id="307" r:id="rId60"/>
    <p:sldId id="308" r:id="rId61"/>
    <p:sldId id="309" r:id="rId62"/>
    <p:sldId id="310" r:id="rId63"/>
    <p:sldId id="311" r:id="rId64"/>
    <p:sldId id="312" r:id="rId65"/>
    <p:sldId id="313" r:id="rId66"/>
    <p:sldId id="314" r:id="rId67"/>
    <p:sldId id="315" r:id="rId68"/>
    <p:sldId id="316" r:id="rId69"/>
    <p:sldId id="318" r:id="rId70"/>
    <p:sldId id="317" r:id="rId71"/>
    <p:sldId id="319" r:id="rId72"/>
    <p:sldId id="320" r:id="rId73"/>
    <p:sldId id="321" r:id="rId74"/>
    <p:sldId id="322" r:id="rId75"/>
    <p:sldId id="323" r:id="rId76"/>
    <p:sldId id="324" r:id="rId77"/>
    <p:sldId id="345" r:id="rId78"/>
    <p:sldId id="346" r:id="rId79"/>
    <p:sldId id="347" r:id="rId8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49" autoAdjust="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2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20000"/>
        </a:lnSpc>
        <a:spcBef>
          <a:spcPts val="1200"/>
        </a:spcBef>
        <a:spcAft>
          <a:spcPts val="200"/>
        </a:spcAft>
        <a:buClr>
          <a:schemeClr val="accent1"/>
        </a:buClr>
        <a:buSzPct val="100000"/>
        <a:buFont typeface="Calibri" panose="020F0502020204030204" pitchFamily="34" charset="0"/>
        <a:buChar char=" "/>
        <a:defRPr sz="18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6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hyperlink" Target="https://nebul4ck.files.wordpress.com/2015/02/adduser.p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p:cNvSpPr>
            <a:spLocks noGrp="1"/>
          </p:cNvSpPr>
          <p:nvPr>
            <p:ph type="ctrTitle"/>
          </p:nvPr>
        </p:nvSpPr>
        <p:spPr>
          <a:xfrm>
            <a:off x="3958251" y="1417983"/>
            <a:ext cx="7319175" cy="2550028"/>
          </a:xfrm>
        </p:spPr>
        <p:txBody>
          <a:bodyPr>
            <a:normAutofit/>
          </a:bodyPr>
          <a:lstStyle/>
          <a:p>
            <a:r>
              <a:rPr lang="es-ES" sz="4800" dirty="0"/>
              <a:t>Certificación LPI LPIC-1: </a:t>
            </a:r>
            <a:br>
              <a:rPr lang="es-ES" sz="4800" dirty="0"/>
            </a:br>
            <a:r>
              <a:rPr lang="es-ES" sz="4800" dirty="0"/>
              <a:t>Linux Administrator </a:t>
            </a:r>
            <a:br>
              <a:rPr lang="es-ES" sz="4800" dirty="0"/>
            </a:br>
            <a:endParaRPr lang="es-ES" sz="4800" dirty="0"/>
          </a:p>
        </p:txBody>
      </p:sp>
      <p:pic>
        <p:nvPicPr>
          <p:cNvPr id="5" name="Imagen 4" descr="Imagen que contiene dibujo&#10;&#10;Descripción generada automáticament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0973" y="1781229"/>
            <a:ext cx="2758331" cy="2776843"/>
          </a:xfrm>
          <a:prstGeom prst="rect">
            <a:avLst/>
          </a:prstGeom>
        </p:spPr>
      </p:pic>
      <p:cxnSp>
        <p:nvCxnSpPr>
          <p:cNvPr id="12" name="Straight Connector 11"/>
          <p:cNvCxnSpPr>
            <a:cxnSpLocks noGrp="1" noRot="1" noChangeAspect="1" noMove="1" noResize="1" noEditPoints="1" noAdjustHandles="1" noChangeArrowheads="1" noChangeShapeType="1"/>
          </p:cNvCxnSpPr>
          <p:nvPr/>
        </p:nvCxnSpPr>
        <p:spPr>
          <a:xfrm>
            <a:off x="3958251" y="4294753"/>
            <a:ext cx="71323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Rectangle 13"/>
          <p:cNvSpPr>
            <a:spLocks noGrp="1" noRot="1" noChangeAspect="1" noMove="1" noResize="1" noEditPoints="1" noAdjustHandles="1" noChangeArrowheads="1" noChangeShapeType="1" noTextEdit="1"/>
          </p:cNvSpPr>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CuadroTexto 5"/>
          <p:cNvSpPr txBox="1"/>
          <p:nvPr/>
        </p:nvSpPr>
        <p:spPr>
          <a:xfrm>
            <a:off x="3918992" y="3767956"/>
            <a:ext cx="4399538" cy="400110"/>
          </a:xfrm>
          <a:prstGeom prst="rect">
            <a:avLst/>
          </a:prstGeom>
          <a:noFill/>
        </p:spPr>
        <p:txBody>
          <a:bodyPr wrap="none" rtlCol="0">
            <a:spAutoFit/>
          </a:bodyPr>
          <a:lstStyle/>
          <a:p>
            <a:r>
              <a:rPr lang="es-ES" sz="2000" dirty="0"/>
              <a:t>Tema 7: TAREAS ADMINISTRATIVAS</a:t>
            </a:r>
            <a:endParaRPr lang="es-E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6556" y="1537629"/>
            <a:ext cx="10224052" cy="3888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400" i="1" dirty="0"/>
              <a:t>Linux</a:t>
            </a:r>
            <a:r>
              <a:rPr lang="es-ES" sz="1400" dirty="0"/>
              <a:t> nos permite dar casi cualquier nombre a una cuenta de usuario. Las reglas mas “liberales” sobre nombres de usuario nos permiten usar caracteres en minúsculas y mayúsculas (para </a:t>
            </a:r>
            <a:r>
              <a:rPr lang="es-ES" sz="1400" i="1" dirty="0"/>
              <a:t>Linux</a:t>
            </a:r>
            <a:r>
              <a:rPr lang="es-ES" sz="1400" dirty="0"/>
              <a:t>, Andrea, </a:t>
            </a:r>
            <a:r>
              <a:rPr lang="es-ES" sz="1400" dirty="0" err="1"/>
              <a:t>andrEa</a:t>
            </a:r>
            <a:r>
              <a:rPr lang="es-ES" sz="1400" dirty="0"/>
              <a:t> y </a:t>
            </a:r>
            <a:r>
              <a:rPr lang="es-ES" sz="1400" dirty="0" err="1"/>
              <a:t>andrea</a:t>
            </a:r>
            <a:r>
              <a:rPr lang="es-ES" sz="1400" dirty="0"/>
              <a:t> serán cuentas diferentes)  , tener una longitud de hasta 32 caracteres y usar algunos caracteres especiales como el </a:t>
            </a:r>
            <a:r>
              <a:rPr lang="es-ES" sz="1400" dirty="0" err="1"/>
              <a:t>guión</a:t>
            </a:r>
            <a:r>
              <a:rPr lang="es-ES" sz="1400" dirty="0"/>
              <a:t> bajo (</a:t>
            </a:r>
            <a:r>
              <a:rPr lang="es-ES" sz="1400" b="1" dirty="0"/>
              <a:t>_</a:t>
            </a:r>
            <a:r>
              <a:rPr lang="es-ES" sz="1400" dirty="0"/>
              <a:t>), el punto (</a:t>
            </a:r>
            <a:r>
              <a:rPr lang="es-ES" sz="1400" b="1" dirty="0"/>
              <a:t>.</a:t>
            </a:r>
            <a:r>
              <a:rPr lang="es-ES" sz="1400" dirty="0"/>
              <a:t>) o el signo del dólar (</a:t>
            </a:r>
            <a:r>
              <a:rPr lang="es-ES" sz="1400" b="1" dirty="0"/>
              <a:t>$</a:t>
            </a:r>
            <a:r>
              <a:rPr lang="es-ES" sz="1400" dirty="0"/>
              <a:t>) al final del nombre. </a:t>
            </a:r>
            <a:endParaRPr lang="es-ES" sz="1400" dirty="0"/>
          </a:p>
          <a:p>
            <a:r>
              <a:rPr lang="es-ES" sz="1400" dirty="0"/>
              <a:t>Se recomienda que las cuentas de usuarios comiencen con una letra, aunque se pueden emplear números incluso caracteres de puntuación como el ‘</a:t>
            </a:r>
            <a:r>
              <a:rPr lang="es-ES" sz="1400" b="1" dirty="0"/>
              <a:t>.</a:t>
            </a:r>
            <a:r>
              <a:rPr lang="es-ES" sz="1400" dirty="0"/>
              <a:t>‘ y el ‘</a:t>
            </a:r>
            <a:r>
              <a:rPr lang="es-ES" sz="1400" b="1" dirty="0"/>
              <a:t>_</a:t>
            </a:r>
            <a:r>
              <a:rPr lang="es-ES" sz="1400" dirty="0"/>
              <a:t>‘. </a:t>
            </a:r>
            <a:endParaRPr lang="es-ES" sz="1400" dirty="0"/>
          </a:p>
          <a:p>
            <a:r>
              <a:rPr lang="es-ES" sz="1400" dirty="0"/>
              <a:t>Algunas utilidades usadas para la creación de cuentas de usuarios son mas restrictivas, por lo que nos podemos encontrar problemas a la hora de crear un nombre con espacios, mas de 8 caracteres o incluso que no nos permitan comenzar el nombre con caracteres especiales, números o incluso usar letras mayúsculas.</a:t>
            </a:r>
            <a:endParaRPr lang="es-ES" sz="1400" dirty="0"/>
          </a:p>
          <a:p>
            <a:r>
              <a:rPr lang="es-ES" sz="1400" b="1" dirty="0"/>
              <a:t>Nota</a:t>
            </a:r>
            <a:r>
              <a:rPr lang="es-ES" sz="1400" dirty="0"/>
              <a:t>: Si empleamos como primer </a:t>
            </a:r>
            <a:r>
              <a:rPr lang="es-ES" sz="1400" dirty="0" err="1"/>
              <a:t>caracter</a:t>
            </a:r>
            <a:r>
              <a:rPr lang="es-ES" sz="1400" dirty="0"/>
              <a:t> para el nombre de la cuenta el ‘.’ (punto) tendremos que tener en cuenta que el directorio home del usuario aparecerá como oculto bajo</a:t>
            </a:r>
            <a:r>
              <a:rPr lang="es-ES" sz="1400" i="1" dirty="0"/>
              <a:t> /home</a:t>
            </a:r>
            <a:endParaRPr lang="es-E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6556" y="1550058"/>
            <a:ext cx="10224052" cy="1461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400" dirty="0"/>
              <a:t>Cada usuario que creemos en el sistema tendrá una línea que lo identifique en el archivo </a:t>
            </a:r>
            <a:r>
              <a:rPr lang="es-ES" sz="1400" b="1" dirty="0"/>
              <a:t>/</a:t>
            </a:r>
            <a:r>
              <a:rPr lang="es-ES" sz="1400" b="1" dirty="0" err="1"/>
              <a:t>etc</a:t>
            </a:r>
            <a:r>
              <a:rPr lang="es-ES" sz="1400" b="1" dirty="0"/>
              <a:t>/</a:t>
            </a:r>
            <a:r>
              <a:rPr lang="es-ES" sz="1400" b="1" dirty="0" err="1"/>
              <a:t>passwd</a:t>
            </a:r>
            <a:r>
              <a:rPr lang="es-ES" sz="1400" dirty="0"/>
              <a:t> y su correspondiente contraseña encriptada más algunas características de la cuenta en el archivo </a:t>
            </a:r>
            <a:r>
              <a:rPr lang="es-ES" sz="1400" b="1" dirty="0"/>
              <a:t>/</a:t>
            </a:r>
            <a:r>
              <a:rPr lang="es-ES" sz="1400" b="1" dirty="0" err="1"/>
              <a:t>etc</a:t>
            </a:r>
            <a:r>
              <a:rPr lang="es-ES" sz="1400" b="1" dirty="0"/>
              <a:t>/</a:t>
            </a:r>
            <a:r>
              <a:rPr lang="es-ES" sz="1400" b="1" dirty="0" err="1"/>
              <a:t>shadow</a:t>
            </a:r>
            <a:r>
              <a:rPr lang="es-ES" sz="1400" dirty="0"/>
              <a:t>.</a:t>
            </a:r>
            <a:endParaRPr lang="es-ES" sz="1400" dirty="0"/>
          </a:p>
          <a:p>
            <a:r>
              <a:rPr lang="es-ES" sz="1400" dirty="0"/>
              <a:t>Podemos ver los usuarios </a:t>
            </a:r>
            <a:r>
              <a:rPr lang="es-ES" sz="1400" dirty="0" err="1"/>
              <a:t>logueados</a:t>
            </a:r>
            <a:r>
              <a:rPr lang="es-ES" sz="1400" dirty="0"/>
              <a:t> en el sistema a través del comando </a:t>
            </a:r>
            <a:r>
              <a:rPr lang="es-ES" sz="1400" b="1" dirty="0" err="1"/>
              <a:t>who</a:t>
            </a:r>
            <a:r>
              <a:rPr lang="es-ES" sz="1400" dirty="0"/>
              <a:t> o </a:t>
            </a:r>
            <a:r>
              <a:rPr lang="es-ES" sz="1400" b="1" dirty="0"/>
              <a:t>w.</a:t>
            </a:r>
            <a:endParaRPr lang="es-ES" sz="1400" b="1" dirty="0"/>
          </a:p>
        </p:txBody>
      </p:sp>
      <p:pic>
        <p:nvPicPr>
          <p:cNvPr id="5" name="Imagen 4"/>
          <p:cNvPicPr>
            <a:picLocks noChangeAspect="1"/>
          </p:cNvPicPr>
          <p:nvPr/>
        </p:nvPicPr>
        <p:blipFill>
          <a:blip r:embed="rId1"/>
          <a:stretch>
            <a:fillRect/>
          </a:stretch>
        </p:blipFill>
        <p:spPr>
          <a:xfrm>
            <a:off x="3322421" y="3486149"/>
            <a:ext cx="4670858" cy="5143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79224" y="1580704"/>
            <a:ext cx="10224052" cy="4356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b="1" dirty="0">
              <a:solidFill>
                <a:srgbClr val="333333"/>
              </a:solidFill>
              <a:latin typeface="+mj-lt"/>
            </a:endParaRPr>
          </a:p>
          <a:p>
            <a:pPr marL="0" lvl="0" indent="0" eaLnBrk="0" fontAlgn="base" hangingPunct="0">
              <a:lnSpc>
                <a:spcPct val="100000"/>
              </a:lnSpc>
              <a:spcBef>
                <a:spcPct val="0"/>
              </a:spcBef>
              <a:spcAft>
                <a:spcPct val="0"/>
              </a:spcAft>
              <a:buClrTx/>
              <a:buSzTx/>
              <a:buNone/>
            </a:pPr>
            <a:r>
              <a:rPr lang="es-ES" altLang="es-ES" sz="1400" b="1" dirty="0">
                <a:solidFill>
                  <a:srgbClr val="333333"/>
                </a:solidFill>
                <a:latin typeface="+mj-lt"/>
              </a:rPr>
              <a:t>Sobre el archivo /</a:t>
            </a:r>
            <a:r>
              <a:rPr lang="es-ES" altLang="es-ES" sz="1400" b="1" dirty="0" err="1">
                <a:solidFill>
                  <a:srgbClr val="333333"/>
                </a:solidFill>
                <a:latin typeface="+mj-lt"/>
              </a:rPr>
              <a:t>etc</a:t>
            </a:r>
            <a:r>
              <a:rPr lang="es-ES" altLang="es-ES" sz="1400" b="1" dirty="0">
                <a:solidFill>
                  <a:srgbClr val="333333"/>
                </a:solidFill>
                <a:latin typeface="+mj-lt"/>
              </a:rPr>
              <a:t>/</a:t>
            </a:r>
            <a:r>
              <a:rPr lang="es-ES" altLang="es-ES" sz="1400" b="1" dirty="0" err="1">
                <a:solidFill>
                  <a:srgbClr val="333333"/>
                </a:solidFill>
                <a:latin typeface="+mj-lt"/>
              </a:rPr>
              <a:t>passwd</a:t>
            </a:r>
            <a:endParaRPr lang="es-ES" altLang="es-ES" sz="1400" b="1" dirty="0">
              <a:solidFill>
                <a:srgbClr val="333333"/>
              </a:solidFill>
              <a:latin typeface="+mj-lt"/>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mj-lt"/>
              </a:rPr>
              <a:t>El formato de </a:t>
            </a:r>
            <a:r>
              <a:rPr lang="es-ES" altLang="es-ES" sz="1400" b="1" i="1" dirty="0">
                <a:solidFill>
                  <a:srgbClr val="333333"/>
                </a:solidFill>
                <a:latin typeface="+mj-lt"/>
              </a:rPr>
              <a:t>/</a:t>
            </a:r>
            <a:r>
              <a:rPr lang="es-ES" altLang="es-ES" sz="1400" b="1" i="1" dirty="0" err="1">
                <a:solidFill>
                  <a:srgbClr val="333333"/>
                </a:solidFill>
                <a:latin typeface="+mj-lt"/>
              </a:rPr>
              <a:t>etc</a:t>
            </a:r>
            <a:r>
              <a:rPr lang="es-ES" altLang="es-ES" sz="1400" b="1" i="1" dirty="0">
                <a:solidFill>
                  <a:srgbClr val="333333"/>
                </a:solidFill>
                <a:latin typeface="+mj-lt"/>
              </a:rPr>
              <a:t>/</a:t>
            </a:r>
            <a:r>
              <a:rPr lang="es-ES" altLang="es-ES" sz="1400" b="1" i="1" dirty="0" err="1">
                <a:solidFill>
                  <a:srgbClr val="333333"/>
                </a:solidFill>
                <a:latin typeface="+mj-lt"/>
              </a:rPr>
              <a:t>passwd</a:t>
            </a:r>
            <a:r>
              <a:rPr lang="es-ES" altLang="es-ES" sz="1400" b="1" i="1" dirty="0">
                <a:solidFill>
                  <a:srgbClr val="333333"/>
                </a:solidFill>
                <a:latin typeface="+mj-lt"/>
              </a:rPr>
              <a:t> </a:t>
            </a:r>
            <a:r>
              <a:rPr lang="es-ES" altLang="es-ES" sz="1400" dirty="0">
                <a:solidFill>
                  <a:srgbClr val="333333"/>
                </a:solidFill>
                <a:latin typeface="+mj-lt"/>
              </a:rPr>
              <a:t>es el siguiente: </a:t>
            </a:r>
            <a:r>
              <a:rPr lang="es-ES" altLang="es-ES" sz="1600" b="1" i="1" dirty="0" err="1">
                <a:solidFill>
                  <a:srgbClr val="333333"/>
                </a:solidFill>
                <a:latin typeface="+mj-lt"/>
              </a:rPr>
              <a:t>usuario:x:UID:GID:nombrecompleto:directoriohome:consola</a:t>
            </a:r>
            <a:endParaRPr lang="es-ES" altLang="es-ES" sz="1600" b="1" i="1" dirty="0">
              <a:solidFill>
                <a:srgbClr val="333333"/>
              </a:solidFill>
              <a:latin typeface="+mj-lt"/>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mj-lt"/>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600" b="1" i="1" dirty="0">
                <a:solidFill>
                  <a:srgbClr val="333333"/>
                </a:solidFill>
                <a:latin typeface="+mj-lt"/>
                <a:cs typeface="Courier New" panose="02070309020205020404" pitchFamily="49" charset="0"/>
              </a:rPr>
              <a:t>gonzalo:x:1000:1000:Gonzalo Sánchez,695-235-526:/home/</a:t>
            </a:r>
            <a:r>
              <a:rPr lang="es-ES" altLang="es-ES" sz="1600" b="1" i="1" dirty="0" err="1">
                <a:solidFill>
                  <a:srgbClr val="333333"/>
                </a:solidFill>
                <a:latin typeface="+mj-lt"/>
                <a:cs typeface="Courier New" panose="02070309020205020404" pitchFamily="49" charset="0"/>
              </a:rPr>
              <a:t>gonzalo</a:t>
            </a:r>
            <a:r>
              <a:rPr lang="es-ES" altLang="es-ES" sz="1600" b="1" i="1" dirty="0">
                <a:solidFill>
                  <a:srgbClr val="333333"/>
                </a:solidFill>
                <a:latin typeface="+mj-lt"/>
                <a:cs typeface="Courier New" panose="02070309020205020404" pitchFamily="49" charset="0"/>
              </a:rPr>
              <a:t>:/</a:t>
            </a:r>
            <a:r>
              <a:rPr lang="es-ES" altLang="es-ES" sz="1600" b="1" i="1" dirty="0" err="1">
                <a:solidFill>
                  <a:srgbClr val="333333"/>
                </a:solidFill>
                <a:latin typeface="+mj-lt"/>
                <a:cs typeface="Courier New" panose="02070309020205020404" pitchFamily="49" charset="0"/>
              </a:rPr>
              <a:t>bin</a:t>
            </a:r>
            <a:r>
              <a:rPr lang="es-ES" altLang="es-ES" sz="1600" b="1" i="1" dirty="0">
                <a:solidFill>
                  <a:srgbClr val="333333"/>
                </a:solidFill>
                <a:latin typeface="+mj-lt"/>
                <a:cs typeface="Courier New" panose="02070309020205020404" pitchFamily="49" charset="0"/>
              </a:rPr>
              <a:t>/</a:t>
            </a:r>
            <a:r>
              <a:rPr lang="es-ES" altLang="es-ES" sz="1600" b="1" i="1" dirty="0" err="1">
                <a:solidFill>
                  <a:srgbClr val="333333"/>
                </a:solidFill>
                <a:latin typeface="+mj-lt"/>
                <a:cs typeface="Courier New" panose="02070309020205020404" pitchFamily="49" charset="0"/>
              </a:rPr>
              <a:t>bash</a:t>
            </a:r>
            <a:endParaRPr lang="es-ES" altLang="es-ES" sz="1600" b="1" i="1" dirty="0">
              <a:solidFill>
                <a:srgbClr val="333333"/>
              </a:solidFill>
              <a:latin typeface="+mj-lt"/>
              <a:cs typeface="Courier New" panose="02070309020205020404" pitchFamily="49" charset="0"/>
            </a:endParaRPr>
          </a:p>
          <a:p>
            <a:pPr marL="0" lvl="0" indent="0" eaLnBrk="0" fontAlgn="base" hangingPunct="0">
              <a:lnSpc>
                <a:spcPct val="100000"/>
              </a:lnSpc>
              <a:spcBef>
                <a:spcPct val="0"/>
              </a:spcBef>
              <a:spcAft>
                <a:spcPct val="0"/>
              </a:spcAft>
              <a:buClrTx/>
              <a:buSzTx/>
              <a:buNone/>
            </a:pPr>
            <a:endParaRPr lang="es-ES" altLang="es-ES" sz="1400" dirty="0">
              <a:solidFill>
                <a:schemeClr val="tx1"/>
              </a:solidFill>
              <a:latin typeface="+mj-lt"/>
            </a:endParaRPr>
          </a:p>
          <a:p>
            <a:pPr lvl="1" eaLnBrk="0" fontAlgn="base" hangingPunct="0">
              <a:spcBef>
                <a:spcPct val="0"/>
              </a:spcBef>
              <a:spcAft>
                <a:spcPct val="0"/>
              </a:spcAft>
            </a:pPr>
            <a:r>
              <a:rPr lang="es-ES" altLang="es-ES" sz="1200" dirty="0">
                <a:solidFill>
                  <a:srgbClr val="333333"/>
                </a:solidFill>
                <a:latin typeface="+mj-lt"/>
              </a:rPr>
              <a:t>El </a:t>
            </a:r>
            <a:r>
              <a:rPr lang="es-ES" altLang="es-ES" sz="1200" u="sng" dirty="0">
                <a:solidFill>
                  <a:srgbClr val="333333"/>
                </a:solidFill>
                <a:latin typeface="+mj-lt"/>
              </a:rPr>
              <a:t>segundo</a:t>
            </a:r>
            <a:r>
              <a:rPr lang="es-ES" altLang="es-ES" sz="1200" dirty="0">
                <a:solidFill>
                  <a:srgbClr val="333333"/>
                </a:solidFill>
                <a:latin typeface="+mj-lt"/>
              </a:rPr>
              <a:t> campo ‘</a:t>
            </a:r>
            <a:r>
              <a:rPr lang="es-ES" altLang="es-ES" sz="1200" b="1" dirty="0">
                <a:solidFill>
                  <a:srgbClr val="333333"/>
                </a:solidFill>
                <a:latin typeface="+mj-lt"/>
              </a:rPr>
              <a:t>x</a:t>
            </a:r>
            <a:r>
              <a:rPr lang="es-ES" altLang="es-ES" sz="1200" dirty="0">
                <a:solidFill>
                  <a:srgbClr val="333333"/>
                </a:solidFill>
                <a:latin typeface="+mj-lt"/>
              </a:rPr>
              <a:t>‘ indica que la contraseña no se almacena en este archivo, si no que se encuentra encriptada en</a:t>
            </a:r>
            <a:r>
              <a:rPr lang="es-ES" altLang="es-ES" sz="1200" b="1" i="1" dirty="0">
                <a:solidFill>
                  <a:srgbClr val="333333"/>
                </a:solidFill>
                <a:latin typeface="+mj-lt"/>
              </a:rPr>
              <a:t> /</a:t>
            </a:r>
            <a:r>
              <a:rPr lang="es-ES" altLang="es-ES" sz="1200" b="1" i="1" dirty="0" err="1">
                <a:solidFill>
                  <a:srgbClr val="333333"/>
                </a:solidFill>
                <a:latin typeface="+mj-lt"/>
              </a:rPr>
              <a:t>etc</a:t>
            </a:r>
            <a:r>
              <a:rPr lang="es-ES" altLang="es-ES" sz="1200" b="1" i="1" dirty="0">
                <a:solidFill>
                  <a:srgbClr val="333333"/>
                </a:solidFill>
                <a:latin typeface="+mj-lt"/>
              </a:rPr>
              <a:t>/</a:t>
            </a:r>
            <a:r>
              <a:rPr lang="es-ES" altLang="es-ES" sz="1200" b="1" i="1" dirty="0" err="1">
                <a:solidFill>
                  <a:srgbClr val="333333"/>
                </a:solidFill>
                <a:latin typeface="+mj-lt"/>
              </a:rPr>
              <a:t>shadow</a:t>
            </a:r>
            <a:r>
              <a:rPr lang="es-ES" altLang="es-ES" sz="1200" dirty="0">
                <a:solidFill>
                  <a:srgbClr val="333333"/>
                </a:solidFill>
                <a:latin typeface="+mj-lt"/>
              </a:rPr>
              <a:t>. </a:t>
            </a:r>
            <a:endParaRPr lang="es-ES" altLang="es-ES" sz="1200" dirty="0">
              <a:solidFill>
                <a:srgbClr val="333333"/>
              </a:solidFill>
              <a:latin typeface="+mj-lt"/>
            </a:endParaRPr>
          </a:p>
          <a:p>
            <a:pPr lvl="1" eaLnBrk="0" fontAlgn="base" hangingPunct="0">
              <a:spcBef>
                <a:spcPct val="0"/>
              </a:spcBef>
              <a:spcAft>
                <a:spcPct val="0"/>
              </a:spcAft>
            </a:pPr>
            <a:r>
              <a:rPr lang="es-ES" altLang="es-ES" sz="1200" dirty="0">
                <a:solidFill>
                  <a:srgbClr val="333333"/>
                </a:solidFill>
                <a:latin typeface="+mj-lt"/>
              </a:rPr>
              <a:t>Los campos </a:t>
            </a:r>
            <a:r>
              <a:rPr lang="es-ES" altLang="es-ES" sz="1200" u="sng" dirty="0">
                <a:solidFill>
                  <a:srgbClr val="333333"/>
                </a:solidFill>
                <a:latin typeface="+mj-lt"/>
              </a:rPr>
              <a:t>tercero</a:t>
            </a:r>
            <a:r>
              <a:rPr lang="es-ES" altLang="es-ES" sz="1200" dirty="0">
                <a:solidFill>
                  <a:srgbClr val="333333"/>
                </a:solidFill>
                <a:latin typeface="+mj-lt"/>
              </a:rPr>
              <a:t> y </a:t>
            </a:r>
            <a:r>
              <a:rPr lang="es-ES" altLang="es-ES" sz="1200" u="sng" dirty="0">
                <a:solidFill>
                  <a:srgbClr val="333333"/>
                </a:solidFill>
                <a:latin typeface="+mj-lt"/>
              </a:rPr>
              <a:t>cuarto</a:t>
            </a:r>
            <a:r>
              <a:rPr lang="es-ES" altLang="es-ES" sz="1200" dirty="0">
                <a:solidFill>
                  <a:srgbClr val="333333"/>
                </a:solidFill>
                <a:latin typeface="+mj-lt"/>
              </a:rPr>
              <a:t> indican el </a:t>
            </a:r>
            <a:r>
              <a:rPr lang="es-ES" altLang="es-ES" sz="1200" b="1" dirty="0">
                <a:solidFill>
                  <a:srgbClr val="333333"/>
                </a:solidFill>
                <a:latin typeface="+mj-lt"/>
              </a:rPr>
              <a:t>UID</a:t>
            </a:r>
            <a:r>
              <a:rPr lang="es-ES" altLang="es-ES" sz="1200" dirty="0">
                <a:solidFill>
                  <a:srgbClr val="333333"/>
                </a:solidFill>
                <a:latin typeface="+mj-lt"/>
              </a:rPr>
              <a:t> (</a:t>
            </a:r>
            <a:r>
              <a:rPr lang="es-ES" altLang="es-ES" sz="1200" i="1" dirty="0">
                <a:solidFill>
                  <a:srgbClr val="333333"/>
                </a:solidFill>
                <a:latin typeface="+mj-lt"/>
              </a:rPr>
              <a:t>ID de usuario</a:t>
            </a:r>
            <a:r>
              <a:rPr lang="es-ES" altLang="es-ES" sz="1200" dirty="0">
                <a:solidFill>
                  <a:srgbClr val="333333"/>
                </a:solidFill>
                <a:latin typeface="+mj-lt"/>
              </a:rPr>
              <a:t>) y </a:t>
            </a:r>
            <a:r>
              <a:rPr lang="es-ES" altLang="es-ES" sz="1200" b="1" dirty="0">
                <a:solidFill>
                  <a:srgbClr val="333333"/>
                </a:solidFill>
                <a:latin typeface="+mj-lt"/>
              </a:rPr>
              <a:t>GID</a:t>
            </a:r>
            <a:r>
              <a:rPr lang="es-ES" altLang="es-ES" sz="1200" dirty="0">
                <a:solidFill>
                  <a:srgbClr val="333333"/>
                </a:solidFill>
                <a:latin typeface="+mj-lt"/>
              </a:rPr>
              <a:t> (</a:t>
            </a:r>
            <a:r>
              <a:rPr lang="es-ES" altLang="es-ES" sz="1200" i="1" dirty="0">
                <a:solidFill>
                  <a:srgbClr val="333333"/>
                </a:solidFill>
                <a:latin typeface="+mj-lt"/>
              </a:rPr>
              <a:t>ID del grupo principal del usuario</a:t>
            </a:r>
            <a:r>
              <a:rPr lang="es-ES" altLang="es-ES" sz="1200" dirty="0">
                <a:solidFill>
                  <a:srgbClr val="333333"/>
                </a:solidFill>
                <a:latin typeface="+mj-lt"/>
              </a:rPr>
              <a:t>) del usuario. </a:t>
            </a:r>
            <a:endParaRPr lang="es-ES" altLang="es-ES" sz="1200" dirty="0">
              <a:solidFill>
                <a:srgbClr val="333333"/>
              </a:solidFill>
              <a:latin typeface="+mj-lt"/>
            </a:endParaRPr>
          </a:p>
          <a:p>
            <a:pPr lvl="1" eaLnBrk="0" fontAlgn="base" hangingPunct="0">
              <a:spcBef>
                <a:spcPct val="0"/>
              </a:spcBef>
              <a:spcAft>
                <a:spcPct val="0"/>
              </a:spcAft>
            </a:pPr>
            <a:r>
              <a:rPr lang="es-ES" altLang="es-ES" sz="1200" dirty="0">
                <a:solidFill>
                  <a:srgbClr val="333333"/>
                </a:solidFill>
                <a:latin typeface="+mj-lt"/>
              </a:rPr>
              <a:t>El </a:t>
            </a:r>
            <a:r>
              <a:rPr lang="es-ES" altLang="es-ES" sz="1200" u="sng" dirty="0">
                <a:solidFill>
                  <a:srgbClr val="333333"/>
                </a:solidFill>
                <a:latin typeface="+mj-lt"/>
              </a:rPr>
              <a:t>quinto</a:t>
            </a:r>
            <a:r>
              <a:rPr lang="es-ES" altLang="es-ES" sz="1200" dirty="0">
                <a:solidFill>
                  <a:srgbClr val="333333"/>
                </a:solidFill>
                <a:latin typeface="+mj-lt"/>
              </a:rPr>
              <a:t> campo es utilizado para proveer información acerca del usuario, como su nombre y teléfono en nuestra línea de ejemplo. Este campo no es un requisito para la creación de un usuario, es  por ello que con frecuencia lo encontremos vacío. Si un campo no tiene valor, aún así deberá de ser definido por dos puntos ‘</a:t>
            </a:r>
            <a:r>
              <a:rPr lang="es-ES" altLang="es-ES" sz="1200" b="1" dirty="0">
                <a:solidFill>
                  <a:srgbClr val="333333"/>
                </a:solidFill>
                <a:latin typeface="+mj-lt"/>
              </a:rPr>
              <a:t>:</a:t>
            </a:r>
            <a:r>
              <a:rPr lang="es-ES" altLang="es-ES" sz="1200" dirty="0">
                <a:solidFill>
                  <a:srgbClr val="333333"/>
                </a:solidFill>
                <a:latin typeface="+mj-lt"/>
              </a:rPr>
              <a:t>‘ tal que así:</a:t>
            </a:r>
            <a:endParaRPr lang="es-ES" altLang="es-ES" sz="1200" dirty="0">
              <a:solidFill>
                <a:srgbClr val="333333"/>
              </a:solidFill>
              <a:latin typeface="+mj-lt"/>
              <a:cs typeface="Courier New" panose="02070309020205020404" pitchFamily="49" charset="0"/>
            </a:endParaRPr>
          </a:p>
          <a:p>
            <a:pPr marL="0" indent="0" algn="ctr" eaLnBrk="0" fontAlgn="base" hangingPunct="0">
              <a:spcBef>
                <a:spcPct val="0"/>
              </a:spcBef>
              <a:spcAft>
                <a:spcPct val="0"/>
              </a:spcAft>
              <a:buNone/>
            </a:pPr>
            <a:r>
              <a:rPr lang="es-ES" altLang="es-ES" sz="1200" b="1" i="1" dirty="0">
                <a:solidFill>
                  <a:srgbClr val="333333"/>
                </a:solidFill>
                <a:latin typeface="+mj-lt"/>
                <a:cs typeface="Courier New" panose="02070309020205020404" pitchFamily="49" charset="0"/>
              </a:rPr>
              <a:t>gonzalo:x:1000:1000::/home/</a:t>
            </a:r>
            <a:r>
              <a:rPr lang="es-ES" altLang="es-ES" sz="1200" b="1" i="1" dirty="0" err="1">
                <a:solidFill>
                  <a:srgbClr val="333333"/>
                </a:solidFill>
                <a:latin typeface="+mj-lt"/>
                <a:cs typeface="Courier New" panose="02070309020205020404" pitchFamily="49" charset="0"/>
              </a:rPr>
              <a:t>gonzalo</a:t>
            </a:r>
            <a:r>
              <a:rPr lang="es-ES" altLang="es-ES" sz="1200" b="1" i="1" dirty="0">
                <a:solidFill>
                  <a:srgbClr val="333333"/>
                </a:solidFill>
                <a:latin typeface="+mj-lt"/>
                <a:cs typeface="Courier New" panose="02070309020205020404" pitchFamily="49" charset="0"/>
              </a:rPr>
              <a:t>:/</a:t>
            </a:r>
            <a:r>
              <a:rPr lang="es-ES" altLang="es-ES" sz="1200" b="1" i="1" dirty="0" err="1">
                <a:solidFill>
                  <a:srgbClr val="333333"/>
                </a:solidFill>
                <a:latin typeface="+mj-lt"/>
                <a:cs typeface="Courier New" panose="02070309020205020404" pitchFamily="49" charset="0"/>
              </a:rPr>
              <a:t>bin</a:t>
            </a:r>
            <a:r>
              <a:rPr lang="es-ES" altLang="es-ES" sz="1200" b="1" i="1" dirty="0">
                <a:solidFill>
                  <a:srgbClr val="333333"/>
                </a:solidFill>
                <a:latin typeface="+mj-lt"/>
                <a:cs typeface="Courier New" panose="02070309020205020404" pitchFamily="49" charset="0"/>
              </a:rPr>
              <a:t>/</a:t>
            </a:r>
            <a:r>
              <a:rPr lang="es-ES" altLang="es-ES" sz="1200" b="1" i="1" dirty="0" err="1">
                <a:solidFill>
                  <a:srgbClr val="333333"/>
                </a:solidFill>
                <a:latin typeface="+mj-lt"/>
                <a:cs typeface="Courier New" panose="02070309020205020404" pitchFamily="49" charset="0"/>
              </a:rPr>
              <a:t>bash</a:t>
            </a:r>
            <a:r>
              <a:rPr lang="es-ES" altLang="es-ES" sz="1200" b="1" i="1" dirty="0">
                <a:solidFill>
                  <a:schemeClr val="tx1"/>
                </a:solidFill>
                <a:latin typeface="+mj-lt"/>
              </a:rPr>
              <a:t> </a:t>
            </a:r>
            <a:endParaRPr lang="es-ES" altLang="es-ES" sz="1200" b="1" i="1" dirty="0">
              <a:solidFill>
                <a:schemeClr val="tx1"/>
              </a:solidFill>
              <a:latin typeface="+mj-lt"/>
            </a:endParaRPr>
          </a:p>
          <a:p>
            <a:pPr lvl="1"/>
            <a:r>
              <a:rPr lang="es-ES" sz="1200" dirty="0">
                <a:solidFill>
                  <a:srgbClr val="333333"/>
                </a:solidFill>
                <a:latin typeface="+mj-lt"/>
              </a:rPr>
              <a:t>El sexto campo, cuyo objetivo es ejecutar un comando. La mayoría de las veces se utiliza este campo con dos objetivos principales:</a:t>
            </a:r>
            <a:endParaRPr lang="es-ES" sz="1200" dirty="0">
              <a:solidFill>
                <a:srgbClr val="333333"/>
              </a:solidFill>
              <a:latin typeface="+mj-lt"/>
            </a:endParaRPr>
          </a:p>
          <a:p>
            <a:pPr lvl="2"/>
            <a:r>
              <a:rPr lang="es-ES" dirty="0">
                <a:solidFill>
                  <a:srgbClr val="333333"/>
                </a:solidFill>
                <a:latin typeface="+mj-lt"/>
              </a:rPr>
              <a:t>Ejecutar un </a:t>
            </a:r>
            <a:r>
              <a:rPr lang="es-ES" dirty="0" err="1">
                <a:solidFill>
                  <a:srgbClr val="333333"/>
                </a:solidFill>
                <a:latin typeface="+mj-lt"/>
              </a:rPr>
              <a:t>shell</a:t>
            </a:r>
            <a:r>
              <a:rPr lang="es-ES" dirty="0">
                <a:solidFill>
                  <a:srgbClr val="333333"/>
                </a:solidFill>
                <a:latin typeface="+mj-lt"/>
              </a:rPr>
              <a:t> para el usuario, </a:t>
            </a:r>
            <a:r>
              <a:rPr lang="es-ES" dirty="0" err="1">
                <a:solidFill>
                  <a:srgbClr val="333333"/>
                </a:solidFill>
                <a:latin typeface="+mj-lt"/>
              </a:rPr>
              <a:t>bash</a:t>
            </a:r>
            <a:r>
              <a:rPr lang="es-ES" dirty="0">
                <a:solidFill>
                  <a:srgbClr val="333333"/>
                </a:solidFill>
                <a:latin typeface="+mj-lt"/>
              </a:rPr>
              <a:t> en nuestro ejemplo</a:t>
            </a:r>
            <a:endParaRPr lang="es-ES" dirty="0">
              <a:solidFill>
                <a:srgbClr val="333333"/>
              </a:solidFill>
              <a:latin typeface="+mj-lt"/>
            </a:endParaRPr>
          </a:p>
          <a:p>
            <a:pPr lvl="2"/>
            <a:r>
              <a:rPr lang="es-ES" dirty="0">
                <a:solidFill>
                  <a:srgbClr val="333333"/>
                </a:solidFill>
                <a:latin typeface="+mj-lt"/>
              </a:rPr>
              <a:t>Negar el acceso de sesión a un usuario. Esto es utilizado normalmente para cuentas del sistema a las que no se le tiene permitido iniciar sesión como por ejemplo ‘</a:t>
            </a:r>
            <a:r>
              <a:rPr lang="es-ES" dirty="0" err="1">
                <a:solidFill>
                  <a:srgbClr val="333333"/>
                </a:solidFill>
                <a:latin typeface="+mj-lt"/>
              </a:rPr>
              <a:t>daemon</a:t>
            </a:r>
            <a:r>
              <a:rPr lang="es-ES" dirty="0">
                <a:solidFill>
                  <a:srgbClr val="333333"/>
                </a:solidFill>
                <a:latin typeface="+mj-lt"/>
              </a:rPr>
              <a:t>‘, ‘</a:t>
            </a:r>
            <a:r>
              <a:rPr lang="es-ES" dirty="0" err="1">
                <a:solidFill>
                  <a:srgbClr val="333333"/>
                </a:solidFill>
                <a:latin typeface="+mj-lt"/>
              </a:rPr>
              <a:t>man</a:t>
            </a:r>
            <a:r>
              <a:rPr lang="es-ES" dirty="0">
                <a:solidFill>
                  <a:srgbClr val="333333"/>
                </a:solidFill>
                <a:latin typeface="+mj-lt"/>
              </a:rPr>
              <a:t>‘, ‘</a:t>
            </a:r>
            <a:r>
              <a:rPr lang="es-ES" dirty="0" err="1">
                <a:solidFill>
                  <a:srgbClr val="333333"/>
                </a:solidFill>
                <a:latin typeface="+mj-lt"/>
              </a:rPr>
              <a:t>nobody</a:t>
            </a:r>
            <a:r>
              <a:rPr lang="es-ES" dirty="0">
                <a:solidFill>
                  <a:srgbClr val="333333"/>
                </a:solidFill>
                <a:latin typeface="+mj-lt"/>
              </a:rPr>
              <a:t>‘… Esto se suele conseguir de dos formas distinta como </a:t>
            </a:r>
            <a:r>
              <a:rPr lang="es-ES" dirty="0"/>
              <a:t> </a:t>
            </a:r>
            <a:r>
              <a:rPr lang="es-ES" i="1" dirty="0"/>
              <a:t>/</a:t>
            </a:r>
            <a:r>
              <a:rPr lang="es-ES" i="1" dirty="0" err="1"/>
              <a:t>bin</a:t>
            </a:r>
            <a:r>
              <a:rPr lang="es-ES" i="1" dirty="0"/>
              <a:t>/false</a:t>
            </a:r>
            <a:endParaRPr lang="es-ES" dirty="0">
              <a:solidFill>
                <a:srgbClr val="333333"/>
              </a:solidFill>
              <a:latin typeface="+mj-lt"/>
            </a:endParaRPr>
          </a:p>
          <a:p>
            <a:pPr lvl="2" eaLnBrk="0" fontAlgn="base" hangingPunct="0">
              <a:spcBef>
                <a:spcPct val="0"/>
              </a:spcBef>
              <a:spcAft>
                <a:spcPct val="0"/>
              </a:spcAft>
            </a:pPr>
            <a:endParaRPr lang="es-ES" altLang="es-ES" sz="800" dirty="0">
              <a:solidFill>
                <a:srgbClr val="333333"/>
              </a:solidFill>
              <a:latin typeface="+mj-lt"/>
            </a:endParaRPr>
          </a:p>
          <a:p>
            <a:pPr marL="0" indent="0">
              <a:buNone/>
            </a:pPr>
            <a:endParaRPr lang="es-ES" sz="1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9957" y="1541186"/>
            <a:ext cx="10224052" cy="4629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400" b="1" dirty="0"/>
              <a:t>Sobre el uso de UID y GID</a:t>
            </a:r>
            <a:endParaRPr lang="es-ES" sz="1400" b="1" dirty="0"/>
          </a:p>
          <a:p>
            <a:r>
              <a:rPr lang="es-ES" sz="1400" dirty="0"/>
              <a:t>Todos los archivos y directorio que cree el usuario, así como cualquier programa ejecutado por él, se asociarán a su </a:t>
            </a:r>
            <a:r>
              <a:rPr lang="es-ES" sz="1400" i="1" dirty="0"/>
              <a:t>UID</a:t>
            </a:r>
            <a:r>
              <a:rPr lang="es-ES" sz="1400" dirty="0"/>
              <a:t> y </a:t>
            </a:r>
            <a:r>
              <a:rPr lang="es-ES" sz="1400" i="1" dirty="0"/>
              <a:t>GID</a:t>
            </a:r>
            <a:r>
              <a:rPr lang="es-ES" sz="1400" dirty="0"/>
              <a:t>.</a:t>
            </a:r>
            <a:endParaRPr lang="es-ES" sz="1400" dirty="0"/>
          </a:p>
          <a:p>
            <a:pPr lvl="1"/>
            <a:r>
              <a:rPr lang="es-ES" sz="1400" dirty="0"/>
              <a:t>Algunas distribuciones dan como primer </a:t>
            </a:r>
            <a:r>
              <a:rPr lang="es-ES" sz="1400" b="1" dirty="0"/>
              <a:t>UID</a:t>
            </a:r>
            <a:r>
              <a:rPr lang="es-ES" sz="1400" dirty="0"/>
              <a:t> y </a:t>
            </a:r>
            <a:r>
              <a:rPr lang="es-ES" sz="1400" b="1" dirty="0"/>
              <a:t>GID</a:t>
            </a:r>
            <a:r>
              <a:rPr lang="es-ES" sz="1400" dirty="0"/>
              <a:t> el identificador </a:t>
            </a:r>
            <a:r>
              <a:rPr lang="es-ES" sz="1400" b="1" dirty="0"/>
              <a:t>1000</a:t>
            </a:r>
            <a:r>
              <a:rPr lang="es-ES" sz="1400" dirty="0"/>
              <a:t> y otras el </a:t>
            </a:r>
            <a:r>
              <a:rPr lang="es-ES" sz="1400" b="1" dirty="0"/>
              <a:t>500</a:t>
            </a:r>
            <a:r>
              <a:rPr lang="es-ES" sz="1400" dirty="0"/>
              <a:t>. Si tenemos un usuario con </a:t>
            </a:r>
            <a:r>
              <a:rPr lang="es-ES" sz="1400" i="1" dirty="0"/>
              <a:t>UID</a:t>
            </a:r>
            <a:r>
              <a:rPr lang="es-ES" sz="1400" dirty="0"/>
              <a:t> y </a:t>
            </a:r>
            <a:r>
              <a:rPr lang="es-ES" sz="1400" i="1" dirty="0"/>
              <a:t>GID</a:t>
            </a:r>
            <a:r>
              <a:rPr lang="es-ES" sz="1400" dirty="0"/>
              <a:t> 1000 únicamente y creamos otro, este tomará por defecto el </a:t>
            </a:r>
            <a:r>
              <a:rPr lang="es-ES" sz="1400" i="1" dirty="0"/>
              <a:t>UID</a:t>
            </a:r>
            <a:r>
              <a:rPr lang="es-ES" sz="1400" dirty="0"/>
              <a:t> y </a:t>
            </a:r>
            <a:r>
              <a:rPr lang="es-ES" sz="1400" i="1" dirty="0"/>
              <a:t>GID</a:t>
            </a:r>
            <a:r>
              <a:rPr lang="es-ES" sz="1400" dirty="0"/>
              <a:t> </a:t>
            </a:r>
            <a:r>
              <a:rPr lang="es-ES" sz="1400" i="1" dirty="0"/>
              <a:t>1001</a:t>
            </a:r>
            <a:r>
              <a:rPr lang="es-ES" sz="1400" dirty="0"/>
              <a:t> y así secuencialmente, a menos que indiquemos nosotros mismos el </a:t>
            </a:r>
            <a:r>
              <a:rPr lang="es-ES" sz="1400" i="1" dirty="0"/>
              <a:t>UID</a:t>
            </a:r>
            <a:r>
              <a:rPr lang="es-ES" sz="1400" dirty="0"/>
              <a:t> y </a:t>
            </a:r>
            <a:r>
              <a:rPr lang="es-ES" sz="1400" i="1" dirty="0"/>
              <a:t>GID</a:t>
            </a:r>
            <a:r>
              <a:rPr lang="es-ES" sz="1400" dirty="0"/>
              <a:t> mediante opciones de la utilidad de creación de cuentas. </a:t>
            </a:r>
            <a:endParaRPr lang="es-ES" sz="1400" dirty="0"/>
          </a:p>
          <a:p>
            <a:pPr lvl="1"/>
            <a:r>
              <a:rPr lang="es-ES" sz="1400" i="1" dirty="0"/>
              <a:t>Linux</a:t>
            </a:r>
            <a:r>
              <a:rPr lang="es-ES" sz="1400" dirty="0"/>
              <a:t> sigue el rastro de los usuarios y grupos por sus respectivos </a:t>
            </a:r>
            <a:r>
              <a:rPr lang="es-ES" sz="1400" i="1" dirty="0"/>
              <a:t>UID</a:t>
            </a:r>
            <a:r>
              <a:rPr lang="es-ES" sz="1400" dirty="0"/>
              <a:t> y </a:t>
            </a:r>
            <a:r>
              <a:rPr lang="es-ES" sz="1400" i="1" dirty="0"/>
              <a:t>GID</a:t>
            </a:r>
            <a:r>
              <a:rPr lang="es-ES" sz="1400" dirty="0"/>
              <a:t> en vez de por sus nombres, por lo que accederá a </a:t>
            </a:r>
            <a:r>
              <a:rPr lang="es-ES" sz="1400" i="1" dirty="0"/>
              <a:t>/</a:t>
            </a:r>
            <a:r>
              <a:rPr lang="es-ES" sz="1400" i="1" dirty="0" err="1"/>
              <a:t>etc</a:t>
            </a:r>
            <a:r>
              <a:rPr lang="es-ES" sz="1400" i="1" dirty="0"/>
              <a:t>/</a:t>
            </a:r>
            <a:r>
              <a:rPr lang="es-ES" sz="1400" i="1" dirty="0" err="1"/>
              <a:t>passwd</a:t>
            </a:r>
            <a:r>
              <a:rPr lang="es-ES" sz="1400" dirty="0"/>
              <a:t> o </a:t>
            </a:r>
            <a:r>
              <a:rPr lang="es-ES" sz="1400" i="1" dirty="0"/>
              <a:t>/</a:t>
            </a:r>
            <a:r>
              <a:rPr lang="es-ES" sz="1400" i="1" dirty="0" err="1"/>
              <a:t>etc</a:t>
            </a:r>
            <a:r>
              <a:rPr lang="es-ES" sz="1400" i="1" dirty="0"/>
              <a:t>/</a:t>
            </a:r>
            <a:r>
              <a:rPr lang="es-ES" sz="1400" i="1" dirty="0" err="1"/>
              <a:t>group</a:t>
            </a:r>
            <a:r>
              <a:rPr lang="es-ES" sz="1400" dirty="0"/>
              <a:t> (veremos el formato de este archivo en el apartado de grupos) para localizar el número asociado al nombre. </a:t>
            </a:r>
            <a:endParaRPr lang="es-ES" sz="1400" dirty="0"/>
          </a:p>
          <a:p>
            <a:pPr lvl="1"/>
            <a:r>
              <a:rPr lang="es-ES" sz="1400" dirty="0"/>
              <a:t>El primer centenar de </a:t>
            </a:r>
            <a:r>
              <a:rPr lang="es-ES" sz="1400" i="1" dirty="0"/>
              <a:t>ID</a:t>
            </a:r>
            <a:r>
              <a:rPr lang="es-ES" sz="1400" dirty="0"/>
              <a:t> de usuarios y grupos (0-99) suelen reservarse para uso del sistema, como por ejemplo para cuentas como </a:t>
            </a:r>
            <a:r>
              <a:rPr lang="es-ES" sz="1400" i="1" dirty="0" err="1"/>
              <a:t>root</a:t>
            </a:r>
            <a:r>
              <a:rPr lang="es-ES" sz="1400" dirty="0"/>
              <a:t> (0), </a:t>
            </a:r>
            <a:r>
              <a:rPr lang="es-ES" sz="1400" i="1" dirty="0" err="1"/>
              <a:t>daemon</a:t>
            </a:r>
            <a:r>
              <a:rPr lang="es-ES" sz="1400" dirty="0"/>
              <a:t> (1), </a:t>
            </a:r>
            <a:r>
              <a:rPr lang="es-ES" sz="1400" i="1" dirty="0" err="1"/>
              <a:t>bin</a:t>
            </a:r>
            <a:r>
              <a:rPr lang="es-ES" sz="1400" dirty="0"/>
              <a:t> (2), </a:t>
            </a:r>
            <a:r>
              <a:rPr lang="es-ES" sz="1400" i="1" dirty="0"/>
              <a:t>mail</a:t>
            </a:r>
            <a:r>
              <a:rPr lang="es-ES" sz="1400" dirty="0"/>
              <a:t> (8), etc..</a:t>
            </a:r>
            <a:endParaRPr lang="es-ES" sz="1400" dirty="0"/>
          </a:p>
          <a:p>
            <a:r>
              <a:rPr lang="es-ES" sz="1400" b="1" dirty="0"/>
              <a:t>Importante</a:t>
            </a:r>
            <a:r>
              <a:rPr lang="es-ES" sz="1400" dirty="0"/>
              <a:t>: Los </a:t>
            </a:r>
            <a:r>
              <a:rPr lang="es-ES" sz="1400" i="1" dirty="0"/>
              <a:t>ID</a:t>
            </a:r>
            <a:r>
              <a:rPr lang="es-ES" sz="1400" dirty="0"/>
              <a:t> de cuentas del sistema suelen variar de una distribución a otra, </a:t>
            </a:r>
            <a:r>
              <a:rPr lang="es-ES" sz="1400" u="sng" dirty="0"/>
              <a:t>menos el </a:t>
            </a:r>
            <a:r>
              <a:rPr lang="es-ES" sz="1400" i="1" u="sng" dirty="0"/>
              <a:t>UID</a:t>
            </a:r>
            <a:r>
              <a:rPr lang="es-ES" sz="1400" u="sng" dirty="0"/>
              <a:t> y </a:t>
            </a:r>
            <a:r>
              <a:rPr lang="es-ES" sz="1400" i="1" u="sng" dirty="0"/>
              <a:t>GID</a:t>
            </a:r>
            <a:r>
              <a:rPr lang="es-ES" sz="1400" u="sng" dirty="0"/>
              <a:t> de </a:t>
            </a:r>
            <a:r>
              <a:rPr lang="es-ES" sz="1400" b="1" u="sng" dirty="0" err="1"/>
              <a:t>root</a:t>
            </a:r>
            <a:r>
              <a:rPr lang="es-ES" sz="1400" dirty="0"/>
              <a:t>, que siempre será </a:t>
            </a:r>
            <a:r>
              <a:rPr lang="es-ES" sz="1400" b="1" dirty="0"/>
              <a:t>0</a:t>
            </a:r>
            <a:r>
              <a:rPr lang="es-ES" sz="1400" dirty="0"/>
              <a:t>. Deberemos de prestar especial atención a esto, ya que un intruso podría crear una cuenta con </a:t>
            </a:r>
            <a:r>
              <a:rPr lang="es-ES" sz="1400" i="1" dirty="0"/>
              <a:t>UID</a:t>
            </a:r>
            <a:r>
              <a:rPr lang="es-ES" sz="1400" dirty="0"/>
              <a:t> 0 para obtener privilegios de </a:t>
            </a:r>
            <a:r>
              <a:rPr lang="es-ES" sz="1400" i="1" dirty="0" err="1"/>
              <a:t>root</a:t>
            </a:r>
            <a:r>
              <a:rPr lang="es-ES" sz="1400" dirty="0"/>
              <a:t>. Si detecta una cuenta sospechosa en su archivo </a:t>
            </a:r>
            <a:r>
              <a:rPr lang="es-ES" sz="1400" i="1" dirty="0"/>
              <a:t>/</a:t>
            </a:r>
            <a:r>
              <a:rPr lang="es-ES" sz="1400" i="1" dirty="0" err="1"/>
              <a:t>etc</a:t>
            </a:r>
            <a:r>
              <a:rPr lang="es-ES" sz="1400" i="1" dirty="0"/>
              <a:t>/</a:t>
            </a:r>
            <a:r>
              <a:rPr lang="es-ES" sz="1400" i="1" dirty="0" err="1"/>
              <a:t>passwd</a:t>
            </a:r>
            <a:r>
              <a:rPr lang="es-ES" sz="1400" dirty="0"/>
              <a:t> con un </a:t>
            </a:r>
            <a:r>
              <a:rPr lang="es-ES" sz="1400" i="1" dirty="0"/>
              <a:t>UID</a:t>
            </a:r>
            <a:r>
              <a:rPr lang="es-ES" sz="1400" dirty="0"/>
              <a:t> 0, es probable que su sistema esté comprometido</a:t>
            </a:r>
            <a:r>
              <a:rPr lang="es-ES" sz="800" dirty="0">
                <a:solidFill>
                  <a:srgbClr val="333333"/>
                </a:solidFill>
                <a:latin typeface="+mj-lt"/>
              </a:rPr>
              <a:t>.</a:t>
            </a:r>
            <a:endParaRPr lang="es-E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799" y="1523554"/>
            <a:ext cx="6758763" cy="462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400" b="1" dirty="0"/>
              <a:t>Sobre el uso de UID y GID</a:t>
            </a:r>
            <a:endParaRPr lang="es-ES" sz="1400" b="1" dirty="0"/>
          </a:p>
          <a:p>
            <a:pPr>
              <a:buFont typeface="Wingdings" panose="05000000000000000000" pitchFamily="2" charset="2"/>
              <a:buChar char="§"/>
            </a:pPr>
            <a:r>
              <a:rPr lang="es-ES" sz="1300" dirty="0"/>
              <a:t>Se pueden crear varios cuentas de usuario y grupos con los mismos </a:t>
            </a:r>
            <a:r>
              <a:rPr lang="es-ES" sz="1300" i="1" dirty="0"/>
              <a:t>UID</a:t>
            </a:r>
            <a:r>
              <a:rPr lang="es-ES" sz="1300" dirty="0"/>
              <a:t> y </a:t>
            </a:r>
            <a:r>
              <a:rPr lang="es-ES" sz="1300" i="1" dirty="0"/>
              <a:t>GID</a:t>
            </a:r>
            <a:r>
              <a:rPr lang="es-ES" sz="1300" dirty="0"/>
              <a:t>, siendo estas, cuentas totalmente diferentes, por lo que existirá una entrada en </a:t>
            </a:r>
            <a:r>
              <a:rPr lang="es-ES" sz="1300" i="1" dirty="0"/>
              <a:t>/</a:t>
            </a:r>
            <a:r>
              <a:rPr lang="es-ES" sz="1300" i="1" dirty="0" err="1"/>
              <a:t>etc</a:t>
            </a:r>
            <a:r>
              <a:rPr lang="es-ES" sz="1300" i="1" dirty="0"/>
              <a:t>/</a:t>
            </a:r>
            <a:r>
              <a:rPr lang="es-ES" sz="1300" i="1" dirty="0" err="1"/>
              <a:t>passwd</a:t>
            </a:r>
            <a:r>
              <a:rPr lang="es-ES" sz="1300" dirty="0"/>
              <a:t> y </a:t>
            </a:r>
            <a:r>
              <a:rPr lang="es-ES" sz="1300" i="1" dirty="0"/>
              <a:t>/</a:t>
            </a:r>
            <a:r>
              <a:rPr lang="es-ES" sz="1300" i="1" dirty="0" err="1"/>
              <a:t>etc</a:t>
            </a:r>
            <a:r>
              <a:rPr lang="es-ES" sz="1300" i="1" dirty="0"/>
              <a:t>/</a:t>
            </a:r>
            <a:r>
              <a:rPr lang="es-ES" sz="1300" i="1" dirty="0" err="1"/>
              <a:t>group</a:t>
            </a:r>
            <a:r>
              <a:rPr lang="es-ES" sz="1300" dirty="0"/>
              <a:t> para cada una de ellas, con diferentes contraseñas, directorios principales, </a:t>
            </a:r>
            <a:r>
              <a:rPr lang="es-ES" sz="1300" dirty="0" err="1"/>
              <a:t>etc</a:t>
            </a:r>
            <a:r>
              <a:rPr lang="es-ES" sz="1300" dirty="0"/>
              <a:t>… No obstante, </a:t>
            </a:r>
            <a:r>
              <a:rPr lang="es-ES" sz="1300" i="1" dirty="0"/>
              <a:t>Linux</a:t>
            </a:r>
            <a:r>
              <a:rPr lang="es-ES" sz="1300" dirty="0"/>
              <a:t> tratará a estas cuentas de la misma manera en lo referente a los permisos de archivos, ya que estos son aplicados a los </a:t>
            </a:r>
            <a:r>
              <a:rPr lang="es-ES" sz="1300" i="1" dirty="0"/>
              <a:t>UID</a:t>
            </a:r>
            <a:r>
              <a:rPr lang="es-ES" sz="1300" dirty="0"/>
              <a:t> y </a:t>
            </a:r>
            <a:r>
              <a:rPr lang="es-ES" sz="1300" i="1" dirty="0"/>
              <a:t>GID</a:t>
            </a:r>
            <a:r>
              <a:rPr lang="es-ES" sz="1300" dirty="0"/>
              <a:t>, por lo que debería de evitar crear varios usuarios o grupos de compartan </a:t>
            </a:r>
            <a:r>
              <a:rPr lang="es-ES" sz="1300" i="1" dirty="0"/>
              <a:t>ID</a:t>
            </a:r>
            <a:r>
              <a:rPr lang="es-ES" sz="1300" dirty="0"/>
              <a:t>.</a:t>
            </a:r>
            <a:endParaRPr lang="es-ES" sz="1300" dirty="0"/>
          </a:p>
          <a:p>
            <a:pPr>
              <a:buFont typeface="Wingdings" panose="05000000000000000000" pitchFamily="2" charset="2"/>
              <a:buChar char="§"/>
            </a:pPr>
            <a:r>
              <a:rPr lang="es-ES" sz="1300" dirty="0"/>
              <a:t>Reutilizar un número ID puede provocar problemas si no elimina los archivos del antiguo usuario ya que el nuevo usuario se convertirá en el propietario de los archivos del anterior.</a:t>
            </a:r>
            <a:endParaRPr lang="es-ES" sz="1300" dirty="0"/>
          </a:p>
          <a:p>
            <a:pPr>
              <a:buFont typeface="Wingdings" panose="05000000000000000000" pitchFamily="2" charset="2"/>
              <a:buChar char="§"/>
            </a:pPr>
            <a:r>
              <a:rPr lang="es-ES" sz="1300" dirty="0"/>
              <a:t>Los límites de numeración de cuentas se definen en el archivo /</a:t>
            </a:r>
            <a:r>
              <a:rPr lang="es-ES" sz="1300" dirty="0" err="1"/>
              <a:t>etc</a:t>
            </a:r>
            <a:r>
              <a:rPr lang="es-ES" sz="1300" dirty="0"/>
              <a:t>/</a:t>
            </a:r>
            <a:r>
              <a:rPr lang="es-ES" sz="1300" dirty="0" err="1"/>
              <a:t>login.defs</a:t>
            </a:r>
            <a:r>
              <a:rPr lang="es-ES" sz="1300" dirty="0"/>
              <a:t> con las entradas UID_MIN y UID_MAX</a:t>
            </a:r>
            <a:endParaRPr lang="es-ES" sz="1300" dirty="0"/>
          </a:p>
          <a:p>
            <a:pPr>
              <a:buFont typeface="Wingdings" panose="05000000000000000000" pitchFamily="2" charset="2"/>
              <a:buChar char="§"/>
            </a:pPr>
            <a:endParaRPr lang="es-ES" sz="1400" b="1" dirty="0"/>
          </a:p>
        </p:txBody>
      </p:sp>
      <p:pic>
        <p:nvPicPr>
          <p:cNvPr id="5" name="Imagen 4"/>
          <p:cNvPicPr>
            <a:picLocks noChangeAspect="1"/>
          </p:cNvPicPr>
          <p:nvPr/>
        </p:nvPicPr>
        <p:blipFill rotWithShape="1">
          <a:blip r:embed="rId1"/>
          <a:srcRect r="61249"/>
          <a:stretch>
            <a:fillRect/>
          </a:stretch>
        </p:blipFill>
        <p:spPr>
          <a:xfrm>
            <a:off x="8123275" y="2095500"/>
            <a:ext cx="3001926" cy="31527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4096" y="1553425"/>
            <a:ext cx="10765809" cy="4839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ts val="200"/>
              </a:spcBef>
              <a:buClrTx/>
              <a:buSzTx/>
              <a:buNone/>
            </a:pPr>
            <a:r>
              <a:rPr lang="es-ES" altLang="es-ES" sz="1400" b="1" dirty="0">
                <a:solidFill>
                  <a:srgbClr val="333333"/>
                </a:solidFill>
              </a:rPr>
              <a:t>Sobre el archivo /</a:t>
            </a:r>
            <a:r>
              <a:rPr lang="es-ES" altLang="es-ES" sz="1400" b="1" dirty="0" err="1">
                <a:solidFill>
                  <a:srgbClr val="333333"/>
                </a:solidFill>
              </a:rPr>
              <a:t>etc</a:t>
            </a:r>
            <a:r>
              <a:rPr lang="es-ES" altLang="es-ES" sz="1400" b="1" dirty="0">
                <a:solidFill>
                  <a:srgbClr val="333333"/>
                </a:solidFill>
              </a:rPr>
              <a:t>/</a:t>
            </a:r>
            <a:r>
              <a:rPr lang="es-ES" altLang="es-ES" sz="1400" b="1" dirty="0" err="1">
                <a:solidFill>
                  <a:srgbClr val="333333"/>
                </a:solidFill>
              </a:rPr>
              <a:t>shadow</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Contiene la contraseña encriptada del usuario y algunos otros parámetros configurables con la  utilidad </a:t>
            </a:r>
            <a:r>
              <a:rPr lang="es-ES" altLang="es-ES" sz="1400" dirty="0" err="1">
                <a:solidFill>
                  <a:srgbClr val="333333"/>
                </a:solidFill>
              </a:rPr>
              <a:t>chage</a:t>
            </a:r>
            <a:r>
              <a:rPr lang="es-ES" altLang="es-ES" sz="1400" dirty="0">
                <a:solidFill>
                  <a:srgbClr val="333333"/>
                </a:solidFill>
              </a:rPr>
              <a:t>, </a:t>
            </a:r>
            <a:r>
              <a:rPr lang="es-ES" altLang="es-ES" sz="1400" dirty="0" err="1">
                <a:solidFill>
                  <a:srgbClr val="333333"/>
                </a:solidFill>
              </a:rPr>
              <a:t>passwd</a:t>
            </a:r>
            <a:r>
              <a:rPr lang="es-ES" altLang="es-ES" sz="1400" dirty="0">
                <a:solidFill>
                  <a:srgbClr val="333333"/>
                </a:solidFill>
              </a:rPr>
              <a:t>, </a:t>
            </a:r>
            <a:r>
              <a:rPr lang="es-ES" altLang="es-ES" sz="1400" dirty="0" err="1">
                <a:solidFill>
                  <a:srgbClr val="333333"/>
                </a:solidFill>
              </a:rPr>
              <a:t>useradd</a:t>
            </a:r>
            <a:r>
              <a:rPr lang="es-ES" altLang="es-ES" sz="1400" dirty="0">
                <a:solidFill>
                  <a:srgbClr val="333333"/>
                </a:solidFill>
              </a:rPr>
              <a:t> o </a:t>
            </a:r>
            <a:r>
              <a:rPr lang="es-ES" altLang="es-ES" sz="1400" dirty="0" err="1">
                <a:solidFill>
                  <a:srgbClr val="333333"/>
                </a:solidFill>
              </a:rPr>
              <a:t>usermod</a:t>
            </a:r>
            <a:r>
              <a:rPr lang="es-ES" altLang="es-ES" sz="1400" dirty="0">
                <a:solidFill>
                  <a:srgbClr val="333333"/>
                </a:solidFill>
              </a:rPr>
              <a:t> . Ejemplo:</a:t>
            </a: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ts val="400"/>
              </a:spcAft>
              <a:buClrTx/>
              <a:buSzTx/>
              <a:buNone/>
            </a:pPr>
            <a:r>
              <a:rPr lang="es-ES" altLang="es-ES" sz="1400" b="1" i="1" dirty="0" err="1">
                <a:solidFill>
                  <a:srgbClr val="333333"/>
                </a:solidFill>
                <a:cs typeface="Courier New" panose="02070309020205020404" pitchFamily="49" charset="0"/>
              </a:rPr>
              <a:t>gonzalo</a:t>
            </a:r>
            <a:r>
              <a:rPr lang="es-ES" altLang="es-ES" sz="1400" b="1" i="1" dirty="0">
                <a:solidFill>
                  <a:srgbClr val="333333"/>
                </a:solidFill>
                <a:cs typeface="Courier New" panose="02070309020205020404" pitchFamily="49" charset="0"/>
              </a:rPr>
              <a:t>:$8$km3ZmQpk9mJLlq3bVGU6ssPwa:15988:0:-1:7:-1:-1:</a:t>
            </a:r>
            <a:endParaRPr lang="es-ES" altLang="es-ES" sz="1400" b="1" i="1" dirty="0">
              <a:solidFill>
                <a:schemeClr val="tx1"/>
              </a:solidFill>
            </a:endParaRPr>
          </a:p>
          <a:p>
            <a:pPr marL="0" lvl="0" indent="0" eaLnBrk="0" fontAlgn="base" hangingPunct="0">
              <a:lnSpc>
                <a:spcPct val="100000"/>
              </a:lnSpc>
              <a:spcBef>
                <a:spcPct val="0"/>
              </a:spcBef>
              <a:spcAft>
                <a:spcPts val="400"/>
              </a:spcAft>
              <a:buClrTx/>
              <a:buSzTx/>
              <a:buFontTx/>
              <a:buChar char="•"/>
            </a:pPr>
            <a:r>
              <a:rPr lang="es-ES" altLang="es-ES" sz="1400" b="1" dirty="0">
                <a:solidFill>
                  <a:srgbClr val="333333"/>
                </a:solidFill>
              </a:rPr>
              <a:t>Nombre de usuario</a:t>
            </a:r>
            <a:r>
              <a:rPr lang="es-ES" altLang="es-ES" sz="1400" dirty="0">
                <a:solidFill>
                  <a:srgbClr val="333333"/>
                </a:solidFill>
              </a:rPr>
              <a:t>: El nombre de usuario enlaza las entradas de este archivo con las de </a:t>
            </a:r>
            <a:r>
              <a:rPr lang="es-ES" altLang="es-ES" sz="1400" i="1" dirty="0">
                <a:solidFill>
                  <a:srgbClr val="333333"/>
                </a:solidFill>
              </a:rPr>
              <a:t>/</a:t>
            </a:r>
            <a:r>
              <a:rPr lang="es-ES" altLang="es-ES" sz="1400" i="1" dirty="0" err="1">
                <a:solidFill>
                  <a:srgbClr val="333333"/>
                </a:solidFill>
              </a:rPr>
              <a:t>etc</a:t>
            </a:r>
            <a:r>
              <a:rPr lang="es-ES" altLang="es-ES" sz="1400" i="1" dirty="0">
                <a:solidFill>
                  <a:srgbClr val="333333"/>
                </a:solidFill>
              </a:rPr>
              <a:t>/</a:t>
            </a:r>
            <a:r>
              <a:rPr lang="es-ES" altLang="es-ES" sz="1400" i="1" dirty="0" err="1">
                <a:solidFill>
                  <a:srgbClr val="333333"/>
                </a:solidFill>
              </a:rPr>
              <a:t>passwd</a:t>
            </a:r>
            <a:r>
              <a:rPr lang="es-ES" altLang="es-ES" sz="1400" dirty="0">
                <a:solidFill>
                  <a:srgbClr val="333333"/>
                </a:solidFill>
              </a:rPr>
              <a:t>.</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FontTx/>
              <a:buChar char="•"/>
            </a:pPr>
            <a:r>
              <a:rPr lang="es-ES" altLang="es-ES" sz="1400" b="1" dirty="0">
                <a:solidFill>
                  <a:srgbClr val="333333"/>
                </a:solidFill>
              </a:rPr>
              <a:t>Contraseña</a:t>
            </a:r>
            <a:r>
              <a:rPr lang="es-ES" altLang="es-ES" sz="1400" dirty="0">
                <a:solidFill>
                  <a:srgbClr val="333333"/>
                </a:solidFill>
              </a:rPr>
              <a:t>: Formato encriptado. Un asterisco ‘</a:t>
            </a:r>
            <a:r>
              <a:rPr lang="es-ES" altLang="es-ES" sz="1400" b="1" dirty="0">
                <a:solidFill>
                  <a:srgbClr val="333333"/>
                </a:solidFill>
              </a:rPr>
              <a:t>*</a:t>
            </a:r>
            <a:r>
              <a:rPr lang="es-ES" altLang="es-ES" sz="1400" dirty="0">
                <a:solidFill>
                  <a:srgbClr val="333333"/>
                </a:solidFill>
              </a:rPr>
              <a:t>‘ o signo de admiración ‘</a:t>
            </a:r>
            <a:r>
              <a:rPr lang="es-ES" altLang="es-ES" sz="1400" b="1" dirty="0">
                <a:solidFill>
                  <a:srgbClr val="333333"/>
                </a:solidFill>
              </a:rPr>
              <a:t>!</a:t>
            </a:r>
            <a:r>
              <a:rPr lang="es-ES" altLang="es-ES" sz="1400" dirty="0">
                <a:solidFill>
                  <a:srgbClr val="333333"/>
                </a:solidFill>
              </a:rPr>
              <a:t>‘ al comienzo de este campo denota una cuenta sin contraseña, por lo que esta se encontrará bloqueada. Si eliminamos este signo se desbloqueará la cuenta y se restaurará la contraseña original.</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FontTx/>
              <a:buChar char="•"/>
            </a:pPr>
            <a:r>
              <a:rPr lang="es-ES" altLang="es-ES" sz="1400" b="1" dirty="0">
                <a:solidFill>
                  <a:srgbClr val="333333"/>
                </a:solidFill>
              </a:rPr>
              <a:t>Ultimo cambio de contraseña</a:t>
            </a:r>
            <a:r>
              <a:rPr lang="es-ES" altLang="es-ES" sz="1400" dirty="0">
                <a:solidFill>
                  <a:srgbClr val="333333"/>
                </a:solidFill>
              </a:rPr>
              <a:t>: Fecha en la que se realizó el último cambio de contraseña. Se identifica por el número de días transcurridos desde el </a:t>
            </a:r>
            <a:r>
              <a:rPr lang="es-ES" altLang="es-ES" sz="1400" u="sng" dirty="0">
                <a:solidFill>
                  <a:srgbClr val="333333"/>
                </a:solidFill>
              </a:rPr>
              <a:t>1 de Enero de 1970</a:t>
            </a:r>
            <a:r>
              <a:rPr lang="es-ES" altLang="es-ES" sz="1400" dirty="0">
                <a:solidFill>
                  <a:srgbClr val="333333"/>
                </a:solidFill>
              </a:rPr>
              <a:t>, </a:t>
            </a:r>
            <a:r>
              <a:rPr lang="es-ES" altLang="es-ES" sz="1400" b="1" dirty="0">
                <a:solidFill>
                  <a:srgbClr val="333333"/>
                </a:solidFill>
              </a:rPr>
              <a:t>15988</a:t>
            </a:r>
            <a:r>
              <a:rPr lang="es-ES" altLang="es-ES" sz="1400" dirty="0">
                <a:solidFill>
                  <a:srgbClr val="333333"/>
                </a:solidFill>
              </a:rPr>
              <a:t> en nuestro ejemplo.</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FontTx/>
              <a:buChar char="•"/>
            </a:pPr>
            <a:r>
              <a:rPr lang="es-ES" altLang="es-ES" sz="1400" b="1" dirty="0">
                <a:solidFill>
                  <a:srgbClr val="333333"/>
                </a:solidFill>
              </a:rPr>
              <a:t>Días que han de pasar para permitir un cambio de contraseña</a:t>
            </a:r>
            <a:r>
              <a:rPr lang="es-ES" altLang="es-ES" sz="1400" dirty="0">
                <a:solidFill>
                  <a:srgbClr val="333333"/>
                </a:solidFill>
              </a:rPr>
              <a:t>: Es el número de días que han de pasar para que se pueda cambiar la contraseña. En nuestro ejemplo un </a:t>
            </a:r>
            <a:r>
              <a:rPr lang="es-ES" altLang="es-ES" sz="1400" b="1" dirty="0">
                <a:solidFill>
                  <a:srgbClr val="333333"/>
                </a:solidFill>
              </a:rPr>
              <a:t>0</a:t>
            </a:r>
            <a:r>
              <a:rPr lang="es-ES" altLang="es-ES" sz="1400" dirty="0">
                <a:solidFill>
                  <a:srgbClr val="333333"/>
                </a:solidFill>
              </a:rPr>
              <a:t>, que indica que cualquier día será bueno para cambiar la contraseña e incluso cambiarla varias veces al día.</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FontTx/>
              <a:buChar char="•"/>
            </a:pPr>
            <a:r>
              <a:rPr lang="es-ES" altLang="es-ES" sz="1400" b="1" dirty="0">
                <a:solidFill>
                  <a:srgbClr val="333333"/>
                </a:solidFill>
              </a:rPr>
              <a:t>Periodo de días tras el cual habrá que modificar la contraseña</a:t>
            </a:r>
            <a:r>
              <a:rPr lang="es-ES" altLang="es-ES" sz="1400" dirty="0">
                <a:solidFill>
                  <a:srgbClr val="333333"/>
                </a:solidFill>
              </a:rPr>
              <a:t>: En nuestro ejemplo se indica un </a:t>
            </a:r>
            <a:r>
              <a:rPr lang="es-ES" altLang="es-ES" sz="1400" b="1" dirty="0">
                <a:solidFill>
                  <a:srgbClr val="333333"/>
                </a:solidFill>
              </a:rPr>
              <a:t>-1</a:t>
            </a:r>
            <a:r>
              <a:rPr lang="es-ES" altLang="es-ES" sz="1400" dirty="0">
                <a:solidFill>
                  <a:srgbClr val="333333"/>
                </a:solidFill>
              </a:rPr>
              <a:t> (equivalente a 99999) que normalmente indica que se ha desactivado esta función.</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FontTx/>
              <a:buChar char="•"/>
            </a:pPr>
            <a:r>
              <a:rPr lang="es-ES" altLang="es-ES" sz="1400" b="1" dirty="0">
                <a:solidFill>
                  <a:srgbClr val="333333"/>
                </a:solidFill>
              </a:rPr>
              <a:t>Avisar con antelación de la necesidad de cambiar la contraseña.</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FontTx/>
              <a:buChar char="•"/>
            </a:pPr>
            <a:r>
              <a:rPr lang="es-ES" altLang="es-ES" sz="1400" b="1" dirty="0">
                <a:solidFill>
                  <a:srgbClr val="333333"/>
                </a:solidFill>
              </a:rPr>
              <a:t>Días que pasarán entre la caducidad de la contraseña y la desactivación de la cuenta.</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FontTx/>
              <a:buChar char="•"/>
            </a:pPr>
            <a:r>
              <a:rPr lang="es-ES" altLang="es-ES" sz="1400" b="1" dirty="0">
                <a:solidFill>
                  <a:srgbClr val="333333"/>
                </a:solidFill>
              </a:rPr>
              <a:t>Fecha de caducidad:</a:t>
            </a:r>
            <a:r>
              <a:rPr lang="es-ES" altLang="es-ES" sz="1400" dirty="0">
                <a:solidFill>
                  <a:srgbClr val="333333"/>
                </a:solidFill>
              </a:rPr>
              <a:t> Esta fecha se expresa de la misma manera que la fecha del último cambio de contraseña es decir los días transcurridos desde el 1 de Enero de 1970 hasta el día en que la cuenta caducará.</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FontTx/>
              <a:buChar char="•"/>
            </a:pPr>
            <a:r>
              <a:rPr lang="es-ES" altLang="es-ES" sz="1400" b="1" dirty="0">
                <a:solidFill>
                  <a:srgbClr val="333333"/>
                </a:solidFill>
              </a:rPr>
              <a:t>Indicador especial</a:t>
            </a:r>
            <a:r>
              <a:rPr lang="es-ES" altLang="es-ES" sz="1400" dirty="0">
                <a:solidFill>
                  <a:srgbClr val="333333"/>
                </a:solidFill>
              </a:rPr>
              <a:t>: Este campo no suele usarse por lo que en nuestro ejemplo lo tenemos vacío</a:t>
            </a:r>
            <a:endParaRPr lang="es-ES" altLang="es-ES" sz="1400" dirty="0">
              <a:solidFill>
                <a:srgbClr val="33333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21392" y="1560831"/>
            <a:ext cx="10765809" cy="4321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dirty="0"/>
              <a:t>Grupos</a:t>
            </a:r>
            <a:endParaRPr lang="es-ES" dirty="0"/>
          </a:p>
          <a:p>
            <a:pPr>
              <a:buFont typeface="Wingdings" panose="05000000000000000000" pitchFamily="2" charset="2"/>
              <a:buChar char="§"/>
            </a:pPr>
            <a:r>
              <a:rPr lang="es-ES" sz="1400" dirty="0"/>
              <a:t>Los grupos son medios para organizar colecciones de cuentas</a:t>
            </a:r>
            <a:endParaRPr lang="es-ES" sz="1400" dirty="0"/>
          </a:p>
          <a:p>
            <a:pPr>
              <a:buFont typeface="Wingdings" panose="05000000000000000000" pitchFamily="2" charset="2"/>
              <a:buChar char="§"/>
            </a:pPr>
            <a:r>
              <a:rPr lang="es-ES" sz="1400" dirty="0"/>
              <a:t>La pertenencia a los grupos se controla mediante el archivo </a:t>
            </a:r>
            <a:r>
              <a:rPr lang="es-ES" sz="1400" b="1" dirty="0"/>
              <a:t>/</a:t>
            </a:r>
            <a:r>
              <a:rPr lang="es-ES" sz="1400" b="1" dirty="0" err="1"/>
              <a:t>etc</a:t>
            </a:r>
            <a:r>
              <a:rPr lang="es-ES" sz="1400" b="1" dirty="0"/>
              <a:t>/</a:t>
            </a:r>
            <a:r>
              <a:rPr lang="es-ES" sz="1400" b="1" dirty="0" err="1"/>
              <a:t>group</a:t>
            </a:r>
            <a:r>
              <a:rPr lang="es-ES" sz="1400" dirty="0"/>
              <a:t>, el cual contiene una lista de grupos y los miembros que pertenecen a cada uno de ellos. </a:t>
            </a:r>
            <a:endParaRPr lang="es-ES" sz="1400" dirty="0"/>
          </a:p>
          <a:p>
            <a:pPr>
              <a:buFont typeface="Wingdings" panose="05000000000000000000" pitchFamily="2" charset="2"/>
              <a:buChar char="§"/>
            </a:pPr>
            <a:r>
              <a:rPr lang="es-ES" sz="1400" dirty="0"/>
              <a:t>Podemos comprobar a que grupos pertenecemos y otras características de la cuenta como los </a:t>
            </a:r>
            <a:r>
              <a:rPr lang="es-ES" sz="1400" i="1" dirty="0"/>
              <a:t>ID</a:t>
            </a:r>
            <a:r>
              <a:rPr lang="es-ES" sz="1400" dirty="0"/>
              <a:t> de usuario y grupos con el comando </a:t>
            </a:r>
            <a:r>
              <a:rPr lang="es-ES" sz="1400" b="1" dirty="0"/>
              <a:t>id</a:t>
            </a:r>
            <a:r>
              <a:rPr lang="es-ES" sz="1400" dirty="0"/>
              <a:t> o bien listar todos los grupos a los que pertenecemos con el comando </a:t>
            </a:r>
            <a:r>
              <a:rPr lang="es-ES" sz="1400" b="1" dirty="0" err="1"/>
              <a:t>groups</a:t>
            </a:r>
            <a:r>
              <a:rPr lang="es-ES" sz="1400" dirty="0"/>
              <a:t>. El comando </a:t>
            </a:r>
            <a:r>
              <a:rPr lang="es-ES" sz="1400" i="1" dirty="0" err="1"/>
              <a:t>groups</a:t>
            </a:r>
            <a:r>
              <a:rPr lang="es-ES" sz="1400" dirty="0"/>
              <a:t> no indicará cual es nuestro grupo primario ni los </a:t>
            </a:r>
            <a:r>
              <a:rPr lang="es-ES" sz="1400" i="1" dirty="0"/>
              <a:t>GID</a:t>
            </a:r>
            <a:r>
              <a:rPr lang="es-ES" sz="1400" dirty="0"/>
              <a:t>, simplemente desplegará una lista con todo aquel grupo del que formamos parte.</a:t>
            </a:r>
            <a:endParaRPr lang="es-ES" sz="1400" dirty="0"/>
          </a:p>
          <a:p>
            <a:pPr>
              <a:buFont typeface="Wingdings" panose="05000000000000000000" pitchFamily="2" charset="2"/>
              <a:buChar char="§"/>
            </a:pPr>
            <a:r>
              <a:rPr lang="es-ES" sz="1400" dirty="0"/>
              <a:t>Cuando un archivo es creado se le asigna un grupo que será el grupo principal del usuario que ha creado o ejecutado el archivo/directorio o el programa en cuestión. </a:t>
            </a:r>
            <a:endParaRPr lang="es-ES" sz="1400" dirty="0"/>
          </a:p>
          <a:p>
            <a:r>
              <a:rPr lang="es-ES" sz="1400" b="1" dirty="0"/>
              <a:t>Nota</a:t>
            </a:r>
            <a:r>
              <a:rPr lang="es-ES" sz="1400" dirty="0"/>
              <a:t>: En algunas distribuciones no se permite la modificación temporal del grupo principal aún conociendo la </a:t>
            </a:r>
            <a:r>
              <a:rPr lang="es-ES" sz="1400" dirty="0" err="1"/>
              <a:t>password</a:t>
            </a:r>
            <a:r>
              <a:rPr lang="es-ES" sz="1400" dirty="0"/>
              <a:t> del grupo (este recibirá un mensaje del tipo “</a:t>
            </a:r>
            <a:r>
              <a:rPr lang="es-ES" sz="1400" i="1" dirty="0" err="1"/>
              <a:t>access</a:t>
            </a:r>
            <a:r>
              <a:rPr lang="es-ES" sz="1400" i="1" dirty="0"/>
              <a:t> </a:t>
            </a:r>
            <a:r>
              <a:rPr lang="es-ES" sz="1400" i="1" dirty="0" err="1"/>
              <a:t>denied</a:t>
            </a:r>
            <a:r>
              <a:rPr lang="es-ES" sz="1400" dirty="0"/>
              <a:t>“), a menos que previamente el usuario pertenezca al grupo.</a:t>
            </a:r>
            <a:endParaRPr lang="es-E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4096" y="1509906"/>
            <a:ext cx="10765809" cy="4335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indent="0">
              <a:buNone/>
            </a:pPr>
            <a:r>
              <a:rPr lang="es-ES" dirty="0"/>
              <a:t>Grupos</a:t>
            </a:r>
            <a:endParaRPr lang="es-ES" dirty="0"/>
          </a:p>
          <a:p>
            <a:pPr marL="0" lvl="0" indent="0" eaLnBrk="0" fontAlgn="base" hangingPunct="0">
              <a:lnSpc>
                <a:spcPct val="100000"/>
              </a:lnSpc>
              <a:spcBef>
                <a:spcPct val="0"/>
              </a:spcBef>
              <a:spcAft>
                <a:spcPct val="0"/>
              </a:spcAft>
              <a:buClrTx/>
              <a:buSzTx/>
              <a:buNone/>
            </a:pPr>
            <a:r>
              <a:rPr lang="es-ES" altLang="es-ES" sz="1400" b="1" u="sng" dirty="0">
                <a:solidFill>
                  <a:srgbClr val="333333"/>
                </a:solidFill>
                <a:latin typeface="+mj-lt"/>
              </a:rPr>
              <a:t>Ejemplo de </a:t>
            </a:r>
            <a:r>
              <a:rPr lang="es-ES" altLang="es-ES" sz="1400" b="1" u="sng" dirty="0" err="1">
                <a:solidFill>
                  <a:srgbClr val="333333"/>
                </a:solidFill>
                <a:latin typeface="+mj-lt"/>
              </a:rPr>
              <a:t>newgrp</a:t>
            </a:r>
            <a:r>
              <a:rPr lang="es-ES" altLang="es-ES" sz="1400" b="1" u="sng" dirty="0">
                <a:solidFill>
                  <a:srgbClr val="333333"/>
                </a:solidFill>
                <a:latin typeface="+mj-lt"/>
              </a:rPr>
              <a:t>:</a:t>
            </a:r>
            <a:endParaRPr lang="es-ES" altLang="es-ES" sz="1400" b="1" u="sng" dirty="0">
              <a:solidFill>
                <a:srgbClr val="333333"/>
              </a:solidFill>
              <a:latin typeface="+mj-lt"/>
            </a:endParaRPr>
          </a:p>
          <a:p>
            <a:pPr marL="0" lvl="0" indent="0" eaLnBrk="0" fontAlgn="base" hangingPunct="0">
              <a:lnSpc>
                <a:spcPct val="100000"/>
              </a:lnSpc>
              <a:spcBef>
                <a:spcPct val="0"/>
              </a:spcBef>
              <a:spcAft>
                <a:spcPct val="0"/>
              </a:spcAft>
              <a:buClrTx/>
              <a:buSzTx/>
              <a:buNone/>
            </a:pPr>
            <a:endParaRPr lang="es-ES" altLang="es-ES" sz="1400" b="1" dirty="0">
              <a:solidFill>
                <a:schemeClr val="tx1"/>
              </a:solidFill>
              <a:latin typeface="+mj-lt"/>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mj-lt"/>
              </a:rPr>
              <a:t>Supongamos que el usuario ‘</a:t>
            </a:r>
            <a:r>
              <a:rPr lang="es-ES" altLang="es-ES" sz="1400" i="1" dirty="0">
                <a:solidFill>
                  <a:srgbClr val="333333"/>
                </a:solidFill>
                <a:latin typeface="+mj-lt"/>
              </a:rPr>
              <a:t>dante</a:t>
            </a:r>
            <a:r>
              <a:rPr lang="es-ES" altLang="es-ES" sz="1400" dirty="0">
                <a:solidFill>
                  <a:srgbClr val="333333"/>
                </a:solidFill>
                <a:latin typeface="+mj-lt"/>
              </a:rPr>
              <a:t>‘ tiene como grupo principal ‘</a:t>
            </a:r>
            <a:r>
              <a:rPr lang="es-ES" altLang="es-ES" sz="1400" i="1" dirty="0">
                <a:solidFill>
                  <a:srgbClr val="333333"/>
                </a:solidFill>
                <a:latin typeface="+mj-lt"/>
              </a:rPr>
              <a:t>dante</a:t>
            </a:r>
            <a:r>
              <a:rPr lang="es-ES" altLang="es-ES" sz="1400" dirty="0">
                <a:solidFill>
                  <a:srgbClr val="333333"/>
                </a:solidFill>
                <a:latin typeface="+mj-lt"/>
              </a:rPr>
              <a:t>‘ y que además pertenece a otros grupos, entre ellos al grupo ‘</a:t>
            </a:r>
            <a:r>
              <a:rPr lang="es-ES" altLang="es-ES" sz="1400" i="1" dirty="0">
                <a:solidFill>
                  <a:srgbClr val="333333"/>
                </a:solidFill>
                <a:latin typeface="+mj-lt"/>
              </a:rPr>
              <a:t>sistemas</a:t>
            </a:r>
            <a:r>
              <a:rPr lang="es-ES" altLang="es-ES" sz="1400" dirty="0">
                <a:solidFill>
                  <a:srgbClr val="333333"/>
                </a:solidFill>
                <a:latin typeface="+mj-lt"/>
              </a:rPr>
              <a:t>‘, y quiere cambiar a este último para que nuevos archivos sean creados con el </a:t>
            </a:r>
            <a:r>
              <a:rPr lang="es-ES" altLang="es-ES" sz="1400" i="1" dirty="0">
                <a:solidFill>
                  <a:srgbClr val="333333"/>
                </a:solidFill>
                <a:latin typeface="+mj-lt"/>
              </a:rPr>
              <a:t>GID</a:t>
            </a:r>
            <a:r>
              <a:rPr lang="es-ES" altLang="es-ES" sz="1400" dirty="0">
                <a:solidFill>
                  <a:srgbClr val="333333"/>
                </a:solidFill>
                <a:latin typeface="+mj-lt"/>
              </a:rPr>
              <a:t> del grupo </a:t>
            </a:r>
            <a:r>
              <a:rPr lang="es-ES" altLang="es-ES" sz="1400" i="1" dirty="0">
                <a:solidFill>
                  <a:srgbClr val="333333"/>
                </a:solidFill>
                <a:latin typeface="+mj-lt"/>
              </a:rPr>
              <a:t>sistemas</a:t>
            </a:r>
            <a:r>
              <a:rPr lang="es-ES" altLang="es-ES" sz="1400" dirty="0">
                <a:solidFill>
                  <a:srgbClr val="333333"/>
                </a:solidFill>
                <a:latin typeface="+mj-lt"/>
              </a:rPr>
              <a:t> y además ejecutar unos programas bajo los permisos asignados al grupo.</a:t>
            </a:r>
            <a:endParaRPr lang="es-ES" altLang="es-ES" sz="1400" dirty="0">
              <a:solidFill>
                <a:srgbClr val="333333"/>
              </a:solidFill>
              <a:latin typeface="+mj-lt"/>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latin typeface="+mj-lt"/>
                <a:cs typeface="Courier New" panose="02070309020205020404" pitchFamily="49" charset="0"/>
              </a:rPr>
              <a:t>$ </a:t>
            </a:r>
            <a:r>
              <a:rPr lang="es-ES" altLang="es-ES" sz="1400" b="1" i="1" dirty="0" err="1">
                <a:solidFill>
                  <a:srgbClr val="333333"/>
                </a:solidFill>
                <a:latin typeface="+mj-lt"/>
                <a:cs typeface="Courier New" panose="02070309020205020404" pitchFamily="49" charset="0"/>
              </a:rPr>
              <a:t>newgrp</a:t>
            </a:r>
            <a:r>
              <a:rPr lang="es-ES" altLang="es-ES" sz="1400" b="1" i="1" dirty="0">
                <a:solidFill>
                  <a:srgbClr val="333333"/>
                </a:solidFill>
                <a:latin typeface="+mj-lt"/>
                <a:cs typeface="Courier New" panose="02070309020205020404" pitchFamily="49" charset="0"/>
              </a:rPr>
              <a:t> sistemas</a:t>
            </a:r>
            <a:endParaRPr lang="es-ES" altLang="es-ES" sz="1400" b="1" i="1" dirty="0">
              <a:solidFill>
                <a:schemeClr val="tx1"/>
              </a:solidFill>
              <a:latin typeface="+mj-lt"/>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mj-lt"/>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mj-lt"/>
              </a:rPr>
              <a:t>Una vez ejecutado este comando el nuevo grupo principal para </a:t>
            </a:r>
            <a:r>
              <a:rPr lang="es-ES" altLang="es-ES" sz="1400" i="1" dirty="0">
                <a:solidFill>
                  <a:srgbClr val="333333"/>
                </a:solidFill>
                <a:latin typeface="+mj-lt"/>
              </a:rPr>
              <a:t>dante</a:t>
            </a:r>
            <a:r>
              <a:rPr lang="es-ES" altLang="es-ES" sz="1400" dirty="0">
                <a:solidFill>
                  <a:srgbClr val="333333"/>
                </a:solidFill>
                <a:latin typeface="+mj-lt"/>
              </a:rPr>
              <a:t> será </a:t>
            </a:r>
            <a:r>
              <a:rPr lang="es-ES" altLang="es-ES" sz="1400" i="1" dirty="0">
                <a:solidFill>
                  <a:srgbClr val="333333"/>
                </a:solidFill>
                <a:latin typeface="+mj-lt"/>
              </a:rPr>
              <a:t>sistemas</a:t>
            </a:r>
            <a:r>
              <a:rPr lang="es-ES" altLang="es-ES" sz="1400" dirty="0">
                <a:solidFill>
                  <a:srgbClr val="333333"/>
                </a:solidFill>
                <a:latin typeface="+mj-lt"/>
              </a:rPr>
              <a:t> y los archivos creados se asociarán a este.</a:t>
            </a:r>
            <a:endParaRPr lang="es-ES" altLang="es-ES" sz="1400" dirty="0">
              <a:solidFill>
                <a:schemeClr val="tx1"/>
              </a:solidFill>
              <a:latin typeface="+mj-lt"/>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mj-lt"/>
              </a:rPr>
              <a:t>Debemos de conocer algunas peculiaridades del uso del comando </a:t>
            </a:r>
            <a:r>
              <a:rPr lang="es-ES" altLang="es-ES" sz="1400" i="1" dirty="0" err="1">
                <a:solidFill>
                  <a:srgbClr val="333333"/>
                </a:solidFill>
                <a:latin typeface="+mj-lt"/>
              </a:rPr>
              <a:t>newgrp</a:t>
            </a:r>
            <a:r>
              <a:rPr lang="es-ES" altLang="es-ES" sz="1400" dirty="0">
                <a:solidFill>
                  <a:srgbClr val="333333"/>
                </a:solidFill>
                <a:latin typeface="+mj-lt"/>
              </a:rPr>
              <a:t>:</a:t>
            </a:r>
            <a:endParaRPr lang="es-ES" altLang="es-ES" sz="1400" dirty="0">
              <a:solidFill>
                <a:srgbClr val="333333"/>
              </a:solidFill>
              <a:latin typeface="+mj-lt"/>
            </a:endParaRPr>
          </a:p>
          <a:p>
            <a:pPr marL="0" lvl="0" indent="0" eaLnBrk="0" fontAlgn="base" hangingPunct="0">
              <a:lnSpc>
                <a:spcPct val="100000"/>
              </a:lnSpc>
              <a:spcBef>
                <a:spcPct val="0"/>
              </a:spcBef>
              <a:spcAft>
                <a:spcPct val="0"/>
              </a:spcAft>
              <a:buClrTx/>
              <a:buSzTx/>
              <a:buNone/>
            </a:pPr>
            <a:endParaRPr lang="es-ES" altLang="es-ES" sz="1400" dirty="0">
              <a:solidFill>
                <a:schemeClr val="tx1"/>
              </a:solidFill>
              <a:latin typeface="+mj-lt"/>
            </a:endParaRPr>
          </a:p>
          <a:p>
            <a:pPr lvl="0" eaLnBrk="0" fontAlgn="base" hangingPunct="0">
              <a:lnSpc>
                <a:spcPct val="100000"/>
              </a:lnSpc>
              <a:spcBef>
                <a:spcPct val="0"/>
              </a:spcBef>
              <a:spcAft>
                <a:spcPct val="0"/>
              </a:spcAft>
              <a:buClr>
                <a:schemeClr val="accent1">
                  <a:lumMod val="75000"/>
                </a:schemeClr>
              </a:buClr>
              <a:buSzTx/>
              <a:buFont typeface="Wingdings" panose="05000000000000000000" pitchFamily="2" charset="2"/>
              <a:buChar char="§"/>
            </a:pPr>
            <a:r>
              <a:rPr lang="es-ES" altLang="es-ES" sz="1400" dirty="0">
                <a:solidFill>
                  <a:srgbClr val="333333"/>
                </a:solidFill>
                <a:latin typeface="+mj-lt"/>
              </a:rPr>
              <a:t>El cambio al nuevo grupo principal es temporal, es decir, al iniciar una nueva sesión o cerrar y abrir una terminal, volveremos a tener nuestro grupo principal por defecto.</a:t>
            </a:r>
            <a:endParaRPr lang="es-ES" altLang="es-ES" sz="1400" dirty="0">
              <a:solidFill>
                <a:srgbClr val="333333"/>
              </a:solidFill>
              <a:latin typeface="+mj-lt"/>
            </a:endParaRPr>
          </a:p>
          <a:p>
            <a:pPr lvl="0" eaLnBrk="0" fontAlgn="base" hangingPunct="0">
              <a:lnSpc>
                <a:spcPct val="100000"/>
              </a:lnSpc>
              <a:spcBef>
                <a:spcPct val="0"/>
              </a:spcBef>
              <a:spcAft>
                <a:spcPct val="0"/>
              </a:spcAft>
              <a:buClr>
                <a:schemeClr val="accent1">
                  <a:lumMod val="75000"/>
                </a:schemeClr>
              </a:buClr>
              <a:buSzTx/>
              <a:buFont typeface="Wingdings" panose="05000000000000000000" pitchFamily="2" charset="2"/>
              <a:buChar char="§"/>
            </a:pPr>
            <a:r>
              <a:rPr lang="es-ES" altLang="es-ES" sz="1400" dirty="0">
                <a:solidFill>
                  <a:srgbClr val="333333"/>
                </a:solidFill>
                <a:latin typeface="+mj-lt"/>
              </a:rPr>
              <a:t>Cuando ejecutamos </a:t>
            </a:r>
            <a:r>
              <a:rPr lang="es-ES" altLang="es-ES" sz="1400" i="1" dirty="0" err="1">
                <a:solidFill>
                  <a:srgbClr val="333333"/>
                </a:solidFill>
                <a:latin typeface="+mj-lt"/>
              </a:rPr>
              <a:t>newgrp</a:t>
            </a:r>
            <a:r>
              <a:rPr lang="es-ES" altLang="es-ES" sz="1400" dirty="0">
                <a:solidFill>
                  <a:srgbClr val="333333"/>
                </a:solidFill>
                <a:latin typeface="+mj-lt"/>
              </a:rPr>
              <a:t> veremos los efectos a la hora de crear archivos o ejecutar programas, pero no si desplegamos el contenido de </a:t>
            </a:r>
            <a:r>
              <a:rPr lang="es-ES" altLang="es-ES" sz="1400" i="1" dirty="0">
                <a:solidFill>
                  <a:srgbClr val="333333"/>
                </a:solidFill>
                <a:latin typeface="+mj-lt"/>
              </a:rPr>
              <a:t>/</a:t>
            </a:r>
            <a:r>
              <a:rPr lang="es-ES" altLang="es-ES" sz="1400" i="1" dirty="0" err="1">
                <a:solidFill>
                  <a:srgbClr val="333333"/>
                </a:solidFill>
                <a:latin typeface="+mj-lt"/>
              </a:rPr>
              <a:t>etc</a:t>
            </a:r>
            <a:r>
              <a:rPr lang="es-ES" altLang="es-ES" sz="1400" i="1" dirty="0">
                <a:solidFill>
                  <a:srgbClr val="333333"/>
                </a:solidFill>
                <a:latin typeface="+mj-lt"/>
              </a:rPr>
              <a:t>/</a:t>
            </a:r>
            <a:r>
              <a:rPr lang="es-ES" altLang="es-ES" sz="1400" i="1" dirty="0" err="1">
                <a:solidFill>
                  <a:srgbClr val="333333"/>
                </a:solidFill>
                <a:latin typeface="+mj-lt"/>
              </a:rPr>
              <a:t>passwd</a:t>
            </a:r>
            <a:r>
              <a:rPr lang="es-ES" altLang="es-ES" sz="1400" dirty="0">
                <a:solidFill>
                  <a:srgbClr val="333333"/>
                </a:solidFill>
                <a:latin typeface="+mj-lt"/>
              </a:rPr>
              <a:t> o </a:t>
            </a:r>
            <a:r>
              <a:rPr lang="es-ES" altLang="es-ES" sz="1400" i="1" dirty="0">
                <a:solidFill>
                  <a:srgbClr val="333333"/>
                </a:solidFill>
                <a:latin typeface="+mj-lt"/>
              </a:rPr>
              <a:t>/</a:t>
            </a:r>
            <a:r>
              <a:rPr lang="es-ES" altLang="es-ES" sz="1400" i="1" dirty="0" err="1">
                <a:solidFill>
                  <a:srgbClr val="333333"/>
                </a:solidFill>
                <a:latin typeface="+mj-lt"/>
              </a:rPr>
              <a:t>etc</a:t>
            </a:r>
            <a:r>
              <a:rPr lang="es-ES" altLang="es-ES" sz="1400" i="1" dirty="0">
                <a:solidFill>
                  <a:srgbClr val="333333"/>
                </a:solidFill>
                <a:latin typeface="+mj-lt"/>
              </a:rPr>
              <a:t>/</a:t>
            </a:r>
            <a:r>
              <a:rPr lang="es-ES" altLang="es-ES" sz="1400" i="1" dirty="0" err="1">
                <a:solidFill>
                  <a:srgbClr val="333333"/>
                </a:solidFill>
                <a:latin typeface="+mj-lt"/>
              </a:rPr>
              <a:t>group</a:t>
            </a:r>
            <a:r>
              <a:rPr lang="es-ES" altLang="es-ES" sz="1400" dirty="0">
                <a:solidFill>
                  <a:srgbClr val="333333"/>
                </a:solidFill>
                <a:latin typeface="+mj-lt"/>
              </a:rPr>
              <a:t> para los cuales nuestro grupo principal seguirá siendo el que teníamos por defecto.</a:t>
            </a:r>
            <a:endParaRPr lang="es-ES" altLang="es-ES" sz="1400" dirty="0">
              <a:solidFill>
                <a:srgbClr val="333333"/>
              </a:solidFill>
              <a:latin typeface="+mj-lt"/>
            </a:endParaRPr>
          </a:p>
          <a:p>
            <a:pPr lvl="0" eaLnBrk="0" fontAlgn="base" hangingPunct="0">
              <a:lnSpc>
                <a:spcPct val="100000"/>
              </a:lnSpc>
              <a:spcBef>
                <a:spcPct val="0"/>
              </a:spcBef>
              <a:spcAft>
                <a:spcPct val="0"/>
              </a:spcAft>
              <a:buClr>
                <a:schemeClr val="accent1">
                  <a:lumMod val="75000"/>
                </a:schemeClr>
              </a:buClr>
              <a:buSzTx/>
              <a:buFont typeface="Wingdings" panose="05000000000000000000" pitchFamily="2" charset="2"/>
              <a:buChar char="§"/>
            </a:pPr>
            <a:r>
              <a:rPr lang="es-ES" altLang="es-ES" sz="1400" dirty="0">
                <a:solidFill>
                  <a:srgbClr val="333333"/>
                </a:solidFill>
                <a:latin typeface="+mj-lt"/>
              </a:rPr>
              <a:t>Si hemos ejecutado </a:t>
            </a:r>
            <a:r>
              <a:rPr lang="es-ES" altLang="es-ES" sz="1400" dirty="0" err="1">
                <a:solidFill>
                  <a:srgbClr val="333333"/>
                </a:solidFill>
                <a:latin typeface="+mj-lt"/>
              </a:rPr>
              <a:t>newgrp</a:t>
            </a:r>
            <a:r>
              <a:rPr lang="es-ES" altLang="es-ES" sz="1400" dirty="0">
                <a:solidFill>
                  <a:srgbClr val="333333"/>
                </a:solidFill>
                <a:latin typeface="+mj-lt"/>
              </a:rPr>
              <a:t> para pasarnos a otro grupo temporalmente y queremos volver a nuestro grupo de origen sin cerrar sesión iniciar nueva sesión bastará con volver a ejecutar </a:t>
            </a:r>
            <a:r>
              <a:rPr lang="es-ES" altLang="es-ES" sz="1400" dirty="0" err="1">
                <a:solidFill>
                  <a:srgbClr val="333333"/>
                </a:solidFill>
                <a:latin typeface="+mj-lt"/>
              </a:rPr>
              <a:t>newgrp</a:t>
            </a:r>
            <a:r>
              <a:rPr lang="es-ES" altLang="es-ES" sz="1400" dirty="0">
                <a:solidFill>
                  <a:srgbClr val="333333"/>
                </a:solidFill>
                <a:latin typeface="+mj-lt"/>
              </a:rPr>
              <a:t> sin argumento alguno.</a:t>
            </a:r>
            <a:endParaRPr lang="es-ES" altLang="es-ES" sz="1400" dirty="0">
              <a:solidFill>
                <a:srgbClr val="333333"/>
              </a:solidFill>
              <a:latin typeface="+mj-lt"/>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7744" y="1550537"/>
            <a:ext cx="10765809" cy="3756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400" dirty="0"/>
              <a:t>En esta sección del capítulo vamos a repasar las herramientas con las que podremos crear, modificar y eliminar cuentas de usuario. Linux posee herramientas </a:t>
            </a:r>
            <a:r>
              <a:rPr lang="es-ES" sz="1400" i="1" dirty="0"/>
              <a:t>GUI</a:t>
            </a:r>
            <a:r>
              <a:rPr lang="es-ES" sz="1400" dirty="0"/>
              <a:t> para tal fin, pero las que vamos a estudiar son las que están basada en modo texto, ya que son mas flexibles y por ello nos permitirán realizar una configuración mas detallada. </a:t>
            </a:r>
            <a:endParaRPr lang="es-ES" sz="1400" dirty="0"/>
          </a:p>
          <a:p>
            <a:r>
              <a:rPr lang="es-ES" sz="1400" b="1" dirty="0"/>
              <a:t>Creando cuentas de usuarios </a:t>
            </a:r>
            <a:endParaRPr lang="es-ES" sz="1400" b="1" dirty="0"/>
          </a:p>
          <a:p>
            <a:r>
              <a:rPr lang="es-ES" sz="1400" dirty="0"/>
              <a:t>Cuando creamos una cuenta de usuario en el sistema realmente lo que se está haciendo de forma automática es lo siguiente:</a:t>
            </a:r>
            <a:endParaRPr lang="es-ES" sz="1400" dirty="0"/>
          </a:p>
          <a:p>
            <a:pPr lvl="1"/>
            <a:r>
              <a:rPr lang="es-ES" sz="1400" dirty="0"/>
              <a:t>Crear una línea de identificación y especificación de ciertas características de la cuenta en el archivo</a:t>
            </a:r>
            <a:r>
              <a:rPr lang="es-ES" sz="1400" b="1" dirty="0"/>
              <a:t> /</a:t>
            </a:r>
            <a:r>
              <a:rPr lang="es-ES" sz="1400" b="1" dirty="0" err="1"/>
              <a:t>etc</a:t>
            </a:r>
            <a:r>
              <a:rPr lang="es-ES" sz="1400" b="1" dirty="0"/>
              <a:t>/</a:t>
            </a:r>
            <a:r>
              <a:rPr lang="es-ES" sz="1400" b="1" dirty="0" err="1"/>
              <a:t>passwd</a:t>
            </a:r>
            <a:endParaRPr lang="es-ES" sz="1400" dirty="0"/>
          </a:p>
          <a:p>
            <a:pPr lvl="1"/>
            <a:r>
              <a:rPr lang="es-ES" sz="1400" dirty="0"/>
              <a:t>Crear una contraseña con el comando </a:t>
            </a:r>
            <a:r>
              <a:rPr lang="es-ES" sz="1400" b="1" dirty="0" err="1"/>
              <a:t>passwd</a:t>
            </a:r>
            <a:r>
              <a:rPr lang="es-ES" sz="1400" dirty="0"/>
              <a:t>. Esto suele hacerse de forma manual (por seguridad) tras crear la cuenta y lo que hace es añadir una contraseña encriptada en el archivo</a:t>
            </a:r>
            <a:r>
              <a:rPr lang="es-ES" sz="1400" b="1" dirty="0"/>
              <a:t> /</a:t>
            </a:r>
            <a:r>
              <a:rPr lang="es-ES" sz="1400" b="1" dirty="0" err="1"/>
              <a:t>etc</a:t>
            </a:r>
            <a:r>
              <a:rPr lang="es-ES" sz="1400" b="1" dirty="0"/>
              <a:t>/</a:t>
            </a:r>
            <a:r>
              <a:rPr lang="es-ES" sz="1400" b="1" dirty="0" err="1"/>
              <a:t>shadow</a:t>
            </a:r>
            <a:endParaRPr lang="es-ES" sz="1400" dirty="0"/>
          </a:p>
          <a:p>
            <a:pPr lvl="1"/>
            <a:r>
              <a:rPr lang="es-ES" sz="1400" dirty="0"/>
              <a:t>Se crea una línea en </a:t>
            </a:r>
            <a:r>
              <a:rPr lang="es-ES" sz="1400" b="1" dirty="0"/>
              <a:t>/</a:t>
            </a:r>
            <a:r>
              <a:rPr lang="es-ES" sz="1400" b="1" dirty="0" err="1"/>
              <a:t>etc</a:t>
            </a:r>
            <a:r>
              <a:rPr lang="es-ES" sz="1400" b="1" dirty="0"/>
              <a:t>/</a:t>
            </a:r>
            <a:r>
              <a:rPr lang="es-ES" sz="1400" b="1" dirty="0" err="1"/>
              <a:t>group</a:t>
            </a:r>
            <a:r>
              <a:rPr lang="es-ES" sz="1400" dirty="0"/>
              <a:t> para identificar al grupo primario del usuario</a:t>
            </a:r>
            <a:endParaRPr lang="es-ES" sz="1400" dirty="0"/>
          </a:p>
          <a:p>
            <a:pPr lvl="1"/>
            <a:r>
              <a:rPr lang="es-ES" sz="1400" dirty="0"/>
              <a:t>Se crea un directorio </a:t>
            </a:r>
            <a:r>
              <a:rPr lang="es-ES" sz="1400" i="1" dirty="0"/>
              <a:t>/home/&lt;usuario&gt;</a:t>
            </a:r>
            <a:r>
              <a:rPr lang="es-ES" sz="1400" dirty="0"/>
              <a:t> en el que se copian una serie de archivos de configuración de perfil desde el directorio </a:t>
            </a:r>
            <a:r>
              <a:rPr lang="es-ES" sz="1400" b="1" dirty="0"/>
              <a:t>/</a:t>
            </a:r>
            <a:r>
              <a:rPr lang="es-ES" sz="1400" b="1" dirty="0" err="1"/>
              <a:t>etc</a:t>
            </a:r>
            <a:r>
              <a:rPr lang="es-ES" sz="1400" b="1" dirty="0"/>
              <a:t>/</a:t>
            </a:r>
            <a:r>
              <a:rPr lang="es-ES" sz="1400" b="1" dirty="0" err="1"/>
              <a:t>skel</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23554"/>
            <a:ext cx="10888639" cy="2871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indent="0">
              <a:buNone/>
            </a:pPr>
            <a:endParaRPr lang="es-ES" altLang="es-ES" sz="1400" dirty="0">
              <a:solidFill>
                <a:schemeClr val="tx1"/>
              </a:solidFill>
            </a:endParaRPr>
          </a:p>
          <a:p>
            <a:pPr marL="0" lvl="0" indent="0" eaLnBrk="0" fontAlgn="base" hangingPunct="0">
              <a:lnSpc>
                <a:spcPct val="100000"/>
              </a:lnSpc>
              <a:spcBef>
                <a:spcPts val="200"/>
              </a:spcBef>
              <a:buClrTx/>
              <a:buSzTx/>
              <a:buFontTx/>
              <a:buChar char="•"/>
            </a:pPr>
            <a:r>
              <a:rPr lang="es-ES" altLang="es-ES" sz="1600" dirty="0">
                <a:solidFill>
                  <a:srgbClr val="333333"/>
                </a:solidFill>
              </a:rPr>
              <a:t>Crear un usuario con </a:t>
            </a:r>
            <a:r>
              <a:rPr lang="es-ES" altLang="es-ES" sz="1600" b="1" dirty="0" err="1">
                <a:solidFill>
                  <a:srgbClr val="333333"/>
                </a:solidFill>
              </a:rPr>
              <a:t>useradd</a:t>
            </a:r>
            <a:r>
              <a:rPr lang="es-ES" altLang="es-ES" sz="1600" dirty="0">
                <a:solidFill>
                  <a:srgbClr val="333333"/>
                </a:solidFill>
              </a:rPr>
              <a:t> sin utilizar parámetros y opciones adicionales: </a:t>
            </a:r>
            <a:endParaRPr lang="es-ES" altLang="es-ES" sz="1600" dirty="0">
              <a:solidFill>
                <a:srgbClr val="333333"/>
              </a:solidFill>
            </a:endParaRPr>
          </a:p>
          <a:p>
            <a:pPr marL="0" lvl="0" indent="0" eaLnBrk="0" fontAlgn="base" hangingPunct="0">
              <a:lnSpc>
                <a:spcPct val="100000"/>
              </a:lnSpc>
              <a:spcBef>
                <a:spcPts val="200"/>
              </a:spcBef>
              <a:buClrTx/>
              <a:buSzTx/>
              <a:buFontTx/>
              <a:buChar char="•"/>
            </a:pPr>
            <a:endParaRPr lang="es-ES" altLang="es-ES" sz="1600" b="1" i="1" dirty="0">
              <a:solidFill>
                <a:srgbClr val="333333"/>
              </a:solidFill>
              <a:cs typeface="Courier New" panose="02070309020205020404" pitchFamily="49" charset="0"/>
            </a:endParaRPr>
          </a:p>
          <a:p>
            <a:pPr marL="0" lvl="0" indent="0" eaLnBrk="0" fontAlgn="base" hangingPunct="0">
              <a:lnSpc>
                <a:spcPct val="100000"/>
              </a:lnSpc>
              <a:spcBef>
                <a:spcPts val="200"/>
              </a:spcBef>
              <a:buClrTx/>
              <a:buSzTx/>
              <a:buNone/>
            </a:pPr>
            <a:r>
              <a:rPr lang="es-ES" altLang="es-ES" sz="1600" b="1" i="1" dirty="0">
                <a:solidFill>
                  <a:srgbClr val="333333"/>
                </a:solidFill>
                <a:cs typeface="Courier New" panose="02070309020205020404" pitchFamily="49" charset="0"/>
              </a:rPr>
              <a:t>				$sudo </a:t>
            </a:r>
            <a:r>
              <a:rPr lang="es-ES" altLang="es-ES" sz="1600" b="1" i="1" dirty="0" err="1">
                <a:solidFill>
                  <a:srgbClr val="333333"/>
                </a:solidFill>
                <a:cs typeface="Courier New" panose="02070309020205020404" pitchFamily="49" charset="0"/>
              </a:rPr>
              <a:t>useradd</a:t>
            </a:r>
            <a:r>
              <a:rPr lang="es-ES" altLang="es-ES" sz="1600" b="1" i="1" dirty="0">
                <a:solidFill>
                  <a:srgbClr val="333333"/>
                </a:solidFill>
                <a:cs typeface="Courier New" panose="02070309020205020404" pitchFamily="49" charset="0"/>
              </a:rPr>
              <a:t> </a:t>
            </a:r>
            <a:r>
              <a:rPr lang="es-ES" altLang="es-ES" sz="1600" b="1" i="1" dirty="0" err="1">
                <a:solidFill>
                  <a:srgbClr val="333333"/>
                </a:solidFill>
                <a:cs typeface="Courier New" panose="02070309020205020404" pitchFamily="49" charset="0"/>
              </a:rPr>
              <a:t>cursolpi</a:t>
            </a:r>
            <a:endParaRPr lang="es-ES" altLang="es-ES" sz="1600" b="1" i="1" dirty="0">
              <a:solidFill>
                <a:srgbClr val="333333"/>
              </a:solidFill>
              <a:cs typeface="Courier New" panose="02070309020205020404" pitchFamily="49" charset="0"/>
            </a:endParaRPr>
          </a:p>
          <a:p>
            <a:pPr marL="0" lvl="0" indent="0" eaLnBrk="0" fontAlgn="base" hangingPunct="0">
              <a:lnSpc>
                <a:spcPct val="100000"/>
              </a:lnSpc>
              <a:spcBef>
                <a:spcPts val="200"/>
              </a:spcBef>
              <a:buClrTx/>
              <a:buSzTx/>
              <a:buNone/>
            </a:pPr>
            <a:endParaRPr lang="es-ES" altLang="es-ES" sz="1600" b="1" i="1" dirty="0">
              <a:solidFill>
                <a:schemeClr val="tx1"/>
              </a:solidFill>
              <a:cs typeface="Courier New" panose="02070309020205020404" pitchFamily="49" charset="0"/>
            </a:endParaRPr>
          </a:p>
          <a:p>
            <a:pPr marL="0" lvl="0" indent="0" eaLnBrk="0" fontAlgn="base" hangingPunct="0">
              <a:lnSpc>
                <a:spcPct val="100000"/>
              </a:lnSpc>
              <a:spcBef>
                <a:spcPts val="200"/>
              </a:spcBef>
              <a:buClrTx/>
              <a:buSzTx/>
              <a:buFontTx/>
              <a:buChar char="•"/>
            </a:pPr>
            <a:r>
              <a:rPr lang="es-ES" altLang="es-ES" sz="1600" dirty="0">
                <a:solidFill>
                  <a:srgbClr val="333333"/>
                </a:solidFill>
              </a:rPr>
              <a:t>La línea que se generará en el archivo </a:t>
            </a:r>
            <a:r>
              <a:rPr lang="es-ES" altLang="es-ES" sz="1600" i="1" dirty="0">
                <a:solidFill>
                  <a:srgbClr val="333333"/>
                </a:solidFill>
              </a:rPr>
              <a:t>/</a:t>
            </a:r>
            <a:r>
              <a:rPr lang="es-ES" altLang="es-ES" sz="1600" i="1" dirty="0" err="1">
                <a:solidFill>
                  <a:srgbClr val="333333"/>
                </a:solidFill>
              </a:rPr>
              <a:t>etc</a:t>
            </a:r>
            <a:r>
              <a:rPr lang="es-ES" altLang="es-ES" sz="1600" i="1" dirty="0">
                <a:solidFill>
                  <a:srgbClr val="333333"/>
                </a:solidFill>
              </a:rPr>
              <a:t>/</a:t>
            </a:r>
            <a:r>
              <a:rPr lang="es-ES" altLang="es-ES" sz="1600" i="1" dirty="0" err="1">
                <a:solidFill>
                  <a:srgbClr val="333333"/>
                </a:solidFill>
              </a:rPr>
              <a:t>passwd</a:t>
            </a:r>
            <a:r>
              <a:rPr lang="es-ES" altLang="es-ES" sz="1600" dirty="0">
                <a:solidFill>
                  <a:srgbClr val="333333"/>
                </a:solidFill>
              </a:rPr>
              <a:t> tendrá el siguiente aspecto</a:t>
            </a:r>
            <a:endParaRPr lang="es-ES" altLang="es-ES" sz="1600" dirty="0">
              <a:solidFill>
                <a:srgbClr val="333333"/>
              </a:solidFill>
            </a:endParaRPr>
          </a:p>
          <a:p>
            <a:pPr marL="0" lvl="0" indent="0" algn="ctr" eaLnBrk="0" fontAlgn="base" hangingPunct="0">
              <a:lnSpc>
                <a:spcPct val="100000"/>
              </a:lnSpc>
              <a:spcBef>
                <a:spcPts val="200"/>
              </a:spcBef>
              <a:spcAft>
                <a:spcPts val="400"/>
              </a:spcAft>
              <a:buClrTx/>
              <a:buSzTx/>
              <a:buFontTx/>
              <a:buChar char="•"/>
            </a:pPr>
            <a:r>
              <a:rPr lang="es-ES" altLang="es-ES" sz="1600" b="1" i="1" dirty="0">
                <a:solidFill>
                  <a:srgbClr val="333333"/>
                </a:solidFill>
                <a:cs typeface="Courier New" panose="02070309020205020404" pitchFamily="49" charset="0"/>
              </a:rPr>
              <a:t>cursolpi:x:1007:1007::/home/</a:t>
            </a:r>
            <a:r>
              <a:rPr lang="es-ES" altLang="es-ES" sz="1600" b="1" i="1" dirty="0" err="1">
                <a:solidFill>
                  <a:srgbClr val="333333"/>
                </a:solidFill>
                <a:cs typeface="Courier New" panose="02070309020205020404" pitchFamily="49" charset="0"/>
              </a:rPr>
              <a:t>cursolpi</a:t>
            </a:r>
            <a:endParaRPr lang="es-ES" altLang="es-ES" sz="1600" b="1" i="1"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endParaRPr lang="es-ES" altLang="es-ES" sz="1600" b="1" i="1"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7744" y="1599396"/>
            <a:ext cx="6482688" cy="3731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r>
              <a:rPr lang="es-ES" altLang="es-ES" sz="1400" dirty="0">
                <a:solidFill>
                  <a:srgbClr val="333333"/>
                </a:solidFill>
              </a:rPr>
              <a:t>Ahora la nueva línea del archivo </a:t>
            </a:r>
            <a:r>
              <a:rPr lang="es-ES" altLang="es-ES" sz="1400" i="1" dirty="0">
                <a:solidFill>
                  <a:srgbClr val="333333"/>
                </a:solidFill>
              </a:rPr>
              <a:t>/</a:t>
            </a:r>
            <a:r>
              <a:rPr lang="es-ES" altLang="es-ES" sz="1400" i="1" dirty="0" err="1">
                <a:solidFill>
                  <a:srgbClr val="333333"/>
                </a:solidFill>
              </a:rPr>
              <a:t>etc</a:t>
            </a:r>
            <a:r>
              <a:rPr lang="es-ES" altLang="es-ES" sz="1400" i="1" dirty="0">
                <a:solidFill>
                  <a:srgbClr val="333333"/>
                </a:solidFill>
              </a:rPr>
              <a:t>/</a:t>
            </a:r>
            <a:r>
              <a:rPr lang="es-ES" altLang="es-ES" sz="1400" i="1" dirty="0" err="1">
                <a:solidFill>
                  <a:srgbClr val="333333"/>
                </a:solidFill>
              </a:rPr>
              <a:t>passwd</a:t>
            </a:r>
            <a:r>
              <a:rPr lang="es-ES" altLang="es-ES" sz="1400" dirty="0">
                <a:solidFill>
                  <a:srgbClr val="333333"/>
                </a:solidFill>
              </a:rPr>
              <a:t> tendrá el siguiente aspecto:</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cursolpi:x:1024:1001:Usuario para curso LPIC-1:/home/</a:t>
            </a:r>
            <a:r>
              <a:rPr lang="es-ES" altLang="es-ES" sz="1400" b="1" i="1" dirty="0" err="1">
                <a:solidFill>
                  <a:srgbClr val="333333"/>
                </a:solidFill>
                <a:cs typeface="Courier New" panose="02070309020205020404" pitchFamily="49" charset="0"/>
              </a:rPr>
              <a:t>cursolpi</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bin</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bash</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endParaRPr lang="es-ES" altLang="es-ES" b="1" i="1" dirty="0">
              <a:solidFill>
                <a:schemeClr val="tx1"/>
              </a:solidFill>
            </a:endParaRPr>
          </a:p>
          <a:p>
            <a:pPr marL="0" lvl="0" indent="0" eaLnBrk="0" fontAlgn="base" hangingPunct="0">
              <a:lnSpc>
                <a:spcPct val="100000"/>
              </a:lnSpc>
              <a:spcBef>
                <a:spcPct val="0"/>
              </a:spcBef>
              <a:spcAft>
                <a:spcPct val="0"/>
              </a:spcAft>
              <a:buClrTx/>
              <a:buSzTx/>
              <a:buFontTx/>
              <a:buChar char="•"/>
            </a:pPr>
            <a:r>
              <a:rPr lang="es-ES" altLang="es-ES" sz="1400" dirty="0">
                <a:solidFill>
                  <a:srgbClr val="333333"/>
                </a:solidFill>
              </a:rPr>
              <a:t>Crear un usuario con los valores por defectos configurados en /</a:t>
            </a:r>
            <a:r>
              <a:rPr lang="es-ES" altLang="es-ES" sz="1400" dirty="0" err="1">
                <a:solidFill>
                  <a:srgbClr val="333333"/>
                </a:solidFill>
              </a:rPr>
              <a:t>etc</a:t>
            </a:r>
            <a:r>
              <a:rPr lang="es-ES" altLang="es-ES" sz="1400" dirty="0">
                <a:solidFill>
                  <a:srgbClr val="333333"/>
                </a:solidFill>
              </a:rPr>
              <a:t>/</a:t>
            </a:r>
            <a:r>
              <a:rPr lang="es-ES" altLang="es-ES" sz="1400" dirty="0" err="1">
                <a:solidFill>
                  <a:srgbClr val="333333"/>
                </a:solidFill>
              </a:rPr>
              <a:t>adduser.conf</a:t>
            </a:r>
            <a:r>
              <a:rPr lang="es-ES" altLang="es-ES" sz="1400" dirty="0">
                <a:solidFill>
                  <a:srgbClr val="333333"/>
                </a:solidFill>
              </a:rPr>
              <a:t> con el comando </a:t>
            </a:r>
            <a:r>
              <a:rPr lang="es-ES" altLang="es-ES" sz="1400" b="1" dirty="0" err="1">
                <a:solidFill>
                  <a:srgbClr val="333333"/>
                </a:solidFill>
              </a:rPr>
              <a:t>adduser</a:t>
            </a:r>
            <a:r>
              <a:rPr lang="es-ES" altLang="es-ES" sz="1400" dirty="0">
                <a:solidFill>
                  <a:srgbClr val="333333"/>
                </a:solidFill>
              </a:rPr>
              <a:t> que desplegará unas líneas que servirán para que interactuemos con la utilidad: Tras esto la línea creada para este nuevo usuario en el archivo </a:t>
            </a:r>
            <a:r>
              <a:rPr lang="es-ES" altLang="es-ES" sz="1400" i="1" dirty="0">
                <a:solidFill>
                  <a:srgbClr val="333333"/>
                </a:solidFill>
              </a:rPr>
              <a:t>/</a:t>
            </a:r>
            <a:r>
              <a:rPr lang="es-ES" altLang="es-ES" sz="1400" i="1" dirty="0" err="1">
                <a:solidFill>
                  <a:srgbClr val="333333"/>
                </a:solidFill>
              </a:rPr>
              <a:t>etc</a:t>
            </a:r>
            <a:r>
              <a:rPr lang="es-ES" altLang="es-ES" sz="1400" i="1" dirty="0">
                <a:solidFill>
                  <a:srgbClr val="333333"/>
                </a:solidFill>
              </a:rPr>
              <a:t>/</a:t>
            </a:r>
            <a:r>
              <a:rPr lang="es-ES" altLang="es-ES" sz="1400" i="1" dirty="0" err="1">
                <a:solidFill>
                  <a:srgbClr val="333333"/>
                </a:solidFill>
              </a:rPr>
              <a:t>passwd</a:t>
            </a:r>
            <a:r>
              <a:rPr lang="es-ES" altLang="es-ES" sz="1400" dirty="0">
                <a:solidFill>
                  <a:srgbClr val="333333"/>
                </a:solidFill>
              </a:rPr>
              <a:t> tendrá el siguiente aspecto:</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FontTx/>
              <a:buChar char="•"/>
            </a:pPr>
            <a:endParaRPr lang="es-ES" altLang="es-ES" sz="1400"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dottore:x:1007:1007:Patricio Calamonte,12,666-666-666,:/home/</a:t>
            </a:r>
            <a:r>
              <a:rPr lang="es-ES" altLang="es-ES" sz="1400" b="1" i="1" dirty="0" err="1">
                <a:solidFill>
                  <a:srgbClr val="333333"/>
                </a:solidFill>
                <a:cs typeface="Courier New" panose="02070309020205020404" pitchFamily="49" charset="0"/>
              </a:rPr>
              <a:t>dottore</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bin</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bash</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endParaRPr lang="es-ES" altLang="es-ES"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Nota</a:t>
            </a:r>
            <a:r>
              <a:rPr lang="es-ES" altLang="es-ES" sz="1400" dirty="0">
                <a:solidFill>
                  <a:srgbClr val="333333"/>
                </a:solidFill>
              </a:rPr>
              <a:t>: La utilidad </a:t>
            </a:r>
            <a:r>
              <a:rPr lang="es-ES" altLang="es-ES" sz="1400" i="1" dirty="0" err="1">
                <a:solidFill>
                  <a:srgbClr val="333333"/>
                </a:solidFill>
              </a:rPr>
              <a:t>adduser</a:t>
            </a:r>
            <a:r>
              <a:rPr lang="es-ES" altLang="es-ES" sz="1400" dirty="0">
                <a:solidFill>
                  <a:srgbClr val="333333"/>
                </a:solidFill>
              </a:rPr>
              <a:t> nos permite además crear grupos pasándole el parámetro</a:t>
            </a:r>
            <a:r>
              <a:rPr lang="es-ES" altLang="es-ES" sz="1400" b="1" dirty="0">
                <a:solidFill>
                  <a:srgbClr val="333333"/>
                </a:solidFill>
              </a:rPr>
              <a:t> –</a:t>
            </a:r>
            <a:r>
              <a:rPr lang="es-ES" altLang="es-ES" sz="1400" b="1" dirty="0" err="1">
                <a:solidFill>
                  <a:srgbClr val="333333"/>
                </a:solidFill>
              </a:rPr>
              <a:t>group</a:t>
            </a:r>
            <a:r>
              <a:rPr lang="es-ES" altLang="es-ES" sz="1400" dirty="0">
                <a:solidFill>
                  <a:srgbClr val="333333"/>
                </a:solidFill>
              </a:rPr>
              <a:t>, pero mejor utilizar las herramientas destinadas a la creación de grupos.</a:t>
            </a:r>
            <a:endParaRPr lang="es-ES" altLang="es-ES"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10242" name="Picture 2" descr="adduser">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6776" y="2047874"/>
            <a:ext cx="3966371" cy="21419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385920"/>
            <a:ext cx="10765809" cy="4909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Comandos de gestión de usuarios</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a:spcBef>
                <a:spcPts val="200"/>
              </a:spcBef>
              <a:spcAft>
                <a:spcPts val="0"/>
              </a:spcAft>
            </a:pPr>
            <a:r>
              <a:rPr lang="es-ES" sz="1300" b="1" dirty="0" err="1"/>
              <a:t>useradd</a:t>
            </a:r>
            <a:r>
              <a:rPr lang="es-ES" sz="1300" dirty="0"/>
              <a:t>: Crea un nuevo usuario, muestra las opciones en las que </a:t>
            </a:r>
            <a:r>
              <a:rPr lang="es-ES" sz="1300" i="1" dirty="0" err="1"/>
              <a:t>useradd</a:t>
            </a:r>
            <a:r>
              <a:rPr lang="es-ES" sz="1300" dirty="0"/>
              <a:t> se basa para crear un nuevo usuario o actualiza estas.</a:t>
            </a:r>
            <a:endParaRPr lang="es-ES" sz="1300" dirty="0"/>
          </a:p>
          <a:p>
            <a:pPr algn="ctr">
              <a:spcBef>
                <a:spcPts val="200"/>
              </a:spcBef>
              <a:spcAft>
                <a:spcPts val="0"/>
              </a:spcAft>
            </a:pPr>
            <a:r>
              <a:rPr lang="es-ES" sz="1300" b="1" dirty="0" err="1"/>
              <a:t>useradd</a:t>
            </a:r>
            <a:r>
              <a:rPr lang="es-ES" sz="1300" b="1" dirty="0"/>
              <a:t> [opciones] </a:t>
            </a:r>
            <a:r>
              <a:rPr lang="es-ES" sz="1300" b="1" dirty="0" err="1"/>
              <a:t>login</a:t>
            </a:r>
            <a:endParaRPr lang="es-ES" sz="1300" dirty="0"/>
          </a:p>
          <a:p>
            <a:pPr algn="ctr">
              <a:spcBef>
                <a:spcPts val="200"/>
              </a:spcBef>
              <a:spcAft>
                <a:spcPts val="0"/>
              </a:spcAft>
            </a:pPr>
            <a:r>
              <a:rPr lang="es-ES" sz="1300" b="1" dirty="0" err="1"/>
              <a:t>useradd</a:t>
            </a:r>
            <a:r>
              <a:rPr lang="es-ES" sz="1300" b="1" dirty="0"/>
              <a:t> -D</a:t>
            </a:r>
            <a:endParaRPr lang="es-ES" sz="1300" dirty="0"/>
          </a:p>
          <a:p>
            <a:pPr algn="ctr">
              <a:spcBef>
                <a:spcPts val="200"/>
              </a:spcBef>
              <a:spcAft>
                <a:spcPts val="0"/>
              </a:spcAft>
            </a:pPr>
            <a:r>
              <a:rPr lang="es-ES" sz="1300" b="1" dirty="0" err="1"/>
              <a:t>useradd</a:t>
            </a:r>
            <a:r>
              <a:rPr lang="es-ES" sz="1300" b="1" dirty="0"/>
              <a:t> -D [opciones]</a:t>
            </a:r>
            <a:endParaRPr lang="es-ES" sz="1300" dirty="0"/>
          </a:p>
          <a:p>
            <a:pPr>
              <a:spcBef>
                <a:spcPts val="200"/>
              </a:spcBef>
              <a:spcAft>
                <a:spcPts val="0"/>
              </a:spcAft>
            </a:pPr>
            <a:r>
              <a:rPr lang="es-ES" sz="1300" b="1" i="1" dirty="0"/>
              <a:t>Opciones:</a:t>
            </a:r>
            <a:endParaRPr lang="es-ES" sz="1300" b="1" dirty="0"/>
          </a:p>
          <a:p>
            <a:pPr>
              <a:spcBef>
                <a:spcPts val="200"/>
              </a:spcBef>
              <a:spcAft>
                <a:spcPts val="0"/>
              </a:spcAft>
              <a:buFont typeface="Wingdings" panose="05000000000000000000" pitchFamily="2" charset="2"/>
              <a:buChar char="§"/>
            </a:pPr>
            <a:r>
              <a:rPr lang="es-ES" sz="1300" dirty="0"/>
              <a:t>Para listar las opciones o valores de variables utilizadas para crear una cuenta usamos: </a:t>
            </a:r>
            <a:r>
              <a:rPr lang="es-ES" sz="1300" b="1" dirty="0"/>
              <a:t>-D</a:t>
            </a:r>
            <a:endParaRPr lang="es-ES" sz="1300" dirty="0"/>
          </a:p>
          <a:p>
            <a:pPr>
              <a:spcBef>
                <a:spcPts val="200"/>
              </a:spcBef>
              <a:spcAft>
                <a:spcPts val="0"/>
              </a:spcAft>
              <a:buFont typeface="Wingdings" panose="05000000000000000000" pitchFamily="2" charset="2"/>
              <a:buChar char="§"/>
            </a:pPr>
            <a:r>
              <a:rPr lang="es-ES" sz="1300" dirty="0"/>
              <a:t>Por defecto al crear un usuario se concatena el nombre del nuevo usuario al directorio base /home. Si queremos elegir otro directorio principal para el usuario lo haremos con: </a:t>
            </a:r>
            <a:r>
              <a:rPr lang="es-ES" sz="1300" b="1" dirty="0"/>
              <a:t>-d</a:t>
            </a:r>
            <a:r>
              <a:rPr lang="es-ES" sz="1300" dirty="0"/>
              <a:t> </a:t>
            </a:r>
            <a:r>
              <a:rPr lang="es-ES" sz="1300" i="1" dirty="0"/>
              <a:t>&lt;</a:t>
            </a:r>
            <a:r>
              <a:rPr lang="es-ES" sz="1300" i="1" dirty="0" err="1"/>
              <a:t>nuevodirectorio</a:t>
            </a:r>
            <a:r>
              <a:rPr lang="es-ES" sz="1300" i="1" dirty="0"/>
              <a:t>&gt;</a:t>
            </a:r>
            <a:endParaRPr lang="es-ES" sz="1300" dirty="0"/>
          </a:p>
          <a:p>
            <a:pPr>
              <a:spcBef>
                <a:spcPts val="200"/>
              </a:spcBef>
              <a:spcAft>
                <a:spcPts val="0"/>
              </a:spcAft>
              <a:buFont typeface="Wingdings" panose="05000000000000000000" pitchFamily="2" charset="2"/>
              <a:buChar char="§"/>
            </a:pPr>
            <a:r>
              <a:rPr lang="es-ES" sz="1300" dirty="0"/>
              <a:t>Cuando usamos la opción </a:t>
            </a:r>
            <a:r>
              <a:rPr lang="es-ES" sz="1300" i="1" dirty="0"/>
              <a:t>-d</a:t>
            </a:r>
            <a:r>
              <a:rPr lang="es-ES" sz="1300" dirty="0"/>
              <a:t>, necesitaremos acompañarla de la opción que realizará la creación del directorio:</a:t>
            </a:r>
            <a:r>
              <a:rPr lang="es-ES" sz="1300" b="1" dirty="0"/>
              <a:t> -m</a:t>
            </a:r>
            <a:endParaRPr lang="es-ES" sz="1300" dirty="0"/>
          </a:p>
          <a:p>
            <a:pPr>
              <a:spcBef>
                <a:spcPts val="200"/>
              </a:spcBef>
              <a:spcAft>
                <a:spcPts val="0"/>
              </a:spcAft>
              <a:buFont typeface="Wingdings" panose="05000000000000000000" pitchFamily="2" charset="2"/>
              <a:buChar char="§"/>
            </a:pPr>
            <a:r>
              <a:rPr lang="es-ES" sz="1300" dirty="0"/>
              <a:t>El directorio base para crear el home de un usuario es /home. Esto podemos cambiarlo con </a:t>
            </a:r>
            <a:r>
              <a:rPr lang="es-ES" sz="1300" i="1" dirty="0" err="1"/>
              <a:t>useradd</a:t>
            </a:r>
            <a:r>
              <a:rPr lang="es-ES" sz="1300" i="1" dirty="0"/>
              <a:t> -D [opciones]</a:t>
            </a:r>
            <a:r>
              <a:rPr lang="es-ES" sz="1300" dirty="0"/>
              <a:t>. Aún así se queremos especificar otro directorio base al que concatenar el nombre del usuario podremos hacerlo con: </a:t>
            </a:r>
            <a:r>
              <a:rPr lang="es-ES" sz="1300" b="1" dirty="0"/>
              <a:t>-b</a:t>
            </a:r>
            <a:r>
              <a:rPr lang="es-ES" sz="1300" i="1" dirty="0"/>
              <a:t> &lt;</a:t>
            </a:r>
            <a:r>
              <a:rPr lang="es-ES" sz="1300" i="1" dirty="0" err="1"/>
              <a:t>basedir</a:t>
            </a:r>
            <a:r>
              <a:rPr lang="es-ES" sz="1300" i="1" dirty="0"/>
              <a:t>&gt;</a:t>
            </a:r>
            <a:endParaRPr lang="es-ES" sz="1300" dirty="0"/>
          </a:p>
          <a:p>
            <a:pPr>
              <a:spcBef>
                <a:spcPts val="200"/>
              </a:spcBef>
              <a:spcAft>
                <a:spcPts val="0"/>
              </a:spcAft>
              <a:buFont typeface="Wingdings" panose="05000000000000000000" pitchFamily="2" charset="2"/>
              <a:buChar char="§"/>
            </a:pPr>
            <a:r>
              <a:rPr lang="es-ES" sz="1300" dirty="0"/>
              <a:t>Podemos añadir información extra a una cuenta, como números de teléfono, nombre completo, </a:t>
            </a:r>
            <a:r>
              <a:rPr lang="es-ES" sz="1300" dirty="0" err="1"/>
              <a:t>etc</a:t>
            </a:r>
            <a:r>
              <a:rPr lang="es-ES" sz="1300" dirty="0"/>
              <a:t>… con: </a:t>
            </a:r>
            <a:r>
              <a:rPr lang="es-ES" sz="1300" b="1" dirty="0"/>
              <a:t>-c</a:t>
            </a:r>
            <a:r>
              <a:rPr lang="es-ES" sz="1300" dirty="0"/>
              <a:t> </a:t>
            </a:r>
            <a:r>
              <a:rPr lang="es-ES" sz="1300" i="1" dirty="0"/>
              <a:t>&lt;comentarios&gt;</a:t>
            </a:r>
            <a:endParaRPr lang="es-ES" sz="1300" dirty="0"/>
          </a:p>
          <a:p>
            <a:pPr>
              <a:spcBef>
                <a:spcPts val="200"/>
              </a:spcBef>
              <a:spcAft>
                <a:spcPts val="0"/>
              </a:spcAft>
              <a:buFont typeface="Wingdings" panose="05000000000000000000" pitchFamily="2" charset="2"/>
              <a:buChar char="§"/>
            </a:pPr>
            <a:r>
              <a:rPr lang="es-ES" sz="1300" dirty="0"/>
              <a:t>Por defecto el </a:t>
            </a:r>
            <a:r>
              <a:rPr lang="es-ES" sz="1300" i="1" dirty="0"/>
              <a:t>UID</a:t>
            </a:r>
            <a:r>
              <a:rPr lang="es-ES" sz="1300" dirty="0"/>
              <a:t> y </a:t>
            </a:r>
            <a:r>
              <a:rPr lang="es-ES" sz="1300" i="1" dirty="0"/>
              <a:t>GID</a:t>
            </a:r>
            <a:r>
              <a:rPr lang="es-ES" sz="1300" dirty="0"/>
              <a:t> que se generan al crear una cuenta dependen del último </a:t>
            </a:r>
            <a:r>
              <a:rPr lang="es-ES" sz="1300" i="1" dirty="0"/>
              <a:t>UID</a:t>
            </a:r>
            <a:r>
              <a:rPr lang="es-ES" sz="1300" dirty="0"/>
              <a:t> y </a:t>
            </a:r>
            <a:r>
              <a:rPr lang="es-ES" sz="1300" i="1" dirty="0"/>
              <a:t>GID</a:t>
            </a:r>
            <a:r>
              <a:rPr lang="es-ES" sz="1300" dirty="0"/>
              <a:t> del archivo </a:t>
            </a:r>
            <a:r>
              <a:rPr lang="es-ES" sz="1300" i="1" dirty="0"/>
              <a:t>/</a:t>
            </a:r>
            <a:r>
              <a:rPr lang="es-ES" sz="1300" i="1" dirty="0" err="1"/>
              <a:t>etc</a:t>
            </a:r>
            <a:r>
              <a:rPr lang="es-ES" sz="1300" i="1" dirty="0"/>
              <a:t>/</a:t>
            </a:r>
            <a:r>
              <a:rPr lang="es-ES" sz="1300" i="1" dirty="0" err="1"/>
              <a:t>passwd</a:t>
            </a:r>
            <a:r>
              <a:rPr lang="es-ES" sz="1300" dirty="0"/>
              <a:t>. Se sumará +1 a estos </a:t>
            </a:r>
            <a:r>
              <a:rPr lang="es-ES" sz="1300" i="1" dirty="0"/>
              <a:t>ID</a:t>
            </a:r>
            <a:r>
              <a:rPr lang="es-ES" sz="1300" dirty="0"/>
              <a:t>. Si queremos utilizar otros </a:t>
            </a:r>
            <a:r>
              <a:rPr lang="es-ES" sz="1300" i="1" dirty="0"/>
              <a:t>ID</a:t>
            </a:r>
            <a:r>
              <a:rPr lang="es-ES" sz="1300" dirty="0"/>
              <a:t> podremos especificarlos con: </a:t>
            </a:r>
            <a:r>
              <a:rPr lang="es-ES" sz="1300" b="1" dirty="0"/>
              <a:t>-u</a:t>
            </a:r>
            <a:r>
              <a:rPr lang="es-ES" sz="1300" dirty="0"/>
              <a:t>,</a:t>
            </a:r>
            <a:r>
              <a:rPr lang="es-ES" sz="1300" b="1" dirty="0"/>
              <a:t> –</a:t>
            </a:r>
            <a:r>
              <a:rPr lang="es-ES" sz="1300" b="1" dirty="0" err="1"/>
              <a:t>uid</a:t>
            </a:r>
            <a:r>
              <a:rPr lang="es-ES" sz="1300" dirty="0"/>
              <a:t> </a:t>
            </a:r>
            <a:r>
              <a:rPr lang="es-ES" sz="1300" i="1" dirty="0"/>
              <a:t>&lt;nuevo-id&gt;</a:t>
            </a:r>
            <a:r>
              <a:rPr lang="es-ES" sz="1300" dirty="0"/>
              <a:t> y </a:t>
            </a:r>
            <a:r>
              <a:rPr lang="es-ES" sz="1300" b="1" dirty="0"/>
              <a:t>-g</a:t>
            </a:r>
            <a:r>
              <a:rPr lang="es-ES" sz="1300" dirty="0"/>
              <a:t>, </a:t>
            </a:r>
            <a:r>
              <a:rPr lang="es-ES" sz="1300" b="1" dirty="0"/>
              <a:t>–</a:t>
            </a:r>
            <a:r>
              <a:rPr lang="es-ES" sz="1300" b="1" dirty="0" err="1"/>
              <a:t>gid</a:t>
            </a:r>
            <a:r>
              <a:rPr lang="es-ES" sz="1300" dirty="0"/>
              <a:t> </a:t>
            </a:r>
            <a:r>
              <a:rPr lang="es-ES" sz="1300" i="1" dirty="0"/>
              <a:t>&lt;nuevo-id&gt;</a:t>
            </a:r>
            <a:r>
              <a:rPr lang="es-ES" sz="1300" dirty="0"/>
              <a:t> (respectivamente)</a:t>
            </a:r>
            <a:endParaRPr lang="es-ES" sz="1300" dirty="0"/>
          </a:p>
          <a:p>
            <a:pPr>
              <a:spcBef>
                <a:spcPts val="200"/>
              </a:spcBef>
              <a:spcAft>
                <a:spcPts val="0"/>
              </a:spcAft>
              <a:buFont typeface="Wingdings" panose="05000000000000000000" pitchFamily="2" charset="2"/>
              <a:buChar char="§"/>
            </a:pPr>
            <a:r>
              <a:rPr lang="es-ES" sz="1300" dirty="0"/>
              <a:t>Podemos hacer que una cuenta sea deshabilitada un día concreto con: </a:t>
            </a:r>
            <a:r>
              <a:rPr lang="es-ES" sz="1300" b="1" dirty="0"/>
              <a:t>-e</a:t>
            </a:r>
            <a:r>
              <a:rPr lang="es-ES" sz="1300" dirty="0"/>
              <a:t>, </a:t>
            </a:r>
            <a:r>
              <a:rPr lang="es-ES" sz="1300" b="1" dirty="0"/>
              <a:t>–</a:t>
            </a:r>
            <a:r>
              <a:rPr lang="es-ES" sz="1300" b="1" dirty="0" err="1"/>
              <a:t>expirate</a:t>
            </a:r>
            <a:r>
              <a:rPr lang="es-ES" sz="1300" dirty="0"/>
              <a:t> </a:t>
            </a:r>
            <a:r>
              <a:rPr lang="es-ES" sz="1300" i="1" dirty="0"/>
              <a:t>&lt;</a:t>
            </a:r>
            <a:r>
              <a:rPr lang="es-ES" sz="1300" i="1" dirty="0" err="1"/>
              <a:t>yyyy</a:t>
            </a:r>
            <a:r>
              <a:rPr lang="es-ES" sz="1300" i="1" dirty="0"/>
              <a:t>-mm-</a:t>
            </a:r>
            <a:r>
              <a:rPr lang="es-ES" sz="1300" i="1" dirty="0" err="1"/>
              <a:t>dd</a:t>
            </a:r>
            <a:r>
              <a:rPr lang="es-ES" sz="1300" i="1" dirty="0"/>
              <a:t>&gt;</a:t>
            </a:r>
            <a:endParaRPr lang="es-E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412081"/>
            <a:ext cx="10765809" cy="436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Comandos de gestión de usuarios</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300" dirty="0">
              <a:solidFill>
                <a:srgbClr val="333333"/>
              </a:solidFill>
            </a:endParaRPr>
          </a:p>
          <a:p>
            <a:pPr algn="ctr">
              <a:spcBef>
                <a:spcPts val="200"/>
              </a:spcBef>
              <a:spcAft>
                <a:spcPts val="0"/>
              </a:spcAft>
            </a:pPr>
            <a:r>
              <a:rPr lang="es-ES" sz="1300" b="1" dirty="0" err="1"/>
              <a:t>useradd</a:t>
            </a:r>
            <a:r>
              <a:rPr lang="es-ES" sz="1300" b="1" dirty="0"/>
              <a:t> -D [opciones]</a:t>
            </a:r>
            <a:endParaRPr lang="es-ES" sz="1300" dirty="0"/>
          </a:p>
          <a:p>
            <a:pPr>
              <a:spcBef>
                <a:spcPts val="200"/>
              </a:spcBef>
              <a:spcAft>
                <a:spcPts val="0"/>
              </a:spcAft>
            </a:pPr>
            <a:r>
              <a:rPr lang="es-ES" sz="1300" b="1" i="1" dirty="0"/>
              <a:t>Opciones:</a:t>
            </a:r>
            <a:endParaRPr lang="es-ES" sz="1300" b="1" dirty="0"/>
          </a:p>
          <a:p>
            <a:pPr>
              <a:spcBef>
                <a:spcPts val="200"/>
              </a:spcBef>
              <a:spcAft>
                <a:spcPts val="0"/>
              </a:spcAft>
              <a:buFont typeface="Wingdings" panose="05000000000000000000" pitchFamily="2" charset="2"/>
              <a:buChar char="§"/>
            </a:pPr>
            <a:r>
              <a:rPr lang="es-ES" sz="1300" dirty="0"/>
              <a:t>Podemos hacer que una cuenta esté inactiva durante un “periodo de gracia” después de que una contraseña haya expirado. De esta manera el usuario contará con unos días para volver a cambiar la </a:t>
            </a:r>
            <a:r>
              <a:rPr lang="es-ES" sz="1300" dirty="0" err="1"/>
              <a:t>password</a:t>
            </a:r>
            <a:r>
              <a:rPr lang="es-ES" sz="1300" dirty="0"/>
              <a:t> antes de que la cuenta sea totalmente inhabilitada. Un valor de 0 indica que la cuenta estará inactiva tan pronto como su contraseña expire. Un valor de -1 desactiva esta funcionalidad:</a:t>
            </a:r>
            <a:r>
              <a:rPr lang="es-ES" sz="1300" b="1" dirty="0"/>
              <a:t> -f</a:t>
            </a:r>
            <a:r>
              <a:rPr lang="es-ES" sz="1300" dirty="0"/>
              <a:t>, </a:t>
            </a:r>
            <a:r>
              <a:rPr lang="es-ES" sz="1300" b="1" dirty="0"/>
              <a:t>–inactive</a:t>
            </a:r>
            <a:r>
              <a:rPr lang="es-ES" sz="1300" i="1" dirty="0"/>
              <a:t> &lt;valor&gt;</a:t>
            </a:r>
            <a:endParaRPr lang="es-ES" sz="1300" dirty="0"/>
          </a:p>
          <a:p>
            <a:pPr>
              <a:spcBef>
                <a:spcPts val="200"/>
              </a:spcBef>
              <a:spcAft>
                <a:spcPts val="0"/>
              </a:spcAft>
              <a:buFont typeface="Wingdings" panose="05000000000000000000" pitchFamily="2" charset="2"/>
              <a:buChar char="§"/>
            </a:pPr>
            <a:r>
              <a:rPr lang="es-ES" sz="1300" dirty="0"/>
              <a:t>Si el usuario que estamos creando va a compartir </a:t>
            </a:r>
            <a:r>
              <a:rPr lang="es-ES" sz="1300" i="1" dirty="0"/>
              <a:t>UID</a:t>
            </a:r>
            <a:r>
              <a:rPr lang="es-ES" sz="1300" dirty="0"/>
              <a:t> con otros usuarios tendremos que pasar la opción: </a:t>
            </a:r>
            <a:r>
              <a:rPr lang="es-ES" sz="1300" b="1" dirty="0"/>
              <a:t>-o</a:t>
            </a:r>
            <a:endParaRPr lang="es-ES" sz="1300" dirty="0"/>
          </a:p>
          <a:p>
            <a:pPr>
              <a:spcBef>
                <a:spcPts val="200"/>
              </a:spcBef>
              <a:spcAft>
                <a:spcPts val="0"/>
              </a:spcAft>
              <a:buFont typeface="Wingdings" panose="05000000000000000000" pitchFamily="2" charset="2"/>
              <a:buChar char="§"/>
            </a:pPr>
            <a:r>
              <a:rPr lang="es-ES" sz="1300" dirty="0"/>
              <a:t>Podemos especificar un </a:t>
            </a:r>
            <a:r>
              <a:rPr lang="es-ES" sz="1300" i="1" dirty="0" err="1"/>
              <a:t>shell</a:t>
            </a:r>
            <a:r>
              <a:rPr lang="es-ES" sz="1300" dirty="0"/>
              <a:t> para el nuevo usuario: </a:t>
            </a:r>
            <a:r>
              <a:rPr lang="es-ES" sz="1300" b="1" dirty="0"/>
              <a:t>-s</a:t>
            </a:r>
            <a:r>
              <a:rPr lang="es-ES" sz="1300" dirty="0"/>
              <a:t>, </a:t>
            </a:r>
            <a:r>
              <a:rPr lang="es-ES" sz="1300" b="1" dirty="0"/>
              <a:t>–</a:t>
            </a:r>
            <a:r>
              <a:rPr lang="es-ES" sz="1300" b="1" dirty="0" err="1"/>
              <a:t>shell</a:t>
            </a:r>
            <a:r>
              <a:rPr lang="es-ES" sz="1300" dirty="0"/>
              <a:t> </a:t>
            </a:r>
            <a:r>
              <a:rPr lang="es-ES" sz="1300" i="1" dirty="0"/>
              <a:t>&lt;</a:t>
            </a:r>
            <a:r>
              <a:rPr lang="es-ES" sz="1300" i="1" dirty="0" err="1"/>
              <a:t>shell</a:t>
            </a:r>
            <a:r>
              <a:rPr lang="es-ES" sz="1300" i="1" dirty="0"/>
              <a:t>&gt;</a:t>
            </a:r>
            <a:endParaRPr lang="es-ES" sz="1300" dirty="0"/>
          </a:p>
          <a:p>
            <a:pPr>
              <a:spcBef>
                <a:spcPts val="200"/>
              </a:spcBef>
              <a:spcAft>
                <a:spcPts val="0"/>
              </a:spcAft>
              <a:buFont typeface="Wingdings" panose="05000000000000000000" pitchFamily="2" charset="2"/>
              <a:buChar char="§"/>
            </a:pPr>
            <a:r>
              <a:rPr lang="es-ES" sz="1300" dirty="0"/>
              <a:t>Crear un grupo con el mismo nombre que el usuario (opción por defecto): </a:t>
            </a:r>
            <a:r>
              <a:rPr lang="es-ES" sz="1300" b="1" dirty="0"/>
              <a:t>-U</a:t>
            </a:r>
            <a:endParaRPr lang="es-ES" sz="1300" dirty="0"/>
          </a:p>
          <a:p>
            <a:pPr>
              <a:spcBef>
                <a:spcPts val="200"/>
              </a:spcBef>
              <a:spcAft>
                <a:spcPts val="0"/>
              </a:spcAft>
              <a:buFont typeface="Wingdings" panose="05000000000000000000" pitchFamily="2" charset="2"/>
              <a:buChar char="§"/>
            </a:pPr>
            <a:r>
              <a:rPr lang="es-ES" sz="1300" dirty="0"/>
              <a:t>Cuando creamos un usuario se crea igualmente un grupo con el mismo nombre que </a:t>
            </a:r>
            <a:r>
              <a:rPr lang="es-ES" sz="1300" dirty="0" err="1"/>
              <a:t>ademas</a:t>
            </a:r>
            <a:r>
              <a:rPr lang="es-ES" sz="1300" dirty="0"/>
              <a:t> es el grupo principal. Si queremos añadir el usuario a grupos secundarios en el momento de ser creado: </a:t>
            </a:r>
            <a:r>
              <a:rPr lang="es-ES" sz="1300" b="1" dirty="0"/>
              <a:t>-G</a:t>
            </a:r>
            <a:r>
              <a:rPr lang="es-ES" sz="1300" dirty="0"/>
              <a:t>, </a:t>
            </a:r>
            <a:r>
              <a:rPr lang="es-ES" sz="1300" b="1" dirty="0"/>
              <a:t>–</a:t>
            </a:r>
            <a:r>
              <a:rPr lang="es-ES" sz="1300" b="1" dirty="0" err="1"/>
              <a:t>groups</a:t>
            </a:r>
            <a:r>
              <a:rPr lang="es-ES" sz="1300" dirty="0"/>
              <a:t> </a:t>
            </a:r>
            <a:r>
              <a:rPr lang="es-ES" sz="1300" i="1" dirty="0"/>
              <a:t>&lt;grupo1,grupo2…</a:t>
            </a:r>
            <a:r>
              <a:rPr lang="es-ES" sz="1300" i="1" dirty="0" err="1"/>
              <a:t>grupoN</a:t>
            </a:r>
            <a:r>
              <a:rPr lang="es-ES" sz="1300" i="1" dirty="0"/>
              <a:t>&gt;</a:t>
            </a:r>
            <a:endParaRPr lang="es-ES" sz="1300" dirty="0"/>
          </a:p>
          <a:p>
            <a:pPr>
              <a:spcBef>
                <a:spcPts val="200"/>
              </a:spcBef>
              <a:spcAft>
                <a:spcPts val="0"/>
              </a:spcAft>
              <a:buFont typeface="Wingdings" panose="05000000000000000000" pitchFamily="2" charset="2"/>
              <a:buChar char="§"/>
            </a:pPr>
            <a:r>
              <a:rPr lang="es-ES" sz="1300" dirty="0"/>
              <a:t>Crear un usuario del sistema, por lo general utiliza </a:t>
            </a:r>
            <a:r>
              <a:rPr lang="es-ES" sz="1300" i="1" dirty="0"/>
              <a:t>ID</a:t>
            </a:r>
            <a:r>
              <a:rPr lang="es-ES" sz="1300" dirty="0"/>
              <a:t> por debajo del 100: </a:t>
            </a:r>
            <a:r>
              <a:rPr lang="es-ES" sz="1300" b="1" dirty="0"/>
              <a:t>-r</a:t>
            </a:r>
            <a:r>
              <a:rPr lang="es-ES" sz="1300" dirty="0"/>
              <a:t>, </a:t>
            </a:r>
            <a:r>
              <a:rPr lang="es-ES" sz="1300" b="1" dirty="0"/>
              <a:t>–</a:t>
            </a:r>
            <a:r>
              <a:rPr lang="es-ES" sz="1300" b="1" dirty="0" err="1"/>
              <a:t>system</a:t>
            </a:r>
            <a:endParaRPr lang="es-ES" sz="1300" dirty="0"/>
          </a:p>
          <a:p>
            <a:pPr>
              <a:spcBef>
                <a:spcPts val="200"/>
              </a:spcBef>
              <a:spcAft>
                <a:spcPts val="0"/>
              </a:spcAft>
              <a:buFont typeface="Wingdings" panose="05000000000000000000" pitchFamily="2" charset="2"/>
              <a:buChar char="§"/>
            </a:pPr>
            <a:r>
              <a:rPr lang="es-ES" sz="1300" dirty="0"/>
              <a:t>Pasar la contraseña de la cuenta desde la línea de comandos: </a:t>
            </a:r>
            <a:r>
              <a:rPr lang="es-ES" sz="1300" b="1" dirty="0"/>
              <a:t>-p</a:t>
            </a:r>
            <a:r>
              <a:rPr lang="es-ES" sz="1300" dirty="0"/>
              <a:t> </a:t>
            </a:r>
            <a:r>
              <a:rPr lang="es-ES" sz="1300" i="1" dirty="0"/>
              <a:t>&lt;</a:t>
            </a:r>
            <a:r>
              <a:rPr lang="es-ES" sz="1300" i="1" dirty="0" err="1"/>
              <a:t>password</a:t>
            </a:r>
            <a:r>
              <a:rPr lang="es-ES" sz="1300" i="1" dirty="0"/>
              <a:t>&gt;</a:t>
            </a:r>
            <a:endParaRPr lang="es-ES" sz="1300" dirty="0"/>
          </a:p>
          <a:p>
            <a:pPr>
              <a:spcBef>
                <a:spcPts val="200"/>
              </a:spcBef>
              <a:spcAft>
                <a:spcPts val="0"/>
              </a:spcAft>
              <a:buFont typeface="Wingdings" panose="05000000000000000000" pitchFamily="2" charset="2"/>
              <a:buChar char="§"/>
            </a:pPr>
            <a:r>
              <a:rPr lang="es-ES" sz="1300" dirty="0"/>
              <a:t>Indicar el directorio esqueleto que contiene los archivos de configuración de la cuenta (por defecto </a:t>
            </a:r>
            <a:r>
              <a:rPr lang="es-ES" sz="1300" i="1" dirty="0"/>
              <a:t>/</a:t>
            </a:r>
            <a:r>
              <a:rPr lang="es-ES" sz="1300" i="1" dirty="0" err="1"/>
              <a:t>etc</a:t>
            </a:r>
            <a:r>
              <a:rPr lang="es-ES" sz="1300" i="1" dirty="0"/>
              <a:t>/</a:t>
            </a:r>
            <a:r>
              <a:rPr lang="es-ES" sz="1300" i="1" dirty="0" err="1"/>
              <a:t>skel</a:t>
            </a:r>
            <a:r>
              <a:rPr lang="es-ES" sz="1300" dirty="0"/>
              <a:t>): </a:t>
            </a:r>
            <a:r>
              <a:rPr lang="es-ES" sz="1300" b="1" dirty="0"/>
              <a:t>-k</a:t>
            </a:r>
            <a:r>
              <a:rPr lang="es-ES" sz="1300" dirty="0"/>
              <a:t>, </a:t>
            </a:r>
            <a:r>
              <a:rPr lang="es-ES" sz="1300" b="1" dirty="0"/>
              <a:t>–</a:t>
            </a:r>
            <a:r>
              <a:rPr lang="es-ES" sz="1300" b="1" dirty="0" err="1"/>
              <a:t>skel</a:t>
            </a:r>
            <a:r>
              <a:rPr lang="es-ES" sz="1300" dirty="0"/>
              <a:t> </a:t>
            </a:r>
            <a:r>
              <a:rPr lang="es-ES" sz="1300" i="1" dirty="0"/>
              <a:t>&lt;directorio&gt;</a:t>
            </a:r>
            <a:endParaRPr lang="es-E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23554"/>
            <a:ext cx="10765809" cy="2931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Comandos de gestión de usuarios</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300" dirty="0">
              <a:solidFill>
                <a:srgbClr val="333333"/>
              </a:solidFill>
            </a:endParaRPr>
          </a:p>
          <a:p>
            <a:pPr marL="0" lvl="0" indent="0" eaLnBrk="0" fontAlgn="base" hangingPunct="0">
              <a:lnSpc>
                <a:spcPct val="100000"/>
              </a:lnSpc>
              <a:spcBef>
                <a:spcPct val="0"/>
              </a:spcBef>
              <a:spcAft>
                <a:spcPct val="0"/>
              </a:spcAft>
              <a:buClrTx/>
              <a:buSzTx/>
              <a:buFontTx/>
              <a:buChar char="•"/>
            </a:pPr>
            <a:r>
              <a:rPr lang="es-ES" altLang="es-ES" sz="1400" dirty="0">
                <a:solidFill>
                  <a:srgbClr val="333333"/>
                </a:solidFill>
              </a:rPr>
              <a:t>Crear un usuario prácticamente al detalle utilizando el mismo comando </a:t>
            </a:r>
            <a:r>
              <a:rPr lang="es-ES" altLang="es-ES" sz="1400" b="1" dirty="0" err="1">
                <a:solidFill>
                  <a:srgbClr val="333333"/>
                </a:solidFill>
              </a:rPr>
              <a:t>useradd</a:t>
            </a:r>
            <a:r>
              <a:rPr lang="es-ES" altLang="es-ES" sz="1400" dirty="0">
                <a:solidFill>
                  <a:srgbClr val="333333"/>
                </a:solidFill>
              </a:rPr>
              <a:t>:</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FontTx/>
              <a:buChar char="•"/>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sudo </a:t>
            </a:r>
            <a:r>
              <a:rPr lang="es-ES" altLang="es-ES" sz="1400" b="1" i="1" dirty="0" err="1">
                <a:solidFill>
                  <a:srgbClr val="333333"/>
                </a:solidFill>
                <a:cs typeface="Courier New" panose="02070309020205020404" pitchFamily="49" charset="0"/>
              </a:rPr>
              <a:t>useradd</a:t>
            </a:r>
            <a:r>
              <a:rPr lang="es-ES" altLang="es-ES" sz="1400" b="1" i="1" dirty="0">
                <a:solidFill>
                  <a:srgbClr val="333333"/>
                </a:solidFill>
                <a:cs typeface="Courier New" panose="02070309020205020404" pitchFamily="49" charset="0"/>
              </a:rPr>
              <a:t> -d /home/</a:t>
            </a:r>
            <a:r>
              <a:rPr lang="es-ES" altLang="es-ES" sz="1400" b="1" i="1" dirty="0" err="1">
                <a:solidFill>
                  <a:srgbClr val="333333"/>
                </a:solidFill>
                <a:cs typeface="Courier New" panose="02070309020205020404" pitchFamily="49" charset="0"/>
              </a:rPr>
              <a:t>cursolpi</a:t>
            </a:r>
            <a:r>
              <a:rPr lang="es-ES" altLang="es-ES" sz="1400" b="1" i="1" dirty="0">
                <a:solidFill>
                  <a:srgbClr val="333333"/>
                </a:solidFill>
                <a:cs typeface="Courier New" panose="02070309020205020404" pitchFamily="49" charset="0"/>
              </a:rPr>
              <a:t> -m -c "Usuario para curso LPIC-1" -e 2015-04-20 -u 1024 -g 1001 -G 1002,104 -s /</a:t>
            </a:r>
            <a:r>
              <a:rPr lang="es-ES" altLang="es-ES" sz="1400" b="1" i="1" dirty="0" err="1">
                <a:solidFill>
                  <a:srgbClr val="333333"/>
                </a:solidFill>
                <a:cs typeface="Courier New" panose="02070309020205020404" pitchFamily="49" charset="0"/>
              </a:rPr>
              <a:t>bin</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bash</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cursolpi</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endParaRPr lang="es-ES" altLang="es-ES" sz="1400"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Lo que hace este comando es crear con ‘</a:t>
            </a:r>
            <a:r>
              <a:rPr lang="es-ES" altLang="es-ES" sz="1400" b="1" dirty="0">
                <a:solidFill>
                  <a:srgbClr val="333333"/>
                </a:solidFill>
              </a:rPr>
              <a:t>-m</a:t>
            </a:r>
            <a:r>
              <a:rPr lang="es-ES" altLang="es-ES" sz="1400" dirty="0">
                <a:solidFill>
                  <a:srgbClr val="333333"/>
                </a:solidFill>
              </a:rPr>
              <a:t>‘ el directorio indicado por el parámetro ‘</a:t>
            </a:r>
            <a:r>
              <a:rPr lang="es-ES" altLang="es-ES" sz="1400" b="1" dirty="0">
                <a:solidFill>
                  <a:srgbClr val="333333"/>
                </a:solidFill>
              </a:rPr>
              <a:t>-d</a:t>
            </a:r>
            <a:r>
              <a:rPr lang="es-ES" altLang="es-ES" sz="1400" dirty="0">
                <a:solidFill>
                  <a:srgbClr val="333333"/>
                </a:solidFill>
              </a:rPr>
              <a:t>‘, con un comentario ‘</a:t>
            </a:r>
            <a:r>
              <a:rPr lang="es-ES" altLang="es-ES" sz="1400" b="1" dirty="0">
                <a:solidFill>
                  <a:srgbClr val="333333"/>
                </a:solidFill>
              </a:rPr>
              <a:t>-c</a:t>
            </a:r>
            <a:r>
              <a:rPr lang="es-ES" altLang="es-ES" sz="1400" dirty="0">
                <a:solidFill>
                  <a:srgbClr val="333333"/>
                </a:solidFill>
              </a:rPr>
              <a:t>‘, indicando que la cuenta expire ‘</a:t>
            </a:r>
            <a:r>
              <a:rPr lang="es-ES" altLang="es-ES" sz="1400" b="1" dirty="0">
                <a:solidFill>
                  <a:srgbClr val="333333"/>
                </a:solidFill>
              </a:rPr>
              <a:t>-e</a:t>
            </a:r>
            <a:r>
              <a:rPr lang="es-ES" altLang="es-ES" sz="1400" dirty="0">
                <a:solidFill>
                  <a:srgbClr val="333333"/>
                </a:solidFill>
              </a:rPr>
              <a:t>‘ en una fecha determinada, se asigna un </a:t>
            </a:r>
            <a:r>
              <a:rPr lang="es-ES" altLang="es-ES" sz="1400" i="1" dirty="0">
                <a:solidFill>
                  <a:srgbClr val="333333"/>
                </a:solidFill>
              </a:rPr>
              <a:t>UID</a:t>
            </a:r>
            <a:r>
              <a:rPr lang="es-ES" altLang="es-ES" sz="1400" dirty="0">
                <a:solidFill>
                  <a:srgbClr val="333333"/>
                </a:solidFill>
              </a:rPr>
              <a:t> y </a:t>
            </a:r>
            <a:r>
              <a:rPr lang="es-ES" altLang="es-ES" sz="1400" i="1" dirty="0">
                <a:solidFill>
                  <a:srgbClr val="333333"/>
                </a:solidFill>
              </a:rPr>
              <a:t>GID</a:t>
            </a:r>
            <a:r>
              <a:rPr lang="es-ES" altLang="es-ES" sz="1400" dirty="0">
                <a:solidFill>
                  <a:srgbClr val="333333"/>
                </a:solidFill>
              </a:rPr>
              <a:t> específico y además se le hace miembro de otros dos grupos ‘</a:t>
            </a:r>
            <a:r>
              <a:rPr lang="es-ES" altLang="es-ES" sz="1400" b="1" dirty="0">
                <a:solidFill>
                  <a:srgbClr val="333333"/>
                </a:solidFill>
              </a:rPr>
              <a:t>-G</a:t>
            </a:r>
            <a:r>
              <a:rPr lang="es-ES" altLang="es-ES" sz="1400" dirty="0">
                <a:solidFill>
                  <a:srgbClr val="333333"/>
                </a:solidFill>
              </a:rPr>
              <a:t>‘, utilizará el </a:t>
            </a:r>
            <a:r>
              <a:rPr lang="es-ES" altLang="es-ES" sz="1400" dirty="0" err="1">
                <a:solidFill>
                  <a:srgbClr val="333333"/>
                </a:solidFill>
              </a:rPr>
              <a:t>shell</a:t>
            </a:r>
            <a:r>
              <a:rPr lang="es-ES" altLang="es-ES" sz="1400" dirty="0">
                <a:solidFill>
                  <a:srgbClr val="333333"/>
                </a:solidFill>
              </a:rPr>
              <a:t> </a:t>
            </a:r>
            <a:r>
              <a:rPr lang="es-ES" altLang="es-ES" sz="1400" i="1" dirty="0" err="1">
                <a:solidFill>
                  <a:srgbClr val="333333"/>
                </a:solidFill>
              </a:rPr>
              <a:t>bash</a:t>
            </a:r>
            <a:r>
              <a:rPr lang="es-ES" altLang="es-ES" sz="1400" dirty="0">
                <a:solidFill>
                  <a:srgbClr val="333333"/>
                </a:solidFill>
              </a:rPr>
              <a:t> y para acceder a su cuenta necesitará su nombre de usuario ‘</a:t>
            </a:r>
            <a:r>
              <a:rPr lang="es-ES" altLang="es-ES" sz="1400" i="1" dirty="0" err="1">
                <a:solidFill>
                  <a:srgbClr val="333333"/>
                </a:solidFill>
              </a:rPr>
              <a:t>cursolpi</a:t>
            </a:r>
            <a:r>
              <a:rPr lang="es-ES" altLang="es-ES" sz="1400" dirty="0">
                <a:solidFill>
                  <a:srgbClr val="333333"/>
                </a:solidFill>
              </a:rPr>
              <a:t>‘ y su contraseña ‘</a:t>
            </a:r>
            <a:r>
              <a:rPr lang="es-ES" altLang="es-ES" sz="1400" i="1" dirty="0" err="1">
                <a:solidFill>
                  <a:srgbClr val="333333"/>
                </a:solidFill>
              </a:rPr>
              <a:t>norecomendado</a:t>
            </a:r>
            <a:r>
              <a:rPr lang="es-ES" altLang="es-ES" sz="1400" dirty="0">
                <a:solidFill>
                  <a:srgbClr val="333333"/>
                </a:solidFill>
              </a:rPr>
              <a:t>‘.</a:t>
            </a:r>
            <a:endParaRPr lang="es-ES" altLang="es-ES" sz="1400" dirty="0">
              <a:solidFill>
                <a:schemeClr val="tx1"/>
              </a:solidFill>
            </a:endParaRPr>
          </a:p>
          <a:p>
            <a:pPr marL="0" lvl="0" indent="0" eaLnBrk="0" fontAlgn="base" hangingPunct="0">
              <a:lnSpc>
                <a:spcPct val="100000"/>
              </a:lnSpc>
              <a:spcBef>
                <a:spcPct val="0"/>
              </a:spcBef>
              <a:spcAft>
                <a:spcPct val="0"/>
              </a:spcAft>
              <a:buClrTx/>
              <a:buSzTx/>
              <a:buNone/>
            </a:pPr>
            <a:endParaRPr lang="es-ES" altLang="es-ES" sz="1300" dirty="0">
              <a:solidFill>
                <a:srgbClr val="33333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7744" y="1496258"/>
            <a:ext cx="10233546" cy="4068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400" b="1" i="1" dirty="0"/>
              <a:t>Implementar  contraseñas </a:t>
            </a:r>
            <a:r>
              <a:rPr lang="es-ES" sz="1400" b="1" i="1" dirty="0" err="1"/>
              <a:t>shadow</a:t>
            </a:r>
            <a:r>
              <a:rPr lang="es-ES" sz="1400" b="1" i="1" dirty="0"/>
              <a:t> y crear una o varias contraseñas.</a:t>
            </a:r>
            <a:endParaRPr lang="es-ES" sz="1400" b="1" i="1" dirty="0"/>
          </a:p>
          <a:p>
            <a:r>
              <a:rPr lang="es-ES" sz="1400" dirty="0"/>
              <a:t>Las distribuciones  actuales traen por defecto la implementación de contraseñas </a:t>
            </a:r>
            <a:r>
              <a:rPr lang="es-ES" sz="1400" b="1" i="1" dirty="0" err="1"/>
              <a:t>shadow</a:t>
            </a:r>
            <a:r>
              <a:rPr lang="es-ES" sz="1400" dirty="0"/>
              <a:t>, esto no es mas que una forma de implementar algo mas de seguridad para guardar las contraseñas de nuestros usuarios. </a:t>
            </a:r>
            <a:endParaRPr lang="es-ES" sz="1400" dirty="0"/>
          </a:p>
          <a:p>
            <a:r>
              <a:rPr lang="es-ES" sz="1400" dirty="0"/>
              <a:t>No obstante podemos implementar o igualmente dejar de utilizar estas contraseñas con los comandos </a:t>
            </a:r>
            <a:r>
              <a:rPr lang="es-ES" sz="1400" b="1" dirty="0" err="1"/>
              <a:t>pwconv</a:t>
            </a:r>
            <a:r>
              <a:rPr lang="es-ES" sz="1400" dirty="0"/>
              <a:t> y </a:t>
            </a:r>
            <a:r>
              <a:rPr lang="es-ES" sz="1400" b="1" dirty="0" err="1"/>
              <a:t>pwunconv</a:t>
            </a:r>
            <a:r>
              <a:rPr lang="es-ES" sz="1400" dirty="0"/>
              <a:t> respectivamente. </a:t>
            </a:r>
            <a:endParaRPr lang="es-ES" sz="1400" dirty="0"/>
          </a:p>
          <a:p>
            <a:r>
              <a:rPr lang="es-ES" sz="1400" dirty="0"/>
              <a:t>Si usamos el comando </a:t>
            </a:r>
            <a:r>
              <a:rPr lang="es-ES" sz="1400" b="1" i="1" dirty="0" err="1"/>
              <a:t>pwconv</a:t>
            </a:r>
            <a:r>
              <a:rPr lang="es-ES" sz="1400" dirty="0"/>
              <a:t> lo que hará será copiar el campo de contraseña de</a:t>
            </a:r>
            <a:r>
              <a:rPr lang="es-ES" sz="1400" b="1" dirty="0"/>
              <a:t> </a:t>
            </a:r>
            <a:r>
              <a:rPr lang="es-ES" sz="1400" b="1" i="1" dirty="0"/>
              <a:t>/</a:t>
            </a:r>
            <a:r>
              <a:rPr lang="es-ES" sz="1400" b="1" i="1" dirty="0" err="1"/>
              <a:t>etc</a:t>
            </a:r>
            <a:r>
              <a:rPr lang="es-ES" sz="1400" b="1" i="1" dirty="0"/>
              <a:t>/</a:t>
            </a:r>
            <a:r>
              <a:rPr lang="es-ES" sz="1400" b="1" i="1" dirty="0" err="1"/>
              <a:t>passwd</a:t>
            </a:r>
            <a:r>
              <a:rPr lang="es-ES" sz="1400" b="1" dirty="0"/>
              <a:t> </a:t>
            </a:r>
            <a:r>
              <a:rPr lang="es-ES" sz="1400" dirty="0"/>
              <a:t>en el campo de contraseña de </a:t>
            </a:r>
            <a:r>
              <a:rPr lang="es-ES" sz="1400" b="1" i="1" dirty="0"/>
              <a:t>/</a:t>
            </a:r>
            <a:r>
              <a:rPr lang="es-ES" sz="1400" b="1" i="1" dirty="0" err="1"/>
              <a:t>etc</a:t>
            </a:r>
            <a:r>
              <a:rPr lang="es-ES" sz="1400" b="1" i="1" dirty="0"/>
              <a:t>/</a:t>
            </a:r>
            <a:r>
              <a:rPr lang="es-ES" sz="1400" b="1" i="1" dirty="0" err="1"/>
              <a:t>shadow</a:t>
            </a:r>
            <a:r>
              <a:rPr lang="es-ES" sz="1400" b="1" dirty="0"/>
              <a:t> </a:t>
            </a:r>
            <a:r>
              <a:rPr lang="es-ES" sz="1400" dirty="0"/>
              <a:t>y añadir el </a:t>
            </a:r>
            <a:r>
              <a:rPr lang="es-ES" sz="1400" dirty="0" err="1"/>
              <a:t>caracter</a:t>
            </a:r>
            <a:r>
              <a:rPr lang="es-ES" sz="1400" dirty="0"/>
              <a:t> </a:t>
            </a:r>
            <a:r>
              <a:rPr lang="es-ES" sz="1400" b="1" dirty="0"/>
              <a:t>x</a:t>
            </a:r>
            <a:r>
              <a:rPr lang="es-ES" sz="1400" dirty="0"/>
              <a:t> en dicho campo de </a:t>
            </a:r>
            <a:r>
              <a:rPr lang="es-ES" sz="1400" i="1" dirty="0"/>
              <a:t>/</a:t>
            </a:r>
            <a:r>
              <a:rPr lang="es-ES" sz="1400" i="1" dirty="0" err="1"/>
              <a:t>etc</a:t>
            </a:r>
            <a:r>
              <a:rPr lang="es-ES" sz="1400" i="1" dirty="0"/>
              <a:t>/</a:t>
            </a:r>
            <a:r>
              <a:rPr lang="es-ES" sz="1400" i="1" dirty="0" err="1"/>
              <a:t>passwd</a:t>
            </a:r>
            <a:r>
              <a:rPr lang="es-ES" sz="1400" dirty="0"/>
              <a:t>. El uso de </a:t>
            </a:r>
            <a:r>
              <a:rPr lang="es-ES" sz="1400" b="1" i="1" dirty="0" err="1"/>
              <a:t>pwunconv</a:t>
            </a:r>
            <a:r>
              <a:rPr lang="es-ES" sz="1400" dirty="0"/>
              <a:t> realizará la acción inversa.</a:t>
            </a:r>
            <a:endParaRPr lang="es-ES" sz="1400" dirty="0"/>
          </a:p>
          <a:p>
            <a:r>
              <a:rPr lang="es-ES" sz="1400" dirty="0"/>
              <a:t>Tengamos o no implementado contraseñas </a:t>
            </a:r>
            <a:r>
              <a:rPr lang="es-ES" sz="1400" i="1" dirty="0" err="1"/>
              <a:t>shadow</a:t>
            </a:r>
            <a:r>
              <a:rPr lang="es-ES" sz="1400" dirty="0"/>
              <a:t> en nuestro sistema, podremos usar el comando </a:t>
            </a:r>
            <a:r>
              <a:rPr lang="es-ES" sz="1400" b="1" dirty="0" err="1"/>
              <a:t>passwd</a:t>
            </a:r>
            <a:r>
              <a:rPr lang="es-ES" sz="1400" dirty="0"/>
              <a:t> o </a:t>
            </a:r>
            <a:r>
              <a:rPr lang="es-ES" sz="1400" b="1" dirty="0" err="1"/>
              <a:t>gpasswd</a:t>
            </a:r>
            <a:r>
              <a:rPr lang="es-ES" sz="1400" dirty="0"/>
              <a:t> para crear contraseñas de cuentas de usuario o grupos respectivamente. Además tenemos la opción de contraseñas para múltiples cuentas de una sola vez, gracias al comando </a:t>
            </a:r>
            <a:r>
              <a:rPr lang="es-ES" sz="1400" b="1" dirty="0" err="1"/>
              <a:t>chpasswd</a:t>
            </a:r>
            <a:r>
              <a:rPr lang="es-ES" sz="1400" dirty="0"/>
              <a:t> que leerá desde su entrada estándar una lista de </a:t>
            </a:r>
            <a:r>
              <a:rPr lang="es-ES" sz="1400" i="1" dirty="0" err="1"/>
              <a:t>usuario:contraseña</a:t>
            </a:r>
            <a:r>
              <a:rPr lang="es-ES" sz="1400" dirty="0"/>
              <a:t> (una por cada línea).</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4096" y="1585392"/>
            <a:ext cx="10233546" cy="3669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r>
              <a:rPr lang="es-ES" altLang="es-ES" sz="1400" b="1" dirty="0">
                <a:solidFill>
                  <a:srgbClr val="333333"/>
                </a:solidFill>
                <a:latin typeface="+mj-lt"/>
              </a:rPr>
              <a:t>Crear grupos</a:t>
            </a:r>
            <a:endParaRPr lang="es-ES" altLang="es-ES" sz="1400" b="1" dirty="0">
              <a:solidFill>
                <a:srgbClr val="333333"/>
              </a:solidFill>
              <a:latin typeface="+mj-lt"/>
            </a:endParaRPr>
          </a:p>
          <a:p>
            <a:pPr marL="0" lvl="0" indent="0" eaLnBrk="0" fontAlgn="base" hangingPunct="0">
              <a:lnSpc>
                <a:spcPct val="100000"/>
              </a:lnSpc>
              <a:spcBef>
                <a:spcPct val="0"/>
              </a:spcBef>
              <a:spcAft>
                <a:spcPct val="0"/>
              </a:spcAft>
              <a:buClrTx/>
              <a:buSzTx/>
              <a:buNone/>
            </a:pPr>
            <a:endParaRPr lang="es-ES" altLang="es-ES" sz="1400" b="1" dirty="0">
              <a:solidFill>
                <a:srgbClr val="333333"/>
              </a:solidFill>
              <a:latin typeface="+mj-lt"/>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Para los grupos disponemos de la utilidad de bajo nivel </a:t>
            </a:r>
            <a:r>
              <a:rPr lang="es-ES" altLang="es-ES" sz="1400" b="1" dirty="0" err="1">
                <a:solidFill>
                  <a:srgbClr val="333333"/>
                </a:solidFill>
              </a:rPr>
              <a:t>groupadd</a:t>
            </a:r>
            <a:r>
              <a:rPr lang="es-ES" altLang="es-ES" sz="1400" dirty="0">
                <a:solidFill>
                  <a:srgbClr val="333333"/>
                </a:solidFill>
              </a:rPr>
              <a:t> y la interfaz sencilla para algunas distribuciones </a:t>
            </a:r>
            <a:r>
              <a:rPr lang="es-ES" altLang="es-ES" sz="1400" b="1" dirty="0" err="1">
                <a:solidFill>
                  <a:srgbClr val="333333"/>
                </a:solidFill>
              </a:rPr>
              <a:t>addgroup</a:t>
            </a:r>
            <a:r>
              <a:rPr lang="es-ES" altLang="es-ES" sz="1400" dirty="0">
                <a:solidFill>
                  <a:srgbClr val="333333"/>
                </a:solidFill>
              </a:rPr>
              <a:t>. Lo normal en el momento de crear un grupo es pasar como argumento el propio nombre del grupo al  comando </a:t>
            </a:r>
            <a:r>
              <a:rPr lang="es-ES" altLang="es-ES" sz="1400" i="1" dirty="0" err="1">
                <a:solidFill>
                  <a:srgbClr val="333333"/>
                </a:solidFill>
              </a:rPr>
              <a:t>groupadd</a:t>
            </a:r>
            <a:r>
              <a:rPr lang="es-ES" altLang="es-ES" sz="1400" dirty="0">
                <a:solidFill>
                  <a:srgbClr val="333333"/>
                </a:solidFill>
              </a:rPr>
              <a:t>. El sistema le asignará el </a:t>
            </a:r>
            <a:r>
              <a:rPr lang="es-ES" altLang="es-ES" sz="1400" i="1" dirty="0">
                <a:solidFill>
                  <a:srgbClr val="333333"/>
                </a:solidFill>
              </a:rPr>
              <a:t>GID</a:t>
            </a:r>
            <a:r>
              <a:rPr lang="es-ES" altLang="es-ES" sz="1400" dirty="0">
                <a:solidFill>
                  <a:srgbClr val="333333"/>
                </a:solidFill>
              </a:rPr>
              <a:t> que cree conveniente, normalmente sumándole 1 al último </a:t>
            </a:r>
            <a:r>
              <a:rPr lang="es-ES" altLang="es-ES" sz="1400" i="1" dirty="0">
                <a:solidFill>
                  <a:srgbClr val="333333"/>
                </a:solidFill>
              </a:rPr>
              <a:t>GID</a:t>
            </a:r>
            <a:r>
              <a:rPr lang="es-ES" altLang="es-ES" sz="1400" dirty="0">
                <a:solidFill>
                  <a:srgbClr val="333333"/>
                </a:solidFill>
              </a:rPr>
              <a:t> existente.</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La interfaz de creación de grupos </a:t>
            </a:r>
            <a:r>
              <a:rPr lang="es-ES" altLang="es-ES" sz="1400" i="1" dirty="0" err="1">
                <a:solidFill>
                  <a:srgbClr val="333333"/>
                </a:solidFill>
              </a:rPr>
              <a:t>addgroup</a:t>
            </a:r>
            <a:r>
              <a:rPr lang="es-ES" altLang="es-ES" sz="1400" dirty="0">
                <a:solidFill>
                  <a:srgbClr val="333333"/>
                </a:solidFill>
              </a:rPr>
              <a:t> funciona de una forma similar, es decir bastará con pasar como argumento el nombre del grupo. Será el archivo</a:t>
            </a:r>
            <a:r>
              <a:rPr lang="es-ES" altLang="es-ES" sz="1400" i="1" dirty="0">
                <a:solidFill>
                  <a:srgbClr val="333333"/>
                </a:solidFill>
              </a:rPr>
              <a:t> /</a:t>
            </a:r>
            <a:r>
              <a:rPr lang="es-ES" altLang="es-ES" sz="1400" i="1" dirty="0" err="1">
                <a:solidFill>
                  <a:srgbClr val="333333"/>
                </a:solidFill>
              </a:rPr>
              <a:t>etc</a:t>
            </a:r>
            <a:r>
              <a:rPr lang="es-ES" altLang="es-ES" sz="1400" i="1" dirty="0">
                <a:solidFill>
                  <a:srgbClr val="333333"/>
                </a:solidFill>
              </a:rPr>
              <a:t>/</a:t>
            </a:r>
            <a:r>
              <a:rPr lang="es-ES" altLang="es-ES" sz="1400" i="1" dirty="0" err="1">
                <a:solidFill>
                  <a:srgbClr val="333333"/>
                </a:solidFill>
              </a:rPr>
              <a:t>adduser.conf</a:t>
            </a:r>
            <a:r>
              <a:rPr lang="es-ES" altLang="es-ES" sz="1400" dirty="0">
                <a:solidFill>
                  <a:srgbClr val="333333"/>
                </a:solidFill>
              </a:rPr>
              <a:t> el que predetermine la funcionalidad del comando </a:t>
            </a:r>
            <a:r>
              <a:rPr lang="es-ES" altLang="es-ES" sz="1400" i="1" dirty="0" err="1">
                <a:solidFill>
                  <a:srgbClr val="333333"/>
                </a:solidFill>
              </a:rPr>
              <a:t>addgroup</a:t>
            </a:r>
            <a:r>
              <a:rPr lang="es-ES" altLang="es-ES" sz="1400" dirty="0">
                <a:solidFill>
                  <a:srgbClr val="333333"/>
                </a:solidFill>
              </a:rPr>
              <a:t>.</a:t>
            </a:r>
            <a:endParaRPr lang="es-ES" altLang="es-ES" dirty="0">
              <a:solidFill>
                <a:schemeClr val="tx1"/>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eaLnBrk="0" fontAlgn="base" hangingPunct="0">
              <a:lnSpc>
                <a:spcPct val="100000"/>
              </a:lnSpc>
              <a:spcBef>
                <a:spcPct val="0"/>
              </a:spcBef>
              <a:spcAft>
                <a:spcPct val="0"/>
              </a:spcAft>
              <a:buClrTx/>
              <a:buSzTx/>
              <a:buFont typeface="Wingdings" panose="05000000000000000000" pitchFamily="2" charset="2"/>
              <a:buChar char="§"/>
            </a:pPr>
            <a:r>
              <a:rPr lang="es-ES" altLang="es-ES" sz="1400" dirty="0">
                <a:solidFill>
                  <a:srgbClr val="333333"/>
                </a:solidFill>
              </a:rPr>
              <a:t>Creando un grupo con </a:t>
            </a:r>
            <a:r>
              <a:rPr lang="es-ES" altLang="es-ES" sz="1400" i="1" dirty="0" err="1">
                <a:solidFill>
                  <a:srgbClr val="333333"/>
                </a:solidFill>
              </a:rPr>
              <a:t>groupadd</a:t>
            </a:r>
            <a:r>
              <a:rPr lang="es-ES" altLang="es-ES" sz="1400" dirty="0">
                <a:solidFill>
                  <a:srgbClr val="333333"/>
                </a:solidFill>
              </a:rPr>
              <a:t>:</a:t>
            </a:r>
            <a:endParaRPr lang="es-ES" altLang="es-ES" sz="1400" dirty="0">
              <a:solidFill>
                <a:srgbClr val="333333"/>
              </a:solidFill>
            </a:endParaRPr>
          </a:p>
          <a:p>
            <a:pPr marL="0" indent="0" eaLnBrk="0" fontAlgn="base" hangingPunct="0">
              <a:lnSpc>
                <a:spcPct val="100000"/>
              </a:lnSpc>
              <a:spcBef>
                <a:spcPct val="0"/>
              </a:spcBef>
              <a:spcAft>
                <a:spcPct val="0"/>
              </a:spcAft>
              <a:buClrTx/>
              <a:buSzTx/>
              <a:buNone/>
            </a:pPr>
            <a:endParaRPr lang="es-ES" altLang="es-ES" sz="1400" dirty="0">
              <a:solidFill>
                <a:srgbClr val="333333"/>
              </a:solidFill>
              <a:latin typeface="+mj-lt"/>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latin typeface="+mj-lt"/>
                <a:cs typeface="Courier New" panose="02070309020205020404" pitchFamily="49" charset="0"/>
              </a:rPr>
              <a:t>$ sudo </a:t>
            </a:r>
            <a:r>
              <a:rPr lang="es-ES" altLang="es-ES" sz="1400" b="1" i="1" dirty="0" err="1">
                <a:solidFill>
                  <a:srgbClr val="333333"/>
                </a:solidFill>
                <a:latin typeface="+mj-lt"/>
                <a:cs typeface="Courier New" panose="02070309020205020404" pitchFamily="49" charset="0"/>
              </a:rPr>
              <a:t>groupadd</a:t>
            </a:r>
            <a:r>
              <a:rPr lang="es-ES" altLang="es-ES" sz="1400" b="1" i="1" dirty="0">
                <a:solidFill>
                  <a:srgbClr val="333333"/>
                </a:solidFill>
                <a:latin typeface="+mj-lt"/>
                <a:cs typeface="Courier New" panose="02070309020205020404" pitchFamily="49" charset="0"/>
              </a:rPr>
              <a:t> -g 1003</a:t>
            </a:r>
            <a:endParaRPr lang="es-ES" altLang="es-ES" sz="1400" b="1" i="1" dirty="0">
              <a:solidFill>
                <a:srgbClr val="333333"/>
              </a:solidFill>
              <a:latin typeface="+mj-lt"/>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endParaRPr lang="es-ES" altLang="es-ES" sz="1400" b="1" i="1" dirty="0">
              <a:solidFill>
                <a:srgbClr val="333333"/>
              </a:solidFill>
              <a:latin typeface="+mj-lt"/>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latin typeface="+mj-lt"/>
                <a:cs typeface="Courier New" panose="02070309020205020404" pitchFamily="49" charset="0"/>
              </a:rPr>
              <a:t>O</a:t>
            </a:r>
            <a:endParaRPr lang="es-ES" altLang="es-ES" sz="1400" b="1" i="1" dirty="0">
              <a:solidFill>
                <a:srgbClr val="333333"/>
              </a:solidFill>
              <a:latin typeface="+mj-lt"/>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latin typeface="+mj-lt"/>
                <a:cs typeface="Courier New" panose="02070309020205020404" pitchFamily="49" charset="0"/>
              </a:rPr>
              <a:t>$sudo </a:t>
            </a:r>
            <a:r>
              <a:rPr lang="es-ES" altLang="es-ES" sz="1400" b="1" i="1" dirty="0" err="1">
                <a:solidFill>
                  <a:srgbClr val="333333"/>
                </a:solidFill>
                <a:latin typeface="+mj-lt"/>
                <a:cs typeface="Courier New" panose="02070309020205020404" pitchFamily="49" charset="0"/>
              </a:rPr>
              <a:t>groupadd</a:t>
            </a:r>
            <a:r>
              <a:rPr lang="es-ES" altLang="es-ES" sz="1400" b="1" i="1" dirty="0">
                <a:solidFill>
                  <a:srgbClr val="333333"/>
                </a:solidFill>
                <a:latin typeface="+mj-lt"/>
                <a:cs typeface="Courier New" panose="02070309020205020404" pitchFamily="49" charset="0"/>
              </a:rPr>
              <a:t> sistemas</a:t>
            </a:r>
            <a:endParaRPr lang="es-ES" altLang="es-ES" sz="3200" b="1" i="1" dirty="0">
              <a:solidFill>
                <a:schemeClr val="tx1"/>
              </a:solidFill>
              <a:latin typeface="+mj-lt"/>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6802"/>
            <a:ext cx="323769" cy="403596"/>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666579"/>
            <a:ext cx="10233546" cy="2895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spcBef>
                <a:spcPts val="200"/>
              </a:spcBef>
              <a:spcAft>
                <a:spcPts val="400"/>
              </a:spcAft>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r>
              <a:rPr lang="es-ES" altLang="es-ES" sz="1400" b="1" dirty="0">
                <a:solidFill>
                  <a:srgbClr val="333333"/>
                </a:solidFill>
                <a:latin typeface="+mj-lt"/>
              </a:rPr>
              <a:t>Crear grupos</a:t>
            </a:r>
            <a:endParaRPr lang="es-ES" altLang="es-ES" sz="1400" b="1" dirty="0">
              <a:solidFill>
                <a:srgbClr val="333333"/>
              </a:solidFill>
              <a:latin typeface="+mj-lt"/>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eaLnBrk="0" fontAlgn="base" hangingPunct="0">
              <a:lnSpc>
                <a:spcPct val="100000"/>
              </a:lnSpc>
              <a:spcBef>
                <a:spcPct val="0"/>
              </a:spcBef>
              <a:spcAft>
                <a:spcPct val="0"/>
              </a:spcAft>
              <a:buClrTx/>
              <a:buSzTx/>
              <a:buFont typeface="Wingdings" panose="05000000000000000000" pitchFamily="2" charset="2"/>
              <a:buChar char="§"/>
            </a:pPr>
            <a:r>
              <a:rPr lang="es-ES" altLang="es-ES" sz="1400" dirty="0">
                <a:solidFill>
                  <a:srgbClr val="333333"/>
                </a:solidFill>
              </a:rPr>
              <a:t>Creando un grupo con </a:t>
            </a:r>
            <a:r>
              <a:rPr lang="es-ES" altLang="es-ES" sz="1400" b="1" i="1" dirty="0" err="1">
                <a:solidFill>
                  <a:srgbClr val="333333"/>
                </a:solidFill>
              </a:rPr>
              <a:t>groupadd</a:t>
            </a:r>
            <a:r>
              <a:rPr lang="es-ES" altLang="es-ES" sz="1400" dirty="0">
                <a:solidFill>
                  <a:srgbClr val="333333"/>
                </a:solidFill>
              </a:rPr>
              <a:t>:</a:t>
            </a:r>
            <a:endParaRPr lang="es-ES" altLang="es-ES" sz="1400" dirty="0">
              <a:solidFill>
                <a:srgbClr val="333333"/>
              </a:solidFill>
            </a:endParaRPr>
          </a:p>
          <a:p>
            <a:pPr marL="0" indent="0" eaLnBrk="0" fontAlgn="base" hangingPunct="0">
              <a:lnSpc>
                <a:spcPct val="100000"/>
              </a:lnSpc>
              <a:spcBef>
                <a:spcPct val="0"/>
              </a:spcBef>
              <a:spcAft>
                <a:spcPct val="0"/>
              </a:spcAft>
              <a:buClrTx/>
              <a:buSzTx/>
              <a:buNone/>
            </a:pPr>
            <a:endParaRPr lang="es-ES" altLang="es-ES" sz="1400" dirty="0">
              <a:solidFill>
                <a:srgbClr val="333333"/>
              </a:solidFill>
              <a:latin typeface="+mj-lt"/>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latin typeface="+mj-lt"/>
                <a:cs typeface="Courier New" panose="02070309020205020404" pitchFamily="49" charset="0"/>
              </a:rPr>
              <a:t>$ sudo </a:t>
            </a:r>
            <a:r>
              <a:rPr lang="es-ES" altLang="es-ES" sz="1400" b="1" i="1" dirty="0" err="1">
                <a:solidFill>
                  <a:srgbClr val="333333"/>
                </a:solidFill>
                <a:latin typeface="+mj-lt"/>
                <a:cs typeface="Courier New" panose="02070309020205020404" pitchFamily="49" charset="0"/>
              </a:rPr>
              <a:t>groupadd</a:t>
            </a:r>
            <a:r>
              <a:rPr lang="es-ES" altLang="es-ES" sz="1400" b="1" i="1" dirty="0">
                <a:solidFill>
                  <a:srgbClr val="333333"/>
                </a:solidFill>
                <a:latin typeface="+mj-lt"/>
                <a:cs typeface="Courier New" panose="02070309020205020404" pitchFamily="49" charset="0"/>
              </a:rPr>
              <a:t> -g 1003 -o -r -</a:t>
            </a:r>
            <a:r>
              <a:rPr lang="es-ES" altLang="es-ES" sz="1400" b="1" i="1" dirty="0" err="1">
                <a:solidFill>
                  <a:srgbClr val="333333"/>
                </a:solidFill>
                <a:latin typeface="+mj-lt"/>
                <a:cs typeface="Courier New" panose="02070309020205020404" pitchFamily="49" charset="0"/>
              </a:rPr>
              <a:t>newbie</a:t>
            </a:r>
            <a:r>
              <a:rPr lang="es-ES" altLang="es-ES" b="1" i="1" dirty="0">
                <a:solidFill>
                  <a:schemeClr val="tx1"/>
                </a:solidFill>
                <a:latin typeface="+mj-lt"/>
              </a:rPr>
              <a:t> </a:t>
            </a:r>
            <a:endParaRPr lang="es-ES" altLang="es-ES" b="1" i="1" dirty="0">
              <a:solidFill>
                <a:schemeClr val="tx1"/>
              </a:solidFill>
              <a:latin typeface="+mj-lt"/>
            </a:endParaRPr>
          </a:p>
          <a:p>
            <a:pPr marL="0" lvl="0" indent="0" algn="ctr" eaLnBrk="0" fontAlgn="base" hangingPunct="0">
              <a:lnSpc>
                <a:spcPct val="100000"/>
              </a:lnSpc>
              <a:spcBef>
                <a:spcPct val="0"/>
              </a:spcBef>
              <a:spcAft>
                <a:spcPct val="0"/>
              </a:spcAft>
              <a:buClrTx/>
              <a:buSzTx/>
              <a:buNone/>
            </a:pPr>
            <a:endParaRPr lang="es-ES" altLang="es-ES" b="1" i="1" dirty="0">
              <a:solidFill>
                <a:schemeClr val="tx1"/>
              </a:solidFill>
              <a:latin typeface="+mj-lt"/>
            </a:endParaRPr>
          </a:p>
          <a:p>
            <a:pPr eaLnBrk="0" fontAlgn="base" hangingPunct="0">
              <a:lnSpc>
                <a:spcPct val="100000"/>
              </a:lnSpc>
              <a:spcBef>
                <a:spcPct val="0"/>
              </a:spcBef>
              <a:spcAft>
                <a:spcPct val="0"/>
              </a:spcAft>
              <a:buClrTx/>
              <a:buSzTx/>
              <a:buFont typeface="Wingdings" panose="05000000000000000000" pitchFamily="2" charset="2"/>
              <a:buChar char="§"/>
            </a:pPr>
            <a:r>
              <a:rPr lang="es-ES" sz="1400" dirty="0"/>
              <a:t>Ya existe un grupo con el </a:t>
            </a:r>
            <a:r>
              <a:rPr lang="es-ES" sz="1400" i="1" dirty="0"/>
              <a:t>ID</a:t>
            </a:r>
            <a:r>
              <a:rPr lang="es-ES" sz="1400" dirty="0"/>
              <a:t> </a:t>
            </a:r>
            <a:r>
              <a:rPr lang="es-ES" sz="1400" i="1" dirty="0"/>
              <a:t>1003</a:t>
            </a:r>
            <a:r>
              <a:rPr lang="es-ES" sz="1400" dirty="0"/>
              <a:t> en el sistema, pero con </a:t>
            </a:r>
            <a:r>
              <a:rPr lang="es-ES" sz="1400" b="1" dirty="0"/>
              <a:t>-o</a:t>
            </a:r>
            <a:r>
              <a:rPr lang="es-ES" sz="1400" dirty="0"/>
              <a:t> le estaremos indicando a la utilidad que cree el grupo ‘</a:t>
            </a:r>
            <a:r>
              <a:rPr lang="es-ES" sz="1400" i="1" dirty="0" err="1"/>
              <a:t>newbie</a:t>
            </a:r>
            <a:r>
              <a:rPr lang="es-ES" sz="1400" dirty="0"/>
              <a:t>‘ compartiendo </a:t>
            </a:r>
            <a:r>
              <a:rPr lang="es-ES" sz="1400" i="1" dirty="0"/>
              <a:t>GID</a:t>
            </a:r>
            <a:r>
              <a:rPr lang="es-ES" sz="1400" dirty="0"/>
              <a:t> con el grupo ya existente, es decir, existirán 2 grupos con diferentes nombres pero mismo </a:t>
            </a:r>
            <a:r>
              <a:rPr lang="es-ES" sz="1400" i="1" dirty="0"/>
              <a:t>GID.</a:t>
            </a:r>
            <a:r>
              <a:rPr lang="es-ES" sz="1400" dirty="0"/>
              <a:t> </a:t>
            </a:r>
            <a:endParaRPr lang="es-ES" sz="1400" dirty="0"/>
          </a:p>
          <a:p>
            <a:pPr eaLnBrk="0" fontAlgn="base" hangingPunct="0">
              <a:lnSpc>
                <a:spcPct val="100000"/>
              </a:lnSpc>
              <a:spcBef>
                <a:spcPct val="0"/>
              </a:spcBef>
              <a:spcAft>
                <a:spcPct val="0"/>
              </a:spcAft>
              <a:buClrTx/>
              <a:buSzTx/>
              <a:buFont typeface="Wingdings" panose="05000000000000000000" pitchFamily="2" charset="2"/>
              <a:buChar char="§"/>
            </a:pPr>
            <a:r>
              <a:rPr lang="es-ES" sz="1400" dirty="0"/>
              <a:t>La opción</a:t>
            </a:r>
            <a:r>
              <a:rPr lang="es-ES" sz="1400" b="1" dirty="0"/>
              <a:t> -r</a:t>
            </a:r>
            <a:r>
              <a:rPr lang="es-ES" sz="1400" dirty="0"/>
              <a:t> indica que será un grupo del sistema, en realidad no es algo muy grave porque simplemente estaremos diciendo que use uno de los </a:t>
            </a:r>
            <a:r>
              <a:rPr lang="es-ES" sz="1400" i="1" dirty="0"/>
              <a:t>GID</a:t>
            </a:r>
            <a:r>
              <a:rPr lang="es-ES" sz="1400" dirty="0"/>
              <a:t> reservados (normalmente del 0-99) para grupos del sistema, aún así no es aconsejable crear un grupo ‘</a:t>
            </a:r>
            <a:r>
              <a:rPr lang="es-ES" sz="1400" i="1" dirty="0"/>
              <a:t>ordinario</a:t>
            </a:r>
            <a:r>
              <a:rPr lang="es-ES" sz="1400" dirty="0"/>
              <a:t>‘ de esta forma.</a:t>
            </a:r>
            <a:endParaRPr lang="es-ES" altLang="es-ES" sz="1400" b="1" i="1" dirty="0">
              <a:solidFill>
                <a:schemeClr val="tx1"/>
              </a:solidFill>
              <a:latin typeface="+mj-lt"/>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6802"/>
            <a:ext cx="323769" cy="403596"/>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36537" y="1556638"/>
            <a:ext cx="10233546" cy="3030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spcBef>
                <a:spcPts val="600"/>
              </a:spcBef>
              <a:spcAft>
                <a:spcPts val="400"/>
              </a:spcAft>
              <a:buNone/>
            </a:pPr>
            <a:r>
              <a:rPr lang="es-ES" sz="1400" b="1" dirty="0"/>
              <a:t>ADMINISTRACION DE USUARIOS</a:t>
            </a:r>
            <a:endParaRPr lang="es-ES" sz="1400" b="1" dirty="0"/>
          </a:p>
          <a:p>
            <a:pPr marL="0" lvl="0" indent="0" eaLnBrk="0" fontAlgn="base" hangingPunct="0">
              <a:lnSpc>
                <a:spcPct val="100000"/>
              </a:lnSpc>
              <a:spcBef>
                <a:spcPts val="200"/>
              </a:spcBef>
              <a:buClrTx/>
              <a:buSzTx/>
              <a:buNone/>
            </a:pPr>
            <a:r>
              <a:rPr lang="es-ES" altLang="es-ES" sz="1600" b="1" dirty="0">
                <a:solidFill>
                  <a:srgbClr val="333333"/>
                </a:solidFill>
                <a:latin typeface="+mj-lt"/>
              </a:rPr>
              <a:t>Comandos de gestión de grupos.</a:t>
            </a:r>
            <a:endParaRPr lang="es-ES" altLang="es-ES" sz="1600" b="1" dirty="0">
              <a:solidFill>
                <a:srgbClr val="333333"/>
              </a:solidFill>
              <a:latin typeface="+mj-lt"/>
            </a:endParaRPr>
          </a:p>
          <a:p>
            <a:pPr marL="0" lvl="0" indent="0" eaLnBrk="0" fontAlgn="base" hangingPunct="0">
              <a:lnSpc>
                <a:spcPct val="100000"/>
              </a:lnSpc>
              <a:spcBef>
                <a:spcPct val="0"/>
              </a:spcBef>
              <a:spcAft>
                <a:spcPct val="0"/>
              </a:spcAft>
              <a:buClrTx/>
              <a:buSzTx/>
              <a:buNone/>
            </a:pPr>
            <a:endParaRPr lang="es-ES" altLang="es-ES" sz="1400" b="1" dirty="0">
              <a:solidFill>
                <a:srgbClr val="333333"/>
              </a:solidFill>
              <a:latin typeface="+mj-lt"/>
            </a:endParaRPr>
          </a:p>
          <a:p>
            <a:r>
              <a:rPr lang="es-ES" sz="1600" b="1" dirty="0" err="1"/>
              <a:t>groupadd</a:t>
            </a:r>
            <a:r>
              <a:rPr lang="es-ES" sz="1600" dirty="0"/>
              <a:t>: Crea un nuevo grupo</a:t>
            </a:r>
            <a:endParaRPr lang="es-ES" sz="1600" dirty="0"/>
          </a:p>
          <a:p>
            <a:pPr algn="ctr"/>
            <a:r>
              <a:rPr lang="es-ES" sz="1600" b="1" dirty="0" err="1"/>
              <a:t>groupadd</a:t>
            </a:r>
            <a:r>
              <a:rPr lang="es-ES" sz="1600" b="1" dirty="0"/>
              <a:t> [opciones] grupo</a:t>
            </a:r>
            <a:endParaRPr lang="es-ES" sz="1600" dirty="0"/>
          </a:p>
          <a:p>
            <a:r>
              <a:rPr lang="es-ES" sz="1600" b="1" i="1" dirty="0"/>
              <a:t>Opciones</a:t>
            </a:r>
            <a:r>
              <a:rPr lang="es-ES" sz="1600" dirty="0"/>
              <a:t>:</a:t>
            </a:r>
            <a:endParaRPr lang="es-ES" sz="1600" dirty="0"/>
          </a:p>
          <a:p>
            <a:r>
              <a:rPr lang="es-ES" sz="1600" dirty="0"/>
              <a:t> Comparte las opciones </a:t>
            </a:r>
            <a:r>
              <a:rPr lang="es-ES" sz="1600" b="1" dirty="0"/>
              <a:t>-g</a:t>
            </a:r>
            <a:r>
              <a:rPr lang="es-ES" sz="1600" dirty="0"/>
              <a:t>, </a:t>
            </a:r>
            <a:r>
              <a:rPr lang="es-ES" sz="1600" b="1" dirty="0"/>
              <a:t>–</a:t>
            </a:r>
            <a:r>
              <a:rPr lang="es-ES" sz="1600" b="1" dirty="0" err="1"/>
              <a:t>gid</a:t>
            </a:r>
            <a:r>
              <a:rPr lang="es-ES" sz="1600" dirty="0"/>
              <a:t> , </a:t>
            </a:r>
            <a:r>
              <a:rPr lang="es-ES" sz="1600" b="1" dirty="0"/>
              <a:t>-o</a:t>
            </a:r>
            <a:r>
              <a:rPr lang="es-ES" sz="1600" dirty="0"/>
              <a:t>, </a:t>
            </a:r>
            <a:r>
              <a:rPr lang="es-ES" sz="1600" b="1" dirty="0"/>
              <a:t>–non-</a:t>
            </a:r>
            <a:r>
              <a:rPr lang="es-ES" sz="1600" b="1" dirty="0" err="1"/>
              <a:t>unique</a:t>
            </a:r>
            <a:r>
              <a:rPr lang="es-ES" sz="1600" dirty="0"/>
              <a:t> , </a:t>
            </a:r>
            <a:r>
              <a:rPr lang="es-ES" sz="1600" b="1" dirty="0"/>
              <a:t>-p</a:t>
            </a:r>
            <a:r>
              <a:rPr lang="es-ES" sz="1600" dirty="0"/>
              <a:t> y </a:t>
            </a:r>
            <a:r>
              <a:rPr lang="es-ES" sz="1600" b="1" dirty="0"/>
              <a:t>-r</a:t>
            </a:r>
            <a:r>
              <a:rPr lang="es-ES" sz="1600" dirty="0"/>
              <a:t>, </a:t>
            </a:r>
            <a:r>
              <a:rPr lang="es-ES" sz="1600" b="1" dirty="0"/>
              <a:t>–</a:t>
            </a:r>
            <a:r>
              <a:rPr lang="es-ES" sz="1600" b="1" dirty="0" err="1"/>
              <a:t>system</a:t>
            </a:r>
            <a:r>
              <a:rPr lang="es-ES" sz="1600" b="1" dirty="0"/>
              <a:t> </a:t>
            </a:r>
            <a:r>
              <a:rPr lang="es-ES" sz="1600" dirty="0"/>
              <a:t>del comando </a:t>
            </a:r>
            <a:r>
              <a:rPr lang="es-ES" sz="1600" i="1" dirty="0" err="1"/>
              <a:t>useradd</a:t>
            </a:r>
            <a:r>
              <a:rPr lang="es-ES" sz="1600" dirty="0"/>
              <a:t>.</a:t>
            </a:r>
            <a:endParaRPr lang="es-ES" sz="1600" dirty="0"/>
          </a:p>
          <a:p>
            <a:pPr marL="0" lvl="0" indent="0" eaLnBrk="0" fontAlgn="base" hangingPunct="0">
              <a:lnSpc>
                <a:spcPct val="100000"/>
              </a:lnSpc>
              <a:spcBef>
                <a:spcPct val="0"/>
              </a:spcBef>
              <a:spcAft>
                <a:spcPct val="0"/>
              </a:spcAft>
              <a:buClrTx/>
              <a:buSzTx/>
              <a:buNone/>
            </a:pPr>
            <a:endParaRPr lang="es-ES" altLang="es-ES" sz="1400" b="1" dirty="0">
              <a:solidFill>
                <a:srgbClr val="333333"/>
              </a:solidFill>
              <a:latin typeface="+mj-lt"/>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6802"/>
            <a:ext cx="323769" cy="403596"/>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5705" y="1536740"/>
            <a:ext cx="10233546" cy="4722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600" b="1" dirty="0"/>
              <a:t>Modificar cuentas de usuarios desde los archivos de configuración</a:t>
            </a:r>
            <a:endParaRPr lang="es-ES" sz="1600" b="1" dirty="0"/>
          </a:p>
          <a:p>
            <a:pPr>
              <a:buFont typeface="Wingdings" panose="05000000000000000000" pitchFamily="2" charset="2"/>
              <a:buChar char="§"/>
            </a:pPr>
            <a:r>
              <a:rPr lang="es-ES" sz="1400" dirty="0"/>
              <a:t>Hacer una copia de seguridad de los archivos a editar. </a:t>
            </a:r>
            <a:endParaRPr lang="es-ES" sz="1400" dirty="0"/>
          </a:p>
          <a:p>
            <a:pPr>
              <a:buFont typeface="Wingdings" panose="05000000000000000000" pitchFamily="2" charset="2"/>
              <a:buChar char="§"/>
            </a:pPr>
            <a:r>
              <a:rPr lang="es-ES" sz="1400" dirty="0"/>
              <a:t>En el archivo </a:t>
            </a:r>
            <a:r>
              <a:rPr lang="es-ES" sz="1400" i="1" dirty="0"/>
              <a:t>/</a:t>
            </a:r>
            <a:r>
              <a:rPr lang="es-ES" sz="1400" i="1" dirty="0" err="1"/>
              <a:t>etc</a:t>
            </a:r>
            <a:r>
              <a:rPr lang="es-ES" sz="1400" i="1" dirty="0"/>
              <a:t>/</a:t>
            </a:r>
            <a:r>
              <a:rPr lang="es-ES" sz="1400" i="1" dirty="0" err="1"/>
              <a:t>passwd</a:t>
            </a:r>
            <a:r>
              <a:rPr lang="es-ES" sz="1400" dirty="0"/>
              <a:t> deberemos de dejar en blanco el campo de la contraseña para posteriormente generarla con el comando </a:t>
            </a:r>
            <a:r>
              <a:rPr lang="es-ES" sz="1400" i="1" dirty="0" err="1"/>
              <a:t>passwd</a:t>
            </a:r>
            <a:r>
              <a:rPr lang="es-ES" sz="1400" dirty="0"/>
              <a:t>.</a:t>
            </a:r>
            <a:endParaRPr lang="es-ES" sz="1400" dirty="0"/>
          </a:p>
          <a:p>
            <a:pPr>
              <a:buFont typeface="Wingdings" panose="05000000000000000000" pitchFamily="2" charset="2"/>
              <a:buChar char="§"/>
            </a:pPr>
            <a:r>
              <a:rPr lang="es-ES" sz="1400" dirty="0"/>
              <a:t> Será importante mantener la secuencia de los identificadores de usuarios y grupo en los campos </a:t>
            </a:r>
            <a:r>
              <a:rPr lang="es-ES" sz="1400" i="1" dirty="0"/>
              <a:t>UID</a:t>
            </a:r>
            <a:r>
              <a:rPr lang="es-ES" sz="1400" dirty="0"/>
              <a:t> y </a:t>
            </a:r>
            <a:r>
              <a:rPr lang="es-ES" sz="1400" i="1" dirty="0"/>
              <a:t>GID</a:t>
            </a:r>
            <a:r>
              <a:rPr lang="es-ES" sz="1400" dirty="0"/>
              <a:t>. Para ello podremos ver el número </a:t>
            </a:r>
            <a:r>
              <a:rPr lang="es-ES" sz="1400" i="1" dirty="0"/>
              <a:t>ID</a:t>
            </a:r>
            <a:r>
              <a:rPr lang="es-ES" sz="1400" dirty="0"/>
              <a:t> asignado al último usuario y grupo que creamos y sumarle +1.</a:t>
            </a:r>
            <a:endParaRPr lang="es-ES" sz="1400" dirty="0"/>
          </a:p>
          <a:p>
            <a:pPr>
              <a:buFont typeface="Wingdings" panose="05000000000000000000" pitchFamily="2" charset="2"/>
              <a:buChar char="§"/>
            </a:pPr>
            <a:r>
              <a:rPr lang="es-ES" sz="1400" dirty="0"/>
              <a:t>Una vez generada la línea que identifica a un usuario en el archivo </a:t>
            </a:r>
            <a:r>
              <a:rPr lang="es-ES" sz="1400" i="1" dirty="0"/>
              <a:t>/</a:t>
            </a:r>
            <a:r>
              <a:rPr lang="es-ES" sz="1400" i="1" dirty="0" err="1"/>
              <a:t>etc</a:t>
            </a:r>
            <a:r>
              <a:rPr lang="es-ES" sz="1400" i="1" dirty="0"/>
              <a:t>/</a:t>
            </a:r>
            <a:r>
              <a:rPr lang="es-ES" sz="1400" i="1" dirty="0" err="1"/>
              <a:t>passwd</a:t>
            </a:r>
            <a:r>
              <a:rPr lang="es-ES" sz="1400" dirty="0"/>
              <a:t>, guardaremos el archivo, generaremos la clave, y entonces crearemos el directorio </a:t>
            </a:r>
            <a:r>
              <a:rPr lang="es-ES" sz="1400" i="1" dirty="0"/>
              <a:t>/home,</a:t>
            </a:r>
            <a:r>
              <a:rPr lang="es-ES" sz="1400" dirty="0"/>
              <a:t> en el que copiaremos el contenido del directorio esqueleto (</a:t>
            </a:r>
            <a:r>
              <a:rPr lang="es-ES" sz="1400" i="1" dirty="0"/>
              <a:t>/</a:t>
            </a:r>
            <a:r>
              <a:rPr lang="es-ES" sz="1400" i="1" dirty="0" err="1"/>
              <a:t>etc</a:t>
            </a:r>
            <a:r>
              <a:rPr lang="es-ES" sz="1400" i="1" dirty="0"/>
              <a:t>/</a:t>
            </a:r>
            <a:r>
              <a:rPr lang="es-ES" sz="1400" i="1" dirty="0" err="1"/>
              <a:t>skel</a:t>
            </a:r>
            <a:r>
              <a:rPr lang="es-ES" sz="1400" dirty="0"/>
              <a:t>) </a:t>
            </a:r>
            <a:endParaRPr lang="es-ES" sz="1400" dirty="0"/>
          </a:p>
          <a:p>
            <a:pPr>
              <a:buFont typeface="Wingdings" panose="05000000000000000000" pitchFamily="2" charset="2"/>
              <a:buChar char="§"/>
            </a:pPr>
            <a:r>
              <a:rPr lang="es-ES" sz="1400" dirty="0"/>
              <a:t>A continuación le cambiaremos los permisos a este mediante el comando </a:t>
            </a:r>
            <a:r>
              <a:rPr lang="es-ES" sz="1400" i="1" dirty="0" err="1"/>
              <a:t>chown</a:t>
            </a:r>
            <a:r>
              <a:rPr lang="es-ES" sz="1400" dirty="0"/>
              <a:t> para que el nuevo usuario pueda acceder al sistema ya que de no tener permisos para acceder a su directorio no se le permitirá el acceso al sistema.</a:t>
            </a:r>
            <a:endParaRPr lang="es-ES" sz="1400" dirty="0"/>
          </a:p>
          <a:p>
            <a:pPr>
              <a:buFont typeface="Wingdings" panose="05000000000000000000" pitchFamily="2" charset="2"/>
              <a:buChar char="§"/>
            </a:pPr>
            <a:r>
              <a:rPr lang="es-ES" sz="1400" dirty="0"/>
              <a:t>Por último antes de que el usuario acceda al sistema deberemos de crear su grupo principal, añadiendo en el archivo </a:t>
            </a:r>
            <a:r>
              <a:rPr lang="es-ES" sz="1400" i="1" dirty="0"/>
              <a:t>/</a:t>
            </a:r>
            <a:r>
              <a:rPr lang="es-ES" sz="1400" i="1" dirty="0" err="1"/>
              <a:t>etc</a:t>
            </a:r>
            <a:r>
              <a:rPr lang="es-ES" sz="1400" i="1" dirty="0"/>
              <a:t>/</a:t>
            </a:r>
            <a:r>
              <a:rPr lang="es-ES" sz="1400" i="1" dirty="0" err="1"/>
              <a:t>group</a:t>
            </a:r>
            <a:r>
              <a:rPr lang="es-ES" sz="1400" dirty="0"/>
              <a:t> su correspondiente línea, a menos que hayamos indicado un grupo principal en </a:t>
            </a:r>
            <a:r>
              <a:rPr lang="es-ES" sz="1400" i="1" dirty="0"/>
              <a:t>/</a:t>
            </a:r>
            <a:r>
              <a:rPr lang="es-ES" sz="1400" i="1" dirty="0" err="1"/>
              <a:t>etc</a:t>
            </a:r>
            <a:r>
              <a:rPr lang="es-ES" sz="1400" i="1" dirty="0"/>
              <a:t>/</a:t>
            </a:r>
            <a:r>
              <a:rPr lang="es-ES" sz="1400" i="1" dirty="0" err="1"/>
              <a:t>passwd</a:t>
            </a:r>
            <a:r>
              <a:rPr lang="es-ES" sz="1400" dirty="0"/>
              <a:t> ya existente.</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6802"/>
            <a:ext cx="323769" cy="403596"/>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5705" y="1553069"/>
            <a:ext cx="10233546" cy="4637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600" b="1" dirty="0"/>
              <a:t>Modificar cuentas de usuarios desde la línea de comandos.</a:t>
            </a:r>
            <a:endParaRPr lang="es-ES" sz="1600" b="1" dirty="0"/>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Helvetica" panose="020B0604020202020204" pitchFamily="34" charset="0"/>
              </a:rPr>
              <a:t>Las dos herramientas por excelencia para la modificación de cuentas de usuario ya creadas son: </a:t>
            </a:r>
            <a:r>
              <a:rPr lang="es-ES" altLang="es-ES" sz="1400" b="1" dirty="0" err="1">
                <a:solidFill>
                  <a:srgbClr val="333333"/>
                </a:solidFill>
                <a:latin typeface="Helvetica" panose="020B0604020202020204" pitchFamily="34" charset="0"/>
              </a:rPr>
              <a:t>usermod</a:t>
            </a:r>
            <a:r>
              <a:rPr lang="es-ES" altLang="es-ES" sz="1400" dirty="0">
                <a:solidFill>
                  <a:srgbClr val="333333"/>
                </a:solidFill>
                <a:latin typeface="Helvetica" panose="020B0604020202020204" pitchFamily="34" charset="0"/>
              </a:rPr>
              <a:t> y </a:t>
            </a:r>
            <a:r>
              <a:rPr lang="es-ES" altLang="es-ES" sz="1400" b="1" dirty="0" err="1">
                <a:solidFill>
                  <a:srgbClr val="333333"/>
                </a:solidFill>
                <a:latin typeface="Helvetica" panose="020B0604020202020204" pitchFamily="34" charset="0"/>
              </a:rPr>
              <a:t>chage</a:t>
            </a:r>
            <a:r>
              <a:rPr lang="es-ES" altLang="es-ES" sz="1400" dirty="0">
                <a:solidFill>
                  <a:srgbClr val="333333"/>
                </a:solidFill>
                <a:latin typeface="Helvetica" panose="020B0604020202020204" pitchFamily="34" charset="0"/>
              </a:rPr>
              <a:t>.</a:t>
            </a:r>
            <a:endParaRPr lang="es-ES" altLang="es-ES" dirty="0">
              <a:solidFill>
                <a:schemeClr val="tx1"/>
              </a:solidFill>
            </a:endParaRPr>
          </a:p>
          <a:p>
            <a:pPr lvl="0" eaLnBrk="0" fontAlgn="base" hangingPunct="0">
              <a:lnSpc>
                <a:spcPct val="100000"/>
              </a:lnSpc>
              <a:spcBef>
                <a:spcPct val="0"/>
              </a:spcBef>
              <a:spcAft>
                <a:spcPct val="0"/>
              </a:spcAft>
              <a:buClrTx/>
              <a:buSzTx/>
              <a:buFont typeface="Wingdings" panose="05000000000000000000" pitchFamily="2" charset="2"/>
              <a:buChar char="§"/>
            </a:pPr>
            <a:r>
              <a:rPr lang="es-ES" altLang="es-ES" sz="1400" dirty="0">
                <a:solidFill>
                  <a:srgbClr val="333333"/>
                </a:solidFill>
                <a:latin typeface="Helvetica" panose="020B0604020202020204" pitchFamily="34" charset="0"/>
              </a:rPr>
              <a:t>Con el comando </a:t>
            </a:r>
            <a:r>
              <a:rPr lang="es-ES" altLang="es-ES" sz="1400" b="1" i="1" dirty="0" err="1">
                <a:solidFill>
                  <a:srgbClr val="333333"/>
                </a:solidFill>
                <a:latin typeface="Helvetica" panose="020B0604020202020204" pitchFamily="34" charset="0"/>
              </a:rPr>
              <a:t>usermod</a:t>
            </a:r>
            <a:r>
              <a:rPr lang="es-ES" altLang="es-ES" sz="1400" dirty="0">
                <a:solidFill>
                  <a:srgbClr val="333333"/>
                </a:solidFill>
                <a:latin typeface="Helvetica" panose="020B0604020202020204" pitchFamily="34" charset="0"/>
              </a:rPr>
              <a:t> podremos modificar características de una cuenta: </a:t>
            </a:r>
            <a:endParaRPr lang="es-ES" altLang="es-ES" sz="1400" dirty="0">
              <a:solidFill>
                <a:srgbClr val="333333"/>
              </a:solidFill>
              <a:latin typeface="Helvetica" panose="020B0604020202020204" pitchFamily="34" charset="0"/>
            </a:endParaRPr>
          </a:p>
          <a:p>
            <a:pPr lvl="1" eaLnBrk="0" fontAlgn="base" hangingPunct="0">
              <a:spcBef>
                <a:spcPct val="0"/>
              </a:spcBef>
              <a:spcAft>
                <a:spcPct val="0"/>
              </a:spcAft>
              <a:buFont typeface="Wingdings" panose="05000000000000000000" pitchFamily="2" charset="2"/>
              <a:buChar char="§"/>
            </a:pPr>
            <a:r>
              <a:rPr lang="es-ES" altLang="es-ES" sz="1200" dirty="0">
                <a:solidFill>
                  <a:srgbClr val="333333"/>
                </a:solidFill>
                <a:latin typeface="Helvetica" panose="020B0604020202020204" pitchFamily="34" charset="0"/>
              </a:rPr>
              <a:t>cambiar el directorio principal de un usuario </a:t>
            </a:r>
            <a:r>
              <a:rPr lang="es-ES" altLang="es-ES" sz="1200" b="1" dirty="0">
                <a:solidFill>
                  <a:srgbClr val="333333"/>
                </a:solidFill>
                <a:latin typeface="Helvetica" panose="020B0604020202020204" pitchFamily="34" charset="0"/>
              </a:rPr>
              <a:t>-d</a:t>
            </a:r>
            <a:endParaRPr lang="es-ES" altLang="es-ES" sz="1200" b="1" dirty="0">
              <a:solidFill>
                <a:srgbClr val="333333"/>
              </a:solidFill>
              <a:latin typeface="Helvetica" panose="020B0604020202020204" pitchFamily="34" charset="0"/>
            </a:endParaRPr>
          </a:p>
          <a:p>
            <a:pPr lvl="1" eaLnBrk="0" fontAlgn="base" hangingPunct="0">
              <a:spcBef>
                <a:spcPct val="0"/>
              </a:spcBef>
              <a:spcAft>
                <a:spcPct val="0"/>
              </a:spcAft>
              <a:buFont typeface="Wingdings" panose="05000000000000000000" pitchFamily="2" charset="2"/>
              <a:buChar char="§"/>
            </a:pPr>
            <a:r>
              <a:rPr lang="es-ES" altLang="es-ES" sz="1200" dirty="0">
                <a:solidFill>
                  <a:srgbClr val="333333"/>
                </a:solidFill>
                <a:latin typeface="Helvetica" panose="020B0604020202020204" pitchFamily="34" charset="0"/>
              </a:rPr>
              <a:t>mover todo el contenido del antiguo directorio al nuevo </a:t>
            </a:r>
            <a:r>
              <a:rPr lang="es-ES" altLang="es-ES" sz="1200" b="1" dirty="0">
                <a:solidFill>
                  <a:srgbClr val="333333"/>
                </a:solidFill>
                <a:latin typeface="Helvetica" panose="020B0604020202020204" pitchFamily="34" charset="0"/>
              </a:rPr>
              <a:t>-m.</a:t>
            </a:r>
            <a:endParaRPr lang="es-ES" altLang="es-ES" sz="1200" b="1" dirty="0">
              <a:solidFill>
                <a:srgbClr val="333333"/>
              </a:solidFill>
              <a:latin typeface="Helvetica" panose="020B0604020202020204" pitchFamily="34" charset="0"/>
            </a:endParaRPr>
          </a:p>
          <a:p>
            <a:pPr lvl="1" eaLnBrk="0" fontAlgn="base" hangingPunct="0">
              <a:spcBef>
                <a:spcPct val="0"/>
              </a:spcBef>
              <a:spcAft>
                <a:spcPct val="0"/>
              </a:spcAft>
              <a:buFont typeface="Wingdings" panose="05000000000000000000" pitchFamily="2" charset="2"/>
              <a:buChar char="§"/>
            </a:pPr>
            <a:r>
              <a:rPr lang="es-ES" altLang="es-ES" sz="1200" dirty="0">
                <a:solidFill>
                  <a:srgbClr val="333333"/>
                </a:solidFill>
                <a:latin typeface="Helvetica" panose="020B0604020202020204" pitchFamily="34" charset="0"/>
              </a:rPr>
              <a:t>Cambiar el nombre de acceso del usuario (incluso el nombre de </a:t>
            </a:r>
            <a:r>
              <a:rPr lang="es-ES" altLang="es-ES" sz="1200" i="1" dirty="0" err="1">
                <a:solidFill>
                  <a:srgbClr val="333333"/>
                </a:solidFill>
                <a:latin typeface="Helvetica" panose="020B0604020202020204" pitchFamily="34" charset="0"/>
              </a:rPr>
              <a:t>root</a:t>
            </a:r>
            <a:r>
              <a:rPr lang="es-ES" altLang="es-ES" sz="1200" dirty="0">
                <a:solidFill>
                  <a:srgbClr val="333333"/>
                </a:solidFill>
                <a:latin typeface="Helvetica" panose="020B0604020202020204" pitchFamily="34" charset="0"/>
              </a:rPr>
              <a:t> podrá ser cambiado), esto será posible gracias a su parámetro </a:t>
            </a:r>
            <a:r>
              <a:rPr lang="es-ES" altLang="es-ES" sz="1200" b="1" dirty="0">
                <a:solidFill>
                  <a:srgbClr val="333333"/>
                </a:solidFill>
                <a:latin typeface="Helvetica" panose="020B0604020202020204" pitchFamily="34" charset="0"/>
              </a:rPr>
              <a:t>-l</a:t>
            </a:r>
            <a:r>
              <a:rPr lang="es-ES" altLang="es-ES" sz="1200" dirty="0">
                <a:solidFill>
                  <a:srgbClr val="333333"/>
                </a:solidFill>
                <a:latin typeface="Helvetica" panose="020B0604020202020204" pitchFamily="34" charset="0"/>
              </a:rPr>
              <a:t>. </a:t>
            </a:r>
            <a:endParaRPr lang="es-ES" altLang="es-ES" sz="1200" dirty="0">
              <a:solidFill>
                <a:srgbClr val="333333"/>
              </a:solidFill>
              <a:latin typeface="Helvetica" panose="020B0604020202020204" pitchFamily="34" charset="0"/>
            </a:endParaRPr>
          </a:p>
          <a:p>
            <a:pPr lvl="1" eaLnBrk="0" fontAlgn="base" hangingPunct="0">
              <a:spcBef>
                <a:spcPct val="0"/>
              </a:spcBef>
              <a:spcAft>
                <a:spcPct val="0"/>
              </a:spcAft>
              <a:buFont typeface="Wingdings" panose="05000000000000000000" pitchFamily="2" charset="2"/>
              <a:buChar char="§"/>
            </a:pPr>
            <a:r>
              <a:rPr lang="es-ES" altLang="es-ES" sz="1200" dirty="0">
                <a:solidFill>
                  <a:srgbClr val="333333"/>
                </a:solidFill>
                <a:latin typeface="Helvetica" panose="020B0604020202020204" pitchFamily="34" charset="0"/>
              </a:rPr>
              <a:t>Permite bloquear y desbloquear una cuenta (en realidad bloquea la contraseña) podremos hacerlo con los parámetros </a:t>
            </a:r>
            <a:r>
              <a:rPr lang="es-ES" altLang="es-ES" sz="1200" b="1" dirty="0">
                <a:solidFill>
                  <a:srgbClr val="333333"/>
                </a:solidFill>
                <a:latin typeface="Helvetica" panose="020B0604020202020204" pitchFamily="34" charset="0"/>
              </a:rPr>
              <a:t>-L (</a:t>
            </a:r>
            <a:r>
              <a:rPr lang="es-ES" altLang="es-ES" sz="1200" b="1" dirty="0" err="1">
                <a:solidFill>
                  <a:srgbClr val="333333"/>
                </a:solidFill>
                <a:latin typeface="Helvetica" panose="020B0604020202020204" pitchFamily="34" charset="0"/>
              </a:rPr>
              <a:t>lock</a:t>
            </a:r>
            <a:r>
              <a:rPr lang="es-ES" altLang="es-ES" sz="1200" b="1" dirty="0">
                <a:solidFill>
                  <a:srgbClr val="333333"/>
                </a:solidFill>
                <a:latin typeface="Helvetica" panose="020B0604020202020204" pitchFamily="34" charset="0"/>
              </a:rPr>
              <a:t>)</a:t>
            </a:r>
            <a:r>
              <a:rPr lang="es-ES" altLang="es-ES" sz="1200" dirty="0">
                <a:solidFill>
                  <a:srgbClr val="333333"/>
                </a:solidFill>
                <a:latin typeface="Helvetica" panose="020B0604020202020204" pitchFamily="34" charset="0"/>
              </a:rPr>
              <a:t> y </a:t>
            </a:r>
            <a:r>
              <a:rPr lang="es-ES" altLang="es-ES" sz="1200" b="1" dirty="0">
                <a:solidFill>
                  <a:srgbClr val="333333"/>
                </a:solidFill>
                <a:latin typeface="Helvetica" panose="020B0604020202020204" pitchFamily="34" charset="0"/>
              </a:rPr>
              <a:t>-U (</a:t>
            </a:r>
            <a:r>
              <a:rPr lang="es-ES" altLang="es-ES" sz="1200" b="1" dirty="0" err="1">
                <a:solidFill>
                  <a:srgbClr val="333333"/>
                </a:solidFill>
                <a:latin typeface="Helvetica" panose="020B0604020202020204" pitchFamily="34" charset="0"/>
              </a:rPr>
              <a:t>unlock</a:t>
            </a:r>
            <a:r>
              <a:rPr lang="es-ES" altLang="es-ES" sz="1200" b="1" dirty="0">
                <a:solidFill>
                  <a:srgbClr val="333333"/>
                </a:solidFill>
                <a:latin typeface="Helvetica" panose="020B0604020202020204" pitchFamily="34" charset="0"/>
              </a:rPr>
              <a:t>)</a:t>
            </a:r>
            <a:r>
              <a:rPr lang="es-ES" altLang="es-ES" sz="1200" dirty="0">
                <a:solidFill>
                  <a:srgbClr val="333333"/>
                </a:solidFill>
                <a:latin typeface="Helvetica" panose="020B0604020202020204" pitchFamily="34" charset="0"/>
              </a:rPr>
              <a:t> respectivamente.</a:t>
            </a:r>
            <a:endParaRPr lang="es-ES" altLang="es-ES" sz="1800" dirty="0">
              <a:solidFill>
                <a:schemeClr val="tx1"/>
              </a:solidFill>
            </a:endParaRPr>
          </a:p>
          <a:p>
            <a:pPr lvl="1" eaLnBrk="0" fontAlgn="base" hangingPunct="0">
              <a:spcBef>
                <a:spcPct val="0"/>
              </a:spcBef>
              <a:spcAft>
                <a:spcPct val="0"/>
              </a:spcAft>
              <a:buFont typeface="Wingdings" panose="05000000000000000000" pitchFamily="2" charset="2"/>
              <a:buChar char="§"/>
            </a:pPr>
            <a:r>
              <a:rPr lang="es-ES" altLang="es-ES" sz="1400" dirty="0">
                <a:solidFill>
                  <a:srgbClr val="333333"/>
                </a:solidFill>
                <a:latin typeface="Helvetica" panose="020B0604020202020204" pitchFamily="34" charset="0"/>
              </a:rPr>
              <a:t>Modificar los valores </a:t>
            </a:r>
            <a:r>
              <a:rPr lang="es-ES" altLang="es-ES" sz="1400" i="1" dirty="0">
                <a:solidFill>
                  <a:srgbClr val="333333"/>
                </a:solidFill>
                <a:latin typeface="Helvetica" panose="020B0604020202020204" pitchFamily="34" charset="0"/>
              </a:rPr>
              <a:t>UID</a:t>
            </a:r>
            <a:r>
              <a:rPr lang="es-ES" altLang="es-ES" sz="1400" dirty="0">
                <a:solidFill>
                  <a:srgbClr val="333333"/>
                </a:solidFill>
                <a:latin typeface="Helvetica" panose="020B0604020202020204" pitchFamily="34" charset="0"/>
              </a:rPr>
              <a:t> y </a:t>
            </a:r>
            <a:r>
              <a:rPr lang="es-ES" altLang="es-ES" sz="1400" i="1" dirty="0">
                <a:solidFill>
                  <a:srgbClr val="333333"/>
                </a:solidFill>
                <a:latin typeface="Helvetica" panose="020B0604020202020204" pitchFamily="34" charset="0"/>
              </a:rPr>
              <a:t>GID</a:t>
            </a:r>
            <a:r>
              <a:rPr lang="es-ES" altLang="es-ES" sz="1400" dirty="0">
                <a:solidFill>
                  <a:srgbClr val="333333"/>
                </a:solidFill>
                <a:latin typeface="Helvetica" panose="020B0604020202020204" pitchFamily="34" charset="0"/>
              </a:rPr>
              <a:t> de una cuenta, pero de hacerlo es muy importante saber que cuando cambiamos a un nuevo identificador, los archivos ya existente no cambiarán por lo que es posible que el usuario o incluso los usuarios pertenecientes al grupo dejen de tener acceso a estos. En este caso podremos recurrir a la utilidad </a:t>
            </a:r>
            <a:r>
              <a:rPr lang="es-ES" altLang="es-ES" sz="1400" i="1" dirty="0" err="1">
                <a:solidFill>
                  <a:srgbClr val="333333"/>
                </a:solidFill>
                <a:latin typeface="Helvetica" panose="020B0604020202020204" pitchFamily="34" charset="0"/>
              </a:rPr>
              <a:t>find</a:t>
            </a:r>
            <a:r>
              <a:rPr lang="es-ES" altLang="es-ES" sz="1400" dirty="0">
                <a:solidFill>
                  <a:srgbClr val="333333"/>
                </a:solidFill>
                <a:latin typeface="Helvetica" panose="020B0604020202020204" pitchFamily="34" charset="0"/>
              </a:rPr>
              <a:t> para localizar archivos en el sistema con un determinado </a:t>
            </a:r>
            <a:r>
              <a:rPr lang="es-ES" altLang="es-ES" sz="1400" i="1" dirty="0">
                <a:solidFill>
                  <a:srgbClr val="333333"/>
                </a:solidFill>
                <a:latin typeface="Helvetica" panose="020B0604020202020204" pitchFamily="34" charset="0"/>
              </a:rPr>
              <a:t>UID</a:t>
            </a:r>
            <a:r>
              <a:rPr lang="es-ES" altLang="es-ES" sz="1400" dirty="0">
                <a:solidFill>
                  <a:srgbClr val="333333"/>
                </a:solidFill>
                <a:latin typeface="Helvetica" panose="020B0604020202020204" pitchFamily="34" charset="0"/>
              </a:rPr>
              <a:t> y </a:t>
            </a:r>
            <a:r>
              <a:rPr lang="es-ES" altLang="es-ES" sz="1400" i="1" dirty="0">
                <a:solidFill>
                  <a:srgbClr val="333333"/>
                </a:solidFill>
                <a:latin typeface="Helvetica" panose="020B0604020202020204" pitchFamily="34" charset="0"/>
              </a:rPr>
              <a:t>GID</a:t>
            </a:r>
            <a:r>
              <a:rPr lang="es-ES" altLang="es-ES" sz="1400" dirty="0">
                <a:solidFill>
                  <a:srgbClr val="333333"/>
                </a:solidFill>
                <a:latin typeface="Helvetica" panose="020B0604020202020204" pitchFamily="34" charset="0"/>
              </a:rPr>
              <a:t> y ejecutar el comando </a:t>
            </a:r>
            <a:r>
              <a:rPr lang="es-ES" altLang="es-ES" sz="1400" i="1" dirty="0" err="1">
                <a:solidFill>
                  <a:srgbClr val="333333"/>
                </a:solidFill>
                <a:latin typeface="Helvetica" panose="020B0604020202020204" pitchFamily="34" charset="0"/>
              </a:rPr>
              <a:t>chown</a:t>
            </a:r>
            <a:r>
              <a:rPr lang="es-ES" altLang="es-ES" sz="1400" dirty="0">
                <a:solidFill>
                  <a:srgbClr val="333333"/>
                </a:solidFill>
                <a:latin typeface="Helvetica" panose="020B0604020202020204" pitchFamily="34" charset="0"/>
              </a:rPr>
              <a:t> para cambiarlos al nuevo usuario.</a:t>
            </a:r>
            <a:endParaRPr lang="es-ES" altLang="es-ES" sz="1400" dirty="0">
              <a:solidFill>
                <a:srgbClr val="333333"/>
              </a:solidFill>
              <a:latin typeface="Helvetica" panose="020B0604020202020204" pitchFamily="34" charset="0"/>
            </a:endParaRPr>
          </a:p>
          <a:p>
            <a:pPr marL="201295" lvl="1" indent="0" eaLnBrk="0" fontAlgn="base" hangingPunct="0">
              <a:spcBef>
                <a:spcPct val="0"/>
              </a:spcBef>
              <a:spcAft>
                <a:spcPct val="0"/>
              </a:spcAft>
              <a:buNone/>
            </a:pPr>
            <a:endParaRPr lang="es-ES" altLang="es-ES" sz="1400" dirty="0">
              <a:solidFill>
                <a:srgbClr val="333333"/>
              </a:solidFill>
              <a:latin typeface="Courier New" panose="02070309020205020404" pitchFamily="49" charset="0"/>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latin typeface="+mj-lt"/>
                <a:cs typeface="Courier New" panose="02070309020205020404" pitchFamily="49" charset="0"/>
              </a:rPr>
              <a:t>$ sudo </a:t>
            </a:r>
            <a:r>
              <a:rPr lang="es-ES" altLang="es-ES" sz="1400" b="1" i="1" dirty="0" err="1">
                <a:solidFill>
                  <a:srgbClr val="333333"/>
                </a:solidFill>
                <a:latin typeface="+mj-lt"/>
                <a:cs typeface="Courier New" panose="02070309020205020404" pitchFamily="49" charset="0"/>
              </a:rPr>
              <a:t>find</a:t>
            </a:r>
            <a:r>
              <a:rPr lang="es-ES" altLang="es-ES" sz="1400" b="1" i="1" dirty="0">
                <a:solidFill>
                  <a:srgbClr val="333333"/>
                </a:solidFill>
                <a:latin typeface="+mj-lt"/>
                <a:cs typeface="Courier New" panose="02070309020205020404" pitchFamily="49" charset="0"/>
              </a:rPr>
              <a:t> / -</a:t>
            </a:r>
            <a:r>
              <a:rPr lang="es-ES" altLang="es-ES" sz="1400" b="1" i="1" dirty="0" err="1">
                <a:solidFill>
                  <a:srgbClr val="333333"/>
                </a:solidFill>
                <a:latin typeface="+mj-lt"/>
                <a:cs typeface="Courier New" panose="02070309020205020404" pitchFamily="49" charset="0"/>
              </a:rPr>
              <a:t>uid</a:t>
            </a:r>
            <a:r>
              <a:rPr lang="es-ES" altLang="es-ES" sz="1400" b="1" i="1" dirty="0">
                <a:solidFill>
                  <a:srgbClr val="333333"/>
                </a:solidFill>
                <a:latin typeface="+mj-lt"/>
                <a:cs typeface="Courier New" panose="02070309020205020404" pitchFamily="49" charset="0"/>
              </a:rPr>
              <a:t> 1001 -</a:t>
            </a:r>
            <a:r>
              <a:rPr lang="es-ES" altLang="es-ES" sz="1400" b="1" i="1" dirty="0" err="1">
                <a:solidFill>
                  <a:srgbClr val="333333"/>
                </a:solidFill>
                <a:latin typeface="+mj-lt"/>
                <a:cs typeface="Courier New" panose="02070309020205020404" pitchFamily="49" charset="0"/>
              </a:rPr>
              <a:t>gid</a:t>
            </a:r>
            <a:r>
              <a:rPr lang="es-ES" altLang="es-ES" sz="1400" b="1" i="1" dirty="0">
                <a:solidFill>
                  <a:srgbClr val="333333"/>
                </a:solidFill>
                <a:latin typeface="+mj-lt"/>
                <a:cs typeface="Courier New" panose="02070309020205020404" pitchFamily="49" charset="0"/>
              </a:rPr>
              <a:t> 1001 -</a:t>
            </a:r>
            <a:r>
              <a:rPr lang="es-ES" altLang="es-ES" sz="1400" b="1" i="1" dirty="0" err="1">
                <a:solidFill>
                  <a:srgbClr val="333333"/>
                </a:solidFill>
                <a:latin typeface="+mj-lt"/>
                <a:cs typeface="Courier New" panose="02070309020205020404" pitchFamily="49" charset="0"/>
              </a:rPr>
              <a:t>exec</a:t>
            </a:r>
            <a:r>
              <a:rPr lang="es-ES" altLang="es-ES" sz="1400" b="1" i="1" dirty="0">
                <a:solidFill>
                  <a:srgbClr val="333333"/>
                </a:solidFill>
                <a:latin typeface="+mj-lt"/>
                <a:cs typeface="Courier New" panose="02070309020205020404" pitchFamily="49" charset="0"/>
              </a:rPr>
              <a:t> </a:t>
            </a:r>
            <a:r>
              <a:rPr lang="es-ES" altLang="es-ES" sz="1400" b="1" i="1" dirty="0" err="1">
                <a:solidFill>
                  <a:srgbClr val="333333"/>
                </a:solidFill>
                <a:latin typeface="+mj-lt"/>
                <a:cs typeface="Courier New" panose="02070309020205020404" pitchFamily="49" charset="0"/>
              </a:rPr>
              <a:t>chown</a:t>
            </a:r>
            <a:r>
              <a:rPr lang="es-ES" altLang="es-ES" sz="1400" b="1" i="1" dirty="0">
                <a:solidFill>
                  <a:srgbClr val="333333"/>
                </a:solidFill>
                <a:latin typeface="+mj-lt"/>
                <a:cs typeface="Courier New" panose="02070309020205020404" pitchFamily="49" charset="0"/>
              </a:rPr>
              <a:t> usuario</a:t>
            </a:r>
            <a:endParaRPr lang="es-ES" altLang="es-ES" sz="1400" b="1" i="1" dirty="0">
              <a:solidFill>
                <a:srgbClr val="333333"/>
              </a:solidFill>
              <a:latin typeface="+mj-lt"/>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endParaRPr lang="es-ES" altLang="es-ES" b="1" i="1" dirty="0">
              <a:solidFill>
                <a:schemeClr val="tx1"/>
              </a:solidFill>
              <a:latin typeface="+mj-lt"/>
            </a:endParaRPr>
          </a:p>
          <a:p>
            <a:pPr marL="0" lvl="0" indent="0" eaLnBrk="0" fontAlgn="base" hangingPunct="0">
              <a:lnSpc>
                <a:spcPct val="100000"/>
              </a:lnSpc>
              <a:spcBef>
                <a:spcPct val="0"/>
              </a:spcBef>
              <a:spcAft>
                <a:spcPct val="0"/>
              </a:spcAft>
              <a:buClrTx/>
              <a:buSzTx/>
              <a:buNone/>
            </a:pPr>
            <a:r>
              <a:rPr lang="es-ES" altLang="es-ES" sz="1400" b="1" dirty="0">
                <a:solidFill>
                  <a:srgbClr val="993300"/>
                </a:solidFill>
                <a:latin typeface="Helvetica" panose="020B0604020202020204" pitchFamily="34" charset="0"/>
              </a:rPr>
              <a:t>Importante:</a:t>
            </a:r>
            <a:r>
              <a:rPr lang="es-ES" altLang="es-ES" sz="1400" dirty="0">
                <a:solidFill>
                  <a:srgbClr val="333333"/>
                </a:solidFill>
                <a:latin typeface="Helvetica" panose="020B0604020202020204" pitchFamily="34" charset="0"/>
              </a:rPr>
              <a:t> Cambiar las características de una cuenta mientras el usuario está dentro del sistema puede tener consecuencias desagradables, en particular con el uso de los parámetros </a:t>
            </a:r>
            <a:r>
              <a:rPr lang="es-ES" altLang="es-ES" sz="1400" b="1" dirty="0">
                <a:solidFill>
                  <a:srgbClr val="333333"/>
                </a:solidFill>
                <a:latin typeface="Helvetica" panose="020B0604020202020204" pitchFamily="34" charset="0"/>
              </a:rPr>
              <a:t>-d</a:t>
            </a:r>
            <a:r>
              <a:rPr lang="es-ES" altLang="es-ES" sz="1400" dirty="0">
                <a:solidFill>
                  <a:srgbClr val="333333"/>
                </a:solidFill>
                <a:latin typeface="Helvetica" panose="020B0604020202020204" pitchFamily="34" charset="0"/>
              </a:rPr>
              <a:t> y </a:t>
            </a:r>
            <a:r>
              <a:rPr lang="es-ES" altLang="es-ES" sz="1400" b="1" dirty="0">
                <a:solidFill>
                  <a:srgbClr val="333333"/>
                </a:solidFill>
                <a:latin typeface="Helvetica" panose="020B0604020202020204" pitchFamily="34" charset="0"/>
              </a:rPr>
              <a:t>-m</a:t>
            </a:r>
            <a:r>
              <a:rPr lang="es-ES" altLang="es-ES" sz="1400" dirty="0">
                <a:solidFill>
                  <a:srgbClr val="333333"/>
                </a:solidFill>
                <a:latin typeface="Helvetica" panose="020B0604020202020204" pitchFamily="34" charset="0"/>
              </a:rPr>
              <a:t> de </a:t>
            </a:r>
            <a:r>
              <a:rPr lang="es-ES" altLang="es-ES" sz="1400" i="1" dirty="0" err="1">
                <a:solidFill>
                  <a:srgbClr val="333333"/>
                </a:solidFill>
                <a:latin typeface="Helvetica" panose="020B0604020202020204" pitchFamily="34" charset="0"/>
              </a:rPr>
              <a:t>usermod</a:t>
            </a:r>
            <a:r>
              <a:rPr lang="es-ES" altLang="es-ES" sz="1400" dirty="0">
                <a:solidFill>
                  <a:srgbClr val="333333"/>
                </a:solidFill>
                <a:latin typeface="Helvetica" panose="020B0604020202020204" pitchFamily="34" charset="0"/>
              </a:rPr>
              <a:t>. Algo a tener en cuenta por ejemplo cuando se cambian opciones como la consola por defecto de un usuario, es que este cambio no tendrá efectos hasta que el usuario salga y vuelva a entrar.</a:t>
            </a:r>
            <a:endParaRPr lang="es-ES" altLang="es-ES" sz="3200" dirty="0">
              <a:solidFill>
                <a:schemeClr val="tx1"/>
              </a:solidFill>
              <a:latin typeface="Arial" panose="020B0604020202020204" pitchFamily="34" charset="0"/>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6802"/>
            <a:ext cx="323769" cy="403596"/>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33782"/>
            <a:ext cx="10765809" cy="4889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600" b="1" dirty="0">
                <a:solidFill>
                  <a:srgbClr val="333333"/>
                </a:solidFill>
              </a:rPr>
              <a:t>Comandos de gestión de usuarios</a:t>
            </a:r>
            <a:endParaRPr lang="es-ES" altLang="es-ES" sz="1600" b="1" dirty="0">
              <a:solidFill>
                <a:srgbClr val="333333"/>
              </a:solidFill>
            </a:endParaRPr>
          </a:p>
          <a:p>
            <a:pPr marL="0" indent="0">
              <a:buNone/>
            </a:pPr>
            <a:r>
              <a:rPr lang="es-ES" sz="1400" b="1" dirty="0" err="1"/>
              <a:t>usermod</a:t>
            </a:r>
            <a:r>
              <a:rPr lang="es-ES" sz="1400" dirty="0"/>
              <a:t>: Modifica cuentas de usuario</a:t>
            </a:r>
            <a:endParaRPr lang="es-ES" sz="1400" dirty="0"/>
          </a:p>
          <a:p>
            <a:pPr algn="ctr"/>
            <a:r>
              <a:rPr lang="es-ES" sz="1400" b="1" dirty="0" err="1"/>
              <a:t>usermod</a:t>
            </a:r>
            <a:r>
              <a:rPr lang="es-ES" sz="1400" b="1" dirty="0"/>
              <a:t> [opciones] </a:t>
            </a:r>
            <a:r>
              <a:rPr lang="es-ES" sz="1400" b="1" dirty="0" err="1"/>
              <a:t>login</a:t>
            </a:r>
            <a:endParaRPr lang="es-ES" sz="1400" dirty="0"/>
          </a:p>
          <a:p>
            <a:r>
              <a:rPr lang="es-ES" sz="1400" b="1" i="1" dirty="0"/>
              <a:t>Opciones</a:t>
            </a:r>
            <a:r>
              <a:rPr lang="es-ES" sz="1400" b="1" dirty="0"/>
              <a:t>: </a:t>
            </a:r>
            <a:r>
              <a:rPr lang="es-ES" sz="1400" dirty="0"/>
              <a:t>En realidad utiliza las mismas opciones que cuando un usuario es creado con </a:t>
            </a:r>
            <a:r>
              <a:rPr lang="es-ES" sz="1400" i="1" dirty="0" err="1"/>
              <a:t>useradd</a:t>
            </a:r>
            <a:r>
              <a:rPr lang="es-ES" sz="1400" dirty="0"/>
              <a:t>: </a:t>
            </a:r>
            <a:r>
              <a:rPr lang="es-ES" sz="1400" b="1" dirty="0"/>
              <a:t>-c</a:t>
            </a:r>
            <a:r>
              <a:rPr lang="es-ES" sz="1400" dirty="0"/>
              <a:t>, </a:t>
            </a:r>
            <a:r>
              <a:rPr lang="es-ES" sz="1400" b="1" dirty="0"/>
              <a:t>-d</a:t>
            </a:r>
            <a:r>
              <a:rPr lang="es-ES" sz="1400" dirty="0"/>
              <a:t>, </a:t>
            </a:r>
            <a:r>
              <a:rPr lang="es-ES" sz="1400" b="1" dirty="0"/>
              <a:t>-u</a:t>
            </a:r>
            <a:r>
              <a:rPr lang="es-ES" sz="1400" dirty="0"/>
              <a:t>, </a:t>
            </a:r>
            <a:r>
              <a:rPr lang="es-ES" sz="1400" b="1" dirty="0"/>
              <a:t>-g</a:t>
            </a:r>
            <a:r>
              <a:rPr lang="es-ES" sz="1400" dirty="0"/>
              <a:t>, </a:t>
            </a:r>
            <a:r>
              <a:rPr lang="es-ES" sz="1400" b="1" dirty="0"/>
              <a:t>-o</a:t>
            </a:r>
            <a:r>
              <a:rPr lang="es-ES" sz="1400" dirty="0"/>
              <a:t>, </a:t>
            </a:r>
            <a:r>
              <a:rPr lang="es-ES" sz="1400" b="1" dirty="0"/>
              <a:t>-f</a:t>
            </a:r>
            <a:r>
              <a:rPr lang="es-ES" sz="1400" dirty="0"/>
              <a:t>, </a:t>
            </a:r>
            <a:r>
              <a:rPr lang="es-ES" sz="1400" b="1" dirty="0"/>
              <a:t>-e</a:t>
            </a:r>
            <a:r>
              <a:rPr lang="es-ES" sz="1400" dirty="0"/>
              <a:t> y </a:t>
            </a:r>
            <a:r>
              <a:rPr lang="es-ES" sz="1400" b="1" dirty="0"/>
              <a:t>-p</a:t>
            </a:r>
            <a:r>
              <a:rPr lang="es-ES" sz="1400" dirty="0"/>
              <a:t>. Aunque existen otras o algunas que cambian como:</a:t>
            </a:r>
            <a:endParaRPr lang="es-ES" sz="1400" dirty="0"/>
          </a:p>
          <a:p>
            <a:pPr>
              <a:buFont typeface="Wingdings" panose="05000000000000000000" pitchFamily="2" charset="2"/>
              <a:buChar char="§"/>
            </a:pPr>
            <a:r>
              <a:rPr lang="es-ES" sz="1400" dirty="0"/>
              <a:t>Si acompañamos la opción </a:t>
            </a:r>
            <a:r>
              <a:rPr lang="es-ES" sz="1400" i="1" dirty="0"/>
              <a:t>-d</a:t>
            </a:r>
            <a:r>
              <a:rPr lang="es-ES" sz="1400" dirty="0"/>
              <a:t> con </a:t>
            </a:r>
            <a:r>
              <a:rPr lang="es-ES" sz="1400" b="1" dirty="0"/>
              <a:t>-m</a:t>
            </a:r>
            <a:r>
              <a:rPr lang="es-ES" sz="1400" dirty="0"/>
              <a:t> en vez de ordenar crear el directorio lo que hará será mover todo el contenido del antiguo directorio al nuevo directorio indicado con</a:t>
            </a:r>
            <a:r>
              <a:rPr lang="es-ES" sz="1400" i="1" dirty="0"/>
              <a:t> -d</a:t>
            </a:r>
            <a:r>
              <a:rPr lang="es-ES" sz="1400" dirty="0"/>
              <a:t>.</a:t>
            </a:r>
            <a:endParaRPr lang="es-ES" sz="1400" dirty="0"/>
          </a:p>
          <a:p>
            <a:pPr>
              <a:buFont typeface="Wingdings" panose="05000000000000000000" pitchFamily="2" charset="2"/>
              <a:buChar char="§"/>
            </a:pPr>
            <a:r>
              <a:rPr lang="es-ES" sz="1400" dirty="0"/>
              <a:t>Cambiar el nombre de la cuenta del usuario: </a:t>
            </a:r>
            <a:r>
              <a:rPr lang="es-ES" sz="1400" b="1" dirty="0"/>
              <a:t>-l</a:t>
            </a:r>
            <a:r>
              <a:rPr lang="es-ES" sz="1400" dirty="0"/>
              <a:t>, </a:t>
            </a:r>
            <a:r>
              <a:rPr lang="es-ES" sz="1400" b="1" dirty="0"/>
              <a:t>–</a:t>
            </a:r>
            <a:r>
              <a:rPr lang="es-ES" sz="1400" b="1" dirty="0" err="1"/>
              <a:t>login</a:t>
            </a:r>
            <a:r>
              <a:rPr lang="es-ES" sz="1400" dirty="0"/>
              <a:t> </a:t>
            </a:r>
            <a:r>
              <a:rPr lang="es-ES" sz="1400" i="1" dirty="0"/>
              <a:t>&lt;nuevo nombre&gt;</a:t>
            </a:r>
            <a:endParaRPr lang="es-ES" sz="1400" dirty="0"/>
          </a:p>
          <a:p>
            <a:pPr>
              <a:buFont typeface="Wingdings" panose="05000000000000000000" pitchFamily="2" charset="2"/>
              <a:buChar char="§"/>
            </a:pPr>
            <a:r>
              <a:rPr lang="es-ES" sz="1400" dirty="0"/>
              <a:t>Bloquear o desbloquear una cuenta (en realidad añade o elimina el </a:t>
            </a:r>
            <a:r>
              <a:rPr lang="es-ES" sz="1400" dirty="0" err="1"/>
              <a:t>caracter</a:t>
            </a:r>
            <a:r>
              <a:rPr lang="es-ES" sz="1400" dirty="0"/>
              <a:t> ‘</a:t>
            </a:r>
            <a:r>
              <a:rPr lang="es-ES" sz="1400" b="1" dirty="0"/>
              <a:t>!</a:t>
            </a:r>
            <a:r>
              <a:rPr lang="es-ES" sz="1400" dirty="0"/>
              <a:t>‘ del campo de contraseña):</a:t>
            </a:r>
            <a:r>
              <a:rPr lang="es-ES" sz="1400" b="1" dirty="0"/>
              <a:t> -L</a:t>
            </a:r>
            <a:r>
              <a:rPr lang="es-ES" sz="1400" dirty="0"/>
              <a:t> y </a:t>
            </a:r>
            <a:r>
              <a:rPr lang="es-ES" sz="1400" b="1" dirty="0"/>
              <a:t>-U</a:t>
            </a:r>
            <a:r>
              <a:rPr lang="es-ES" sz="1400" dirty="0"/>
              <a:t> respectivamente</a:t>
            </a:r>
            <a:endParaRPr lang="es-ES" sz="1400" dirty="0"/>
          </a:p>
          <a:p>
            <a:pPr>
              <a:buFont typeface="Wingdings" panose="05000000000000000000" pitchFamily="2" charset="2"/>
              <a:buChar char="§"/>
            </a:pPr>
            <a:r>
              <a:rPr lang="es-ES" sz="1400" dirty="0"/>
              <a:t>Podemos añadir usuarios a un grupo si acompañamos la opción </a:t>
            </a:r>
            <a:r>
              <a:rPr lang="es-ES" sz="1400" i="1" dirty="0"/>
              <a:t>-G &lt;grupo1,grupo2…&gt;</a:t>
            </a:r>
            <a:r>
              <a:rPr lang="es-ES" sz="1400" dirty="0"/>
              <a:t> con</a:t>
            </a:r>
            <a:r>
              <a:rPr lang="es-ES" sz="1400" b="1" dirty="0"/>
              <a:t> -a</a:t>
            </a:r>
            <a:r>
              <a:rPr lang="es-ES" sz="1400" dirty="0"/>
              <a:t>,</a:t>
            </a:r>
            <a:r>
              <a:rPr lang="es-ES" sz="1400" b="1" dirty="0"/>
              <a:t> –</a:t>
            </a:r>
            <a:r>
              <a:rPr lang="es-ES" sz="1400" b="1" dirty="0" err="1"/>
              <a:t>append</a:t>
            </a:r>
            <a:r>
              <a:rPr lang="es-ES" sz="1400" dirty="0"/>
              <a:t>. Para añadir un usuario a un grupo de esta manera, deberemos de nombrar además de los nuevos grupos todos aquellos a los que el usuario ya pertenecía, de lo contrario el usuario abandonará el grupo no indicado. Esto puede servir para eliminar al usuario de diferentes grupos.</a:t>
            </a:r>
            <a:endParaRPr lang="es-E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5705" y="1546559"/>
            <a:ext cx="10233546" cy="4517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400" b="1" dirty="0"/>
              <a:t>Modificar cuentas de usuarios desde la línea de comandos.</a:t>
            </a:r>
            <a:endParaRPr lang="es-ES" sz="1400" b="1" dirty="0"/>
          </a:p>
          <a:p>
            <a:r>
              <a:rPr lang="es-ES" sz="1400" dirty="0"/>
              <a:t>Las cuentas de </a:t>
            </a:r>
            <a:r>
              <a:rPr lang="es-ES" sz="1400" i="1" dirty="0"/>
              <a:t>Linux</a:t>
            </a:r>
            <a:r>
              <a:rPr lang="es-ES" sz="1400" dirty="0"/>
              <a:t> se pueden configurar para que caduquen automáticamente.</a:t>
            </a:r>
            <a:endParaRPr lang="es-ES" sz="1400" dirty="0"/>
          </a:p>
          <a:p>
            <a:pPr>
              <a:buFont typeface="Wingdings" panose="05000000000000000000" pitchFamily="2" charset="2"/>
              <a:buChar char="§"/>
            </a:pPr>
            <a:r>
              <a:rPr lang="es-ES" sz="1400" dirty="0"/>
              <a:t>El comando </a:t>
            </a:r>
            <a:r>
              <a:rPr lang="es-ES" sz="1400" b="1" dirty="0" err="1"/>
              <a:t>chage</a:t>
            </a:r>
            <a:r>
              <a:rPr lang="es-ES" sz="1400" dirty="0"/>
              <a:t> el que nos permita modificar ciertos parámetros relacionados con la caducidad. Una cuenta de usuario podrá caducar siempre y cuando se cumpla alguna de las siguientes condiciones:</a:t>
            </a:r>
            <a:endParaRPr lang="es-ES" sz="1400" dirty="0"/>
          </a:p>
          <a:p>
            <a:pPr lvl="1">
              <a:buFont typeface="Wingdings" panose="05000000000000000000" pitchFamily="2" charset="2"/>
              <a:buChar char="§"/>
            </a:pPr>
            <a:r>
              <a:rPr lang="es-ES" sz="1200" dirty="0"/>
              <a:t>La cuenta está configurada para cambiar la contraseña cada cierto tiempo y esta, tras pasar el tiempo especificado e incluso un tiempo de gracia, no ha sido modificada.</a:t>
            </a:r>
            <a:endParaRPr lang="es-ES" sz="1200" dirty="0"/>
          </a:p>
          <a:p>
            <a:pPr lvl="1">
              <a:buFont typeface="Wingdings" panose="05000000000000000000" pitchFamily="2" charset="2"/>
              <a:buChar char="§"/>
            </a:pPr>
            <a:r>
              <a:rPr lang="es-ES" sz="1200" dirty="0"/>
              <a:t>La fecha del sistema ha sobrepasado un tiempo predeterminado.</a:t>
            </a:r>
            <a:endParaRPr lang="es-ES" sz="1200" dirty="0"/>
          </a:p>
          <a:p>
            <a:r>
              <a:rPr lang="es-ES" sz="1400" b="1" dirty="0"/>
              <a:t>Nota</a:t>
            </a:r>
            <a:r>
              <a:rPr lang="es-ES" sz="1400" dirty="0"/>
              <a:t>: Si el usuario cambia una contraseña antes de la fecha límite, el contador se reinicializará, por lo que dispondremos nuevamente del margen de tiempo, por ejemplo, si hemos dado 30 días como tope entre cambios de contraseña, si al día que hace 25 modifico la contraseña, contaremos nuevamente con 30 días para volver a realizar el cambio y no con 5 días.</a:t>
            </a:r>
            <a:endParaRPr lang="es-ES" sz="1400" dirty="0"/>
          </a:p>
          <a:p>
            <a:r>
              <a:rPr lang="es-ES" sz="1400" dirty="0"/>
              <a:t>Para terminar con la modificaciones de cuentas de usuario, nombrar el comando </a:t>
            </a:r>
            <a:r>
              <a:rPr lang="es-ES" sz="1400" b="1" dirty="0" err="1"/>
              <a:t>chsh</a:t>
            </a:r>
            <a:r>
              <a:rPr lang="es-ES" sz="1400" dirty="0"/>
              <a:t> el cual nos permitirá cambiar el </a:t>
            </a:r>
            <a:r>
              <a:rPr lang="es-ES" sz="1400" i="1" dirty="0" err="1"/>
              <a:t>shell</a:t>
            </a:r>
            <a:r>
              <a:rPr lang="es-ES" sz="1400" dirty="0"/>
              <a:t> con el que inicia la cuenta de usuario y el comando </a:t>
            </a:r>
            <a:r>
              <a:rPr lang="es-ES" sz="1400" b="1" dirty="0" err="1"/>
              <a:t>chfn</a:t>
            </a:r>
            <a:r>
              <a:rPr lang="es-ES" sz="1400" dirty="0"/>
              <a:t> que permite cambiar la información (comentarios </a:t>
            </a:r>
            <a:r>
              <a:rPr lang="es-ES" sz="1400" b="1" dirty="0"/>
              <a:t>-c</a:t>
            </a:r>
            <a:r>
              <a:rPr lang="es-ES" sz="1400" dirty="0"/>
              <a:t>) del usuario.</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6802"/>
            <a:ext cx="323769" cy="403596"/>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23554"/>
            <a:ext cx="10765809" cy="4637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nSpc>
                <a:spcPct val="100000"/>
              </a:lnSpc>
              <a:spcBef>
                <a:spcPts val="200"/>
              </a:spcBef>
              <a:buNone/>
            </a:pPr>
            <a:r>
              <a:rPr lang="es-ES" sz="1400" b="1" dirty="0"/>
              <a:t>ADMINISTRACION DE USUARIOS</a:t>
            </a:r>
            <a:endParaRPr lang="es-ES" sz="1400" b="1" dirty="0"/>
          </a:p>
          <a:p>
            <a:pPr marL="0" lvl="0" indent="0" eaLnBrk="0" fontAlgn="base" hangingPunct="0">
              <a:lnSpc>
                <a:spcPct val="100000"/>
              </a:lnSpc>
              <a:spcBef>
                <a:spcPts val="200"/>
              </a:spcBef>
              <a:buClrTx/>
              <a:buSzTx/>
              <a:buNone/>
            </a:pPr>
            <a:endParaRPr lang="es-ES" altLang="es-ES" sz="1400" dirty="0">
              <a:solidFill>
                <a:srgbClr val="333333"/>
              </a:solidFill>
            </a:endParaRPr>
          </a:p>
          <a:p>
            <a:pPr marL="0" lvl="0" indent="0" eaLnBrk="0" fontAlgn="base" hangingPunct="0">
              <a:lnSpc>
                <a:spcPct val="100000"/>
              </a:lnSpc>
              <a:spcBef>
                <a:spcPts val="200"/>
              </a:spcBef>
              <a:spcAft>
                <a:spcPts val="400"/>
              </a:spcAft>
              <a:buClrTx/>
              <a:buSzTx/>
              <a:buNone/>
            </a:pPr>
            <a:r>
              <a:rPr lang="es-ES" altLang="es-ES" sz="1400" b="1" dirty="0">
                <a:solidFill>
                  <a:srgbClr val="333333"/>
                </a:solidFill>
              </a:rPr>
              <a:t>Comandos de gestión de usuarios</a:t>
            </a:r>
            <a:endParaRPr lang="es-ES" altLang="es-ES" sz="1400" b="1" dirty="0">
              <a:solidFill>
                <a:srgbClr val="333333"/>
              </a:solidFill>
            </a:endParaRPr>
          </a:p>
          <a:p>
            <a:pPr>
              <a:lnSpc>
                <a:spcPct val="100000"/>
              </a:lnSpc>
              <a:spcBef>
                <a:spcPts val="200"/>
              </a:spcBef>
            </a:pPr>
            <a:r>
              <a:rPr lang="es-ES" sz="1400" b="1" dirty="0" err="1"/>
              <a:t>chage</a:t>
            </a:r>
            <a:r>
              <a:rPr lang="es-ES" sz="1400" dirty="0"/>
              <a:t>: Con este comando podremos modificar los valores dados a una contraseña con el comando </a:t>
            </a:r>
            <a:r>
              <a:rPr lang="es-ES" sz="1400" i="1" dirty="0" err="1"/>
              <a:t>passwd</a:t>
            </a:r>
            <a:r>
              <a:rPr lang="es-ES" sz="1400" i="1" dirty="0"/>
              <a:t>,</a:t>
            </a:r>
            <a:r>
              <a:rPr lang="es-ES" sz="1400" dirty="0"/>
              <a:t> o crear unos nuevos</a:t>
            </a:r>
            <a:endParaRPr lang="es-ES" sz="1400" dirty="0"/>
          </a:p>
          <a:p>
            <a:pPr algn="ctr">
              <a:lnSpc>
                <a:spcPct val="100000"/>
              </a:lnSpc>
              <a:spcBef>
                <a:spcPts val="200"/>
              </a:spcBef>
            </a:pPr>
            <a:r>
              <a:rPr lang="es-ES" sz="1400" b="1" dirty="0" err="1"/>
              <a:t>chage</a:t>
            </a:r>
            <a:r>
              <a:rPr lang="es-ES" sz="1400" b="1" dirty="0"/>
              <a:t> [opciones] </a:t>
            </a:r>
            <a:r>
              <a:rPr lang="es-ES" sz="1400" b="1" dirty="0" err="1"/>
              <a:t>login</a:t>
            </a:r>
            <a:endParaRPr lang="es-ES" sz="1400" dirty="0"/>
          </a:p>
          <a:p>
            <a:pPr>
              <a:lnSpc>
                <a:spcPct val="100000"/>
              </a:lnSpc>
              <a:spcBef>
                <a:spcPts val="200"/>
              </a:spcBef>
            </a:pPr>
            <a:r>
              <a:rPr lang="es-ES" sz="1400" b="1" i="1" dirty="0"/>
              <a:t>Opciones</a:t>
            </a:r>
            <a:r>
              <a:rPr lang="es-ES" sz="1400" b="1" dirty="0"/>
              <a:t>:</a:t>
            </a:r>
            <a:endParaRPr lang="es-ES" sz="1400" b="1" dirty="0"/>
          </a:p>
          <a:p>
            <a:pPr>
              <a:lnSpc>
                <a:spcPct val="100000"/>
              </a:lnSpc>
              <a:spcBef>
                <a:spcPts val="200"/>
              </a:spcBef>
              <a:buFont typeface="Wingdings" panose="05000000000000000000" pitchFamily="2" charset="2"/>
              <a:buChar char="§"/>
            </a:pPr>
            <a:r>
              <a:rPr lang="es-ES" sz="1400" dirty="0"/>
              <a:t>Mostrar información sobre la contraseña de un usuario: </a:t>
            </a:r>
            <a:r>
              <a:rPr lang="es-ES" sz="1400" b="1" dirty="0"/>
              <a:t>-l</a:t>
            </a:r>
            <a:r>
              <a:rPr lang="es-ES" sz="1400" dirty="0"/>
              <a:t>, </a:t>
            </a:r>
            <a:r>
              <a:rPr lang="es-ES" sz="1400" b="1" dirty="0"/>
              <a:t>–</a:t>
            </a:r>
            <a:r>
              <a:rPr lang="es-ES" sz="1400" b="1" dirty="0" err="1"/>
              <a:t>list</a:t>
            </a:r>
            <a:endParaRPr lang="es-ES" sz="1400" dirty="0"/>
          </a:p>
          <a:p>
            <a:pPr>
              <a:lnSpc>
                <a:spcPct val="100000"/>
              </a:lnSpc>
              <a:spcBef>
                <a:spcPts val="200"/>
              </a:spcBef>
              <a:buFont typeface="Wingdings" panose="05000000000000000000" pitchFamily="2" charset="2"/>
              <a:buChar char="§"/>
            </a:pPr>
            <a:r>
              <a:rPr lang="es-ES" sz="1400" dirty="0"/>
              <a:t>Normalmente con el comando </a:t>
            </a:r>
            <a:r>
              <a:rPr lang="es-ES" sz="1400" i="1" dirty="0" err="1"/>
              <a:t>chage</a:t>
            </a:r>
            <a:r>
              <a:rPr lang="es-ES" sz="1400" dirty="0"/>
              <a:t> podremos indicar una fecha de dos formas diferentes, bien con el número de días transcurridos desde el </a:t>
            </a:r>
            <a:r>
              <a:rPr lang="es-ES" sz="1400" i="1" dirty="0"/>
              <a:t>1 de Enero de 1970</a:t>
            </a:r>
            <a:r>
              <a:rPr lang="es-ES" sz="1400" dirty="0"/>
              <a:t> hasta el día en el que queramos dejar constancia de algo (último día en el que se cambió la </a:t>
            </a:r>
            <a:r>
              <a:rPr lang="es-ES" sz="1400" dirty="0" err="1"/>
              <a:t>password</a:t>
            </a:r>
            <a:r>
              <a:rPr lang="es-ES" sz="1400" dirty="0"/>
              <a:t>, último día para usar una cuenta sin antes modificar su contraseña, </a:t>
            </a:r>
            <a:r>
              <a:rPr lang="es-ES" sz="1400" dirty="0" err="1"/>
              <a:t>etc</a:t>
            </a:r>
            <a:r>
              <a:rPr lang="es-ES" sz="1400" dirty="0"/>
              <a:t>…  o bien con el formato ‘</a:t>
            </a:r>
            <a:r>
              <a:rPr lang="es-ES" sz="1400" i="1" dirty="0"/>
              <a:t>YYYY-MM-DD</a:t>
            </a:r>
            <a:r>
              <a:rPr lang="es-ES" sz="1400" dirty="0"/>
              <a:t>‘. Entonces si queremos </a:t>
            </a:r>
            <a:r>
              <a:rPr lang="es-ES" sz="1400" dirty="0" err="1"/>
              <a:t>setear</a:t>
            </a:r>
            <a:r>
              <a:rPr lang="es-ES" sz="1400" dirty="0"/>
              <a:t> el último día en el que la contraseña fue modificada:</a:t>
            </a:r>
            <a:r>
              <a:rPr lang="es-ES" sz="1400" b="1" dirty="0"/>
              <a:t> -d</a:t>
            </a:r>
            <a:r>
              <a:rPr lang="es-ES" sz="1400" dirty="0"/>
              <a:t>, </a:t>
            </a:r>
            <a:r>
              <a:rPr lang="es-ES" sz="1400" b="1" dirty="0"/>
              <a:t>–</a:t>
            </a:r>
            <a:r>
              <a:rPr lang="es-ES" sz="1400" b="1" dirty="0" err="1"/>
              <a:t>lastday</a:t>
            </a:r>
            <a:r>
              <a:rPr lang="es-ES" sz="1400" dirty="0"/>
              <a:t> </a:t>
            </a:r>
            <a:r>
              <a:rPr lang="es-ES" sz="1400" i="1" dirty="0"/>
              <a:t>&lt;fecha&gt;</a:t>
            </a:r>
            <a:endParaRPr lang="es-ES" sz="1400" dirty="0"/>
          </a:p>
          <a:p>
            <a:pPr>
              <a:lnSpc>
                <a:spcPct val="100000"/>
              </a:lnSpc>
              <a:spcBef>
                <a:spcPts val="200"/>
              </a:spcBef>
              <a:buFont typeface="Wingdings" panose="05000000000000000000" pitchFamily="2" charset="2"/>
              <a:buChar char="§"/>
            </a:pPr>
            <a:r>
              <a:rPr lang="es-ES" sz="1400" dirty="0"/>
              <a:t>Indicar el último día en el que una cuenta será accesible es decir, será bloqueada de forma definitiva y solo el administrador podrá restablecerla: </a:t>
            </a:r>
            <a:r>
              <a:rPr lang="es-ES" sz="1400" b="1" dirty="0"/>
              <a:t>-E</a:t>
            </a:r>
            <a:r>
              <a:rPr lang="es-ES" sz="1400" dirty="0"/>
              <a:t>, </a:t>
            </a:r>
            <a:r>
              <a:rPr lang="es-ES" sz="1400" b="1" dirty="0"/>
              <a:t>–</a:t>
            </a:r>
            <a:r>
              <a:rPr lang="es-ES" sz="1400" b="1" dirty="0" err="1"/>
              <a:t>expiredate</a:t>
            </a:r>
            <a:r>
              <a:rPr lang="es-ES" sz="1400" dirty="0"/>
              <a:t> </a:t>
            </a:r>
            <a:r>
              <a:rPr lang="es-ES" sz="1400" i="1" dirty="0"/>
              <a:t>&lt;fecha&gt;</a:t>
            </a:r>
            <a:endParaRPr lang="es-ES" sz="1400" dirty="0"/>
          </a:p>
          <a:p>
            <a:pPr>
              <a:lnSpc>
                <a:spcPct val="100000"/>
              </a:lnSpc>
              <a:spcBef>
                <a:spcPts val="200"/>
              </a:spcBef>
              <a:buFont typeface="Wingdings" panose="05000000000000000000" pitchFamily="2" charset="2"/>
              <a:buChar char="§"/>
            </a:pPr>
            <a:r>
              <a:rPr lang="es-ES" sz="1400" dirty="0"/>
              <a:t>Indicar el número de días en los que una cuenta estará inactiva antes de ser bloqueada: </a:t>
            </a:r>
            <a:r>
              <a:rPr lang="es-ES" sz="1400" b="1" dirty="0"/>
              <a:t>-I</a:t>
            </a:r>
            <a:r>
              <a:rPr lang="es-ES" sz="1400" dirty="0"/>
              <a:t>, </a:t>
            </a:r>
            <a:r>
              <a:rPr lang="es-ES" sz="1400" b="1" dirty="0"/>
              <a:t>–inactive</a:t>
            </a:r>
            <a:r>
              <a:rPr lang="es-ES" sz="1400" dirty="0"/>
              <a:t> </a:t>
            </a:r>
            <a:r>
              <a:rPr lang="es-ES" sz="1400" i="1" dirty="0"/>
              <a:t>&lt;fecha&gt;</a:t>
            </a:r>
            <a:endParaRPr lang="es-ES" sz="1400" dirty="0"/>
          </a:p>
          <a:p>
            <a:pPr>
              <a:lnSpc>
                <a:spcPct val="100000"/>
              </a:lnSpc>
              <a:spcBef>
                <a:spcPts val="200"/>
              </a:spcBef>
              <a:buFont typeface="Wingdings" panose="05000000000000000000" pitchFamily="2" charset="2"/>
              <a:buChar char="§"/>
            </a:pPr>
            <a:r>
              <a:rPr lang="es-ES" sz="1400" dirty="0"/>
              <a:t>Indicar el número mínimo de días entre cambios de contraseñas: </a:t>
            </a:r>
            <a:r>
              <a:rPr lang="es-ES" sz="1400" b="1" dirty="0"/>
              <a:t>-m</a:t>
            </a:r>
            <a:r>
              <a:rPr lang="es-ES" sz="1400" dirty="0"/>
              <a:t>,</a:t>
            </a:r>
            <a:r>
              <a:rPr lang="es-ES" sz="1400" b="1" dirty="0"/>
              <a:t> –</a:t>
            </a:r>
            <a:r>
              <a:rPr lang="es-ES" sz="1400" b="1" dirty="0" err="1"/>
              <a:t>mindays</a:t>
            </a:r>
            <a:r>
              <a:rPr lang="es-ES" sz="1400" dirty="0"/>
              <a:t> </a:t>
            </a:r>
            <a:r>
              <a:rPr lang="es-ES" sz="1400" i="1" dirty="0"/>
              <a:t>&lt;días&gt;</a:t>
            </a:r>
            <a:endParaRPr lang="es-ES" sz="1400" dirty="0"/>
          </a:p>
          <a:p>
            <a:pPr>
              <a:lnSpc>
                <a:spcPct val="100000"/>
              </a:lnSpc>
              <a:spcBef>
                <a:spcPts val="200"/>
              </a:spcBef>
              <a:buFont typeface="Wingdings" panose="05000000000000000000" pitchFamily="2" charset="2"/>
              <a:buChar char="§"/>
            </a:pPr>
            <a:r>
              <a:rPr lang="es-ES" sz="1400" dirty="0"/>
              <a:t>Indicar el número máximo de días que pueden transcurrir sin cambiar una contraseña: </a:t>
            </a:r>
            <a:r>
              <a:rPr lang="es-ES" sz="1400" b="1" dirty="0"/>
              <a:t>-M</a:t>
            </a:r>
            <a:r>
              <a:rPr lang="es-ES" sz="1400" dirty="0"/>
              <a:t>, </a:t>
            </a:r>
            <a:r>
              <a:rPr lang="es-ES" sz="1400" b="1" dirty="0"/>
              <a:t>–</a:t>
            </a:r>
            <a:r>
              <a:rPr lang="es-ES" sz="1400" b="1" dirty="0" err="1"/>
              <a:t>maxdays</a:t>
            </a:r>
            <a:r>
              <a:rPr lang="es-ES" sz="1400" dirty="0"/>
              <a:t> </a:t>
            </a:r>
            <a:r>
              <a:rPr lang="es-ES" sz="1400" i="1" dirty="0"/>
              <a:t>&lt;días&gt;</a:t>
            </a:r>
            <a:endParaRPr lang="es-ES" sz="1400" dirty="0"/>
          </a:p>
          <a:p>
            <a:pPr>
              <a:lnSpc>
                <a:spcPct val="100000"/>
              </a:lnSpc>
              <a:spcBef>
                <a:spcPts val="200"/>
              </a:spcBef>
              <a:buFont typeface="Wingdings" panose="05000000000000000000" pitchFamily="2" charset="2"/>
              <a:buChar char="§"/>
            </a:pPr>
            <a:r>
              <a:rPr lang="es-ES" sz="1400" dirty="0"/>
              <a:t>Avisar con unos días de antelación al usuario de que su contraseña debe de ser modificada:</a:t>
            </a:r>
            <a:r>
              <a:rPr lang="es-ES" sz="1400" b="1" dirty="0"/>
              <a:t> -W</a:t>
            </a:r>
            <a:r>
              <a:rPr lang="es-ES" sz="1400" dirty="0"/>
              <a:t>, </a:t>
            </a:r>
            <a:r>
              <a:rPr lang="es-ES" sz="1400" b="1" dirty="0"/>
              <a:t>–</a:t>
            </a:r>
            <a:r>
              <a:rPr lang="es-ES" sz="1400" b="1" dirty="0" err="1"/>
              <a:t>warndays</a:t>
            </a:r>
            <a:r>
              <a:rPr lang="es-ES" sz="1400" dirty="0"/>
              <a:t> </a:t>
            </a:r>
            <a:r>
              <a:rPr lang="es-ES" sz="1400" i="1" dirty="0"/>
              <a:t>&lt;días&gt;</a:t>
            </a:r>
            <a:endParaRPr lang="es-ES" sz="1400" dirty="0"/>
          </a:p>
          <a:p>
            <a:pPr>
              <a:lnSpc>
                <a:spcPct val="100000"/>
              </a:lnSpc>
              <a:spcBef>
                <a:spcPts val="200"/>
              </a:spcBef>
              <a:buFont typeface="Wingdings" panose="05000000000000000000" pitchFamily="2" charset="2"/>
              <a:buChar char="§"/>
            </a:pPr>
            <a:r>
              <a:rPr lang="es-ES" sz="1400" b="1" dirty="0"/>
              <a:t>Nota</a:t>
            </a:r>
            <a:r>
              <a:rPr lang="es-ES" sz="1400" dirty="0"/>
              <a:t>: En muchas de las opciones si utilizamos los valores -1 estaremos indicando la inhabilitación de esa función.</a:t>
            </a:r>
            <a:endParaRPr lang="es-E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23554"/>
            <a:ext cx="10765809" cy="4921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ts val="400"/>
              </a:spcAft>
              <a:buClrTx/>
              <a:buSzTx/>
              <a:buNone/>
            </a:pPr>
            <a:r>
              <a:rPr lang="es-ES" altLang="es-ES" sz="1400" b="1" dirty="0">
                <a:solidFill>
                  <a:srgbClr val="333333"/>
                </a:solidFill>
              </a:rPr>
              <a:t>Comandos de gestión de usuarios</a:t>
            </a:r>
            <a:endParaRPr lang="es-ES" altLang="es-ES" sz="1400" b="1" dirty="0">
              <a:solidFill>
                <a:srgbClr val="333333"/>
              </a:solidFill>
            </a:endParaRPr>
          </a:p>
          <a:p>
            <a:pPr marL="0" indent="0">
              <a:lnSpc>
                <a:spcPct val="100000"/>
              </a:lnSpc>
              <a:spcBef>
                <a:spcPts val="200"/>
              </a:spcBef>
              <a:spcAft>
                <a:spcPts val="400"/>
              </a:spcAft>
              <a:buNone/>
            </a:pPr>
            <a:r>
              <a:rPr lang="es-ES" sz="1400" b="1" dirty="0" err="1"/>
              <a:t>passwd</a:t>
            </a:r>
            <a:r>
              <a:rPr lang="es-ES" sz="1400" dirty="0"/>
              <a:t>: Cambia la contraseña de un usuario</a:t>
            </a:r>
            <a:endParaRPr lang="es-ES" sz="1400" dirty="0"/>
          </a:p>
          <a:p>
            <a:pPr algn="ctr">
              <a:lnSpc>
                <a:spcPct val="100000"/>
              </a:lnSpc>
              <a:spcBef>
                <a:spcPts val="200"/>
              </a:spcBef>
            </a:pPr>
            <a:r>
              <a:rPr lang="es-ES" sz="1400" b="1" dirty="0" err="1"/>
              <a:t>passwd</a:t>
            </a:r>
            <a:r>
              <a:rPr lang="es-ES" sz="1400" b="1" dirty="0"/>
              <a:t> [opciones]  </a:t>
            </a:r>
            <a:r>
              <a:rPr lang="es-ES" sz="1400" b="1" dirty="0" err="1"/>
              <a:t>login</a:t>
            </a:r>
            <a:endParaRPr lang="es-ES" sz="1400" dirty="0"/>
          </a:p>
          <a:p>
            <a:pPr>
              <a:lnSpc>
                <a:spcPct val="100000"/>
              </a:lnSpc>
              <a:spcBef>
                <a:spcPts val="200"/>
              </a:spcBef>
            </a:pPr>
            <a:r>
              <a:rPr lang="es-ES" sz="1400" b="1" i="1" dirty="0"/>
              <a:t>Opciones</a:t>
            </a:r>
            <a:r>
              <a:rPr lang="es-ES" sz="1400" i="1" dirty="0"/>
              <a:t>:</a:t>
            </a:r>
            <a:endParaRPr lang="es-ES" sz="1400" dirty="0"/>
          </a:p>
          <a:p>
            <a:pPr>
              <a:lnSpc>
                <a:spcPct val="100000"/>
              </a:lnSpc>
              <a:spcBef>
                <a:spcPts val="200"/>
              </a:spcBef>
              <a:buFont typeface="Wingdings" panose="05000000000000000000" pitchFamily="2" charset="2"/>
              <a:buChar char="§"/>
            </a:pPr>
            <a:r>
              <a:rPr lang="es-ES" sz="1400" dirty="0"/>
              <a:t>Bloquear o Desbloquear la contraseña de un usuario: </a:t>
            </a:r>
            <a:r>
              <a:rPr lang="es-ES" sz="1400" b="1" dirty="0"/>
              <a:t>-l</a:t>
            </a:r>
            <a:r>
              <a:rPr lang="es-ES" sz="1400" dirty="0"/>
              <a:t>, </a:t>
            </a:r>
            <a:r>
              <a:rPr lang="es-ES" sz="1400" b="1" dirty="0"/>
              <a:t>–</a:t>
            </a:r>
            <a:r>
              <a:rPr lang="es-ES" sz="1400" b="1" dirty="0" err="1"/>
              <a:t>lock</a:t>
            </a:r>
            <a:r>
              <a:rPr lang="es-ES" sz="1400" dirty="0"/>
              <a:t> o </a:t>
            </a:r>
            <a:r>
              <a:rPr lang="es-ES" sz="1400" b="1" dirty="0"/>
              <a:t>-u</a:t>
            </a:r>
            <a:r>
              <a:rPr lang="es-ES" sz="1400" dirty="0"/>
              <a:t>, </a:t>
            </a:r>
            <a:r>
              <a:rPr lang="es-ES" sz="1400" b="1" dirty="0"/>
              <a:t>–</a:t>
            </a:r>
            <a:r>
              <a:rPr lang="es-ES" sz="1400" b="1" dirty="0" err="1"/>
              <a:t>unlock</a:t>
            </a:r>
            <a:endParaRPr lang="es-ES" sz="1400" dirty="0"/>
          </a:p>
          <a:p>
            <a:pPr>
              <a:lnSpc>
                <a:spcPct val="100000"/>
              </a:lnSpc>
              <a:spcBef>
                <a:spcPts val="200"/>
              </a:spcBef>
              <a:buFont typeface="Wingdings" panose="05000000000000000000" pitchFamily="2" charset="2"/>
              <a:buChar char="§"/>
            </a:pPr>
            <a:r>
              <a:rPr lang="es-ES" sz="1400" dirty="0"/>
              <a:t>Eliminar la contraseña para una cuenta: </a:t>
            </a:r>
            <a:r>
              <a:rPr lang="es-ES" sz="1400" b="1" dirty="0"/>
              <a:t>-d</a:t>
            </a:r>
            <a:r>
              <a:rPr lang="es-ES" sz="1400" dirty="0"/>
              <a:t>, </a:t>
            </a:r>
            <a:r>
              <a:rPr lang="es-ES" sz="1400" b="1" dirty="0"/>
              <a:t>–</a:t>
            </a:r>
            <a:r>
              <a:rPr lang="es-ES" sz="1400" b="1" dirty="0" err="1"/>
              <a:t>delete</a:t>
            </a:r>
            <a:endParaRPr lang="es-ES" sz="1400" dirty="0"/>
          </a:p>
          <a:p>
            <a:pPr>
              <a:lnSpc>
                <a:spcPct val="100000"/>
              </a:lnSpc>
              <a:spcBef>
                <a:spcPts val="200"/>
              </a:spcBef>
              <a:buFont typeface="Wingdings" panose="05000000000000000000" pitchFamily="2" charset="2"/>
              <a:buChar char="§"/>
            </a:pPr>
            <a:r>
              <a:rPr lang="es-ES" sz="1400" dirty="0"/>
              <a:t>Podemos forzar a que un usuario cambie su contraseña, haciéndola que expire inmediatamente: </a:t>
            </a:r>
            <a:r>
              <a:rPr lang="es-ES" sz="1400" b="1" dirty="0"/>
              <a:t>-e</a:t>
            </a:r>
            <a:r>
              <a:rPr lang="es-ES" sz="1400" dirty="0"/>
              <a:t>, </a:t>
            </a:r>
            <a:r>
              <a:rPr lang="es-ES" sz="1400" b="1" dirty="0"/>
              <a:t>–expire</a:t>
            </a:r>
            <a:endParaRPr lang="es-ES" sz="1400" dirty="0"/>
          </a:p>
          <a:p>
            <a:pPr>
              <a:lnSpc>
                <a:spcPct val="100000"/>
              </a:lnSpc>
              <a:spcBef>
                <a:spcPts val="200"/>
              </a:spcBef>
              <a:buFont typeface="Wingdings" panose="05000000000000000000" pitchFamily="2" charset="2"/>
              <a:buChar char="§"/>
            </a:pPr>
            <a:r>
              <a:rPr lang="es-ES" sz="1400" dirty="0"/>
              <a:t>Dejar una cuenta inactiva si el usuario no ha modificado una contraseña que ha expirado en un determinado plazo de días: </a:t>
            </a:r>
            <a:r>
              <a:rPr lang="es-ES" sz="1400" b="1" dirty="0"/>
              <a:t>-i</a:t>
            </a:r>
            <a:r>
              <a:rPr lang="es-ES" sz="1400" dirty="0"/>
              <a:t>, </a:t>
            </a:r>
            <a:r>
              <a:rPr lang="es-ES" sz="1400" b="1" dirty="0"/>
              <a:t>–inactive</a:t>
            </a:r>
            <a:r>
              <a:rPr lang="es-ES" sz="1400" dirty="0"/>
              <a:t> </a:t>
            </a:r>
            <a:r>
              <a:rPr lang="es-ES" sz="1400" i="1" dirty="0"/>
              <a:t>&lt;días&gt;</a:t>
            </a:r>
            <a:endParaRPr lang="es-ES" sz="1400" dirty="0"/>
          </a:p>
          <a:p>
            <a:pPr>
              <a:lnSpc>
                <a:spcPct val="100000"/>
              </a:lnSpc>
              <a:spcBef>
                <a:spcPts val="200"/>
              </a:spcBef>
              <a:buFont typeface="Wingdings" panose="05000000000000000000" pitchFamily="2" charset="2"/>
              <a:buChar char="§"/>
            </a:pPr>
            <a:r>
              <a:rPr lang="es-ES" sz="1400" dirty="0"/>
              <a:t>Permitir el cambio de una contraseña solo si esta a caducado: </a:t>
            </a:r>
            <a:r>
              <a:rPr lang="es-ES" sz="1400" b="1" dirty="0"/>
              <a:t>-k</a:t>
            </a:r>
            <a:endParaRPr lang="es-ES" sz="1400" dirty="0"/>
          </a:p>
          <a:p>
            <a:pPr>
              <a:lnSpc>
                <a:spcPct val="100000"/>
              </a:lnSpc>
              <a:spcBef>
                <a:spcPts val="200"/>
              </a:spcBef>
              <a:buFont typeface="Wingdings" panose="05000000000000000000" pitchFamily="2" charset="2"/>
              <a:buChar char="§"/>
            </a:pPr>
            <a:r>
              <a:rPr lang="es-ES" sz="1400" dirty="0"/>
              <a:t>Indicar el número mínimo de días entre cambios de contraseña. Un 0 indica que podemos cambiar la contraseña varias veces en un día: </a:t>
            </a:r>
            <a:r>
              <a:rPr lang="es-ES" sz="1400" b="1" dirty="0"/>
              <a:t>-n</a:t>
            </a:r>
            <a:r>
              <a:rPr lang="es-ES" sz="1400" dirty="0"/>
              <a:t> </a:t>
            </a:r>
            <a:r>
              <a:rPr lang="es-ES" sz="1400" i="1" dirty="0"/>
              <a:t>&lt;días&gt;</a:t>
            </a:r>
            <a:endParaRPr lang="es-ES" sz="1400" dirty="0"/>
          </a:p>
          <a:p>
            <a:pPr>
              <a:lnSpc>
                <a:spcPct val="100000"/>
              </a:lnSpc>
              <a:spcBef>
                <a:spcPts val="200"/>
              </a:spcBef>
              <a:buFont typeface="Wingdings" panose="05000000000000000000" pitchFamily="2" charset="2"/>
              <a:buChar char="§"/>
            </a:pPr>
            <a:r>
              <a:rPr lang="es-ES" sz="1400" dirty="0"/>
              <a:t>Indica el número máximo de días entre cambios de contraseña. Una vez sobrepasado estos días la contraseña deberá ser cambiada: </a:t>
            </a:r>
            <a:r>
              <a:rPr lang="es-ES" sz="1400" b="1" dirty="0"/>
              <a:t>-x</a:t>
            </a:r>
            <a:r>
              <a:rPr lang="es-ES" sz="1400" dirty="0"/>
              <a:t> </a:t>
            </a:r>
            <a:r>
              <a:rPr lang="es-ES" sz="1400" i="1" dirty="0"/>
              <a:t>&lt;días&gt;</a:t>
            </a:r>
            <a:endParaRPr lang="es-ES" sz="1400" dirty="0"/>
          </a:p>
          <a:p>
            <a:pPr>
              <a:lnSpc>
                <a:spcPct val="100000"/>
              </a:lnSpc>
              <a:spcBef>
                <a:spcPts val="200"/>
              </a:spcBef>
              <a:buFont typeface="Wingdings" panose="05000000000000000000" pitchFamily="2" charset="2"/>
              <a:buChar char="§"/>
            </a:pPr>
            <a:r>
              <a:rPr lang="es-ES" sz="1400" dirty="0"/>
              <a:t>Avisar con un determinado número de días sobre el cambio de la contraseña, antes de que esta esté bajo la obligación de ser modificada: </a:t>
            </a:r>
            <a:r>
              <a:rPr lang="es-ES" sz="1400" b="1" dirty="0"/>
              <a:t>-w</a:t>
            </a:r>
            <a:r>
              <a:rPr lang="es-ES" sz="1400" dirty="0"/>
              <a:t> </a:t>
            </a:r>
            <a:r>
              <a:rPr lang="es-ES" sz="1400" i="1" dirty="0"/>
              <a:t>&lt;días&gt;</a:t>
            </a:r>
            <a:endParaRPr lang="es-ES" sz="1400" dirty="0"/>
          </a:p>
          <a:p>
            <a:pPr>
              <a:lnSpc>
                <a:spcPct val="100000"/>
              </a:lnSpc>
              <a:spcBef>
                <a:spcPts val="200"/>
              </a:spcBef>
              <a:buFont typeface="Wingdings" panose="05000000000000000000" pitchFamily="2" charset="2"/>
              <a:buChar char="§"/>
            </a:pPr>
            <a:r>
              <a:rPr lang="es-ES" sz="1400" dirty="0"/>
              <a:t>Muestra el estado de una contraseña:</a:t>
            </a:r>
            <a:r>
              <a:rPr lang="es-ES" sz="1400" b="1" dirty="0"/>
              <a:t> -S</a:t>
            </a:r>
            <a:r>
              <a:rPr lang="es-ES" sz="1400" dirty="0"/>
              <a:t>, </a:t>
            </a:r>
            <a:r>
              <a:rPr lang="es-ES" sz="1400" i="1" dirty="0"/>
              <a:t>–status</a:t>
            </a:r>
            <a:endParaRPr lang="es-E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0864" y="1573731"/>
            <a:ext cx="10765809" cy="3550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nSpc>
                <a:spcPct val="100000"/>
              </a:lnSpc>
              <a:spcBef>
                <a:spcPts val="200"/>
              </a:spcBef>
              <a:buNone/>
            </a:pPr>
            <a:r>
              <a:rPr lang="es-ES" sz="1400" b="1" dirty="0"/>
              <a:t>ADMINISTRACION DE USUARIOS</a:t>
            </a:r>
            <a:endParaRPr lang="es-ES" sz="1400" b="1" dirty="0"/>
          </a:p>
          <a:p>
            <a:pPr marL="0" lvl="0" indent="0" eaLnBrk="0" fontAlgn="base" hangingPunct="0">
              <a:lnSpc>
                <a:spcPct val="100000"/>
              </a:lnSpc>
              <a:spcBef>
                <a:spcPts val="200"/>
              </a:spcBef>
              <a:buClrTx/>
              <a:buSzTx/>
              <a:buNone/>
            </a:pPr>
            <a:endParaRPr lang="es-ES" altLang="es-ES" sz="1400" dirty="0">
              <a:solidFill>
                <a:srgbClr val="333333"/>
              </a:solidFill>
            </a:endParaRPr>
          </a:p>
          <a:p>
            <a:pPr marL="0" lvl="0" indent="0" eaLnBrk="0" fontAlgn="base" hangingPunct="0">
              <a:lnSpc>
                <a:spcPct val="100000"/>
              </a:lnSpc>
              <a:spcBef>
                <a:spcPts val="200"/>
              </a:spcBef>
              <a:spcAft>
                <a:spcPts val="400"/>
              </a:spcAft>
              <a:buClrTx/>
              <a:buSzTx/>
              <a:buNone/>
            </a:pPr>
            <a:r>
              <a:rPr lang="es-ES" altLang="es-ES" sz="1400" b="1" dirty="0">
                <a:solidFill>
                  <a:srgbClr val="333333"/>
                </a:solidFill>
              </a:rPr>
              <a:t>Comandos de gestión de usuarios</a:t>
            </a:r>
            <a:endParaRPr lang="es-ES" altLang="es-ES" sz="1400" b="1" dirty="0">
              <a:solidFill>
                <a:srgbClr val="333333"/>
              </a:solidFill>
            </a:endParaRPr>
          </a:p>
          <a:p>
            <a:r>
              <a:rPr lang="es-ES" sz="1400" b="1" dirty="0" err="1"/>
              <a:t>chpasswd</a:t>
            </a:r>
            <a:r>
              <a:rPr lang="es-ES" sz="1400" dirty="0"/>
              <a:t>: Cambiar las contraseñas de varias cuentas de una sola vez. Para invocar a </a:t>
            </a:r>
            <a:r>
              <a:rPr lang="es-ES" sz="1400" i="1" dirty="0" err="1"/>
              <a:t>chpasswd</a:t>
            </a:r>
            <a:r>
              <a:rPr lang="es-ES" sz="1400" dirty="0"/>
              <a:t> basta con nombrarlo y acompañarlo con una lista de </a:t>
            </a:r>
            <a:r>
              <a:rPr lang="es-ES" sz="1400" dirty="0" err="1"/>
              <a:t>nombre_usuario:contraseña</a:t>
            </a:r>
            <a:r>
              <a:rPr lang="es-ES" sz="1400" dirty="0"/>
              <a:t> (una cuenta por cada línea). Podremos crear un archivo con varias </a:t>
            </a:r>
            <a:r>
              <a:rPr lang="es-ES" sz="1400" dirty="0" err="1"/>
              <a:t>lineas</a:t>
            </a:r>
            <a:r>
              <a:rPr lang="es-ES" sz="1400" dirty="0"/>
              <a:t> y </a:t>
            </a:r>
            <a:r>
              <a:rPr lang="es-ES" sz="1400" dirty="0" err="1"/>
              <a:t>pasarselo</a:t>
            </a:r>
            <a:r>
              <a:rPr lang="es-ES" sz="1400" dirty="0"/>
              <a:t> mediante la redirección &lt; archivo. Para encriptar las contraseñas </a:t>
            </a:r>
            <a:r>
              <a:rPr lang="es-ES" sz="1400" i="1" dirty="0" err="1"/>
              <a:t>chpasswd</a:t>
            </a:r>
            <a:r>
              <a:rPr lang="es-ES" sz="1400" dirty="0"/>
              <a:t> utiliza </a:t>
            </a:r>
            <a:r>
              <a:rPr lang="es-ES" sz="1400" i="1" dirty="0"/>
              <a:t>PAM</a:t>
            </a:r>
            <a:r>
              <a:rPr lang="es-ES" sz="1400" dirty="0"/>
              <a:t>. </a:t>
            </a:r>
            <a:endParaRPr lang="es-ES" sz="1400" dirty="0"/>
          </a:p>
          <a:p>
            <a:r>
              <a:rPr lang="es-ES" sz="1400" b="1" dirty="0"/>
              <a:t>Opciones</a:t>
            </a:r>
            <a:r>
              <a:rPr lang="es-ES" sz="1400" dirty="0"/>
              <a:t> </a:t>
            </a:r>
            <a:endParaRPr lang="es-ES" sz="1400" dirty="0"/>
          </a:p>
          <a:p>
            <a:pPr>
              <a:buFont typeface="Wingdings" panose="05000000000000000000" pitchFamily="2" charset="2"/>
              <a:buChar char="§"/>
            </a:pPr>
            <a:r>
              <a:rPr lang="es-ES" sz="1400" dirty="0"/>
              <a:t>Indicar un método distinto de encriptación (por defecto SHA512): -c &lt;método&gt;</a:t>
            </a:r>
            <a:endParaRPr lang="es-ES" sz="1400" dirty="0"/>
          </a:p>
          <a:p>
            <a:pPr>
              <a:buFont typeface="Wingdings" panose="05000000000000000000" pitchFamily="2" charset="2"/>
              <a:buChar char="§"/>
            </a:pPr>
            <a:r>
              <a:rPr lang="es-ES" sz="1400" dirty="0"/>
              <a:t>Pasar contraseñas ya encriptadas: -e</a:t>
            </a:r>
            <a:endParaRPr lang="es-ES" sz="1400" dirty="0"/>
          </a:p>
          <a:p>
            <a:pPr>
              <a:buFont typeface="Wingdings" panose="05000000000000000000" pitchFamily="2" charset="2"/>
              <a:buChar char="§"/>
            </a:pPr>
            <a:r>
              <a:rPr lang="es-ES" sz="1400" dirty="0"/>
              <a:t>Usar el método md5 para encriptar las contraseñas: -m, –md5</a:t>
            </a:r>
            <a:endParaRPr lang="es-E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6556" y="1482954"/>
            <a:ext cx="10233546" cy="4900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Helvetica" panose="020B0604020202020204" pitchFamily="34" charset="0"/>
              </a:rPr>
              <a:t>Algo muy común en la administración de grupos es el añadir miembros a un grupo. A continuación vamos a nombrar diferentes formas de hacerlo.</a:t>
            </a:r>
            <a:endParaRPr lang="es-ES" altLang="es-ES" dirty="0">
              <a:solidFill>
                <a:schemeClr val="tx1"/>
              </a:solidFill>
            </a:endParaRPr>
          </a:p>
          <a:p>
            <a:pPr eaLnBrk="0" fontAlgn="base" hangingPunct="0">
              <a:lnSpc>
                <a:spcPct val="100000"/>
              </a:lnSpc>
              <a:spcBef>
                <a:spcPct val="0"/>
              </a:spcBef>
              <a:spcAft>
                <a:spcPct val="0"/>
              </a:spcAft>
              <a:buClrTx/>
              <a:buSzTx/>
              <a:buFont typeface="Wingdings" panose="05000000000000000000" pitchFamily="2" charset="2"/>
              <a:buChar char="§"/>
            </a:pPr>
            <a:r>
              <a:rPr lang="es-ES" altLang="es-ES" sz="1400" dirty="0">
                <a:solidFill>
                  <a:srgbClr val="333333"/>
                </a:solidFill>
                <a:latin typeface="Helvetica" panose="020B0604020202020204" pitchFamily="34" charset="0"/>
              </a:rPr>
              <a:t>Añadir un usuario que ya existe a un grupo que también existe:</a:t>
            </a:r>
            <a:endParaRPr lang="es-ES" altLang="es-ES" sz="1400" dirty="0">
              <a:solidFill>
                <a:srgbClr val="333333"/>
              </a:solidFill>
              <a:latin typeface="Helvetica" panose="020B0604020202020204" pitchFamily="34" charset="0"/>
            </a:endParaRPr>
          </a:p>
          <a:p>
            <a:pPr mar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sudo </a:t>
            </a:r>
            <a:r>
              <a:rPr lang="es-ES" altLang="es-ES" sz="1400" b="1" i="1" dirty="0" err="1">
                <a:solidFill>
                  <a:srgbClr val="333333"/>
                </a:solidFill>
                <a:cs typeface="Courier New" panose="02070309020205020404" pitchFamily="49" charset="0"/>
              </a:rPr>
              <a:t>adduser</a:t>
            </a:r>
            <a:r>
              <a:rPr lang="es-ES" altLang="es-ES" sz="1400" b="1" i="1" dirty="0">
                <a:solidFill>
                  <a:srgbClr val="333333"/>
                </a:solidFill>
                <a:cs typeface="Courier New" panose="02070309020205020404" pitchFamily="49" charset="0"/>
              </a:rPr>
              <a:t> &lt;usuario&gt; &lt;grupo&gt;</a:t>
            </a:r>
            <a:endParaRPr lang="es-ES" altLang="es-ES" b="1" i="1" dirty="0">
              <a:solidFill>
                <a:schemeClr val="tx1"/>
              </a:solidFill>
              <a:cs typeface="Courier New" panose="02070309020205020404" pitchFamily="49" charset="0"/>
            </a:endParaRPr>
          </a:p>
          <a:p>
            <a:pPr lvl="0" eaLnBrk="0" fontAlgn="base" hangingPunct="0">
              <a:lnSpc>
                <a:spcPct val="100000"/>
              </a:lnSpc>
              <a:spcBef>
                <a:spcPct val="0"/>
              </a:spcBef>
              <a:spcAft>
                <a:spcPct val="0"/>
              </a:spcAft>
              <a:buClrTx/>
              <a:buSzTx/>
              <a:buFont typeface="Wingdings" panose="05000000000000000000" pitchFamily="2" charset="2"/>
              <a:buChar char="§"/>
            </a:pPr>
            <a:r>
              <a:rPr lang="es-ES" altLang="es-ES" sz="1400" dirty="0">
                <a:solidFill>
                  <a:srgbClr val="333333"/>
                </a:solidFill>
                <a:latin typeface="Helvetica" panose="020B0604020202020204" pitchFamily="34" charset="0"/>
              </a:rPr>
              <a:t>Añadir un usuario que ya existe a un grupo que también existe. Es similar al comando anterior y además es el que deberemos de acostumbrar a usar:</a:t>
            </a:r>
            <a:endParaRPr lang="es-ES" altLang="es-ES" sz="1400" dirty="0">
              <a:solidFill>
                <a:srgbClr val="333333"/>
              </a:solidFill>
              <a:latin typeface="Helvetica" panose="020B0604020202020204" pitchFamily="34"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sudo </a:t>
            </a:r>
            <a:r>
              <a:rPr lang="es-ES" altLang="es-ES" sz="1400" b="1" i="1" dirty="0" err="1">
                <a:solidFill>
                  <a:srgbClr val="333333"/>
                </a:solidFill>
                <a:cs typeface="Courier New" panose="02070309020205020404" pitchFamily="49" charset="0"/>
              </a:rPr>
              <a:t>gpasswd</a:t>
            </a:r>
            <a:r>
              <a:rPr lang="es-ES" altLang="es-ES" sz="1400" b="1" i="1" dirty="0">
                <a:solidFill>
                  <a:srgbClr val="333333"/>
                </a:solidFill>
                <a:cs typeface="Courier New" panose="02070309020205020404" pitchFamily="49" charset="0"/>
              </a:rPr>
              <a:t> -a &lt;usuario&gt; &lt;grupo&gt;</a:t>
            </a:r>
            <a:endParaRPr lang="es-ES" altLang="es-ES" b="1" i="1" dirty="0">
              <a:solidFill>
                <a:schemeClr val="tx1"/>
              </a:solidFill>
            </a:endParaRPr>
          </a:p>
          <a:p>
            <a:pPr marL="0" lvl="0" indent="0" eaLnBrk="0" fontAlgn="base" hangingPunct="0">
              <a:lnSpc>
                <a:spcPct val="100000"/>
              </a:lnSpc>
              <a:spcBef>
                <a:spcPct val="0"/>
              </a:spcBef>
              <a:spcAft>
                <a:spcPct val="0"/>
              </a:spcAft>
              <a:buClrTx/>
              <a:buSzTx/>
              <a:buFontTx/>
              <a:buChar char="•"/>
            </a:pPr>
            <a:r>
              <a:rPr lang="es-ES" altLang="es-ES" sz="1400" dirty="0">
                <a:solidFill>
                  <a:srgbClr val="333333"/>
                </a:solidFill>
                <a:latin typeface="Helvetica" panose="020B0604020202020204" pitchFamily="34" charset="0"/>
              </a:rPr>
              <a:t>Añadir a uno o varios grupos existentes usuarios de nueva creación:</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useradd</a:t>
            </a:r>
            <a:r>
              <a:rPr lang="es-ES" altLang="es-ES" sz="1400" b="1" i="1" dirty="0">
                <a:solidFill>
                  <a:srgbClr val="333333"/>
                </a:solidFill>
                <a:cs typeface="Courier New" panose="02070309020205020404" pitchFamily="49" charset="0"/>
              </a:rPr>
              <a:t> [opciones de creación de usuario] -G grupo1,grupo2,grupoN...</a:t>
            </a:r>
            <a:endParaRPr lang="es-ES" altLang="es-ES" sz="1400" b="1" i="1" dirty="0">
              <a:solidFill>
                <a:schemeClr val="tx1"/>
              </a:solidFill>
            </a:endParaRPr>
          </a:p>
          <a:p>
            <a:pPr marL="0" lvl="0" indent="0" eaLnBrk="0" fontAlgn="base" hangingPunct="0">
              <a:lnSpc>
                <a:spcPct val="100000"/>
              </a:lnSpc>
              <a:spcBef>
                <a:spcPct val="0"/>
              </a:spcBef>
              <a:spcAft>
                <a:spcPct val="0"/>
              </a:spcAft>
              <a:buClrTx/>
              <a:buSzTx/>
              <a:buFontTx/>
              <a:buChar char="•"/>
            </a:pPr>
            <a:r>
              <a:rPr lang="es-ES" altLang="es-ES" sz="1400" dirty="0">
                <a:solidFill>
                  <a:srgbClr val="333333"/>
                </a:solidFill>
                <a:latin typeface="Helvetica" panose="020B0604020202020204" pitchFamily="34" charset="0"/>
              </a:rPr>
              <a:t>Añadir un usuario que ya existe a uno o varios grupos a la vez:</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sudo </a:t>
            </a:r>
            <a:r>
              <a:rPr lang="es-ES" altLang="es-ES" sz="1400" b="1" i="1" dirty="0" err="1">
                <a:solidFill>
                  <a:srgbClr val="333333"/>
                </a:solidFill>
                <a:cs typeface="Courier New" panose="02070309020205020404" pitchFamily="49" charset="0"/>
              </a:rPr>
              <a:t>usermod</a:t>
            </a:r>
            <a:r>
              <a:rPr lang="es-ES" altLang="es-ES" sz="1400" b="1" i="1" dirty="0">
                <a:solidFill>
                  <a:srgbClr val="333333"/>
                </a:solidFill>
                <a:cs typeface="Courier New" panose="02070309020205020404" pitchFamily="49" charset="0"/>
              </a:rPr>
              <a:t> -G grupo1,grupo2,grupoN &lt;usuario&gt;</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FontTx/>
              <a:buChar char="•"/>
            </a:pPr>
            <a:r>
              <a:rPr lang="es-ES" altLang="es-ES" sz="1400" dirty="0">
                <a:solidFill>
                  <a:srgbClr val="333333"/>
                </a:solidFill>
                <a:latin typeface="Helvetica" panose="020B0604020202020204" pitchFamily="34" charset="0"/>
              </a:rPr>
              <a:t>Eliminar a un usuario de uno o varios grupos, pero la mejor forma de hacerlo es la siguiente:</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sudo </a:t>
            </a:r>
            <a:r>
              <a:rPr lang="es-ES" altLang="es-ES" sz="1400" b="1" i="1" dirty="0" err="1">
                <a:solidFill>
                  <a:srgbClr val="333333"/>
                </a:solidFill>
                <a:cs typeface="Courier New" panose="02070309020205020404" pitchFamily="49" charset="0"/>
              </a:rPr>
              <a:t>gpasswd</a:t>
            </a:r>
            <a:r>
              <a:rPr lang="es-ES" altLang="es-ES" sz="1400" b="1" i="1" dirty="0">
                <a:solidFill>
                  <a:srgbClr val="333333"/>
                </a:solidFill>
                <a:cs typeface="Courier New" panose="02070309020205020404" pitchFamily="49" charset="0"/>
              </a:rPr>
              <a:t> -d &lt;usuario&gt; &lt;grupo&gt;</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FontTx/>
              <a:buChar char="•"/>
            </a:pPr>
            <a:r>
              <a:rPr lang="es-ES" altLang="es-ES" sz="1400" dirty="0">
                <a:solidFill>
                  <a:srgbClr val="333333"/>
                </a:solidFill>
                <a:latin typeface="Helvetica" panose="020B0604020202020204" pitchFamily="34" charset="0"/>
              </a:rPr>
              <a:t>O igualmente con la interfaz para </a:t>
            </a:r>
            <a:r>
              <a:rPr lang="es-ES" altLang="es-ES" sz="1400" dirty="0" err="1">
                <a:solidFill>
                  <a:srgbClr val="333333"/>
                </a:solidFill>
                <a:latin typeface="Helvetica" panose="020B0604020202020204" pitchFamily="34" charset="0"/>
              </a:rPr>
              <a:t>userdel</a:t>
            </a:r>
            <a:r>
              <a:rPr lang="es-ES" altLang="es-ES" sz="1400" dirty="0">
                <a:solidFill>
                  <a:srgbClr val="333333"/>
                </a:solidFill>
                <a:latin typeface="Helvetica" panose="020B0604020202020204" pitchFamily="34" charset="0"/>
              </a:rPr>
              <a:t> de algunas distribuciones Debian:</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sudo </a:t>
            </a:r>
            <a:r>
              <a:rPr lang="es-ES" altLang="es-ES" sz="1400" b="1" i="1" dirty="0" err="1">
                <a:solidFill>
                  <a:srgbClr val="333333"/>
                </a:solidFill>
                <a:cs typeface="Courier New" panose="02070309020205020404" pitchFamily="49" charset="0"/>
              </a:rPr>
              <a:t>deluser</a:t>
            </a:r>
            <a:r>
              <a:rPr lang="es-ES" altLang="es-ES" sz="1400" b="1" i="1" dirty="0">
                <a:solidFill>
                  <a:srgbClr val="333333"/>
                </a:solidFill>
                <a:cs typeface="Courier New" panose="02070309020205020404" pitchFamily="49" charset="0"/>
              </a:rPr>
              <a:t> &lt;usuario&gt; &lt;grupo&gt;</a:t>
            </a:r>
            <a:r>
              <a:rPr lang="es-ES" altLang="es-ES" sz="1400" b="1" i="1" dirty="0">
                <a:solidFill>
                  <a:schemeClr val="tx1"/>
                </a:solidFill>
              </a:rPr>
              <a:t> </a:t>
            </a:r>
            <a:endParaRPr lang="es-ES" altLang="es-ES" sz="1400" b="1" i="1"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33060" y="1573582"/>
            <a:ext cx="10233546" cy="4931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indent="0" eaLnBrk="0" fontAlgn="base" hangingPunct="0">
              <a:lnSpc>
                <a:spcPct val="100000"/>
              </a:lnSpc>
              <a:spcBef>
                <a:spcPct val="0"/>
              </a:spcBef>
              <a:spcAft>
                <a:spcPct val="0"/>
              </a:spcAft>
              <a:buClrTx/>
              <a:buSzTx/>
              <a:buNone/>
            </a:pPr>
            <a:r>
              <a:rPr lang="es-ES" altLang="es-ES" sz="1400" b="1" dirty="0"/>
              <a:t>Eliminar cuentas de usuario</a:t>
            </a:r>
            <a:endParaRPr lang="es-ES" altLang="es-ES" sz="1400" b="1" dirty="0"/>
          </a:p>
          <a:p>
            <a:pPr marL="0" indent="0" eaLnBrk="0" fontAlgn="base" hangingPunct="0">
              <a:lnSpc>
                <a:spcPct val="100000"/>
              </a:lnSpc>
              <a:spcBef>
                <a:spcPct val="0"/>
              </a:spcBef>
              <a:spcAft>
                <a:spcPct val="0"/>
              </a:spcAft>
              <a:buClrTx/>
              <a:buSzTx/>
              <a:buNone/>
            </a:pPr>
            <a:endParaRPr lang="es-ES" altLang="es-ES" sz="1400" b="1" dirty="0"/>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Helvetica" panose="020B0604020202020204" pitchFamily="34" charset="0"/>
              </a:rPr>
              <a:t>Eliminar una cuenta de usuario no es complicado, pero deberemos de estar atentos para no dejar rastros de los usuarios, como son sus archivos o directorios creados, cuentas de correo, directorio home, </a:t>
            </a:r>
            <a:r>
              <a:rPr lang="es-ES" altLang="es-ES" sz="1400" dirty="0" err="1">
                <a:solidFill>
                  <a:srgbClr val="333333"/>
                </a:solidFill>
                <a:latin typeface="Helvetica" panose="020B0604020202020204" pitchFamily="34" charset="0"/>
              </a:rPr>
              <a:t>etc</a:t>
            </a:r>
            <a:r>
              <a:rPr lang="es-ES" altLang="es-ES" sz="1400" dirty="0">
                <a:solidFill>
                  <a:srgbClr val="333333"/>
                </a:solidFill>
                <a:latin typeface="Helvetica" panose="020B0604020202020204" pitchFamily="34" charset="0"/>
              </a:rPr>
              <a:t>… Si no queremos eliminar todo su contenido deberemos de hacer algo con él, para evitar que nuevos usuarios creados en el sistema puedan adoptar su </a:t>
            </a:r>
            <a:r>
              <a:rPr lang="es-ES" altLang="es-ES" sz="1400" i="1" dirty="0">
                <a:solidFill>
                  <a:srgbClr val="333333"/>
                </a:solidFill>
                <a:latin typeface="Helvetica" panose="020B0604020202020204" pitchFamily="34" charset="0"/>
              </a:rPr>
              <a:t>UID</a:t>
            </a:r>
            <a:r>
              <a:rPr lang="es-ES" altLang="es-ES" sz="1400" dirty="0">
                <a:solidFill>
                  <a:srgbClr val="333333"/>
                </a:solidFill>
                <a:latin typeface="Helvetica" panose="020B0604020202020204" pitchFamily="34" charset="0"/>
              </a:rPr>
              <a:t> (algo que a menos que se fuerce no suele ser muy normal) y tengan acceso completo a todos los archivos. A continuación vamos a ver como eliminar una cuenta de usuario y ver que hacer con todo aquello que queremos o no conservar.</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Helvetica" panose="020B0604020202020204" pitchFamily="34" charset="0"/>
              </a:rPr>
              <a:t>Para eliminar cuentas disponemos de la utilidad </a:t>
            </a:r>
            <a:r>
              <a:rPr lang="es-ES" altLang="es-ES" sz="1400" b="1" dirty="0" err="1">
                <a:solidFill>
                  <a:srgbClr val="333333"/>
                </a:solidFill>
                <a:latin typeface="Helvetica" panose="020B0604020202020204" pitchFamily="34" charset="0"/>
              </a:rPr>
              <a:t>userdel</a:t>
            </a:r>
            <a:r>
              <a:rPr lang="es-ES" altLang="es-ES" sz="1400" dirty="0">
                <a:solidFill>
                  <a:srgbClr val="333333"/>
                </a:solidFill>
                <a:latin typeface="Helvetica" panose="020B0604020202020204" pitchFamily="34" charset="0"/>
              </a:rPr>
              <a:t> y de su interfaz sencilla </a:t>
            </a:r>
            <a:r>
              <a:rPr lang="es-ES" altLang="es-ES" sz="1400" i="1" dirty="0" err="1">
                <a:solidFill>
                  <a:srgbClr val="333333"/>
                </a:solidFill>
                <a:latin typeface="Helvetica" panose="020B0604020202020204" pitchFamily="34" charset="0"/>
              </a:rPr>
              <a:t>deluser</a:t>
            </a:r>
            <a:r>
              <a:rPr lang="es-ES" altLang="es-ES" sz="1400" dirty="0">
                <a:solidFill>
                  <a:srgbClr val="333333"/>
                </a:solidFill>
                <a:latin typeface="Helvetica" panose="020B0604020202020204" pitchFamily="34" charset="0"/>
              </a:rPr>
              <a:t> (en teoría solo para algunas distribuciones Debian). </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dirty="0">
              <a:solidFill>
                <a:schemeClr val="tx1"/>
              </a:solidFill>
            </a:endParaRPr>
          </a:p>
          <a:p>
            <a:pPr eaLnBrk="0" fontAlgn="base" hangingPunct="0">
              <a:lnSpc>
                <a:spcPct val="100000"/>
              </a:lnSpc>
              <a:spcBef>
                <a:spcPct val="0"/>
              </a:spcBef>
              <a:spcAft>
                <a:spcPct val="0"/>
              </a:spcAft>
              <a:buClrTx/>
              <a:buSzTx/>
              <a:buFont typeface="Wingdings" panose="05000000000000000000" pitchFamily="2" charset="2"/>
              <a:buChar char="§"/>
            </a:pPr>
            <a:r>
              <a:rPr lang="es-ES" altLang="es-ES" sz="1400" dirty="0">
                <a:solidFill>
                  <a:srgbClr val="333333"/>
                </a:solidFill>
                <a:latin typeface="Helvetica" panose="020B0604020202020204" pitchFamily="34" charset="0"/>
              </a:rPr>
              <a:t>Eliminar la cuenta de usuario de </a:t>
            </a:r>
            <a:r>
              <a:rPr lang="es-ES" altLang="es-ES" sz="1400" i="1" dirty="0">
                <a:solidFill>
                  <a:srgbClr val="333333"/>
                </a:solidFill>
                <a:latin typeface="Helvetica" panose="020B0604020202020204" pitchFamily="34" charset="0"/>
              </a:rPr>
              <a:t>Emilio </a:t>
            </a:r>
            <a:r>
              <a:rPr lang="es-ES" altLang="es-ES" sz="1400" dirty="0">
                <a:solidFill>
                  <a:srgbClr val="333333"/>
                </a:solidFill>
                <a:latin typeface="Helvetica" panose="020B0604020202020204" pitchFamily="34" charset="0"/>
              </a:rPr>
              <a:t>eliminando a demás su directorio </a:t>
            </a:r>
            <a:r>
              <a:rPr lang="es-ES" altLang="es-ES" sz="1400" i="1" dirty="0">
                <a:solidFill>
                  <a:srgbClr val="333333"/>
                </a:solidFill>
                <a:latin typeface="Helvetica" panose="020B0604020202020204" pitchFamily="34" charset="0"/>
              </a:rPr>
              <a:t>/home</a:t>
            </a:r>
            <a:r>
              <a:rPr lang="es-ES" altLang="es-ES" sz="1400" dirty="0">
                <a:solidFill>
                  <a:srgbClr val="333333"/>
                </a:solidFill>
                <a:latin typeface="Helvetica" panose="020B0604020202020204" pitchFamily="34" charset="0"/>
              </a:rPr>
              <a:t> y con ello todos los archivos en él creados, además de su directorio </a:t>
            </a:r>
            <a:r>
              <a:rPr lang="es-ES" altLang="es-ES" sz="1400" i="1" dirty="0">
                <a:solidFill>
                  <a:srgbClr val="333333"/>
                </a:solidFill>
                <a:latin typeface="Helvetica" panose="020B0604020202020204" pitchFamily="34" charset="0"/>
              </a:rPr>
              <a:t>mail</a:t>
            </a:r>
            <a:r>
              <a:rPr lang="es-ES" altLang="es-ES" sz="1400" dirty="0">
                <a:solidFill>
                  <a:srgbClr val="333333"/>
                </a:solidFill>
                <a:latin typeface="Helvetica" panose="020B0604020202020204" pitchFamily="34" charset="0"/>
              </a:rPr>
              <a:t>.</a:t>
            </a:r>
            <a:endParaRPr lang="es-ES" altLang="es-ES" sz="1400" dirty="0">
              <a:solidFill>
                <a:srgbClr val="333333"/>
              </a:solidFill>
              <a:latin typeface="Helvetica" panose="020B0604020202020204" pitchFamily="34"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sudo </a:t>
            </a:r>
            <a:r>
              <a:rPr lang="es-ES" altLang="es-ES" sz="1400" b="1" i="1" dirty="0" err="1">
                <a:solidFill>
                  <a:srgbClr val="333333"/>
                </a:solidFill>
                <a:cs typeface="Courier New" panose="02070309020205020404" pitchFamily="49" charset="0"/>
              </a:rPr>
              <a:t>userdel</a:t>
            </a:r>
            <a:r>
              <a:rPr lang="es-ES" altLang="es-ES" sz="1400" b="1" i="1" dirty="0">
                <a:solidFill>
                  <a:srgbClr val="333333"/>
                </a:solidFill>
                <a:cs typeface="Courier New" panose="02070309020205020404" pitchFamily="49" charset="0"/>
              </a:rPr>
              <a:t> -r Emilio</a:t>
            </a:r>
            <a:endParaRPr lang="es-ES" altLang="es-ES" sz="1400" b="1" i="1"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endParaRPr lang="es-ES" altLang="es-ES" b="1" i="1" dirty="0">
              <a:solidFill>
                <a:schemeClr val="tx1"/>
              </a:solidFill>
            </a:endParaRPr>
          </a:p>
          <a:p>
            <a:pPr marL="0" lvl="0" indent="0" eaLnBrk="0" fontAlgn="base" hangingPunct="0">
              <a:lnSpc>
                <a:spcPct val="100000"/>
              </a:lnSpc>
              <a:spcBef>
                <a:spcPct val="0"/>
              </a:spcBef>
              <a:spcAft>
                <a:spcPct val="0"/>
              </a:spcAft>
              <a:buClrTx/>
              <a:buSzTx/>
              <a:buFontTx/>
              <a:buChar char="•"/>
            </a:pPr>
            <a:r>
              <a:rPr lang="es-ES" altLang="es-ES" sz="1400" dirty="0">
                <a:solidFill>
                  <a:srgbClr val="333333"/>
                </a:solidFill>
                <a:latin typeface="Helvetica" panose="020B0604020202020204" pitchFamily="34" charset="0"/>
              </a:rPr>
              <a:t>La misma acción pero mas agresiva (eliminará no solo el directorio home del usuario, si no cualquier archivo con su </a:t>
            </a:r>
            <a:r>
              <a:rPr lang="es-ES" altLang="es-ES" sz="1400" i="1" dirty="0">
                <a:solidFill>
                  <a:srgbClr val="333333"/>
                </a:solidFill>
                <a:latin typeface="Helvetica" panose="020B0604020202020204" pitchFamily="34" charset="0"/>
              </a:rPr>
              <a:t>UID</a:t>
            </a:r>
            <a:r>
              <a:rPr lang="es-ES" altLang="es-ES" sz="1400" dirty="0">
                <a:solidFill>
                  <a:srgbClr val="333333"/>
                </a:solidFill>
                <a:latin typeface="Helvetica" panose="020B0604020202020204" pitchFamily="34" charset="0"/>
              </a:rPr>
              <a:t> en el sistema) podremos realizarla con </a:t>
            </a:r>
            <a:r>
              <a:rPr lang="es-ES" altLang="es-ES" sz="1400" i="1" dirty="0" err="1">
                <a:solidFill>
                  <a:srgbClr val="333333"/>
                </a:solidFill>
                <a:latin typeface="Helvetica" panose="020B0604020202020204" pitchFamily="34" charset="0"/>
              </a:rPr>
              <a:t>deluser</a:t>
            </a:r>
            <a:r>
              <a:rPr lang="es-ES" altLang="es-ES" sz="1400" dirty="0">
                <a:solidFill>
                  <a:srgbClr val="333333"/>
                </a:solidFill>
                <a:latin typeface="Helvetica" panose="020B0604020202020204" pitchFamily="34" charset="0"/>
              </a:rPr>
              <a:t> y su opción</a:t>
            </a:r>
            <a:r>
              <a:rPr lang="es-ES" altLang="es-ES" sz="1400" i="1" dirty="0">
                <a:solidFill>
                  <a:srgbClr val="333333"/>
                </a:solidFill>
                <a:latin typeface="Helvetica" panose="020B0604020202020204" pitchFamily="34" charset="0"/>
              </a:rPr>
              <a:t> –</a:t>
            </a:r>
            <a:r>
              <a:rPr lang="es-ES" altLang="es-ES" sz="1400" i="1" dirty="0" err="1">
                <a:solidFill>
                  <a:srgbClr val="333333"/>
                </a:solidFill>
                <a:latin typeface="Helvetica" panose="020B0604020202020204" pitchFamily="34" charset="0"/>
              </a:rPr>
              <a:t>remove</a:t>
            </a:r>
            <a:r>
              <a:rPr lang="es-ES" altLang="es-ES" sz="1400" i="1" dirty="0">
                <a:solidFill>
                  <a:srgbClr val="333333"/>
                </a:solidFill>
                <a:latin typeface="Helvetica" panose="020B0604020202020204" pitchFamily="34" charset="0"/>
              </a:rPr>
              <a:t>-</a:t>
            </a:r>
            <a:r>
              <a:rPr lang="es-ES" altLang="es-ES" sz="1400" i="1" dirty="0" err="1">
                <a:solidFill>
                  <a:srgbClr val="333333"/>
                </a:solidFill>
                <a:latin typeface="Helvetica" panose="020B0604020202020204" pitchFamily="34" charset="0"/>
              </a:rPr>
              <a:t>all</a:t>
            </a:r>
            <a:r>
              <a:rPr lang="es-ES" altLang="es-ES" sz="1400" i="1" dirty="0">
                <a:solidFill>
                  <a:srgbClr val="333333"/>
                </a:solidFill>
                <a:latin typeface="Helvetica" panose="020B0604020202020204" pitchFamily="34" charset="0"/>
              </a:rPr>
              <a:t>-files</a:t>
            </a:r>
            <a:r>
              <a:rPr lang="es-ES" altLang="es-ES" sz="1400" dirty="0">
                <a:solidFill>
                  <a:srgbClr val="333333"/>
                </a:solidFill>
                <a:latin typeface="Helvetica" panose="020B0604020202020204" pitchFamily="34" charset="0"/>
              </a:rPr>
              <a:t> o </a:t>
            </a:r>
            <a:r>
              <a:rPr lang="es-ES" altLang="es-ES" sz="1400" i="1" dirty="0">
                <a:solidFill>
                  <a:srgbClr val="333333"/>
                </a:solidFill>
                <a:latin typeface="Helvetica" panose="020B0604020202020204" pitchFamily="34" charset="0"/>
              </a:rPr>
              <a:t>–</a:t>
            </a:r>
            <a:r>
              <a:rPr lang="es-ES" altLang="es-ES" sz="1400" i="1" dirty="0" err="1">
                <a:solidFill>
                  <a:srgbClr val="333333"/>
                </a:solidFill>
                <a:latin typeface="Helvetica" panose="020B0604020202020204" pitchFamily="34" charset="0"/>
              </a:rPr>
              <a:t>remove</a:t>
            </a:r>
            <a:r>
              <a:rPr lang="es-ES" altLang="es-ES" sz="1400" i="1" dirty="0">
                <a:solidFill>
                  <a:srgbClr val="333333"/>
                </a:solidFill>
                <a:latin typeface="Helvetica" panose="020B0604020202020204" pitchFamily="34" charset="0"/>
              </a:rPr>
              <a:t>-home</a:t>
            </a:r>
            <a:r>
              <a:rPr lang="es-ES" altLang="es-ES" sz="1400" dirty="0">
                <a:solidFill>
                  <a:srgbClr val="333333"/>
                </a:solidFill>
                <a:latin typeface="Helvetica" panose="020B0604020202020204" pitchFamily="34" charset="0"/>
              </a:rPr>
              <a:t> si queremos dejar intacto todo archivo creado por el usuario fuera de su directorio home</a:t>
            </a:r>
            <a:endParaRPr lang="es-ES" altLang="es-ES" sz="1400" dirty="0">
              <a:solidFill>
                <a:srgbClr val="333333"/>
              </a:solidFill>
              <a:latin typeface="Helvetica" panose="020B0604020202020204" pitchFamily="34"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sudo </a:t>
            </a:r>
            <a:r>
              <a:rPr lang="es-ES" altLang="es-ES" sz="1400" b="1" i="1" dirty="0" err="1">
                <a:solidFill>
                  <a:srgbClr val="333333"/>
                </a:solidFill>
                <a:cs typeface="Courier New" panose="02070309020205020404" pitchFamily="49" charset="0"/>
              </a:rPr>
              <a:t>deluser</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remove</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all</a:t>
            </a:r>
            <a:r>
              <a:rPr lang="es-ES" altLang="es-ES" sz="1400" b="1" i="1" dirty="0">
                <a:solidFill>
                  <a:srgbClr val="333333"/>
                </a:solidFill>
                <a:cs typeface="Courier New" panose="02070309020205020404" pitchFamily="49" charset="0"/>
              </a:rPr>
              <a:t>-files Emilio</a:t>
            </a:r>
            <a:endParaRPr lang="es-ES" altLang="es-ES" sz="1400" b="1" i="1" dirty="0">
              <a:solidFill>
                <a:schemeClr val="tx1"/>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9808" y="1546212"/>
            <a:ext cx="10233546" cy="4721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indent="0" eaLnBrk="0" fontAlgn="base" hangingPunct="0">
              <a:lnSpc>
                <a:spcPct val="100000"/>
              </a:lnSpc>
              <a:spcBef>
                <a:spcPct val="0"/>
              </a:spcBef>
              <a:spcAft>
                <a:spcPct val="0"/>
              </a:spcAft>
              <a:buClrTx/>
              <a:buSzTx/>
              <a:buNone/>
            </a:pPr>
            <a:endParaRPr lang="es-ES" altLang="es-ES" sz="1400" b="1" dirty="0"/>
          </a:p>
          <a:p>
            <a:pPr marL="0" indent="0" eaLnBrk="0" fontAlgn="base" hangingPunct="0">
              <a:lnSpc>
                <a:spcPct val="100000"/>
              </a:lnSpc>
              <a:spcBef>
                <a:spcPct val="0"/>
              </a:spcBef>
              <a:spcAft>
                <a:spcPct val="0"/>
              </a:spcAft>
              <a:buClrTx/>
              <a:buSzTx/>
              <a:buNone/>
            </a:pPr>
            <a:r>
              <a:rPr lang="es-ES" altLang="es-ES" sz="1400" b="1" dirty="0"/>
              <a:t>Eliminar cuentas de usuario</a:t>
            </a:r>
            <a:endParaRPr lang="es-ES" altLang="es-ES" sz="1400" b="1" dirty="0"/>
          </a:p>
          <a:p>
            <a:pPr marL="0" indent="0" eaLnBrk="0" fontAlgn="base" hangingPunct="0">
              <a:lnSpc>
                <a:spcPct val="100000"/>
              </a:lnSpc>
              <a:spcBef>
                <a:spcPct val="0"/>
              </a:spcBef>
              <a:spcAft>
                <a:spcPct val="0"/>
              </a:spcAft>
              <a:buClrTx/>
              <a:buSzTx/>
              <a:buNone/>
            </a:pPr>
            <a:endParaRPr lang="es-ES" altLang="es-ES" sz="1400" b="1" dirty="0"/>
          </a:p>
          <a:p>
            <a:r>
              <a:rPr lang="es-ES" sz="1400" b="1" dirty="0"/>
              <a:t>Nota</a:t>
            </a:r>
            <a:r>
              <a:rPr lang="es-ES" sz="1400" dirty="0"/>
              <a:t>: Ambos comandos aceptan la opción </a:t>
            </a:r>
            <a:r>
              <a:rPr lang="es-ES" sz="1400" b="1" dirty="0"/>
              <a:t>-f</a:t>
            </a:r>
            <a:r>
              <a:rPr lang="es-ES" sz="1400" dirty="0"/>
              <a:t> con la que podremos eliminar un usuario que se encuentre dentro del sistema e incluso al mismísimo </a:t>
            </a:r>
            <a:r>
              <a:rPr lang="es-ES" sz="1400" i="1" dirty="0" err="1"/>
              <a:t>root</a:t>
            </a:r>
            <a:r>
              <a:rPr lang="es-ES" sz="1400" dirty="0"/>
              <a:t>.</a:t>
            </a:r>
            <a:endParaRPr lang="es-ES" sz="1400" dirty="0"/>
          </a:p>
          <a:p>
            <a:r>
              <a:rPr lang="es-ES" sz="1400" dirty="0"/>
              <a:t>Si queremos eliminar un usuario con </a:t>
            </a:r>
            <a:r>
              <a:rPr lang="es-ES" sz="1400" b="1" i="1" dirty="0" err="1"/>
              <a:t>userdel</a:t>
            </a:r>
            <a:r>
              <a:rPr lang="es-ES" sz="1400" dirty="0"/>
              <a:t> y dejar intactos sus archivos bastará con no pasar la opción </a:t>
            </a:r>
            <a:r>
              <a:rPr lang="es-ES" sz="1400" b="1" dirty="0"/>
              <a:t>-r</a:t>
            </a:r>
            <a:endParaRPr lang="es-ES" sz="1400" dirty="0"/>
          </a:p>
          <a:p>
            <a:r>
              <a:rPr lang="es-ES" sz="1400" dirty="0"/>
              <a:t>En este caso el comando </a:t>
            </a:r>
            <a:r>
              <a:rPr lang="es-ES" sz="1400" b="1" i="1" dirty="0" err="1"/>
              <a:t>deluser</a:t>
            </a:r>
            <a:r>
              <a:rPr lang="es-ES" sz="1400" dirty="0"/>
              <a:t> ofrece una ventaja importante y es que nos permite realizar copias de seguridad que por defecto se crearán en el directorio raíz </a:t>
            </a:r>
            <a:r>
              <a:rPr lang="es-ES" sz="1400" i="1" dirty="0"/>
              <a:t>/nomusuario.tar.gz</a:t>
            </a:r>
            <a:r>
              <a:rPr lang="es-ES" sz="1400" dirty="0"/>
              <a:t> o </a:t>
            </a:r>
            <a:r>
              <a:rPr lang="es-ES" sz="1400" i="1" dirty="0"/>
              <a:t>/nomusuario.bz2</a:t>
            </a:r>
            <a:r>
              <a:rPr lang="es-ES" sz="1400" dirty="0"/>
              <a:t> (opción </a:t>
            </a:r>
            <a:r>
              <a:rPr lang="es-ES" sz="1400" b="1" dirty="0"/>
              <a:t>–</a:t>
            </a:r>
            <a:r>
              <a:rPr lang="es-ES" sz="1400" b="1" dirty="0" err="1"/>
              <a:t>backup</a:t>
            </a:r>
            <a:r>
              <a:rPr lang="es-ES" sz="1400" dirty="0"/>
              <a:t>) o incluso redirigir la copia a un directorio concreto con </a:t>
            </a:r>
            <a:r>
              <a:rPr lang="es-ES" sz="1400" b="1" dirty="0"/>
              <a:t>–</a:t>
            </a:r>
            <a:r>
              <a:rPr lang="es-ES" sz="1400" b="1" dirty="0" err="1"/>
              <a:t>backup-to</a:t>
            </a:r>
            <a:r>
              <a:rPr lang="es-ES" sz="1400" dirty="0"/>
              <a:t> </a:t>
            </a:r>
            <a:r>
              <a:rPr lang="es-ES" sz="1400" i="1" dirty="0"/>
              <a:t>&lt;directorio&gt;</a:t>
            </a:r>
            <a:endParaRPr lang="es-ES" sz="1400" dirty="0"/>
          </a:p>
          <a:p>
            <a:r>
              <a:rPr lang="es-ES" sz="1400" b="1" dirty="0"/>
              <a:t>Nota</a:t>
            </a:r>
            <a:r>
              <a:rPr lang="es-ES" sz="1400" dirty="0"/>
              <a:t>: </a:t>
            </a:r>
            <a:r>
              <a:rPr lang="es-ES" sz="1400" i="1" dirty="0" err="1"/>
              <a:t>deluser</a:t>
            </a:r>
            <a:r>
              <a:rPr lang="es-ES" sz="1400" dirty="0"/>
              <a:t> nos permite eliminar un grupo (no el primario de un usuario) con su opción </a:t>
            </a:r>
            <a:r>
              <a:rPr lang="es-ES" sz="1400" b="1" dirty="0"/>
              <a:t>–</a:t>
            </a:r>
            <a:r>
              <a:rPr lang="es-ES" sz="1400" b="1" dirty="0" err="1"/>
              <a:t>group</a:t>
            </a:r>
            <a:r>
              <a:rPr lang="es-ES" sz="1400" dirty="0"/>
              <a:t> y podemos asegurarnos de que eliminamos un grupo que se encuentra vacío si lo comprobamos antes con la opción </a:t>
            </a:r>
            <a:r>
              <a:rPr lang="es-ES" sz="1400" b="1" dirty="0"/>
              <a:t>–</a:t>
            </a:r>
            <a:r>
              <a:rPr lang="es-ES" sz="1400" b="1" dirty="0" err="1"/>
              <a:t>only-if-empty</a:t>
            </a:r>
            <a:endParaRPr lang="es-ES" sz="1400" dirty="0"/>
          </a:p>
          <a:p>
            <a:r>
              <a:rPr lang="es-ES" sz="1400" dirty="0"/>
              <a:t>Una vez eliminada la cuenta con </a:t>
            </a:r>
            <a:r>
              <a:rPr lang="es-ES" sz="1400" i="1" dirty="0" err="1"/>
              <a:t>userdel</a:t>
            </a:r>
            <a:r>
              <a:rPr lang="es-ES" sz="1400" i="1" dirty="0"/>
              <a:t> -r</a:t>
            </a:r>
            <a:r>
              <a:rPr lang="es-ES" sz="1400" dirty="0"/>
              <a:t> podremos comprobar con el comando</a:t>
            </a:r>
            <a:r>
              <a:rPr lang="es-ES" sz="1400" b="1" dirty="0"/>
              <a:t> </a:t>
            </a:r>
            <a:r>
              <a:rPr lang="es-ES" sz="1400" b="1" dirty="0" err="1"/>
              <a:t>find</a:t>
            </a:r>
            <a:r>
              <a:rPr lang="es-ES" sz="1400" b="1" dirty="0"/>
              <a:t> / -</a:t>
            </a:r>
            <a:r>
              <a:rPr lang="es-ES" sz="1400" b="1" dirty="0" err="1"/>
              <a:t>uid</a:t>
            </a:r>
            <a:r>
              <a:rPr lang="es-ES" sz="1400" b="1" dirty="0"/>
              <a:t> &lt;UID&gt;</a:t>
            </a:r>
            <a:r>
              <a:rPr lang="es-ES" sz="1400" dirty="0"/>
              <a:t> si el usuario a dejado rastro por algún directorio del sistema y eliminarlos o decidir que hacer con ellos.</a:t>
            </a:r>
            <a:endParaRPr lang="es-ES" sz="1400"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05408"/>
            <a:ext cx="10765809" cy="4175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600" b="1" dirty="0">
                <a:solidFill>
                  <a:srgbClr val="333333"/>
                </a:solidFill>
              </a:rPr>
              <a:t>Comandos de gestión de usuarios</a:t>
            </a:r>
            <a:endParaRPr lang="es-ES" altLang="es-ES" sz="16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300" dirty="0">
              <a:solidFill>
                <a:srgbClr val="333333"/>
              </a:solidFill>
            </a:endParaRPr>
          </a:p>
          <a:p>
            <a:r>
              <a:rPr lang="es-ES" b="1" dirty="0" err="1"/>
              <a:t>userdel</a:t>
            </a:r>
            <a:r>
              <a:rPr lang="es-ES" dirty="0"/>
              <a:t>: Eliminar una cuenta de usuario y sus archivos relacionados</a:t>
            </a:r>
            <a:endParaRPr lang="es-ES" dirty="0"/>
          </a:p>
          <a:p>
            <a:pPr algn="ctr"/>
            <a:r>
              <a:rPr lang="es-ES" b="1" dirty="0" err="1"/>
              <a:t>userdel</a:t>
            </a:r>
            <a:r>
              <a:rPr lang="es-ES" b="1" dirty="0"/>
              <a:t> [opciones] </a:t>
            </a:r>
            <a:r>
              <a:rPr lang="es-ES" b="1" dirty="0" err="1"/>
              <a:t>login</a:t>
            </a:r>
            <a:endParaRPr lang="es-ES" dirty="0"/>
          </a:p>
          <a:p>
            <a:r>
              <a:rPr lang="es-ES" b="1" i="1" dirty="0"/>
              <a:t>Opciones</a:t>
            </a:r>
            <a:r>
              <a:rPr lang="es-ES" b="1" dirty="0"/>
              <a:t>:</a:t>
            </a:r>
            <a:endParaRPr lang="es-ES" b="1" dirty="0"/>
          </a:p>
          <a:p>
            <a:pPr>
              <a:buFont typeface="Wingdings" panose="05000000000000000000" pitchFamily="2" charset="2"/>
              <a:buChar char="§"/>
            </a:pPr>
            <a:r>
              <a:rPr lang="es-ES" dirty="0"/>
              <a:t>Forzar la eliminación de una cuenta de usuario, directorio home y mail incluso estando </a:t>
            </a:r>
            <a:r>
              <a:rPr lang="es-ES" dirty="0" err="1"/>
              <a:t>logueado</a:t>
            </a:r>
            <a:r>
              <a:rPr lang="es-ES" dirty="0"/>
              <a:t> el usuario: </a:t>
            </a:r>
            <a:r>
              <a:rPr lang="es-ES" b="1" dirty="0"/>
              <a:t>-f</a:t>
            </a:r>
            <a:endParaRPr lang="es-ES" dirty="0"/>
          </a:p>
          <a:p>
            <a:pPr>
              <a:buFont typeface="Wingdings" panose="05000000000000000000" pitchFamily="2" charset="2"/>
              <a:buChar char="§"/>
            </a:pPr>
            <a:r>
              <a:rPr lang="es-ES" dirty="0"/>
              <a:t>Eliminar el home y cola de correo del usuario. El resto de archivos fuera de estos directorios deberán de ser eliminados manualmente: </a:t>
            </a:r>
            <a:r>
              <a:rPr lang="es-ES" b="1" dirty="0"/>
              <a:t>-r</a:t>
            </a:r>
            <a:endParaRPr lang="es-E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89201" y="1525953"/>
            <a:ext cx="10233546" cy="4346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b="1" dirty="0"/>
          </a:p>
          <a:p>
            <a:pPr marL="0" lvl="0" indent="0" eaLnBrk="0" fontAlgn="base" hangingPunct="0">
              <a:lnSpc>
                <a:spcPct val="100000"/>
              </a:lnSpc>
              <a:spcBef>
                <a:spcPct val="0"/>
              </a:spcBef>
              <a:spcAft>
                <a:spcPct val="0"/>
              </a:spcAft>
              <a:buClrTx/>
              <a:buSzTx/>
              <a:buNone/>
            </a:pPr>
            <a:r>
              <a:rPr lang="es-ES" altLang="es-ES" sz="1400" b="1" dirty="0"/>
              <a:t>Modificar grupos</a:t>
            </a:r>
            <a:endParaRPr lang="es-ES" alt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Para la modificación de grupos mediante utilidades además de la herramienta </a:t>
            </a:r>
            <a:r>
              <a:rPr lang="es-ES" altLang="es-ES" sz="1400" i="1" dirty="0" err="1">
                <a:solidFill>
                  <a:srgbClr val="333333"/>
                </a:solidFill>
              </a:rPr>
              <a:t>usermod</a:t>
            </a:r>
            <a:r>
              <a:rPr lang="es-ES" altLang="es-ES" sz="1400" dirty="0">
                <a:solidFill>
                  <a:srgbClr val="333333"/>
                </a:solidFill>
              </a:rPr>
              <a:t> disponemos también de otras como </a:t>
            </a:r>
            <a:r>
              <a:rPr lang="es-ES" altLang="es-ES" sz="1400" b="1" dirty="0" err="1">
                <a:solidFill>
                  <a:srgbClr val="333333"/>
                </a:solidFill>
              </a:rPr>
              <a:t>groupmod</a:t>
            </a:r>
            <a:r>
              <a:rPr lang="es-ES" altLang="es-ES" sz="1400" dirty="0">
                <a:solidFill>
                  <a:srgbClr val="333333"/>
                </a:solidFill>
              </a:rPr>
              <a:t> y </a:t>
            </a:r>
            <a:r>
              <a:rPr lang="es-ES" altLang="es-ES" sz="1400" b="1" dirty="0" err="1">
                <a:solidFill>
                  <a:srgbClr val="333333"/>
                </a:solidFill>
              </a:rPr>
              <a:t>gpasswd</a:t>
            </a:r>
            <a:r>
              <a:rPr lang="es-ES" altLang="es-ES" sz="1400" b="1" dirty="0">
                <a:solidFill>
                  <a:srgbClr val="333333"/>
                </a:solidFill>
              </a:rPr>
              <a:t>.</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Con el comando </a:t>
            </a:r>
            <a:r>
              <a:rPr lang="es-ES" altLang="es-ES" sz="1400" b="1" i="1" dirty="0" err="1">
                <a:solidFill>
                  <a:srgbClr val="333333"/>
                </a:solidFill>
              </a:rPr>
              <a:t>groupmod</a:t>
            </a:r>
            <a:r>
              <a:rPr lang="es-ES" altLang="es-ES" sz="1400" dirty="0">
                <a:solidFill>
                  <a:srgbClr val="333333"/>
                </a:solidFill>
              </a:rPr>
              <a:t> podremos modificar los parámetros de un grupo ya existente. Su sintaxis es bastante clara y sencilla al igual que sus opciones.</a:t>
            </a:r>
            <a:r>
              <a:rPr lang="es-ES" altLang="es-ES" dirty="0">
                <a:solidFill>
                  <a:schemeClr val="tx1"/>
                </a:solidFill>
              </a:rPr>
              <a:t> </a:t>
            </a:r>
            <a:r>
              <a:rPr lang="es-ES" altLang="es-ES" sz="1400" dirty="0">
                <a:solidFill>
                  <a:srgbClr val="333333"/>
                </a:solidFill>
              </a:rPr>
              <a:t>Sintaxis del comando </a:t>
            </a:r>
            <a:r>
              <a:rPr lang="es-ES" altLang="es-ES" sz="1400" dirty="0" err="1">
                <a:solidFill>
                  <a:srgbClr val="333333"/>
                </a:solidFill>
              </a:rPr>
              <a:t>groupmod</a:t>
            </a:r>
            <a:r>
              <a:rPr lang="es-ES" altLang="es-ES" sz="1400" dirty="0">
                <a:solidFill>
                  <a:srgbClr val="333333"/>
                </a:solidFill>
              </a:rPr>
              <a:t>:</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dirty="0">
              <a:solidFill>
                <a:schemeClr val="tx1"/>
              </a:solidFill>
            </a:endParaRPr>
          </a:p>
          <a:p>
            <a:pPr marL="0" lvl="0" indent="0" algn="ctr" eaLnBrk="0" fontAlgn="base" hangingPunct="0">
              <a:lnSpc>
                <a:spcPct val="100000"/>
              </a:lnSpc>
              <a:spcBef>
                <a:spcPct val="0"/>
              </a:spcBef>
              <a:spcAft>
                <a:spcPct val="0"/>
              </a:spcAft>
              <a:buClrTx/>
              <a:buSzTx/>
              <a:buNone/>
            </a:pPr>
            <a:r>
              <a:rPr lang="es-ES" altLang="es-ES" sz="1400" b="1" i="1" dirty="0" err="1">
                <a:solidFill>
                  <a:srgbClr val="333333"/>
                </a:solidFill>
              </a:rPr>
              <a:t>groupmod</a:t>
            </a:r>
            <a:r>
              <a:rPr lang="es-ES" altLang="es-ES" sz="1400" b="1" i="1" dirty="0">
                <a:solidFill>
                  <a:srgbClr val="333333"/>
                </a:solidFill>
              </a:rPr>
              <a:t> [opciones] grupo</a:t>
            </a:r>
            <a:br>
              <a:rPr lang="es-ES" altLang="es-ES" sz="1400" b="1" dirty="0">
                <a:solidFill>
                  <a:srgbClr val="333333"/>
                </a:solidFill>
              </a:rPr>
            </a:br>
            <a:endParaRPr lang="es-ES" altLang="es-ES"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Básicamente las opciones de </a:t>
            </a:r>
            <a:r>
              <a:rPr lang="es-ES" altLang="es-ES" sz="1400" i="1" dirty="0" err="1">
                <a:solidFill>
                  <a:srgbClr val="333333"/>
                </a:solidFill>
              </a:rPr>
              <a:t>groupmod</a:t>
            </a:r>
            <a:r>
              <a:rPr lang="es-ES" altLang="es-ES" sz="1400" dirty="0">
                <a:solidFill>
                  <a:srgbClr val="333333"/>
                </a:solidFill>
              </a:rPr>
              <a:t> nos permitirán seleccionar un </a:t>
            </a:r>
            <a:r>
              <a:rPr lang="es-ES" altLang="es-ES" sz="1400" i="1" dirty="0">
                <a:solidFill>
                  <a:srgbClr val="333333"/>
                </a:solidFill>
              </a:rPr>
              <a:t>GID</a:t>
            </a:r>
            <a:r>
              <a:rPr lang="es-ES" altLang="es-ES" sz="1400" dirty="0">
                <a:solidFill>
                  <a:srgbClr val="333333"/>
                </a:solidFill>
              </a:rPr>
              <a:t> concreto para el grupo con su opción </a:t>
            </a:r>
            <a:r>
              <a:rPr lang="es-ES" altLang="es-ES" sz="1400" b="1" dirty="0">
                <a:solidFill>
                  <a:srgbClr val="333333"/>
                </a:solidFill>
              </a:rPr>
              <a:t>-g</a:t>
            </a:r>
            <a:r>
              <a:rPr lang="es-ES" altLang="es-ES" sz="1400" dirty="0">
                <a:solidFill>
                  <a:srgbClr val="333333"/>
                </a:solidFill>
              </a:rPr>
              <a:t> o </a:t>
            </a:r>
            <a:r>
              <a:rPr lang="es-ES" altLang="es-ES" sz="1400" b="1" dirty="0">
                <a:solidFill>
                  <a:srgbClr val="333333"/>
                </a:solidFill>
              </a:rPr>
              <a:t>–</a:t>
            </a:r>
            <a:r>
              <a:rPr lang="es-ES" altLang="es-ES" sz="1400" b="1" dirty="0" err="1">
                <a:solidFill>
                  <a:srgbClr val="333333"/>
                </a:solidFill>
              </a:rPr>
              <a:t>gid</a:t>
            </a:r>
            <a:r>
              <a:rPr lang="es-ES" altLang="es-ES" sz="1400" dirty="0">
                <a:solidFill>
                  <a:srgbClr val="333333"/>
                </a:solidFill>
              </a:rPr>
              <a:t> e incluso elegir uno ya existente con la opción </a:t>
            </a:r>
            <a:r>
              <a:rPr lang="es-ES" altLang="es-ES" sz="1400" b="1" dirty="0">
                <a:solidFill>
                  <a:srgbClr val="333333"/>
                </a:solidFill>
              </a:rPr>
              <a:t>-o</a:t>
            </a:r>
            <a:r>
              <a:rPr lang="es-ES" altLang="es-ES" sz="1400" dirty="0">
                <a:solidFill>
                  <a:srgbClr val="333333"/>
                </a:solidFill>
              </a:rPr>
              <a:t>:</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sudo </a:t>
            </a:r>
            <a:r>
              <a:rPr lang="es-ES" altLang="es-ES" sz="1400" b="1" i="1" dirty="0" err="1">
                <a:solidFill>
                  <a:srgbClr val="333333"/>
                </a:solidFill>
                <a:cs typeface="Courier New" panose="02070309020205020404" pitchFamily="49" charset="0"/>
              </a:rPr>
              <a:t>groupmod</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go</a:t>
            </a:r>
            <a:r>
              <a:rPr lang="es-ES" altLang="es-ES" sz="1400" b="1" i="1" dirty="0">
                <a:solidFill>
                  <a:srgbClr val="333333"/>
                </a:solidFill>
                <a:cs typeface="Courier New" panose="02070309020205020404" pitchFamily="49" charset="0"/>
              </a:rPr>
              <a:t> 1004 </a:t>
            </a:r>
            <a:r>
              <a:rPr lang="es-ES" altLang="es-ES" sz="1400" b="1" i="1" dirty="0" err="1">
                <a:solidFill>
                  <a:srgbClr val="333333"/>
                </a:solidFill>
                <a:cs typeface="Courier New" panose="02070309020205020404" pitchFamily="49" charset="0"/>
              </a:rPr>
              <a:t>migrupo</a:t>
            </a:r>
            <a:endParaRPr lang="es-ES" altLang="es-ES" b="1" i="1"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Cambiar el nombre del grupo:</a:t>
            </a: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sudo </a:t>
            </a:r>
            <a:r>
              <a:rPr lang="es-ES" altLang="es-ES" sz="1400" b="1" i="1" dirty="0" err="1">
                <a:solidFill>
                  <a:srgbClr val="333333"/>
                </a:solidFill>
                <a:cs typeface="Courier New" panose="02070309020205020404" pitchFamily="49" charset="0"/>
              </a:rPr>
              <a:t>groupmod</a:t>
            </a:r>
            <a:r>
              <a:rPr lang="es-ES" altLang="es-ES" sz="1400" b="1" i="1" dirty="0">
                <a:solidFill>
                  <a:srgbClr val="333333"/>
                </a:solidFill>
                <a:cs typeface="Courier New" panose="02070309020205020404" pitchFamily="49" charset="0"/>
              </a:rPr>
              <a:t> -n </a:t>
            </a:r>
            <a:r>
              <a:rPr lang="es-ES" altLang="es-ES" sz="1400" b="1" i="1" dirty="0" err="1">
                <a:solidFill>
                  <a:srgbClr val="333333"/>
                </a:solidFill>
                <a:cs typeface="Courier New" panose="02070309020205020404" pitchFamily="49" charset="0"/>
              </a:rPr>
              <a:t>nuevogrupo</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miantiguogrupo</a:t>
            </a:r>
            <a:r>
              <a:rPr lang="es-ES" altLang="es-ES" b="1" i="1" dirty="0">
                <a:solidFill>
                  <a:schemeClr val="tx1"/>
                </a:solidFill>
              </a:rPr>
              <a:t> </a:t>
            </a:r>
            <a:endParaRPr lang="es-ES" altLang="es-ES" sz="3200" b="1" i="1"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89201" y="1578516"/>
            <a:ext cx="10233546" cy="4530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b="1" dirty="0"/>
          </a:p>
          <a:p>
            <a:pPr>
              <a:spcBef>
                <a:spcPts val="600"/>
              </a:spcBef>
            </a:pPr>
            <a:r>
              <a:rPr lang="es-ES" sz="1600" b="1" dirty="0"/>
              <a:t>Comandos de gestión de usuarios y grupos</a:t>
            </a:r>
            <a:endParaRPr lang="es-ES" sz="1600" b="1" dirty="0"/>
          </a:p>
          <a:p>
            <a:r>
              <a:rPr lang="es-ES" sz="1600" b="1" dirty="0" err="1"/>
              <a:t>groupmod</a:t>
            </a:r>
            <a:r>
              <a:rPr lang="es-ES" sz="1600" dirty="0"/>
              <a:t>: Modificar la configuración de un grupo.</a:t>
            </a:r>
            <a:endParaRPr lang="es-ES" sz="1600" dirty="0"/>
          </a:p>
          <a:p>
            <a:pPr algn="ctr"/>
            <a:r>
              <a:rPr lang="es-ES" sz="1600" b="1" dirty="0" err="1"/>
              <a:t>groupmod</a:t>
            </a:r>
            <a:r>
              <a:rPr lang="es-ES" sz="1600" b="1" dirty="0"/>
              <a:t> [opciones] grupo</a:t>
            </a:r>
            <a:endParaRPr lang="es-ES" sz="1600" dirty="0"/>
          </a:p>
          <a:p>
            <a:r>
              <a:rPr lang="es-ES" sz="1600" b="1" i="1" dirty="0"/>
              <a:t>Opciones:</a:t>
            </a:r>
            <a:endParaRPr lang="es-ES" sz="1600" b="1" dirty="0"/>
          </a:p>
          <a:p>
            <a:pPr>
              <a:buFont typeface="Wingdings" panose="05000000000000000000" pitchFamily="2" charset="2"/>
              <a:buChar char="§"/>
            </a:pPr>
            <a:r>
              <a:rPr lang="es-ES" sz="1600" dirty="0"/>
              <a:t>Modificar el </a:t>
            </a:r>
            <a:r>
              <a:rPr lang="es-ES" sz="1600" i="1" dirty="0"/>
              <a:t>GID</a:t>
            </a:r>
            <a:r>
              <a:rPr lang="es-ES" sz="1600" dirty="0"/>
              <a:t> de un grupo: </a:t>
            </a:r>
            <a:r>
              <a:rPr lang="es-ES" sz="1600" b="1" dirty="0"/>
              <a:t>-g</a:t>
            </a:r>
            <a:r>
              <a:rPr lang="es-ES" sz="1600" dirty="0"/>
              <a:t>, </a:t>
            </a:r>
            <a:r>
              <a:rPr lang="es-ES" sz="1600" b="1" dirty="0"/>
              <a:t>–</a:t>
            </a:r>
            <a:r>
              <a:rPr lang="es-ES" sz="1600" b="1" dirty="0" err="1"/>
              <a:t>gid</a:t>
            </a:r>
            <a:r>
              <a:rPr lang="es-ES" sz="1600" dirty="0"/>
              <a:t> </a:t>
            </a:r>
            <a:r>
              <a:rPr lang="es-ES" sz="1600" i="1" dirty="0"/>
              <a:t>&lt;id&gt;</a:t>
            </a:r>
            <a:endParaRPr lang="es-ES" sz="1600" dirty="0"/>
          </a:p>
          <a:p>
            <a:pPr>
              <a:buFont typeface="Wingdings" panose="05000000000000000000" pitchFamily="2" charset="2"/>
              <a:buChar char="§"/>
            </a:pPr>
            <a:r>
              <a:rPr lang="es-ES" sz="1600" dirty="0"/>
              <a:t>Si el nuevo </a:t>
            </a:r>
            <a:r>
              <a:rPr lang="es-ES" sz="1600" i="1" dirty="0"/>
              <a:t>GID</a:t>
            </a:r>
            <a:r>
              <a:rPr lang="es-ES" sz="1600" dirty="0"/>
              <a:t> no es único usar: </a:t>
            </a:r>
            <a:r>
              <a:rPr lang="es-ES" sz="1600" b="1" dirty="0"/>
              <a:t>-o</a:t>
            </a:r>
            <a:r>
              <a:rPr lang="es-ES" sz="1600" dirty="0"/>
              <a:t>,</a:t>
            </a:r>
            <a:r>
              <a:rPr lang="es-ES" sz="1600" b="1" dirty="0"/>
              <a:t> –non-</a:t>
            </a:r>
            <a:r>
              <a:rPr lang="es-ES" sz="1600" b="1" dirty="0" err="1"/>
              <a:t>unique</a:t>
            </a:r>
            <a:endParaRPr lang="es-ES" sz="1600" dirty="0"/>
          </a:p>
          <a:p>
            <a:pPr>
              <a:buFont typeface="Wingdings" panose="05000000000000000000" pitchFamily="2" charset="2"/>
              <a:buChar char="§"/>
            </a:pPr>
            <a:r>
              <a:rPr lang="es-ES" sz="1600" dirty="0"/>
              <a:t>Darle un nuevo nombre al grupo:</a:t>
            </a:r>
            <a:r>
              <a:rPr lang="es-ES" sz="1600" b="1" dirty="0"/>
              <a:t> -n</a:t>
            </a:r>
            <a:r>
              <a:rPr lang="es-ES" sz="1600" dirty="0"/>
              <a:t>,</a:t>
            </a:r>
            <a:r>
              <a:rPr lang="es-ES" sz="1600" b="1" dirty="0"/>
              <a:t> –new-</a:t>
            </a:r>
            <a:r>
              <a:rPr lang="es-ES" sz="1600" b="1" dirty="0" err="1"/>
              <a:t>name</a:t>
            </a:r>
            <a:r>
              <a:rPr lang="es-ES" sz="1600" dirty="0"/>
              <a:t> </a:t>
            </a:r>
            <a:r>
              <a:rPr lang="es-ES" sz="1600" i="1" dirty="0"/>
              <a:t>&lt;nombre&gt;</a:t>
            </a:r>
            <a:endParaRPr lang="es-ES" sz="1600" dirty="0"/>
          </a:p>
          <a:p>
            <a:pPr>
              <a:buFont typeface="Wingdings" panose="05000000000000000000" pitchFamily="2" charset="2"/>
              <a:buChar char="§"/>
            </a:pPr>
            <a:r>
              <a:rPr lang="es-ES" sz="1600" dirty="0"/>
              <a:t>Crear una contraseña de grupo: </a:t>
            </a:r>
            <a:r>
              <a:rPr lang="es-ES" sz="1600" b="1" dirty="0"/>
              <a:t>-p</a:t>
            </a:r>
            <a:r>
              <a:rPr lang="es-ES" sz="1600" dirty="0"/>
              <a:t> </a:t>
            </a:r>
            <a:r>
              <a:rPr lang="es-ES" sz="1600" i="1" dirty="0"/>
              <a:t>&lt;</a:t>
            </a:r>
            <a:r>
              <a:rPr lang="es-ES" sz="1600" i="1" dirty="0" err="1"/>
              <a:t>password</a:t>
            </a:r>
            <a:r>
              <a:rPr lang="es-ES" sz="1600" i="1" dirty="0"/>
              <a:t>&gt;</a:t>
            </a:r>
            <a:endParaRPr lang="es-ES" sz="1600" dirty="0"/>
          </a:p>
          <a:p>
            <a:pPr marL="0" lvl="0" indent="0" eaLnBrk="0" fontAlgn="base" hangingPunct="0">
              <a:lnSpc>
                <a:spcPct val="100000"/>
              </a:lnSpc>
              <a:spcBef>
                <a:spcPct val="0"/>
              </a:spcBef>
              <a:spcAft>
                <a:spcPct val="0"/>
              </a:spcAft>
              <a:buClrTx/>
              <a:buSzTx/>
              <a:buNone/>
            </a:pPr>
            <a:endParaRPr lang="es-ES" altLang="es-ES" sz="1400" b="1"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6" y="1499490"/>
            <a:ext cx="10233546" cy="4901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b="1" dirty="0"/>
          </a:p>
          <a:p>
            <a:pPr>
              <a:spcBef>
                <a:spcPts val="400"/>
              </a:spcBef>
            </a:pPr>
            <a:r>
              <a:rPr lang="es-ES" sz="1600" b="1" dirty="0"/>
              <a:t>Comandos de gestión de usuarios y grupos</a:t>
            </a:r>
            <a:endParaRPr lang="es-ES" sz="1600" b="1" dirty="0"/>
          </a:p>
          <a:p>
            <a:r>
              <a:rPr lang="es-ES" sz="1400" b="1" dirty="0" err="1"/>
              <a:t>gpasswd</a:t>
            </a:r>
            <a:r>
              <a:rPr lang="es-ES" sz="1400" dirty="0"/>
              <a:t>: Administrar los archivos </a:t>
            </a:r>
            <a:r>
              <a:rPr lang="es-ES" sz="1400" i="1" dirty="0"/>
              <a:t>/</a:t>
            </a:r>
            <a:r>
              <a:rPr lang="es-ES" sz="1400" i="1" dirty="0" err="1"/>
              <a:t>etc</a:t>
            </a:r>
            <a:r>
              <a:rPr lang="es-ES" sz="1400" i="1" dirty="0"/>
              <a:t>/</a:t>
            </a:r>
            <a:r>
              <a:rPr lang="es-ES" sz="1400" i="1" dirty="0" err="1"/>
              <a:t>group</a:t>
            </a:r>
            <a:r>
              <a:rPr lang="es-ES" sz="1400" dirty="0"/>
              <a:t> y </a:t>
            </a:r>
            <a:r>
              <a:rPr lang="es-ES" sz="1400" i="1" dirty="0"/>
              <a:t>/</a:t>
            </a:r>
            <a:r>
              <a:rPr lang="es-ES" sz="1400" i="1" dirty="0" err="1"/>
              <a:t>etc</a:t>
            </a:r>
            <a:r>
              <a:rPr lang="es-ES" sz="1400" i="1" dirty="0"/>
              <a:t>/</a:t>
            </a:r>
            <a:r>
              <a:rPr lang="es-ES" sz="1400" i="1" dirty="0" err="1"/>
              <a:t>gshadow</a:t>
            </a:r>
            <a:r>
              <a:rPr lang="es-ES" sz="1400" dirty="0"/>
              <a:t>. Crear administradores de grupo, añadir usuarios a grupos y crear una </a:t>
            </a:r>
            <a:r>
              <a:rPr lang="es-ES" sz="1400" dirty="0" err="1"/>
              <a:t>password</a:t>
            </a:r>
            <a:r>
              <a:rPr lang="es-ES" sz="1400" dirty="0"/>
              <a:t> para un grupo.</a:t>
            </a:r>
            <a:endParaRPr lang="es-ES" sz="1400" dirty="0"/>
          </a:p>
          <a:p>
            <a:pPr algn="ctr"/>
            <a:r>
              <a:rPr lang="es-ES" sz="1400" b="1" dirty="0" err="1"/>
              <a:t>gpasswd</a:t>
            </a:r>
            <a:r>
              <a:rPr lang="es-ES" sz="1400" b="1" dirty="0"/>
              <a:t> [opciones] grupo</a:t>
            </a:r>
            <a:endParaRPr lang="es-ES" sz="1400" dirty="0"/>
          </a:p>
          <a:p>
            <a:r>
              <a:rPr lang="es-ES" sz="1400" b="1" i="1" dirty="0"/>
              <a:t>Opciones</a:t>
            </a:r>
            <a:r>
              <a:rPr lang="es-ES" sz="1400" b="1" dirty="0"/>
              <a:t>:</a:t>
            </a:r>
            <a:endParaRPr lang="es-ES" sz="1400" b="1" dirty="0"/>
          </a:p>
          <a:p>
            <a:pPr>
              <a:spcBef>
                <a:spcPts val="600"/>
              </a:spcBef>
              <a:buFont typeface="Wingdings" panose="05000000000000000000" pitchFamily="2" charset="2"/>
              <a:buChar char="§"/>
            </a:pPr>
            <a:r>
              <a:rPr lang="es-ES" sz="1400" dirty="0"/>
              <a:t>Un grupo puede tener uno o varios usuarios administradores, para definir uno o una lista de ellos usamos:</a:t>
            </a:r>
            <a:r>
              <a:rPr lang="es-ES" sz="1400" b="1" dirty="0"/>
              <a:t> -A</a:t>
            </a:r>
            <a:r>
              <a:rPr lang="es-ES" sz="1400" dirty="0"/>
              <a:t> </a:t>
            </a:r>
            <a:r>
              <a:rPr lang="es-ES" sz="1400" i="1" dirty="0"/>
              <a:t>user1, </a:t>
            </a:r>
            <a:r>
              <a:rPr lang="es-ES" sz="1400" i="1" dirty="0" err="1"/>
              <a:t>userN</a:t>
            </a:r>
            <a:endParaRPr lang="es-ES" sz="1400" dirty="0"/>
          </a:p>
          <a:p>
            <a:pPr>
              <a:spcBef>
                <a:spcPts val="600"/>
              </a:spcBef>
              <a:buFont typeface="Wingdings" panose="05000000000000000000" pitchFamily="2" charset="2"/>
              <a:buChar char="§"/>
            </a:pPr>
            <a:r>
              <a:rPr lang="es-ES" sz="1400" dirty="0"/>
              <a:t>De igual forma podemos añadir usuarios a un grupo en forma de lista: </a:t>
            </a:r>
            <a:r>
              <a:rPr lang="es-ES" sz="1400" b="1" dirty="0"/>
              <a:t>-M</a:t>
            </a:r>
            <a:r>
              <a:rPr lang="es-ES" sz="1400" dirty="0"/>
              <a:t> </a:t>
            </a:r>
            <a:r>
              <a:rPr lang="es-ES" sz="1400" i="1" dirty="0"/>
              <a:t>user1,user2…</a:t>
            </a:r>
            <a:r>
              <a:rPr lang="es-ES" sz="1400" i="1" dirty="0" err="1"/>
              <a:t>userN</a:t>
            </a:r>
            <a:endParaRPr lang="es-ES" sz="1400" dirty="0"/>
          </a:p>
          <a:p>
            <a:pPr>
              <a:spcBef>
                <a:spcPts val="600"/>
              </a:spcBef>
              <a:buFont typeface="Wingdings" panose="05000000000000000000" pitchFamily="2" charset="2"/>
              <a:buChar char="§"/>
            </a:pPr>
            <a:r>
              <a:rPr lang="es-ES" sz="1400" dirty="0"/>
              <a:t>Si queremos hacer que los usuarios que NO pertenecen a un grupo no puedan asignarse este como grupo principal temporal aun conociendo la contraseña, es decir solo los miembros del grupo podrán usar </a:t>
            </a:r>
            <a:r>
              <a:rPr lang="es-ES" sz="1400" i="1" dirty="0" err="1"/>
              <a:t>newgrp</a:t>
            </a:r>
            <a:r>
              <a:rPr lang="es-ES" sz="1400" dirty="0"/>
              <a:t>: </a:t>
            </a:r>
            <a:r>
              <a:rPr lang="es-ES" sz="1400" b="1" dirty="0"/>
              <a:t>-R</a:t>
            </a:r>
            <a:r>
              <a:rPr lang="es-ES" sz="1400" dirty="0"/>
              <a:t>, </a:t>
            </a:r>
            <a:r>
              <a:rPr lang="es-ES" sz="1400" b="1" dirty="0"/>
              <a:t>–</a:t>
            </a:r>
            <a:r>
              <a:rPr lang="es-ES" sz="1400" b="1" dirty="0" err="1"/>
              <a:t>restrict</a:t>
            </a:r>
            <a:endParaRPr lang="es-ES" sz="1400" dirty="0"/>
          </a:p>
          <a:p>
            <a:pPr>
              <a:spcBef>
                <a:spcPts val="600"/>
              </a:spcBef>
              <a:buFont typeface="Wingdings" panose="05000000000000000000" pitchFamily="2" charset="2"/>
              <a:buChar char="§"/>
            </a:pPr>
            <a:r>
              <a:rPr lang="es-ES" sz="1400" dirty="0"/>
              <a:t>Para eliminar la </a:t>
            </a:r>
            <a:r>
              <a:rPr lang="es-ES" sz="1400" dirty="0" err="1"/>
              <a:t>password</a:t>
            </a:r>
            <a:r>
              <a:rPr lang="es-ES" sz="1400" dirty="0"/>
              <a:t> de un grupo: </a:t>
            </a:r>
            <a:r>
              <a:rPr lang="es-ES" sz="1400" b="1" dirty="0"/>
              <a:t>-r</a:t>
            </a:r>
            <a:r>
              <a:rPr lang="es-ES" sz="1400" dirty="0"/>
              <a:t>, </a:t>
            </a:r>
            <a:r>
              <a:rPr lang="es-ES" sz="1400" b="1" dirty="0"/>
              <a:t>–</a:t>
            </a:r>
            <a:r>
              <a:rPr lang="es-ES" sz="1400" b="1" dirty="0" err="1"/>
              <a:t>remove-password</a:t>
            </a:r>
            <a:endParaRPr lang="es-ES" sz="1400" dirty="0"/>
          </a:p>
          <a:p>
            <a:pPr>
              <a:spcBef>
                <a:spcPts val="600"/>
              </a:spcBef>
              <a:buFont typeface="Wingdings" panose="05000000000000000000" pitchFamily="2" charset="2"/>
              <a:buChar char="§"/>
            </a:pPr>
            <a:r>
              <a:rPr lang="es-ES" sz="1400" dirty="0"/>
              <a:t>Añadir un usuario a un grupo: </a:t>
            </a:r>
            <a:r>
              <a:rPr lang="es-ES" sz="1400" b="1" dirty="0"/>
              <a:t>-a</a:t>
            </a:r>
            <a:r>
              <a:rPr lang="es-ES" sz="1400" dirty="0"/>
              <a:t>, </a:t>
            </a:r>
            <a:r>
              <a:rPr lang="es-ES" sz="1400" b="1" dirty="0"/>
              <a:t>–</a:t>
            </a:r>
            <a:r>
              <a:rPr lang="es-ES" sz="1400" b="1" dirty="0" err="1"/>
              <a:t>add</a:t>
            </a:r>
            <a:r>
              <a:rPr lang="es-ES" sz="1400" dirty="0"/>
              <a:t> </a:t>
            </a:r>
            <a:r>
              <a:rPr lang="es-ES" sz="1400" i="1" dirty="0"/>
              <a:t>&lt;usuario&gt; &lt;grupo&gt;</a:t>
            </a:r>
            <a:endParaRPr lang="es-ES" sz="1400" dirty="0"/>
          </a:p>
          <a:p>
            <a:pPr>
              <a:spcBef>
                <a:spcPts val="600"/>
              </a:spcBef>
              <a:buFont typeface="Wingdings" panose="05000000000000000000" pitchFamily="2" charset="2"/>
              <a:buChar char="§"/>
            </a:pPr>
            <a:r>
              <a:rPr lang="es-ES" sz="1400" dirty="0"/>
              <a:t>Eliminar un usuario de un grupo: </a:t>
            </a:r>
            <a:r>
              <a:rPr lang="es-ES" sz="1400" b="1" dirty="0"/>
              <a:t>-d</a:t>
            </a:r>
            <a:r>
              <a:rPr lang="es-ES" sz="1400" dirty="0"/>
              <a:t>, </a:t>
            </a:r>
            <a:r>
              <a:rPr lang="es-ES" sz="1400" b="1" dirty="0"/>
              <a:t>–</a:t>
            </a:r>
            <a:r>
              <a:rPr lang="es-ES" sz="1400" b="1" dirty="0" err="1"/>
              <a:t>delete</a:t>
            </a:r>
            <a:r>
              <a:rPr lang="es-ES" sz="1400" dirty="0"/>
              <a:t> </a:t>
            </a:r>
            <a:r>
              <a:rPr lang="es-ES" sz="1400" i="1" dirty="0"/>
              <a:t>&lt;usuario&gt; &lt;grupo&gt;</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6" y="1564960"/>
            <a:ext cx="10233546" cy="4698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b="1" dirty="0"/>
          </a:p>
          <a:p>
            <a:pPr>
              <a:spcBef>
                <a:spcPts val="400"/>
              </a:spcBef>
            </a:pPr>
            <a:r>
              <a:rPr lang="es-ES" sz="1400" b="1" dirty="0"/>
              <a:t>Comandos de gestión de usuarios y grupos</a:t>
            </a:r>
            <a:endParaRPr lang="es-ES" sz="1400" b="1" dirty="0"/>
          </a:p>
          <a:p>
            <a:r>
              <a:rPr lang="es-ES" sz="1400" b="1" dirty="0" err="1"/>
              <a:t>pwconv</a:t>
            </a:r>
            <a:r>
              <a:rPr lang="es-ES" sz="1400" dirty="0"/>
              <a:t> y </a:t>
            </a:r>
            <a:r>
              <a:rPr lang="es-ES" sz="1400" b="1" dirty="0" err="1"/>
              <a:t>grpconv</a:t>
            </a:r>
            <a:r>
              <a:rPr lang="es-ES" sz="1400" dirty="0"/>
              <a:t>: Implementar contraseñas </a:t>
            </a:r>
            <a:r>
              <a:rPr lang="es-ES" sz="1400" i="1" dirty="0" err="1"/>
              <a:t>shadow</a:t>
            </a:r>
            <a:r>
              <a:rPr lang="es-ES" sz="1400" dirty="0"/>
              <a:t> y </a:t>
            </a:r>
            <a:r>
              <a:rPr lang="es-ES" sz="1400" i="1" dirty="0" err="1"/>
              <a:t>gshadow</a:t>
            </a:r>
            <a:r>
              <a:rPr lang="es-ES" sz="1400" dirty="0"/>
              <a:t> respectivamente en un sistema. Esto es, las contraseñas de </a:t>
            </a:r>
            <a:r>
              <a:rPr lang="es-ES" sz="1400" i="1" dirty="0"/>
              <a:t>/</a:t>
            </a:r>
            <a:r>
              <a:rPr lang="es-ES" sz="1400" i="1" dirty="0" err="1"/>
              <a:t>etc</a:t>
            </a:r>
            <a:r>
              <a:rPr lang="es-ES" sz="1400" i="1" dirty="0"/>
              <a:t>/</a:t>
            </a:r>
            <a:r>
              <a:rPr lang="es-ES" sz="1400" i="1" dirty="0" err="1"/>
              <a:t>passwd</a:t>
            </a:r>
            <a:r>
              <a:rPr lang="es-ES" sz="1400" dirty="0"/>
              <a:t> y </a:t>
            </a:r>
            <a:r>
              <a:rPr lang="es-ES" sz="1400" i="1" dirty="0"/>
              <a:t>/</a:t>
            </a:r>
            <a:r>
              <a:rPr lang="es-ES" sz="1400" i="1" dirty="0" err="1"/>
              <a:t>etc</a:t>
            </a:r>
            <a:r>
              <a:rPr lang="es-ES" sz="1400" i="1" dirty="0"/>
              <a:t>/</a:t>
            </a:r>
            <a:r>
              <a:rPr lang="es-ES" sz="1400" i="1" dirty="0" err="1"/>
              <a:t>group</a:t>
            </a:r>
            <a:r>
              <a:rPr lang="es-ES" sz="1400" dirty="0"/>
              <a:t> pasan a los archivos </a:t>
            </a:r>
            <a:r>
              <a:rPr lang="es-ES" sz="1400" i="1" dirty="0"/>
              <a:t>/</a:t>
            </a:r>
            <a:r>
              <a:rPr lang="es-ES" sz="1400" i="1" dirty="0" err="1"/>
              <a:t>etc</a:t>
            </a:r>
            <a:r>
              <a:rPr lang="es-ES" sz="1400" i="1" dirty="0"/>
              <a:t>/</a:t>
            </a:r>
            <a:r>
              <a:rPr lang="es-ES" sz="1400" i="1" dirty="0" err="1"/>
              <a:t>shadow</a:t>
            </a:r>
            <a:r>
              <a:rPr lang="es-ES" sz="1400" dirty="0"/>
              <a:t> y </a:t>
            </a:r>
            <a:r>
              <a:rPr lang="es-ES" sz="1400" i="1" dirty="0"/>
              <a:t>/</a:t>
            </a:r>
            <a:r>
              <a:rPr lang="es-ES" sz="1400" i="1" dirty="0" err="1"/>
              <a:t>etc</a:t>
            </a:r>
            <a:r>
              <a:rPr lang="es-ES" sz="1400" i="1" dirty="0"/>
              <a:t>/</a:t>
            </a:r>
            <a:r>
              <a:rPr lang="es-ES" sz="1400" i="1" dirty="0" err="1"/>
              <a:t>gshadow</a:t>
            </a:r>
            <a:r>
              <a:rPr lang="es-ES" sz="1400" dirty="0"/>
              <a:t> de manera que solo </a:t>
            </a:r>
            <a:r>
              <a:rPr lang="es-ES" sz="1400" i="1" dirty="0" err="1"/>
              <a:t>root</a:t>
            </a:r>
            <a:r>
              <a:rPr lang="es-ES" sz="1400" dirty="0"/>
              <a:t> pueda leer las contraseñas encriptadas de los usuarios.</a:t>
            </a:r>
            <a:endParaRPr lang="es-ES" sz="1400" dirty="0"/>
          </a:p>
          <a:p>
            <a:r>
              <a:rPr lang="es-ES" sz="1400" b="1" dirty="0" err="1"/>
              <a:t>pwuncov</a:t>
            </a:r>
            <a:r>
              <a:rPr lang="es-ES" sz="1400" dirty="0"/>
              <a:t> y </a:t>
            </a:r>
            <a:r>
              <a:rPr lang="es-ES" sz="1400" b="1" dirty="0" err="1"/>
              <a:t>grpunconv</a:t>
            </a:r>
            <a:r>
              <a:rPr lang="es-ES" sz="1400" dirty="0"/>
              <a:t>: Realizan la acción inversa de los 2 comandos anteriores respectivamente..</a:t>
            </a:r>
            <a:endParaRPr lang="es-ES" sz="1400" dirty="0"/>
          </a:p>
          <a:p>
            <a:r>
              <a:rPr lang="es-ES" sz="1400" b="1" dirty="0" err="1"/>
              <a:t>newgrp</a:t>
            </a:r>
            <a:r>
              <a:rPr lang="es-ES" sz="1400" dirty="0"/>
              <a:t>: Con este comando podemos hacer que un usuario cambie su grupo principal de forma temporal. Tiene limitaciones según la configuración del grupo. Por regla general el usuario que usa este comando tiene que pertenecer previamente al grupo en cuestión. Si el grupo tiene contraseña, un usuario que no pertenezca de antemano al grupo podrá hacer de este grupo su grupo principal temporal siempre y cuando conozca la contraseña. Si el grupo tiene </a:t>
            </a:r>
            <a:r>
              <a:rPr lang="es-ES" sz="1400" dirty="0" err="1"/>
              <a:t>password</a:t>
            </a:r>
            <a:r>
              <a:rPr lang="es-ES" sz="1400" dirty="0"/>
              <a:t> pero además tiene marcada la opción -R (</a:t>
            </a:r>
            <a:r>
              <a:rPr lang="es-ES" sz="1400" i="1" dirty="0" err="1"/>
              <a:t>restrict</a:t>
            </a:r>
            <a:r>
              <a:rPr lang="es-ES" sz="1400" dirty="0"/>
              <a:t>) el usuario deberá pertenecer si o si al grupo previamente, aun conociendo la </a:t>
            </a:r>
            <a:r>
              <a:rPr lang="es-ES" sz="1400" dirty="0" err="1"/>
              <a:t>password</a:t>
            </a:r>
            <a:r>
              <a:rPr lang="es-ES" sz="1400" dirty="0"/>
              <a:t> de este.</a:t>
            </a:r>
            <a:endParaRPr lang="es-ES" sz="1400" dirty="0"/>
          </a:p>
          <a:p>
            <a:r>
              <a:rPr lang="es-ES" sz="1400" dirty="0"/>
              <a:t>Para cambiar de grupo bastará con pasarle de argumento a </a:t>
            </a:r>
            <a:r>
              <a:rPr lang="es-ES" sz="1400" i="1" dirty="0" err="1"/>
              <a:t>newgrp</a:t>
            </a:r>
            <a:r>
              <a:rPr lang="es-ES" sz="1400" dirty="0"/>
              <a:t> el nombre del grupo. Podremos volver a nuestro grupo anterior invocando sin parámetro alguno a </a:t>
            </a:r>
            <a:r>
              <a:rPr lang="es-ES" sz="1400" i="1" dirty="0" err="1"/>
              <a:t>newgrp</a:t>
            </a:r>
            <a:r>
              <a:rPr lang="es-ES" sz="1400" dirty="0"/>
              <a:t> o, opcionalmente pasarle un </a:t>
            </a:r>
            <a:r>
              <a:rPr lang="es-ES" sz="1400" dirty="0" err="1"/>
              <a:t>guión</a:t>
            </a:r>
            <a:r>
              <a:rPr lang="es-ES" sz="1400" dirty="0"/>
              <a:t> ‘</a:t>
            </a:r>
            <a:r>
              <a:rPr lang="es-ES" sz="1400" b="1" dirty="0"/>
              <a:t>–</a:t>
            </a:r>
            <a:r>
              <a:rPr lang="es-ES" sz="1400" dirty="0"/>
              <a:t>‘ para simular un nuevo inicio de sesión para el usuario.</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9808" y="1551411"/>
            <a:ext cx="10233546" cy="404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indent="0">
              <a:buNone/>
            </a:pPr>
            <a:r>
              <a:rPr lang="es-ES" sz="1600" b="1" dirty="0"/>
              <a:t>Eliminar grupos</a:t>
            </a:r>
            <a:endParaRPr lang="es-ES" sz="1600" b="1" dirty="0"/>
          </a:p>
          <a:p>
            <a:r>
              <a:rPr lang="es-ES" dirty="0"/>
              <a:t>Los grupos se eliminan con el comando </a:t>
            </a:r>
            <a:r>
              <a:rPr lang="es-ES" b="1" dirty="0" err="1"/>
              <a:t>groupdel</a:t>
            </a:r>
            <a:r>
              <a:rPr lang="es-ES" dirty="0"/>
              <a:t> o como siempre dependiendo de la distribución podremos usar su interfaz sencilla </a:t>
            </a:r>
            <a:r>
              <a:rPr lang="es-ES" b="1" dirty="0" err="1"/>
              <a:t>delgroup</a:t>
            </a:r>
            <a:r>
              <a:rPr lang="es-ES" dirty="0"/>
              <a:t> e incluso </a:t>
            </a:r>
            <a:r>
              <a:rPr lang="es-ES" b="1" dirty="0" err="1"/>
              <a:t>deluser</a:t>
            </a:r>
            <a:r>
              <a:rPr lang="es-ES" b="1" dirty="0"/>
              <a:t> –</a:t>
            </a:r>
            <a:r>
              <a:rPr lang="es-ES" b="1" dirty="0" err="1"/>
              <a:t>group</a:t>
            </a:r>
            <a:r>
              <a:rPr lang="es-ES" dirty="0"/>
              <a:t>. Igualmente podremos eliminar un grupo editando el archivo </a:t>
            </a:r>
            <a:r>
              <a:rPr lang="es-ES" i="1" dirty="0"/>
              <a:t>/</a:t>
            </a:r>
            <a:r>
              <a:rPr lang="es-ES" i="1" dirty="0" err="1"/>
              <a:t>etc</a:t>
            </a:r>
            <a:r>
              <a:rPr lang="es-ES" i="1" dirty="0"/>
              <a:t>/</a:t>
            </a:r>
            <a:r>
              <a:rPr lang="es-ES" i="1" dirty="0" err="1"/>
              <a:t>group</a:t>
            </a:r>
            <a:r>
              <a:rPr lang="es-ES" dirty="0"/>
              <a:t> y </a:t>
            </a:r>
            <a:r>
              <a:rPr lang="es-ES" i="1" dirty="0"/>
              <a:t>/</a:t>
            </a:r>
            <a:r>
              <a:rPr lang="es-ES" i="1" dirty="0" err="1"/>
              <a:t>etc</a:t>
            </a:r>
            <a:r>
              <a:rPr lang="es-ES" i="1" dirty="0"/>
              <a:t>/</a:t>
            </a:r>
            <a:r>
              <a:rPr lang="es-ES" i="1" dirty="0" err="1"/>
              <a:t>gshadow</a:t>
            </a:r>
            <a:r>
              <a:rPr lang="es-ES" dirty="0"/>
              <a:t> si el grupo tiene contraseña. El comando </a:t>
            </a:r>
            <a:r>
              <a:rPr lang="es-ES" i="1" dirty="0" err="1"/>
              <a:t>groupdel</a:t>
            </a:r>
            <a:r>
              <a:rPr lang="es-ES" dirty="0"/>
              <a:t> verifica si el grupo es el grupo primario de algún usuario, en tal caso rehusará eliminarlo; tendrá que cambiar primero el grupo primario del usuario o borrar su cuenta. Como ocurre al eliminar las cuentas de usuario, puede que existan archivos y directorios en el sistema con el </a:t>
            </a:r>
            <a:r>
              <a:rPr lang="es-ES" i="1" dirty="0"/>
              <a:t>GID</a:t>
            </a:r>
            <a:r>
              <a:rPr lang="es-ES" dirty="0"/>
              <a:t> del grupo, lo mejor será buscarlos con </a:t>
            </a:r>
            <a:r>
              <a:rPr lang="es-ES" b="1" dirty="0" err="1"/>
              <a:t>find</a:t>
            </a:r>
            <a:r>
              <a:rPr lang="es-ES" dirty="0"/>
              <a:t> y modificar el grupo con </a:t>
            </a:r>
            <a:r>
              <a:rPr lang="es-ES" b="1" dirty="0" err="1"/>
              <a:t>chown</a:t>
            </a:r>
            <a:r>
              <a:rPr lang="es-ES" dirty="0"/>
              <a:t>.</a:t>
            </a:r>
            <a:endParaRPr lang="es-ES" dirty="0"/>
          </a:p>
          <a:p>
            <a:pPr algn="ctr"/>
            <a:r>
              <a:rPr lang="es-ES" b="1" dirty="0" err="1"/>
              <a:t>groupdel</a:t>
            </a:r>
            <a:r>
              <a:rPr lang="es-ES" b="1" dirty="0"/>
              <a:t> [opciones] grupo</a:t>
            </a:r>
            <a:endParaRPr lang="es-ES" sz="1400"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23554"/>
            <a:ext cx="10233546" cy="3999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b="1" dirty="0"/>
          </a:p>
          <a:p>
            <a:pPr>
              <a:spcBef>
                <a:spcPts val="400"/>
              </a:spcBef>
            </a:pPr>
            <a:r>
              <a:rPr lang="es-ES" sz="1400" b="1" dirty="0"/>
              <a:t>Comandos de obtención de información de usuarios y grupos</a:t>
            </a:r>
            <a:endParaRPr lang="es-ES" sz="1400" b="1" dirty="0"/>
          </a:p>
          <a:p>
            <a:r>
              <a:rPr lang="es-ES" sz="1400" b="1" dirty="0"/>
              <a:t>id</a:t>
            </a:r>
            <a:r>
              <a:rPr lang="es-ES" sz="1400" dirty="0"/>
              <a:t>: Imprime los </a:t>
            </a:r>
            <a:r>
              <a:rPr lang="es-ES" sz="1400" i="1" dirty="0" err="1"/>
              <a:t>UIDs</a:t>
            </a:r>
            <a:r>
              <a:rPr lang="es-ES" sz="1400" dirty="0"/>
              <a:t> y </a:t>
            </a:r>
            <a:r>
              <a:rPr lang="es-ES" sz="1400" i="1" dirty="0" err="1"/>
              <a:t>GIDs</a:t>
            </a:r>
            <a:r>
              <a:rPr lang="es-ES" sz="1400" dirty="0"/>
              <a:t> para la cuenta de un usuario</a:t>
            </a:r>
            <a:endParaRPr lang="es-ES" sz="1400" dirty="0"/>
          </a:p>
          <a:p>
            <a:pPr algn="ctr"/>
            <a:r>
              <a:rPr lang="es-ES" sz="1400" b="1" dirty="0"/>
              <a:t>id [opciones]</a:t>
            </a:r>
            <a:endParaRPr lang="es-ES" sz="1400" dirty="0"/>
          </a:p>
          <a:p>
            <a:r>
              <a:rPr lang="es-ES" sz="1400" b="1" i="1" dirty="0"/>
              <a:t>Opciones</a:t>
            </a:r>
            <a:r>
              <a:rPr lang="es-ES" sz="1400" b="1" dirty="0"/>
              <a:t>:</a:t>
            </a:r>
            <a:endParaRPr lang="es-ES" sz="1400" b="1" dirty="0"/>
          </a:p>
          <a:p>
            <a:pPr>
              <a:spcBef>
                <a:spcPts val="200"/>
              </a:spcBef>
              <a:buFont typeface="Wingdings" panose="05000000000000000000" pitchFamily="2" charset="2"/>
              <a:buChar char="§"/>
            </a:pPr>
            <a:r>
              <a:rPr lang="es-ES" sz="1400" dirty="0"/>
              <a:t>Imprimir  el </a:t>
            </a:r>
            <a:r>
              <a:rPr lang="es-ES" sz="1400" i="1" dirty="0"/>
              <a:t>ID</a:t>
            </a:r>
            <a:r>
              <a:rPr lang="es-ES" sz="1400" dirty="0"/>
              <a:t> de usuario acompañado de su nombre e igual para su grupo principal y resto de grupos: Sin parámetros, opción por defecto.</a:t>
            </a:r>
            <a:endParaRPr lang="es-ES" sz="1400" dirty="0"/>
          </a:p>
          <a:p>
            <a:pPr>
              <a:spcBef>
                <a:spcPts val="200"/>
              </a:spcBef>
              <a:buFont typeface="Wingdings" panose="05000000000000000000" pitchFamily="2" charset="2"/>
              <a:buChar char="§"/>
            </a:pPr>
            <a:r>
              <a:rPr lang="es-ES" sz="1400" dirty="0"/>
              <a:t>Imprimir el </a:t>
            </a:r>
            <a:r>
              <a:rPr lang="es-ES" sz="1400" i="1" dirty="0"/>
              <a:t>ID</a:t>
            </a:r>
            <a:r>
              <a:rPr lang="es-ES" sz="1400" dirty="0"/>
              <a:t> del usuario: </a:t>
            </a:r>
            <a:r>
              <a:rPr lang="es-ES" sz="1400" b="1" dirty="0"/>
              <a:t>-u</a:t>
            </a:r>
            <a:r>
              <a:rPr lang="es-ES" sz="1400" dirty="0"/>
              <a:t>, </a:t>
            </a:r>
            <a:r>
              <a:rPr lang="es-ES" sz="1400" b="1" dirty="0"/>
              <a:t>–</a:t>
            </a:r>
            <a:r>
              <a:rPr lang="es-ES" sz="1400" b="1" dirty="0" err="1"/>
              <a:t>user</a:t>
            </a:r>
            <a:endParaRPr lang="es-ES" sz="1400" dirty="0"/>
          </a:p>
          <a:p>
            <a:pPr>
              <a:spcBef>
                <a:spcPts val="200"/>
              </a:spcBef>
              <a:buFont typeface="Wingdings" panose="05000000000000000000" pitchFamily="2" charset="2"/>
              <a:buChar char="§"/>
            </a:pPr>
            <a:r>
              <a:rPr lang="es-ES" sz="1400" dirty="0"/>
              <a:t>Imprimir el </a:t>
            </a:r>
            <a:r>
              <a:rPr lang="es-ES" sz="1400" i="1" dirty="0"/>
              <a:t>ID</a:t>
            </a:r>
            <a:r>
              <a:rPr lang="es-ES" sz="1400" dirty="0"/>
              <a:t> del grupo principal de un usuario: </a:t>
            </a:r>
            <a:r>
              <a:rPr lang="es-ES" sz="1400" b="1" dirty="0"/>
              <a:t>-g</a:t>
            </a:r>
            <a:r>
              <a:rPr lang="es-ES" sz="1400" dirty="0"/>
              <a:t>, </a:t>
            </a:r>
            <a:r>
              <a:rPr lang="es-ES" sz="1400" b="1" dirty="0"/>
              <a:t>–</a:t>
            </a:r>
            <a:r>
              <a:rPr lang="es-ES" sz="1400" b="1" dirty="0" err="1"/>
              <a:t>group</a:t>
            </a:r>
            <a:endParaRPr lang="es-ES" sz="1400" dirty="0"/>
          </a:p>
          <a:p>
            <a:pPr>
              <a:spcBef>
                <a:spcPts val="200"/>
              </a:spcBef>
              <a:buFont typeface="Wingdings" panose="05000000000000000000" pitchFamily="2" charset="2"/>
              <a:buChar char="§"/>
            </a:pPr>
            <a:r>
              <a:rPr lang="es-ES" sz="1400" dirty="0"/>
              <a:t>Imprimir solo los </a:t>
            </a:r>
            <a:r>
              <a:rPr lang="es-ES" sz="1400" i="1" dirty="0" err="1"/>
              <a:t>IDs</a:t>
            </a:r>
            <a:r>
              <a:rPr lang="es-ES" sz="1400" dirty="0"/>
              <a:t> de los grupos a los que pertenece el usuario:</a:t>
            </a:r>
            <a:r>
              <a:rPr lang="es-ES" sz="1400" b="1" dirty="0"/>
              <a:t> -G</a:t>
            </a:r>
            <a:r>
              <a:rPr lang="es-ES" sz="1400" dirty="0"/>
              <a:t>, </a:t>
            </a:r>
            <a:r>
              <a:rPr lang="es-ES" sz="1400" b="1" dirty="0"/>
              <a:t>–</a:t>
            </a:r>
            <a:r>
              <a:rPr lang="es-ES" sz="1400" b="1" dirty="0" err="1"/>
              <a:t>groups</a:t>
            </a:r>
            <a:endParaRPr lang="es-ES" sz="1400" dirty="0"/>
          </a:p>
          <a:p>
            <a:pPr>
              <a:spcBef>
                <a:spcPts val="200"/>
              </a:spcBef>
              <a:buFont typeface="Wingdings" panose="05000000000000000000" pitchFamily="2" charset="2"/>
              <a:buChar char="§"/>
            </a:pPr>
            <a:r>
              <a:rPr lang="es-ES" sz="1400" dirty="0"/>
              <a:t>Si acompañamos algunas de las opciones anteriores con </a:t>
            </a:r>
            <a:r>
              <a:rPr lang="es-ES" sz="1400" b="1" dirty="0"/>
              <a:t>-n</a:t>
            </a:r>
            <a:r>
              <a:rPr lang="es-ES" sz="1400" dirty="0"/>
              <a:t>,</a:t>
            </a:r>
            <a:r>
              <a:rPr lang="es-ES" sz="1400" b="1" dirty="0"/>
              <a:t> –</a:t>
            </a:r>
            <a:r>
              <a:rPr lang="es-ES" sz="1400" b="1" dirty="0" err="1"/>
              <a:t>name</a:t>
            </a:r>
            <a:r>
              <a:rPr lang="es-ES" sz="1400" dirty="0"/>
              <a:t> imprimiremos solo el/los nombres</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0864" y="1516984"/>
            <a:ext cx="10233546" cy="4181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b="1" dirty="0"/>
          </a:p>
          <a:p>
            <a:pPr>
              <a:spcBef>
                <a:spcPts val="400"/>
              </a:spcBef>
            </a:pPr>
            <a:r>
              <a:rPr lang="es-ES" sz="1400" b="1" dirty="0"/>
              <a:t>Comandos de obtención de información de usuarios y grupos</a:t>
            </a:r>
            <a:endParaRPr lang="es-ES" sz="1400" b="1" dirty="0"/>
          </a:p>
          <a:p>
            <a:r>
              <a:rPr lang="es-ES" sz="1400" b="1" dirty="0" err="1"/>
              <a:t>groups</a:t>
            </a:r>
            <a:r>
              <a:rPr lang="es-ES" sz="1400" dirty="0"/>
              <a:t>: Imprimir los grupos a los que pertenece un usuario. Se invoca </a:t>
            </a:r>
            <a:r>
              <a:rPr lang="es-ES" sz="1400" dirty="0" err="1"/>
              <a:t>unicamente</a:t>
            </a:r>
            <a:r>
              <a:rPr lang="es-ES" sz="1400" dirty="0"/>
              <a:t> escribiendo el nombre del comando o pasándole como argumento el nombre de un usuario.</a:t>
            </a:r>
            <a:endParaRPr lang="es-ES" sz="1400" dirty="0"/>
          </a:p>
          <a:p>
            <a:r>
              <a:rPr lang="es-ES" sz="1400" b="1" dirty="0"/>
              <a:t>finger</a:t>
            </a:r>
            <a:r>
              <a:rPr lang="es-ES" sz="1400" dirty="0"/>
              <a:t>: Muestra información sobre un usuario. Sin opciones, tiene el mismo comportamiento que con el parámetro </a:t>
            </a:r>
            <a:r>
              <a:rPr lang="es-ES" sz="1400" b="1" dirty="0"/>
              <a:t>-s</a:t>
            </a:r>
            <a:r>
              <a:rPr lang="es-ES" sz="1400" dirty="0"/>
              <a:t>, muestra el nombre de </a:t>
            </a:r>
            <a:r>
              <a:rPr lang="es-ES" sz="1400" i="1" dirty="0" err="1"/>
              <a:t>login</a:t>
            </a:r>
            <a:r>
              <a:rPr lang="es-ES" sz="1400" dirty="0"/>
              <a:t>, el nombre completo del usuario, las sesiones abierta, el tiempo de sesión y su fecha y hora de inicio, el display en el que trabaja y su número de teléfono. Si pasamos la opción </a:t>
            </a:r>
            <a:r>
              <a:rPr lang="es-ES" sz="1400" b="1" dirty="0"/>
              <a:t>-l</a:t>
            </a:r>
            <a:r>
              <a:rPr lang="es-ES" sz="1400" dirty="0"/>
              <a:t>, generará algo mas de información  como su directorio home, el </a:t>
            </a:r>
            <a:r>
              <a:rPr lang="es-ES" sz="1400" dirty="0" err="1"/>
              <a:t>shell</a:t>
            </a:r>
            <a:r>
              <a:rPr lang="es-ES" sz="1400" dirty="0"/>
              <a:t> por defecto y su mail.</a:t>
            </a:r>
            <a:endParaRPr lang="es-ES" sz="1400" dirty="0"/>
          </a:p>
          <a:p>
            <a:r>
              <a:rPr lang="es-ES" sz="1400" b="1" dirty="0" err="1"/>
              <a:t>getent</a:t>
            </a:r>
            <a:r>
              <a:rPr lang="es-ES" sz="1400" dirty="0"/>
              <a:t>: Con este comando podremos desplegar el contenido de las bases de datos definidas en el archivo </a:t>
            </a:r>
            <a:r>
              <a:rPr lang="es-ES" sz="1400" i="1" dirty="0"/>
              <a:t>/</a:t>
            </a:r>
            <a:r>
              <a:rPr lang="es-ES" sz="1400" i="1" dirty="0" err="1"/>
              <a:t>etc</a:t>
            </a:r>
            <a:r>
              <a:rPr lang="es-ES" sz="1400" i="1" dirty="0"/>
              <a:t>/</a:t>
            </a:r>
            <a:r>
              <a:rPr lang="es-ES" sz="1400" i="1" dirty="0" err="1"/>
              <a:t>nsswitch.conf</a:t>
            </a:r>
            <a:r>
              <a:rPr lang="es-ES" sz="1400" dirty="0"/>
              <a:t>. Por defecto las que afectan a la información del usuario son: </a:t>
            </a:r>
            <a:r>
              <a:rPr lang="es-ES" sz="1400" b="1" dirty="0" err="1"/>
              <a:t>passwd</a:t>
            </a:r>
            <a:r>
              <a:rPr lang="es-ES" sz="1400" dirty="0"/>
              <a:t>, </a:t>
            </a:r>
            <a:r>
              <a:rPr lang="es-ES" sz="1400" b="1" dirty="0" err="1"/>
              <a:t>group</a:t>
            </a:r>
            <a:r>
              <a:rPr lang="es-ES" sz="1400" dirty="0"/>
              <a:t> y </a:t>
            </a:r>
            <a:r>
              <a:rPr lang="es-ES" sz="1400" b="1" dirty="0" err="1"/>
              <a:t>shadow</a:t>
            </a:r>
            <a:r>
              <a:rPr lang="es-ES" sz="1400" dirty="0"/>
              <a:t>. Existen otras predeterminadas como: </a:t>
            </a:r>
            <a:r>
              <a:rPr lang="es-ES" sz="1400" i="1" dirty="0"/>
              <a:t>hosts</a:t>
            </a:r>
            <a:r>
              <a:rPr lang="es-ES" sz="1400" dirty="0"/>
              <a:t>, </a:t>
            </a:r>
            <a:r>
              <a:rPr lang="es-ES" sz="1400" i="1" dirty="0" err="1"/>
              <a:t>networks</a:t>
            </a:r>
            <a:r>
              <a:rPr lang="es-ES" sz="1400" dirty="0"/>
              <a:t>, </a:t>
            </a:r>
            <a:r>
              <a:rPr lang="es-ES" sz="1400" i="1" dirty="0" err="1"/>
              <a:t>protocols</a:t>
            </a:r>
            <a:r>
              <a:rPr lang="es-ES" sz="1400" dirty="0"/>
              <a:t>, </a:t>
            </a:r>
            <a:r>
              <a:rPr lang="es-ES" sz="1400" i="1" dirty="0" err="1"/>
              <a:t>services</a:t>
            </a:r>
            <a:r>
              <a:rPr lang="es-ES" sz="1400" dirty="0"/>
              <a:t>, </a:t>
            </a:r>
            <a:r>
              <a:rPr lang="es-ES" sz="1400" i="1" dirty="0" err="1"/>
              <a:t>ethers</a:t>
            </a:r>
            <a:r>
              <a:rPr lang="es-ES" sz="1400" dirty="0"/>
              <a:t>, </a:t>
            </a:r>
            <a:r>
              <a:rPr lang="es-ES" sz="1400" i="1" dirty="0" err="1"/>
              <a:t>rpc</a:t>
            </a:r>
            <a:r>
              <a:rPr lang="es-ES" sz="1400" dirty="0"/>
              <a:t> y </a:t>
            </a:r>
            <a:r>
              <a:rPr lang="es-ES" sz="1400" i="1" dirty="0" err="1"/>
              <a:t>netgroup</a:t>
            </a:r>
            <a:r>
              <a:rPr lang="es-ES" sz="1400" dirty="0"/>
              <a:t>.</a:t>
            </a:r>
            <a:endParaRPr lang="es-ES" sz="1400" dirty="0"/>
          </a:p>
          <a:p>
            <a:r>
              <a:rPr lang="es-ES" sz="1400" dirty="0"/>
              <a:t>Por ejemplo ejecutar </a:t>
            </a:r>
            <a:r>
              <a:rPr lang="es-ES" sz="1400" i="1" dirty="0"/>
              <a:t>$ </a:t>
            </a:r>
            <a:r>
              <a:rPr lang="es-ES" sz="1400" i="1" dirty="0" err="1"/>
              <a:t>getent</a:t>
            </a:r>
            <a:r>
              <a:rPr lang="es-ES" sz="1400" i="1" dirty="0"/>
              <a:t> </a:t>
            </a:r>
            <a:r>
              <a:rPr lang="es-ES" sz="1400" i="1" dirty="0" err="1"/>
              <a:t>passwd</a:t>
            </a:r>
            <a:r>
              <a:rPr lang="es-ES" sz="1400" dirty="0"/>
              <a:t> es igual a </a:t>
            </a:r>
            <a:r>
              <a:rPr lang="es-ES" sz="1400" i="1" dirty="0"/>
              <a:t>$ </a:t>
            </a:r>
            <a:r>
              <a:rPr lang="es-ES" sz="1400" i="1" dirty="0" err="1"/>
              <a:t>cat</a:t>
            </a:r>
            <a:r>
              <a:rPr lang="es-ES" sz="1400" i="1" dirty="0"/>
              <a:t> /</a:t>
            </a:r>
            <a:r>
              <a:rPr lang="es-ES" sz="1400" i="1" dirty="0" err="1"/>
              <a:t>etc</a:t>
            </a:r>
            <a:r>
              <a:rPr lang="es-ES" sz="1400" i="1" dirty="0"/>
              <a:t>/</a:t>
            </a:r>
            <a:r>
              <a:rPr lang="es-ES" sz="1400" i="1" dirty="0" err="1"/>
              <a:t>passwd</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6938" y="1529804"/>
            <a:ext cx="1023354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r>
              <a:rPr lang="es-ES" sz="1400" b="1" dirty="0"/>
              <a:t>SU y SUDO</a:t>
            </a:r>
            <a:endParaRPr lang="es-ES" sz="1400" b="1" dirty="0"/>
          </a:p>
          <a:p>
            <a:r>
              <a:rPr lang="es-ES" sz="1400" dirty="0"/>
              <a:t>Tanto el programa </a:t>
            </a:r>
            <a:r>
              <a:rPr lang="es-ES" sz="1400" b="1" dirty="0"/>
              <a:t>su</a:t>
            </a:r>
            <a:r>
              <a:rPr lang="es-ES" sz="1400" dirty="0"/>
              <a:t> como el programa </a:t>
            </a:r>
            <a:r>
              <a:rPr lang="es-ES" sz="1400" b="1" dirty="0"/>
              <a:t>sudo</a:t>
            </a:r>
            <a:r>
              <a:rPr lang="es-ES" sz="1400" dirty="0"/>
              <a:t> nos permiten ejecutar ordenes con privilegios de </a:t>
            </a:r>
            <a:r>
              <a:rPr lang="es-ES" sz="1400" i="1" dirty="0" err="1"/>
              <a:t>root</a:t>
            </a:r>
            <a:r>
              <a:rPr lang="es-ES" sz="1400" dirty="0"/>
              <a:t> o en el caso de </a:t>
            </a:r>
            <a:r>
              <a:rPr lang="es-ES" sz="1400" i="1" dirty="0"/>
              <a:t>su</a:t>
            </a:r>
            <a:r>
              <a:rPr lang="es-ES" sz="1400" dirty="0"/>
              <a:t>, ingresar al sistema con la cuenta de otro usuario. Dicho esto, las situaciones típicas para usar estos comandos serán para el caso de </a:t>
            </a:r>
            <a:r>
              <a:rPr lang="es-ES" sz="1400" i="1" dirty="0"/>
              <a:t>su</a:t>
            </a:r>
            <a:r>
              <a:rPr lang="es-ES" sz="1400" dirty="0"/>
              <a:t>:</a:t>
            </a:r>
            <a:endParaRPr lang="es-ES" sz="1400" dirty="0"/>
          </a:p>
          <a:p>
            <a:pPr lvl="1"/>
            <a:r>
              <a:rPr lang="es-ES" sz="1200" dirty="0"/>
              <a:t>Estamos </a:t>
            </a:r>
            <a:r>
              <a:rPr lang="es-ES" sz="1200" dirty="0" err="1"/>
              <a:t>logueados</a:t>
            </a:r>
            <a:r>
              <a:rPr lang="es-ES" sz="1200" dirty="0"/>
              <a:t> con nuestro usuario estándar y necesitamos ejecutar una o varias tareas como </a:t>
            </a:r>
            <a:r>
              <a:rPr lang="es-ES" sz="1200" i="1" dirty="0" err="1"/>
              <a:t>root</a:t>
            </a:r>
            <a:r>
              <a:rPr lang="es-ES" sz="1200" dirty="0"/>
              <a:t>, ya sean ejecutar binarios, modificar archivos crearlos o eliminarlo</a:t>
            </a:r>
            <a:endParaRPr lang="es-ES" sz="1200" dirty="0"/>
          </a:p>
          <a:p>
            <a:pPr lvl="1"/>
            <a:r>
              <a:rPr lang="es-ES" sz="1200" dirty="0"/>
              <a:t>Estamos con un usuario cualquiera, incluido </a:t>
            </a:r>
            <a:r>
              <a:rPr lang="es-ES" sz="1200" i="1" dirty="0" err="1"/>
              <a:t>root</a:t>
            </a:r>
            <a:r>
              <a:rPr lang="es-ES" sz="1200" dirty="0"/>
              <a:t>, y nos vemos en la necesidad de pasarnos a otro usuario</a:t>
            </a:r>
            <a:endParaRPr lang="es-ES" sz="1200" dirty="0"/>
          </a:p>
          <a:p>
            <a:r>
              <a:rPr lang="es-ES" sz="1400" dirty="0"/>
              <a:t>El nombre de </a:t>
            </a:r>
            <a:r>
              <a:rPr lang="es-ES" sz="1400" b="1" i="1" dirty="0"/>
              <a:t>su</a:t>
            </a:r>
            <a:r>
              <a:rPr lang="es-ES" sz="1400" dirty="0"/>
              <a:t> deriva de la abreviatura </a:t>
            </a:r>
            <a:r>
              <a:rPr lang="es-ES" sz="1400" b="1" dirty="0" err="1"/>
              <a:t>S</a:t>
            </a:r>
            <a:r>
              <a:rPr lang="es-ES" sz="1400" dirty="0" err="1"/>
              <a:t>uper</a:t>
            </a:r>
            <a:r>
              <a:rPr lang="es-ES" sz="1400" b="1" dirty="0" err="1"/>
              <a:t>U</a:t>
            </a:r>
            <a:r>
              <a:rPr lang="es-ES" sz="1400" dirty="0" err="1"/>
              <a:t>ser</a:t>
            </a:r>
            <a:r>
              <a:rPr lang="es-ES" sz="1400" dirty="0"/>
              <a:t> o en otros casos leeremos que viene de </a:t>
            </a:r>
            <a:r>
              <a:rPr lang="es-ES" sz="1400" b="1" dirty="0" err="1"/>
              <a:t>S</a:t>
            </a:r>
            <a:r>
              <a:rPr lang="es-ES" sz="1400" dirty="0" err="1"/>
              <a:t>ubstitute</a:t>
            </a:r>
            <a:r>
              <a:rPr lang="es-ES" sz="1400" dirty="0"/>
              <a:t> </a:t>
            </a:r>
            <a:r>
              <a:rPr lang="es-ES" sz="1400" b="1" dirty="0" err="1"/>
              <a:t>U</a:t>
            </a:r>
            <a:r>
              <a:rPr lang="es-ES" sz="1400" dirty="0" err="1"/>
              <a:t>ser</a:t>
            </a:r>
            <a:r>
              <a:rPr lang="es-ES" sz="1400" dirty="0"/>
              <a:t>. El nombre de </a:t>
            </a:r>
            <a:r>
              <a:rPr lang="es-ES" sz="1400" i="1" dirty="0"/>
              <a:t>sudo</a:t>
            </a:r>
            <a:r>
              <a:rPr lang="es-ES" sz="1400" dirty="0"/>
              <a:t> es la abreviatura del Inglés </a:t>
            </a:r>
            <a:r>
              <a:rPr lang="es-ES" sz="1400" b="1" dirty="0" err="1"/>
              <a:t>S</a:t>
            </a:r>
            <a:r>
              <a:rPr lang="es-ES" sz="1400" dirty="0" err="1"/>
              <a:t>ubstitute</a:t>
            </a:r>
            <a:r>
              <a:rPr lang="es-ES" sz="1400" dirty="0"/>
              <a:t> </a:t>
            </a:r>
            <a:r>
              <a:rPr lang="es-ES" sz="1400" b="1" dirty="0" err="1"/>
              <a:t>U</a:t>
            </a:r>
            <a:r>
              <a:rPr lang="es-ES" sz="1400" dirty="0" err="1"/>
              <a:t>ser</a:t>
            </a:r>
            <a:r>
              <a:rPr lang="es-ES" sz="1400" dirty="0"/>
              <a:t> </a:t>
            </a:r>
            <a:r>
              <a:rPr lang="es-ES" sz="1400" b="1" dirty="0"/>
              <a:t>do</a:t>
            </a:r>
            <a:r>
              <a:rPr lang="es-ES" sz="1400" dirty="0"/>
              <a:t>.</a:t>
            </a:r>
            <a:endParaRPr lang="es-ES" sz="1400" dirty="0"/>
          </a:p>
          <a:p>
            <a:r>
              <a:rPr lang="es-ES" sz="1400" dirty="0"/>
              <a:t>Bastará escribir </a:t>
            </a:r>
            <a:r>
              <a:rPr lang="es-ES" sz="1400" b="1" dirty="0"/>
              <a:t># </a:t>
            </a:r>
            <a:r>
              <a:rPr lang="es-ES" sz="1400" b="1" dirty="0" err="1"/>
              <a:t>exit</a:t>
            </a:r>
            <a:r>
              <a:rPr lang="es-ES" sz="1400" dirty="0"/>
              <a:t> para volver a nuestra sesión anterior o bien ejecutar el comando de edición directamente tras </a:t>
            </a:r>
            <a:r>
              <a:rPr lang="es-ES" sz="1400" i="1" dirty="0"/>
              <a:t>sudo</a:t>
            </a:r>
            <a:r>
              <a:rPr lang="es-ES" sz="1400" dirty="0"/>
              <a:t>, tal que así: </a:t>
            </a:r>
            <a:endParaRPr lang="es-ES" sz="1400" dirty="0"/>
          </a:p>
          <a:p>
            <a:pPr algn="ctr"/>
            <a:r>
              <a:rPr lang="es-ES" sz="1400" b="1" dirty="0"/>
              <a:t>$ sudo vi /</a:t>
            </a:r>
            <a:r>
              <a:rPr lang="es-ES" sz="1400" b="1" dirty="0" err="1"/>
              <a:t>etc</a:t>
            </a:r>
            <a:r>
              <a:rPr lang="es-ES" sz="1400" b="1" dirty="0"/>
              <a:t>/</a:t>
            </a:r>
            <a:r>
              <a:rPr lang="es-ES" sz="1400" b="1" dirty="0" err="1"/>
              <a:t>passwd</a:t>
            </a:r>
            <a:endParaRPr lang="es-ES" sz="1400"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415833"/>
            <a:ext cx="10233546" cy="2530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r>
              <a:rPr lang="es-ES" altLang="es-ES" sz="1400" b="1" dirty="0">
                <a:solidFill>
                  <a:srgbClr val="333333"/>
                </a:solidFill>
                <a:latin typeface="Helvetica" panose="020B0604020202020204" pitchFamily="34" charset="0"/>
              </a:rPr>
              <a:t>Realizar un usuario con permisos de SUDO.</a:t>
            </a:r>
            <a:endParaRPr lang="es-ES" altLang="es-ES" sz="1400" b="1"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Helvetica" panose="020B0604020202020204" pitchFamily="34" charset="0"/>
              </a:rPr>
              <a:t>Al crear un nuevo usuario, este no podrá ejecutar ningún comando con permisos de administrador. En argot se dice que el usuario no es un </a:t>
            </a:r>
            <a:r>
              <a:rPr lang="es-ES" altLang="es-ES" sz="1400" dirty="0" err="1">
                <a:solidFill>
                  <a:srgbClr val="333333"/>
                </a:solidFill>
                <a:latin typeface="Helvetica" panose="020B0604020202020204" pitchFamily="34" charset="0"/>
              </a:rPr>
              <a:t>sudoer</a:t>
            </a:r>
            <a:r>
              <a:rPr lang="es-ES" altLang="es-ES" sz="1400" dirty="0">
                <a:solidFill>
                  <a:srgbClr val="333333"/>
                </a:solidFill>
                <a:latin typeface="Helvetica" panose="020B0604020202020204" pitchFamily="34" charset="0"/>
              </a:rPr>
              <a:t>.</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latin typeface="Helvetica" panose="020B0604020202020204" pitchFamily="34" charset="0"/>
              </a:rPr>
              <a:t>Para hacer un usuario </a:t>
            </a:r>
            <a:r>
              <a:rPr lang="es-ES" altLang="es-ES" sz="1400" dirty="0" err="1">
                <a:solidFill>
                  <a:srgbClr val="333333"/>
                </a:solidFill>
                <a:latin typeface="Helvetica" panose="020B0604020202020204" pitchFamily="34" charset="0"/>
              </a:rPr>
              <a:t>sudoer</a:t>
            </a:r>
            <a:r>
              <a:rPr lang="es-ES" altLang="es-ES" sz="1400" dirty="0">
                <a:solidFill>
                  <a:srgbClr val="333333"/>
                </a:solidFill>
                <a:latin typeface="Helvetica" panose="020B0604020202020204" pitchFamily="34" charset="0"/>
              </a:rPr>
              <a:t>, tenemos que:</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1"/>
          <a:stretch>
            <a:fillRect/>
          </a:stretch>
        </p:blipFill>
        <p:spPr>
          <a:xfrm>
            <a:off x="4348059" y="3489582"/>
            <a:ext cx="3125308" cy="5515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979227" y="1523554"/>
            <a:ext cx="10233546" cy="59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1"/>
          <a:stretch>
            <a:fillRect/>
          </a:stretch>
        </p:blipFill>
        <p:spPr>
          <a:xfrm>
            <a:off x="1744580" y="1980660"/>
            <a:ext cx="7617241" cy="427528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979227" y="1523554"/>
            <a:ext cx="10233546" cy="59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8" name="Imagen 7"/>
          <p:cNvPicPr>
            <a:picLocks noChangeAspect="1"/>
          </p:cNvPicPr>
          <p:nvPr/>
        </p:nvPicPr>
        <p:blipFill>
          <a:blip r:embed="rId1"/>
          <a:stretch>
            <a:fillRect/>
          </a:stretch>
        </p:blipFill>
        <p:spPr>
          <a:xfrm>
            <a:off x="1352765" y="2115510"/>
            <a:ext cx="8706887" cy="262697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4928" y="1523218"/>
            <a:ext cx="10058400" cy="2997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r>
              <a:rPr lang="es-ES" altLang="es-ES" sz="1600" b="1" dirty="0">
                <a:solidFill>
                  <a:srgbClr val="333333"/>
                </a:solidFill>
              </a:rPr>
              <a:t>Notificaciones al usuario</a:t>
            </a:r>
            <a:endParaRPr lang="es-ES" altLang="es-ES" sz="16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600" dirty="0">
              <a:solidFill>
                <a:srgbClr val="333333"/>
              </a:solidFill>
            </a:endParaRPr>
          </a:p>
          <a:p>
            <a:pPr eaLnBrk="0" fontAlgn="base" hangingPunct="0">
              <a:lnSpc>
                <a:spcPct val="100000"/>
              </a:lnSpc>
              <a:spcBef>
                <a:spcPct val="0"/>
              </a:spcBef>
              <a:spcAft>
                <a:spcPct val="0"/>
              </a:spcAft>
              <a:buClrTx/>
              <a:buSzTx/>
              <a:buFont typeface="Wingdings" panose="05000000000000000000" pitchFamily="2" charset="2"/>
              <a:buChar char="§"/>
            </a:pPr>
            <a:r>
              <a:rPr lang="es-ES" altLang="es-ES" sz="1600" b="1" dirty="0">
                <a:solidFill>
                  <a:srgbClr val="333333"/>
                </a:solidFill>
              </a:rPr>
              <a:t>/</a:t>
            </a:r>
            <a:r>
              <a:rPr lang="es-ES" altLang="es-ES" sz="1600" b="1" dirty="0" err="1">
                <a:solidFill>
                  <a:srgbClr val="333333"/>
                </a:solidFill>
              </a:rPr>
              <a:t>etc</a:t>
            </a:r>
            <a:r>
              <a:rPr lang="es-ES" altLang="es-ES" sz="1600" b="1" dirty="0">
                <a:solidFill>
                  <a:srgbClr val="333333"/>
                </a:solidFill>
              </a:rPr>
              <a:t>/</a:t>
            </a:r>
            <a:r>
              <a:rPr lang="es-ES" altLang="es-ES" sz="1600" b="1" dirty="0" err="1">
                <a:solidFill>
                  <a:srgbClr val="333333"/>
                </a:solidFill>
              </a:rPr>
              <a:t>issue</a:t>
            </a:r>
            <a:endParaRPr lang="es-ES" altLang="es-ES" sz="1600" b="1" dirty="0">
              <a:solidFill>
                <a:srgbClr val="333333"/>
              </a:solidFill>
            </a:endParaRPr>
          </a:p>
          <a:p>
            <a:pPr marL="0" indent="0" eaLnBrk="0" fontAlgn="base" hangingPunct="0">
              <a:lnSpc>
                <a:spcPct val="100000"/>
              </a:lnSpc>
              <a:spcBef>
                <a:spcPct val="0"/>
              </a:spcBef>
              <a:spcAft>
                <a:spcPct val="0"/>
              </a:spcAft>
              <a:buClrTx/>
              <a:buSzTx/>
              <a:buNone/>
            </a:pPr>
            <a:endParaRPr lang="es-ES" altLang="es-ES" sz="1600" b="1" dirty="0">
              <a:solidFill>
                <a:srgbClr val="333333"/>
              </a:solidFill>
            </a:endParaRPr>
          </a:p>
          <a:p>
            <a:pPr marL="0" lvl="0" indent="0" eaLnBrk="0" fontAlgn="base" hangingPunct="0">
              <a:lnSpc>
                <a:spcPct val="100000"/>
              </a:lnSpc>
              <a:spcBef>
                <a:spcPts val="200"/>
              </a:spcBef>
              <a:buClrTx/>
              <a:buSzTx/>
              <a:buNone/>
            </a:pPr>
            <a:r>
              <a:rPr lang="es-ES" altLang="es-ES" sz="1600" dirty="0">
                <a:solidFill>
                  <a:srgbClr val="333333"/>
                </a:solidFill>
              </a:rPr>
              <a:t>Cuando un usuario se conecta por consola, se suele visualizar un mensaje justo antes de la línea de comandos de inserción de su </a:t>
            </a:r>
            <a:r>
              <a:rPr lang="es-ES" altLang="es-ES" sz="1600" dirty="0" err="1">
                <a:solidFill>
                  <a:srgbClr val="333333"/>
                </a:solidFill>
              </a:rPr>
              <a:t>login</a:t>
            </a:r>
            <a:r>
              <a:rPr lang="es-ES" altLang="es-ES" sz="1600" dirty="0">
                <a:solidFill>
                  <a:srgbClr val="333333"/>
                </a:solidFill>
              </a:rPr>
              <a:t>. </a:t>
            </a:r>
            <a:endParaRPr lang="es-ES" altLang="es-ES" sz="1600" dirty="0">
              <a:solidFill>
                <a:srgbClr val="333333"/>
              </a:solidFill>
            </a:endParaRPr>
          </a:p>
          <a:p>
            <a:pPr marL="0" lvl="0" indent="0" eaLnBrk="0" fontAlgn="base" hangingPunct="0">
              <a:lnSpc>
                <a:spcPct val="100000"/>
              </a:lnSpc>
              <a:spcBef>
                <a:spcPts val="200"/>
              </a:spcBef>
              <a:buClrTx/>
              <a:buSzTx/>
              <a:buNone/>
            </a:pPr>
            <a:endParaRPr lang="es-ES" altLang="es-ES" sz="1600" dirty="0">
              <a:solidFill>
                <a:srgbClr val="333333"/>
              </a:solidFill>
            </a:endParaRPr>
          </a:p>
          <a:p>
            <a:pPr marL="0" lvl="0" indent="0" eaLnBrk="0" fontAlgn="base" hangingPunct="0">
              <a:lnSpc>
                <a:spcPct val="100000"/>
              </a:lnSpc>
              <a:spcBef>
                <a:spcPts val="200"/>
              </a:spcBef>
              <a:buClrTx/>
              <a:buSzTx/>
              <a:buNone/>
            </a:pPr>
            <a:r>
              <a:rPr lang="es-ES" altLang="es-ES" sz="1600" dirty="0">
                <a:solidFill>
                  <a:srgbClr val="333333"/>
                </a:solidFill>
              </a:rPr>
              <a:t>El archivo /</a:t>
            </a:r>
            <a:r>
              <a:rPr lang="es-ES" altLang="es-ES" sz="1600" dirty="0" err="1">
                <a:solidFill>
                  <a:srgbClr val="333333"/>
                </a:solidFill>
              </a:rPr>
              <a:t>etc</a:t>
            </a:r>
            <a:r>
              <a:rPr lang="es-ES" altLang="es-ES" sz="1600" dirty="0">
                <a:solidFill>
                  <a:srgbClr val="333333"/>
                </a:solidFill>
              </a:rPr>
              <a:t>/</a:t>
            </a:r>
            <a:r>
              <a:rPr lang="es-ES" altLang="es-ES" sz="1600" dirty="0" err="1">
                <a:solidFill>
                  <a:srgbClr val="333333"/>
                </a:solidFill>
              </a:rPr>
              <a:t>issue</a:t>
            </a:r>
            <a:r>
              <a:rPr lang="es-ES" altLang="es-ES" sz="1600" dirty="0">
                <a:solidFill>
                  <a:srgbClr val="333333"/>
                </a:solidFill>
              </a:rPr>
              <a:t> contiene este mensaje. Se trata de un mensaje de bienvenida y por ese motivo puede contener todo lo que desee.</a:t>
            </a:r>
            <a:endParaRPr lang="es-ES" altLang="es-ES" sz="1600" dirty="0">
              <a:solidFill>
                <a:srgbClr val="333333"/>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1"/>
          <a:stretch>
            <a:fillRect/>
          </a:stretch>
        </p:blipFill>
        <p:spPr>
          <a:xfrm>
            <a:off x="3345281" y="4677557"/>
            <a:ext cx="4972050" cy="65722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979227" y="1374796"/>
            <a:ext cx="10233546" cy="2607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ADMINISTRACION DE USUARIOS</a:t>
            </a:r>
            <a:endParaRPr lang="es-ES" sz="1400" b="1" dirty="0"/>
          </a:p>
          <a:p>
            <a:pPr marL="0" lvl="0" indent="0" eaLnBrk="0" fontAlgn="base" hangingPunct="0">
              <a:lnSpc>
                <a:spcPct val="100000"/>
              </a:lnSpc>
              <a:spcBef>
                <a:spcPct val="0"/>
              </a:spcBef>
              <a:spcAft>
                <a:spcPct val="0"/>
              </a:spcAft>
              <a:buClrTx/>
              <a:buSzTx/>
              <a:buNone/>
            </a:pPr>
            <a:endParaRPr lang="es-ES" altLang="es-ES"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r>
              <a:rPr lang="es-ES" altLang="es-ES" sz="1600" b="1" dirty="0">
                <a:solidFill>
                  <a:srgbClr val="333333"/>
                </a:solidFill>
                <a:latin typeface="Helvetica" panose="020B0604020202020204" pitchFamily="34" charset="0"/>
              </a:rPr>
              <a:t>Notificaciones al usuario</a:t>
            </a:r>
            <a:endParaRPr lang="es-ES" altLang="es-ES" sz="1600" b="1" dirty="0">
              <a:solidFill>
                <a:srgbClr val="333333"/>
              </a:solidFill>
              <a:latin typeface="Helvetica" panose="020B0604020202020204" pitchFamily="34" charset="0"/>
            </a:endParaRPr>
          </a:p>
          <a:p>
            <a:pPr marL="0" lvl="0" indent="0" eaLnBrk="0" fontAlgn="base" hangingPunct="0">
              <a:lnSpc>
                <a:spcPct val="100000"/>
              </a:lnSpc>
              <a:spcBef>
                <a:spcPts val="200"/>
              </a:spcBef>
              <a:buClrTx/>
              <a:buSzTx/>
              <a:buNone/>
            </a:pPr>
            <a:endParaRPr lang="es-ES" altLang="es-ES" sz="1600" dirty="0">
              <a:solidFill>
                <a:srgbClr val="333333"/>
              </a:solidFill>
            </a:endParaRPr>
          </a:p>
          <a:p>
            <a:pPr eaLnBrk="0" fontAlgn="base" hangingPunct="0">
              <a:lnSpc>
                <a:spcPct val="100000"/>
              </a:lnSpc>
              <a:spcBef>
                <a:spcPts val="200"/>
              </a:spcBef>
              <a:buClrTx/>
              <a:buSzTx/>
              <a:buFont typeface="Wingdings" panose="05000000000000000000" pitchFamily="2" charset="2"/>
              <a:buChar char="§"/>
            </a:pPr>
            <a:r>
              <a:rPr lang="es-ES" altLang="es-ES" sz="1600" b="1" i="1" dirty="0">
                <a:solidFill>
                  <a:srgbClr val="333333"/>
                </a:solidFill>
              </a:rPr>
              <a:t>/</a:t>
            </a:r>
            <a:r>
              <a:rPr lang="es-ES" altLang="es-ES" sz="1600" b="1" i="1" dirty="0" err="1">
                <a:solidFill>
                  <a:srgbClr val="333333"/>
                </a:solidFill>
              </a:rPr>
              <a:t>etc</a:t>
            </a:r>
            <a:r>
              <a:rPr lang="es-ES" altLang="es-ES" sz="1600" b="1" i="1" dirty="0">
                <a:solidFill>
                  <a:srgbClr val="333333"/>
                </a:solidFill>
              </a:rPr>
              <a:t>/</a:t>
            </a:r>
            <a:r>
              <a:rPr lang="es-ES" altLang="es-ES" sz="1600" b="1" i="1" dirty="0" err="1">
                <a:solidFill>
                  <a:srgbClr val="333333"/>
                </a:solidFill>
              </a:rPr>
              <a:t>motd</a:t>
            </a:r>
            <a:r>
              <a:rPr lang="es-ES" altLang="es-ES" sz="1600" b="1" i="1" dirty="0">
                <a:solidFill>
                  <a:srgbClr val="333333"/>
                </a:solidFill>
              </a:rPr>
              <a:t>: </a:t>
            </a:r>
            <a:r>
              <a:rPr lang="es-ES" altLang="es-ES" sz="1600" dirty="0">
                <a:solidFill>
                  <a:srgbClr val="333333"/>
                </a:solidFill>
              </a:rPr>
              <a:t>Escribe el mensaje del día, después de </a:t>
            </a:r>
            <a:r>
              <a:rPr lang="es-ES" altLang="es-ES" sz="1600" dirty="0" err="1">
                <a:solidFill>
                  <a:srgbClr val="333333"/>
                </a:solidFill>
              </a:rPr>
              <a:t>loguearse</a:t>
            </a:r>
            <a:endParaRPr lang="es-ES" altLang="es-ES" sz="1600" b="1" i="1" dirty="0">
              <a:solidFill>
                <a:srgbClr val="333333"/>
              </a:solidFill>
            </a:endParaRPr>
          </a:p>
          <a:p>
            <a:pPr eaLnBrk="0" fontAlgn="base" hangingPunct="0">
              <a:lnSpc>
                <a:spcPct val="100000"/>
              </a:lnSpc>
              <a:spcBef>
                <a:spcPts val="200"/>
              </a:spcBef>
              <a:buClrTx/>
              <a:buSzTx/>
              <a:buFont typeface="Wingdings" panose="05000000000000000000" pitchFamily="2" charset="2"/>
              <a:buChar char="§"/>
            </a:pPr>
            <a:r>
              <a:rPr lang="es-ES" altLang="es-ES" sz="1600" b="1" i="1" dirty="0" err="1">
                <a:solidFill>
                  <a:srgbClr val="333333"/>
                </a:solidFill>
              </a:rPr>
              <a:t>wall</a:t>
            </a:r>
            <a:r>
              <a:rPr lang="es-ES" altLang="es-ES" sz="1600" b="1" i="1" dirty="0">
                <a:solidFill>
                  <a:srgbClr val="333333"/>
                </a:solidFill>
              </a:rPr>
              <a:t> : </a:t>
            </a:r>
            <a:r>
              <a:rPr lang="es-ES" altLang="es-ES" sz="1600" dirty="0">
                <a:solidFill>
                  <a:srgbClr val="333333"/>
                </a:solidFill>
              </a:rPr>
              <a:t>Permite la emisión de una notificación en la consola del conjunto de usuarios conectados. La notificación es o bien un mensaje introducido mediante la entrada estándar o el contenido de un archivo.</a:t>
            </a:r>
            <a:endParaRPr lang="es-ES" altLang="es-ES" sz="1600" dirty="0">
              <a:solidFill>
                <a:srgbClr val="333333"/>
              </a:solidFill>
            </a:endParaRPr>
          </a:p>
          <a:p>
            <a:pPr eaLnBrk="0" fontAlgn="base" hangingPunct="0">
              <a:lnSpc>
                <a:spcPct val="100000"/>
              </a:lnSpc>
              <a:spcBef>
                <a:spcPts val="200"/>
              </a:spcBef>
              <a:buClrTx/>
              <a:buSzTx/>
              <a:buFont typeface="Wingdings" panose="05000000000000000000" pitchFamily="2" charset="2"/>
              <a:buChar char="§"/>
            </a:pPr>
            <a:r>
              <a:rPr lang="es-ES" altLang="es-ES" sz="1600" b="1" i="1" dirty="0" err="1">
                <a:solidFill>
                  <a:srgbClr val="333333"/>
                </a:solidFill>
              </a:rPr>
              <a:t>Write</a:t>
            </a:r>
            <a:r>
              <a:rPr lang="es-ES" altLang="es-ES" sz="1600" b="1" i="1" dirty="0">
                <a:solidFill>
                  <a:srgbClr val="333333"/>
                </a:solidFill>
              </a:rPr>
              <a:t>: </a:t>
            </a:r>
            <a:r>
              <a:rPr lang="es-ES" altLang="es-ES" sz="1600" dirty="0">
                <a:solidFill>
                  <a:srgbClr val="333333"/>
                </a:solidFill>
              </a:rPr>
              <a:t>Lo mismo pero para un usuario específico.</a:t>
            </a:r>
            <a:endParaRPr lang="es-ES" altLang="es-ES" sz="1600" dirty="0">
              <a:solidFill>
                <a:srgbClr val="333333"/>
              </a:solidFill>
            </a:endParaRPr>
          </a:p>
          <a:p>
            <a:pPr eaLnBrk="0" fontAlgn="base" hangingPunct="0">
              <a:lnSpc>
                <a:spcPct val="100000"/>
              </a:lnSpc>
              <a:spcBef>
                <a:spcPts val="200"/>
              </a:spcBef>
              <a:buClrTx/>
              <a:buSzTx/>
              <a:buFont typeface="Wingdings" panose="05000000000000000000" pitchFamily="2" charset="2"/>
              <a:buChar char="§"/>
            </a:pPr>
            <a:r>
              <a:rPr lang="es-ES" altLang="es-ES" sz="1600" b="1" i="1" dirty="0" err="1">
                <a:solidFill>
                  <a:srgbClr val="333333"/>
                </a:solidFill>
              </a:rPr>
              <a:t>Mesg</a:t>
            </a:r>
            <a:r>
              <a:rPr lang="es-ES" altLang="es-ES" sz="1600" b="1" i="1" dirty="0">
                <a:solidFill>
                  <a:srgbClr val="333333"/>
                </a:solidFill>
              </a:rPr>
              <a:t>: </a:t>
            </a:r>
            <a:r>
              <a:rPr lang="es-ES" altLang="es-ES" sz="1600" dirty="0">
                <a:solidFill>
                  <a:srgbClr val="333333"/>
                </a:solidFill>
              </a:rPr>
              <a:t>Permite a los usuarios aceptar o rechazar recibir mensajes con y o n</a:t>
            </a:r>
            <a:endParaRPr lang="es-ES" altLang="es-ES" sz="1600" dirty="0">
              <a:solidFill>
                <a:srgbClr val="333333"/>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1"/>
          <a:stretch>
            <a:fillRect/>
          </a:stretch>
        </p:blipFill>
        <p:spPr>
          <a:xfrm>
            <a:off x="6991350" y="4211689"/>
            <a:ext cx="4133850" cy="1133475"/>
          </a:xfrm>
          <a:prstGeom prst="rect">
            <a:avLst/>
          </a:prstGeom>
        </p:spPr>
      </p:pic>
      <p:pic>
        <p:nvPicPr>
          <p:cNvPr id="8" name="Imagen 7"/>
          <p:cNvPicPr>
            <a:picLocks noChangeAspect="1"/>
          </p:cNvPicPr>
          <p:nvPr/>
        </p:nvPicPr>
        <p:blipFill>
          <a:blip r:embed="rId2"/>
          <a:stretch>
            <a:fillRect/>
          </a:stretch>
        </p:blipFill>
        <p:spPr>
          <a:xfrm>
            <a:off x="1066800" y="4159301"/>
            <a:ext cx="4610100" cy="619125"/>
          </a:xfrm>
          <a:prstGeom prst="rect">
            <a:avLst/>
          </a:prstGeom>
        </p:spPr>
      </p:pic>
      <p:pic>
        <p:nvPicPr>
          <p:cNvPr id="9" name="Imagen 8"/>
          <p:cNvPicPr>
            <a:picLocks noChangeAspect="1"/>
          </p:cNvPicPr>
          <p:nvPr/>
        </p:nvPicPr>
        <p:blipFill>
          <a:blip r:embed="rId3"/>
          <a:stretch>
            <a:fillRect/>
          </a:stretch>
        </p:blipFill>
        <p:spPr>
          <a:xfrm>
            <a:off x="1066800" y="4949804"/>
            <a:ext cx="1781175" cy="5334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6" y="1571682"/>
            <a:ext cx="10233546" cy="4557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spcAft>
                <a:spcPts val="400"/>
              </a:spcAft>
              <a:buNone/>
            </a:pPr>
            <a:r>
              <a:rPr lang="es-ES" sz="1400" b="1" dirty="0"/>
              <a:t>ADMINISTRACION DE USUARIOS</a:t>
            </a:r>
            <a:endParaRPr lang="es-ES" altLang="es-ES"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r>
              <a:rPr lang="es-ES" altLang="es-ES" sz="1600" b="1" dirty="0">
                <a:solidFill>
                  <a:srgbClr val="333333"/>
                </a:solidFill>
                <a:latin typeface="Helvetica" panose="020B0604020202020204" pitchFamily="34" charset="0"/>
              </a:rPr>
              <a:t>Entorno de usuario</a:t>
            </a:r>
            <a:endParaRPr lang="es-ES" altLang="es-ES" sz="1600" b="1" dirty="0">
              <a:solidFill>
                <a:srgbClr val="333333"/>
              </a:solidFill>
              <a:latin typeface="Helvetica" panose="020B0604020202020204" pitchFamily="34" charset="0"/>
            </a:endParaRPr>
          </a:p>
          <a:p>
            <a:pPr marL="0" lvl="0" indent="0" eaLnBrk="0" fontAlgn="base" hangingPunct="0">
              <a:lnSpc>
                <a:spcPct val="100000"/>
              </a:lnSpc>
              <a:spcBef>
                <a:spcPct val="0"/>
              </a:spcBef>
              <a:spcAft>
                <a:spcPct val="0"/>
              </a:spcAft>
              <a:buClrTx/>
              <a:buSzTx/>
              <a:buNone/>
            </a:pPr>
            <a:endParaRPr lang="es-ES" altLang="es-ES" sz="1600" dirty="0">
              <a:solidFill>
                <a:srgbClr val="333333"/>
              </a:solidFill>
              <a:latin typeface="Helvetica" panose="020B0604020202020204" pitchFamily="34" charset="0"/>
            </a:endParaRPr>
          </a:p>
          <a:p>
            <a:pPr eaLnBrk="0" fontAlgn="base" hangingPunct="0">
              <a:lnSpc>
                <a:spcPct val="100000"/>
              </a:lnSpc>
              <a:spcBef>
                <a:spcPts val="200"/>
              </a:spcBef>
              <a:buClrTx/>
              <a:buSzTx/>
              <a:buFont typeface="Wingdings" panose="05000000000000000000" pitchFamily="2" charset="2"/>
              <a:buChar char="§"/>
            </a:pPr>
            <a:r>
              <a:rPr lang="es-ES" altLang="es-ES" sz="1600" b="1" dirty="0">
                <a:solidFill>
                  <a:srgbClr val="333333"/>
                </a:solidFill>
              </a:rPr>
              <a:t>/</a:t>
            </a:r>
            <a:r>
              <a:rPr lang="es-ES" altLang="es-ES" sz="1600" b="1" dirty="0" err="1">
                <a:solidFill>
                  <a:srgbClr val="333333"/>
                </a:solidFill>
              </a:rPr>
              <a:t>etc</a:t>
            </a:r>
            <a:r>
              <a:rPr lang="es-ES" altLang="es-ES" sz="1600" b="1" dirty="0">
                <a:solidFill>
                  <a:srgbClr val="333333"/>
                </a:solidFill>
              </a:rPr>
              <a:t>/</a:t>
            </a:r>
            <a:r>
              <a:rPr lang="es-ES" altLang="es-ES" sz="1600" b="1" dirty="0" err="1">
                <a:solidFill>
                  <a:srgbClr val="333333"/>
                </a:solidFill>
              </a:rPr>
              <a:t>skel</a:t>
            </a:r>
            <a:endParaRPr lang="es-ES" altLang="es-ES" sz="1600" b="1" dirty="0">
              <a:solidFill>
                <a:srgbClr val="333333"/>
              </a:solidFill>
            </a:endParaRPr>
          </a:p>
          <a:p>
            <a:pPr marL="0" indent="0" eaLnBrk="0" fontAlgn="base" hangingPunct="0">
              <a:lnSpc>
                <a:spcPct val="100000"/>
              </a:lnSpc>
              <a:spcBef>
                <a:spcPts val="200"/>
              </a:spcBef>
              <a:buClrTx/>
              <a:buSzTx/>
              <a:buNone/>
            </a:pPr>
            <a:endParaRPr lang="es-ES" altLang="es-ES" sz="1600" b="1" dirty="0">
              <a:solidFill>
                <a:srgbClr val="333333"/>
              </a:solidFill>
            </a:endParaRPr>
          </a:p>
          <a:p>
            <a:pPr marL="0" lvl="0" indent="0" eaLnBrk="0" fontAlgn="base" hangingPunct="0">
              <a:lnSpc>
                <a:spcPct val="100000"/>
              </a:lnSpc>
              <a:spcBef>
                <a:spcPts val="200"/>
              </a:spcBef>
              <a:buClrTx/>
              <a:buSzTx/>
              <a:buNone/>
            </a:pPr>
            <a:r>
              <a:rPr lang="es-ES" altLang="es-ES" sz="1600" dirty="0">
                <a:solidFill>
                  <a:srgbClr val="333333"/>
                </a:solidFill>
              </a:rPr>
              <a:t>En el momento de crear un usuario y su directorio personal, se establece el entorno de usuario. El entorno contiene, por ejemplo, las variables de entorno, los alias, la ejecución de scripts. Se encuentra en archivos cargados en el arranque del intérprete de comandos (Shell)</a:t>
            </a:r>
            <a:endParaRPr lang="es-ES" altLang="es-ES" sz="1600" dirty="0">
              <a:solidFill>
                <a:srgbClr val="333333"/>
              </a:solidFill>
            </a:endParaRPr>
          </a:p>
          <a:p>
            <a:pPr marL="0" lvl="0" indent="0" eaLnBrk="0" fontAlgn="base" hangingPunct="0">
              <a:lnSpc>
                <a:spcPct val="100000"/>
              </a:lnSpc>
              <a:spcBef>
                <a:spcPts val="200"/>
              </a:spcBef>
              <a:buClrTx/>
              <a:buSzTx/>
              <a:buNone/>
            </a:pPr>
            <a:endParaRPr lang="es-ES" altLang="es-ES" sz="1600" dirty="0">
              <a:solidFill>
                <a:srgbClr val="333333"/>
              </a:solidFill>
            </a:endParaRPr>
          </a:p>
          <a:p>
            <a:pPr eaLnBrk="0" fontAlgn="base" hangingPunct="0">
              <a:lnSpc>
                <a:spcPct val="100000"/>
              </a:lnSpc>
              <a:spcBef>
                <a:spcPts val="200"/>
              </a:spcBef>
              <a:buClrTx/>
              <a:buSzTx/>
              <a:buFont typeface="Wingdings" panose="05000000000000000000" pitchFamily="2" charset="2"/>
              <a:buChar char="§"/>
            </a:pPr>
            <a:r>
              <a:rPr lang="es-ES" altLang="es-ES" sz="1600" b="1" dirty="0">
                <a:solidFill>
                  <a:srgbClr val="333333"/>
                </a:solidFill>
              </a:rPr>
              <a:t>Scripts de configuración</a:t>
            </a:r>
            <a:endParaRPr lang="es-ES" altLang="es-ES" sz="1600" b="1" dirty="0">
              <a:solidFill>
                <a:srgbClr val="333333"/>
              </a:solidFill>
            </a:endParaRPr>
          </a:p>
          <a:p>
            <a:pPr marL="0" indent="0" eaLnBrk="0" fontAlgn="base" hangingPunct="0">
              <a:lnSpc>
                <a:spcPct val="100000"/>
              </a:lnSpc>
              <a:spcBef>
                <a:spcPts val="200"/>
              </a:spcBef>
              <a:buClrTx/>
              <a:buSzTx/>
              <a:buNone/>
            </a:pPr>
            <a:r>
              <a:rPr lang="es-ES" altLang="es-ES" sz="1600" dirty="0">
                <a:solidFill>
                  <a:srgbClr val="333333"/>
                </a:solidFill>
              </a:rPr>
              <a:t>Durante el proceso de inicio de sesión se ejecutan los siguientes scripts:</a:t>
            </a:r>
            <a:endParaRPr lang="es-ES" altLang="es-ES" sz="1600" dirty="0">
              <a:solidFill>
                <a:srgbClr val="333333"/>
              </a:solidFill>
            </a:endParaRPr>
          </a:p>
          <a:p>
            <a:pPr lvl="1" eaLnBrk="0" fontAlgn="base" hangingPunct="0">
              <a:spcAft>
                <a:spcPts val="200"/>
              </a:spcAft>
            </a:pPr>
            <a:r>
              <a:rPr lang="es-ES" altLang="es-ES" b="1" dirty="0">
                <a:solidFill>
                  <a:srgbClr val="333333"/>
                </a:solidFill>
              </a:rPr>
              <a:t>/</a:t>
            </a:r>
            <a:r>
              <a:rPr lang="es-ES" altLang="es-ES" b="1" dirty="0" err="1">
                <a:solidFill>
                  <a:srgbClr val="333333"/>
                </a:solidFill>
              </a:rPr>
              <a:t>etc</a:t>
            </a:r>
            <a:r>
              <a:rPr lang="es-ES" altLang="es-ES" b="1" dirty="0">
                <a:solidFill>
                  <a:srgbClr val="333333"/>
                </a:solidFill>
              </a:rPr>
              <a:t>/</a:t>
            </a:r>
            <a:r>
              <a:rPr lang="es-ES" altLang="es-ES" b="1" dirty="0" err="1">
                <a:solidFill>
                  <a:srgbClr val="333333"/>
                </a:solidFill>
              </a:rPr>
              <a:t>profile</a:t>
            </a:r>
            <a:r>
              <a:rPr lang="es-ES" altLang="es-ES" b="1" dirty="0">
                <a:solidFill>
                  <a:srgbClr val="333333"/>
                </a:solidFill>
              </a:rPr>
              <a:t>: </a:t>
            </a:r>
            <a:r>
              <a:rPr lang="es-ES" altLang="es-ES" dirty="0">
                <a:solidFill>
                  <a:srgbClr val="333333"/>
                </a:solidFill>
              </a:rPr>
              <a:t>define las variables de entorno importantes como PATH, LOGNAME, USER, HOSTNAME, HISTSIZE, MAIL Y INPUTRC</a:t>
            </a:r>
            <a:endParaRPr lang="es-ES" altLang="es-ES" dirty="0">
              <a:solidFill>
                <a:srgbClr val="333333"/>
              </a:solidFill>
            </a:endParaRPr>
          </a:p>
          <a:p>
            <a:pPr lvl="1" eaLnBrk="0" fontAlgn="base" hangingPunct="0">
              <a:spcAft>
                <a:spcPts val="200"/>
              </a:spcAft>
            </a:pPr>
            <a:r>
              <a:rPr lang="es-ES" altLang="es-ES" b="1" dirty="0">
                <a:solidFill>
                  <a:srgbClr val="333333"/>
                </a:solidFill>
              </a:rPr>
              <a:t>/</a:t>
            </a:r>
            <a:r>
              <a:rPr lang="es-ES" altLang="es-ES" b="1" dirty="0" err="1">
                <a:solidFill>
                  <a:srgbClr val="333333"/>
                </a:solidFill>
              </a:rPr>
              <a:t>etc</a:t>
            </a:r>
            <a:r>
              <a:rPr lang="es-ES" altLang="es-ES" b="1" dirty="0">
                <a:solidFill>
                  <a:srgbClr val="333333"/>
                </a:solidFill>
              </a:rPr>
              <a:t>/</a:t>
            </a:r>
            <a:r>
              <a:rPr lang="es-ES" altLang="es-ES" b="1" dirty="0" err="1">
                <a:solidFill>
                  <a:srgbClr val="333333"/>
                </a:solidFill>
              </a:rPr>
              <a:t>profile.d</a:t>
            </a:r>
            <a:r>
              <a:rPr lang="es-ES" altLang="es-ES" b="1" dirty="0">
                <a:solidFill>
                  <a:srgbClr val="333333"/>
                </a:solidFill>
              </a:rPr>
              <a:t>/* : </a:t>
            </a:r>
            <a:r>
              <a:rPr lang="es-ES" altLang="es-ES" dirty="0">
                <a:solidFill>
                  <a:srgbClr val="333333"/>
                </a:solidFill>
              </a:rPr>
              <a:t>invoca a todos los scripts presentes en el directorio.</a:t>
            </a:r>
            <a:endParaRPr lang="es-ES" altLang="es-ES" dirty="0">
              <a:solidFill>
                <a:srgbClr val="333333"/>
              </a:solidFill>
            </a:endParaRPr>
          </a:p>
          <a:p>
            <a:pPr lvl="1" eaLnBrk="0" fontAlgn="base" hangingPunct="0">
              <a:spcAft>
                <a:spcPts val="200"/>
              </a:spcAft>
            </a:pPr>
            <a:r>
              <a:rPr lang="es-ES" altLang="es-ES" dirty="0">
                <a:solidFill>
                  <a:srgbClr val="333333"/>
                </a:solidFill>
              </a:rPr>
              <a:t> </a:t>
            </a:r>
            <a:r>
              <a:rPr lang="es-ES" altLang="es-ES" b="1" dirty="0">
                <a:solidFill>
                  <a:srgbClr val="333333"/>
                </a:solidFill>
              </a:rPr>
              <a:t>~/.</a:t>
            </a:r>
            <a:r>
              <a:rPr lang="es-ES" altLang="es-ES" b="1" dirty="0" err="1">
                <a:solidFill>
                  <a:srgbClr val="333333"/>
                </a:solidFill>
              </a:rPr>
              <a:t>bash_profile</a:t>
            </a:r>
            <a:r>
              <a:rPr lang="es-ES" altLang="es-ES" b="1" dirty="0">
                <a:solidFill>
                  <a:srgbClr val="333333"/>
                </a:solidFill>
              </a:rPr>
              <a:t>: </a:t>
            </a:r>
            <a:r>
              <a:rPr lang="es-ES" altLang="es-ES" dirty="0">
                <a:solidFill>
                  <a:srgbClr val="333333"/>
                </a:solidFill>
              </a:rPr>
              <a:t>Si el Shell es </a:t>
            </a:r>
            <a:r>
              <a:rPr lang="es-ES" altLang="es-ES" dirty="0" err="1">
                <a:solidFill>
                  <a:srgbClr val="333333"/>
                </a:solidFill>
              </a:rPr>
              <a:t>bash</a:t>
            </a:r>
            <a:r>
              <a:rPr lang="es-ES" altLang="es-ES" dirty="0">
                <a:solidFill>
                  <a:srgbClr val="333333"/>
                </a:solidFill>
              </a:rPr>
              <a:t>, se ejecutará el script siguiente ~/.</a:t>
            </a:r>
            <a:r>
              <a:rPr lang="es-ES" altLang="es-ES" dirty="0" err="1">
                <a:solidFill>
                  <a:srgbClr val="333333"/>
                </a:solidFill>
              </a:rPr>
              <a:t>bashrc</a:t>
            </a:r>
            <a:r>
              <a:rPr lang="es-ES" altLang="es-ES" dirty="0">
                <a:solidFill>
                  <a:srgbClr val="333333"/>
                </a:solidFill>
              </a:rPr>
              <a:t> que llama /</a:t>
            </a:r>
            <a:r>
              <a:rPr lang="es-ES" altLang="es-ES" dirty="0" err="1">
                <a:solidFill>
                  <a:srgbClr val="333333"/>
                </a:solidFill>
              </a:rPr>
              <a:t>etc</a:t>
            </a:r>
            <a:r>
              <a:rPr lang="es-ES" altLang="es-ES" dirty="0">
                <a:solidFill>
                  <a:srgbClr val="333333"/>
                </a:solidFill>
              </a:rPr>
              <a:t>/</a:t>
            </a:r>
            <a:r>
              <a:rPr lang="es-ES" altLang="es-ES" dirty="0" err="1">
                <a:solidFill>
                  <a:srgbClr val="333333"/>
                </a:solidFill>
              </a:rPr>
              <a:t>bashrc</a:t>
            </a:r>
            <a:endParaRPr lang="es-ES" altLang="es-ES" dirty="0">
              <a:solidFill>
                <a:srgbClr val="333333"/>
              </a:solidFill>
            </a:endParaRPr>
          </a:p>
          <a:p>
            <a:pPr lvl="1" eaLnBrk="0" fontAlgn="base" hangingPunct="0">
              <a:spcAft>
                <a:spcPts val="200"/>
              </a:spcAft>
            </a:pPr>
            <a:r>
              <a:rPr lang="es-ES" altLang="es-ES" b="1" dirty="0">
                <a:solidFill>
                  <a:srgbClr val="333333"/>
                </a:solidFill>
              </a:rPr>
              <a:t>/</a:t>
            </a:r>
            <a:r>
              <a:rPr lang="es-ES" altLang="es-ES" b="1" dirty="0" err="1">
                <a:solidFill>
                  <a:srgbClr val="333333"/>
                </a:solidFill>
              </a:rPr>
              <a:t>etc</a:t>
            </a:r>
            <a:r>
              <a:rPr lang="es-ES" altLang="es-ES" b="1" dirty="0">
                <a:solidFill>
                  <a:srgbClr val="333333"/>
                </a:solidFill>
              </a:rPr>
              <a:t>/</a:t>
            </a:r>
            <a:r>
              <a:rPr lang="es-ES" altLang="es-ES" b="1" dirty="0" err="1">
                <a:solidFill>
                  <a:srgbClr val="333333"/>
                </a:solidFill>
              </a:rPr>
              <a:t>bashrc</a:t>
            </a:r>
            <a:r>
              <a:rPr lang="es-ES" altLang="es-ES" dirty="0">
                <a:solidFill>
                  <a:srgbClr val="333333"/>
                </a:solidFill>
              </a:rPr>
              <a:t>: para definir las funciones y alias para todo el sistema.</a:t>
            </a:r>
            <a:endParaRPr lang="es-ES" altLang="es-ES" dirty="0">
              <a:solidFill>
                <a:srgbClr val="333333"/>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24999" y="1545937"/>
            <a:ext cx="10233546" cy="3591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HERRAMIENTAS DE ADMINISTRACION</a:t>
            </a:r>
            <a:endParaRPr lang="es-ES" sz="1400" b="1" dirty="0"/>
          </a:p>
          <a:p>
            <a:pPr marL="0" lvl="0" indent="0" eaLnBrk="0" fontAlgn="base" hangingPunct="0">
              <a:lnSpc>
                <a:spcPct val="100000"/>
              </a:lnSpc>
              <a:spcBef>
                <a:spcPct val="0"/>
              </a:spcBef>
              <a:spcAft>
                <a:spcPct val="0"/>
              </a:spcAft>
              <a:buClrTx/>
              <a:buSzTx/>
              <a:buNone/>
            </a:pPr>
            <a:endParaRPr lang="es-ES" altLang="es-ES" dirty="0">
              <a:solidFill>
                <a:srgbClr val="333333"/>
              </a:solidFill>
              <a:latin typeface="Helvetica" panose="020B0604020202020204" pitchFamily="34" charset="0"/>
            </a:endParaRPr>
          </a:p>
          <a:p>
            <a:r>
              <a:rPr lang="es-ES" sz="1600" b="1" dirty="0"/>
              <a:t>Monitorizar el sistema mediante sus archivos de registro</a:t>
            </a:r>
            <a:endParaRPr lang="es-ES" sz="1600" b="1" dirty="0"/>
          </a:p>
          <a:p>
            <a:r>
              <a:rPr lang="es-ES" sz="1600" i="1" dirty="0"/>
              <a:t>Linux</a:t>
            </a:r>
            <a:r>
              <a:rPr lang="es-ES" sz="1600" dirty="0"/>
              <a:t> mantiene archivos de registros (</a:t>
            </a:r>
            <a:r>
              <a:rPr lang="es-ES" sz="1600" i="1" dirty="0" err="1"/>
              <a:t>logfiles</a:t>
            </a:r>
            <a:r>
              <a:rPr lang="es-ES" sz="1600" dirty="0"/>
              <a:t>) a los que se reportan sucesos relevante sobre el funcionamiento del sistema, ya sea como del propio </a:t>
            </a:r>
            <a:r>
              <a:rPr lang="es-ES" sz="1600" i="1" dirty="0" err="1"/>
              <a:t>kernel</a:t>
            </a:r>
            <a:r>
              <a:rPr lang="es-ES" sz="1600" dirty="0"/>
              <a:t> o de </a:t>
            </a:r>
            <a:r>
              <a:rPr lang="es-ES" sz="1600" i="1" dirty="0"/>
              <a:t>servicios de red</a:t>
            </a:r>
            <a:r>
              <a:rPr lang="es-ES" sz="1600" dirty="0"/>
              <a:t> que se encuentran ejecutados de forma permanente en segundo plano (</a:t>
            </a:r>
            <a:r>
              <a:rPr lang="es-ES" sz="1600" i="1" dirty="0"/>
              <a:t>demonios</a:t>
            </a:r>
            <a:r>
              <a:rPr lang="es-ES" sz="1600" dirty="0"/>
              <a:t>). Estos archivos de registros son especialmente útiles para detectar fallas en el sistema, o incluso prever estas mediante la monitorización de archivos claves o concretos de un servicio. Una de las obligadas tareas que tiene un administrador de sistemas es precisamente revisar estos archivos de registro periódicamente para poder anticiparse a problemas venideros o por ejemplo conocer las causas de porque un servicio no se ejecuta de forma correcta.</a:t>
            </a:r>
            <a:endParaRPr lang="es-ES" sz="1600" dirty="0"/>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9808" y="1513291"/>
            <a:ext cx="10233546" cy="4903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HERRAMIENTAS DE ADMINISTRACION</a:t>
            </a:r>
            <a:endParaRPr lang="es-ES" sz="1400" b="1" dirty="0"/>
          </a:p>
          <a:p>
            <a:pPr marL="0" indent="0">
              <a:buNone/>
            </a:pPr>
            <a:r>
              <a:rPr lang="es-ES" sz="1400" b="1" dirty="0"/>
              <a:t>Monitorizar el sistema mediante sus archivos de registro</a:t>
            </a:r>
            <a:endParaRPr lang="es-ES" sz="1400" b="1" dirty="0"/>
          </a:p>
          <a:p>
            <a:r>
              <a:rPr lang="es-ES" sz="1400" dirty="0"/>
              <a:t>Una particularidad común de todos los sistemas de registro y los archivos en los que se acumula la información es que crecen, de hecho pueden crecer tanto que dejen el sistema operativo ‘</a:t>
            </a:r>
            <a:r>
              <a:rPr lang="es-ES" sz="1400" i="1" dirty="0"/>
              <a:t>no operativo. </a:t>
            </a:r>
            <a:r>
              <a:rPr lang="es-ES" sz="1400" dirty="0"/>
              <a:t>Por ello el administrador del sistema está obligado a definir una política de seguridad ante tal problema. Algunas de las políticas suelen ser:</a:t>
            </a:r>
            <a:endParaRPr lang="es-ES" sz="1400" dirty="0"/>
          </a:p>
          <a:p>
            <a:pPr lvl="1"/>
            <a:r>
              <a:rPr lang="es-ES" sz="1400" b="1" dirty="0"/>
              <a:t>No almacenar archivos de registro</a:t>
            </a:r>
            <a:r>
              <a:rPr lang="es-ES" sz="1400" dirty="0"/>
              <a:t>. Evidentemente esta opción es muy poco recomendable.</a:t>
            </a:r>
            <a:endParaRPr lang="es-ES" sz="1400" dirty="0"/>
          </a:p>
          <a:p>
            <a:pPr lvl="1"/>
            <a:r>
              <a:rPr lang="es-ES" sz="1400" b="1" dirty="0"/>
              <a:t>Resetear los archivos periódicamente</a:t>
            </a:r>
            <a:r>
              <a:rPr lang="es-ES" sz="1400" dirty="0"/>
              <a:t>. Puede ser una medida a corto plazo contra el llenado de espacio de un disco o partición, pero a largo plazo puede ser desastrosa, ya que no contaremos con los archivos de registro que quizás necesitemos en función del tiempo que haya pasado.</a:t>
            </a:r>
            <a:endParaRPr lang="es-ES" sz="1400" dirty="0"/>
          </a:p>
          <a:p>
            <a:pPr lvl="1"/>
            <a:r>
              <a:rPr lang="es-ES" sz="1400" b="1" dirty="0"/>
              <a:t>Rotar los archivos en función del tiempo transcurrido</a:t>
            </a:r>
            <a:r>
              <a:rPr lang="es-ES" sz="1400" dirty="0"/>
              <a:t>. Es una política configurable desde los propios archivos de configuración del sistema de registro que estemos usando. Una vez rotado el archivo, el antiguo es comprimido (ahorrando espacio en disco) y podrá ser eliminado. Algunos sistemas de registro como </a:t>
            </a:r>
            <a:r>
              <a:rPr lang="es-ES" sz="1400" i="1" dirty="0" err="1"/>
              <a:t>Journal</a:t>
            </a:r>
            <a:r>
              <a:rPr lang="es-ES" sz="1400" dirty="0"/>
              <a:t> comprimen directamente los archivos de registros.</a:t>
            </a:r>
            <a:endParaRPr lang="es-ES" sz="1400" dirty="0"/>
          </a:p>
          <a:p>
            <a:pPr lvl="1"/>
            <a:r>
              <a:rPr lang="es-ES" sz="1400" b="1" dirty="0"/>
              <a:t>Almacenar los archivos de registro</a:t>
            </a:r>
            <a:r>
              <a:rPr lang="es-ES" sz="1400" dirty="0"/>
              <a:t>. Si disponemos de una unidad externa de almacenamiento o partición destinada a copias de seguridad, podemos guardar nuestros archivos de registro en dicha unidad y acceder a ellos cuando fuese necesario.</a:t>
            </a:r>
            <a:endParaRPr lang="es-ES" sz="1400" dirty="0"/>
          </a:p>
          <a:p>
            <a:pPr marL="201295" lvl="1" indent="0">
              <a:buNone/>
            </a:pPr>
            <a:r>
              <a:rPr lang="es-ES" sz="1400" dirty="0"/>
              <a:t>Existen diferentes sistemas de registro para Linux. Vamos a estudiar el demonio </a:t>
            </a:r>
            <a:r>
              <a:rPr lang="es-ES" sz="1400" dirty="0" err="1"/>
              <a:t>syslogd</a:t>
            </a:r>
            <a:r>
              <a:rPr lang="es-ES" sz="1400" dirty="0"/>
              <a:t>, </a:t>
            </a:r>
            <a:r>
              <a:rPr lang="es-ES" sz="1400" dirty="0" err="1"/>
              <a:t>syslog</a:t>
            </a:r>
            <a:r>
              <a:rPr lang="es-ES" sz="1400" dirty="0"/>
              <a:t>-ng (</a:t>
            </a:r>
            <a:r>
              <a:rPr lang="es-ES" sz="1400" dirty="0" err="1"/>
              <a:t>syslog</a:t>
            </a:r>
            <a:r>
              <a:rPr lang="es-ES" sz="1400" dirty="0"/>
              <a:t> de nueva generación), </a:t>
            </a:r>
            <a:r>
              <a:rPr lang="es-ES" sz="1400" dirty="0" err="1"/>
              <a:t>rsyslog</a:t>
            </a:r>
            <a:r>
              <a:rPr lang="es-ES" sz="1400" dirty="0"/>
              <a:t> y </a:t>
            </a:r>
            <a:r>
              <a:rPr lang="es-ES" sz="1400" dirty="0" err="1"/>
              <a:t>Journald</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19808" y="1553039"/>
            <a:ext cx="10233546" cy="450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HERRAMIENTAS DE ADMINISTRACION</a:t>
            </a:r>
            <a:endParaRPr lang="es-ES" sz="1400" b="1" dirty="0"/>
          </a:p>
          <a:p>
            <a:r>
              <a:rPr lang="es-ES" sz="1600" b="1" dirty="0" err="1"/>
              <a:t>Syslog</a:t>
            </a:r>
            <a:endParaRPr lang="es-ES" sz="1600" b="1" dirty="0"/>
          </a:p>
          <a:p>
            <a:r>
              <a:rPr lang="es-ES" sz="1400" dirty="0"/>
              <a:t>Es un sistema que procura centralizar el manejo de los registros de eventos que generan los diversos programas que corren bajo un sistema </a:t>
            </a:r>
            <a:r>
              <a:rPr lang="es-ES" sz="1400" i="1" dirty="0"/>
              <a:t>Linux</a:t>
            </a:r>
            <a:r>
              <a:rPr lang="es-ES" sz="1400" dirty="0"/>
              <a:t>. Por un lado facilita a los desarrolladores de aplicaciones la generación y el manejo de mensajes a registrar, y por otro lado facilita a los administradores de sistema el manejo de forma centralizada de los mensajes provenientes de diferentes aplicaciones. </a:t>
            </a:r>
            <a:r>
              <a:rPr lang="es-ES" sz="1400" i="1" dirty="0" err="1"/>
              <a:t>Syslog</a:t>
            </a:r>
            <a:r>
              <a:rPr lang="es-ES" sz="1400" dirty="0"/>
              <a:t> clasifica los mensajes por origen e importancia, y los envía a diferentes destinos como pueden ser archivos, la terminal  o eventualmente a un comando que lo reenvíe a direcciones de correo electrónico o </a:t>
            </a:r>
            <a:r>
              <a:rPr lang="es-ES" sz="1400" dirty="0" err="1"/>
              <a:t>paginador</a:t>
            </a:r>
            <a:r>
              <a:rPr lang="es-ES" sz="1400" dirty="0"/>
              <a:t>.</a:t>
            </a:r>
            <a:br>
              <a:rPr lang="es-ES" sz="1400" dirty="0"/>
            </a:br>
            <a:r>
              <a:rPr lang="es-ES" sz="1400" b="1" i="1" dirty="0" err="1"/>
              <a:t>Syslog</a:t>
            </a:r>
            <a:r>
              <a:rPr lang="es-ES" sz="1400" dirty="0"/>
              <a:t> permite manejar mensajes originados en diferentes sistemas de la red.</a:t>
            </a:r>
            <a:endParaRPr lang="es-ES" sz="1400" dirty="0"/>
          </a:p>
          <a:p>
            <a:r>
              <a:rPr lang="es-ES" sz="1400" dirty="0"/>
              <a:t>Los componentes más importantes de </a:t>
            </a:r>
            <a:r>
              <a:rPr lang="es-ES" sz="1400" b="1" dirty="0" err="1"/>
              <a:t>syslog</a:t>
            </a:r>
            <a:r>
              <a:rPr lang="es-ES" sz="1400" dirty="0"/>
              <a:t> son:</a:t>
            </a:r>
            <a:endParaRPr lang="es-ES" sz="1400" dirty="0"/>
          </a:p>
          <a:p>
            <a:pPr>
              <a:buFont typeface="Wingdings" panose="05000000000000000000" pitchFamily="2" charset="2"/>
              <a:buChar char="§"/>
            </a:pPr>
            <a:r>
              <a:rPr lang="es-ES" sz="1400" b="1" dirty="0" err="1"/>
              <a:t>syslogd</a:t>
            </a:r>
            <a:r>
              <a:rPr lang="es-ES" sz="1400" dirty="0"/>
              <a:t>: el </a:t>
            </a:r>
            <a:r>
              <a:rPr lang="es-ES" sz="1400" dirty="0" err="1"/>
              <a:t>daemon</a:t>
            </a:r>
            <a:r>
              <a:rPr lang="es-ES" sz="1400" dirty="0"/>
              <a:t> que recibe los mensajes y los almacena de acuerdo a la configuración del archivo </a:t>
            </a:r>
            <a:r>
              <a:rPr lang="es-ES" sz="1400" i="1" dirty="0"/>
              <a:t>/</a:t>
            </a:r>
            <a:r>
              <a:rPr lang="es-ES" sz="1400" i="1" dirty="0" err="1"/>
              <a:t>etc</a:t>
            </a:r>
            <a:r>
              <a:rPr lang="es-ES" sz="1400" i="1" dirty="0"/>
              <a:t>/</a:t>
            </a:r>
            <a:r>
              <a:rPr lang="es-ES" sz="1400" i="1" dirty="0" err="1"/>
              <a:t>syslogd.conf</a:t>
            </a:r>
            <a:endParaRPr lang="es-ES" sz="1400" dirty="0"/>
          </a:p>
          <a:p>
            <a:pPr>
              <a:buFont typeface="Wingdings" panose="05000000000000000000" pitchFamily="2" charset="2"/>
              <a:buChar char="§"/>
            </a:pPr>
            <a:r>
              <a:rPr lang="es-ES" sz="1400" b="1" dirty="0" err="1"/>
              <a:t>openlog</a:t>
            </a:r>
            <a:r>
              <a:rPr lang="es-ES" sz="1400" b="1" dirty="0"/>
              <a:t>()</a:t>
            </a:r>
            <a:r>
              <a:rPr lang="es-ES" sz="1400" dirty="0"/>
              <a:t>, </a:t>
            </a:r>
            <a:r>
              <a:rPr lang="es-ES" sz="1400" b="1" dirty="0" err="1"/>
              <a:t>syslog</a:t>
            </a:r>
            <a:r>
              <a:rPr lang="es-ES" sz="1400" b="1" dirty="0"/>
              <a:t>()</a:t>
            </a:r>
            <a:r>
              <a:rPr lang="es-ES" sz="1400" dirty="0"/>
              <a:t> y </a:t>
            </a:r>
            <a:r>
              <a:rPr lang="es-ES" sz="1400" b="1" dirty="0" err="1"/>
              <a:t>closelog</a:t>
            </a:r>
            <a:r>
              <a:rPr lang="es-ES" sz="1400" b="1" dirty="0"/>
              <a:t>()</a:t>
            </a:r>
            <a:r>
              <a:rPr lang="es-ES" sz="1400" dirty="0"/>
              <a:t>: rutinas de la biblioteca C estándar para permitir la comunicación entre </a:t>
            </a:r>
            <a:r>
              <a:rPr lang="es-ES" sz="1400" i="1" dirty="0" err="1"/>
              <a:t>syslog</a:t>
            </a:r>
            <a:r>
              <a:rPr lang="es-ES" sz="1400" dirty="0"/>
              <a:t> y el programa.</a:t>
            </a:r>
            <a:endParaRPr lang="es-ES" sz="1400" dirty="0"/>
          </a:p>
          <a:p>
            <a:pPr>
              <a:buFont typeface="Wingdings" panose="05000000000000000000" pitchFamily="2" charset="2"/>
              <a:buChar char="§"/>
            </a:pPr>
            <a:r>
              <a:rPr lang="es-ES" sz="1400" b="1" dirty="0" err="1"/>
              <a:t>logger</a:t>
            </a:r>
            <a:r>
              <a:rPr lang="es-ES" sz="1400" dirty="0"/>
              <a:t>: comando de usuario para agregar un mensaje a un archivo de registro</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3304" y="1573431"/>
            <a:ext cx="10233546" cy="3676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indent="0">
              <a:buNone/>
            </a:pPr>
            <a:endParaRPr lang="es-ES" sz="1400" b="1" dirty="0"/>
          </a:p>
          <a:p>
            <a:pPr marL="0" lvl="0" indent="0" eaLnBrk="0" fontAlgn="base" hangingPunct="0">
              <a:lnSpc>
                <a:spcPct val="100000"/>
              </a:lnSpc>
              <a:spcBef>
                <a:spcPct val="0"/>
              </a:spcBef>
              <a:spcAft>
                <a:spcPct val="0"/>
              </a:spcAft>
              <a:buClrTx/>
              <a:buSzTx/>
              <a:buNone/>
            </a:pPr>
            <a:r>
              <a:rPr lang="es-ES" altLang="es-ES" sz="1600" b="1" dirty="0">
                <a:solidFill>
                  <a:srgbClr val="333333"/>
                </a:solidFill>
              </a:rPr>
              <a:t>Instalación y configuración de </a:t>
            </a:r>
            <a:r>
              <a:rPr lang="es-ES" altLang="es-ES" sz="1600" b="1" dirty="0" err="1">
                <a:solidFill>
                  <a:srgbClr val="333333"/>
                </a:solidFill>
              </a:rPr>
              <a:t>syslogd</a:t>
            </a:r>
            <a:endParaRPr lang="es-ES" altLang="es-ES" sz="16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600" b="1"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El demonio </a:t>
            </a:r>
            <a:r>
              <a:rPr lang="es-ES" altLang="es-ES" sz="1400" b="1" dirty="0" err="1">
                <a:solidFill>
                  <a:srgbClr val="333333"/>
                </a:solidFill>
              </a:rPr>
              <a:t>syslogd</a:t>
            </a:r>
            <a:r>
              <a:rPr lang="es-ES" altLang="es-ES" sz="1400" dirty="0">
                <a:solidFill>
                  <a:srgbClr val="333333"/>
                </a:solidFill>
              </a:rPr>
              <a:t> es uno de los primeros que se lanza cuando el sistema se inicia, para comenzar a recibir mensaje desde los diferentes servicios de red y registrarlos en sus respectivos archivos de registro de acuerdo con lo especificado en su archivo de configuración.</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En ocasiones se suelen confundir o comparar los demonios </a:t>
            </a:r>
            <a:r>
              <a:rPr lang="es-ES" altLang="es-ES" sz="1400" i="1" dirty="0" err="1">
                <a:solidFill>
                  <a:srgbClr val="333333"/>
                </a:solidFill>
              </a:rPr>
              <a:t>syslogd</a:t>
            </a:r>
            <a:r>
              <a:rPr lang="es-ES" altLang="es-ES" sz="1400" dirty="0">
                <a:solidFill>
                  <a:srgbClr val="333333"/>
                </a:solidFill>
              </a:rPr>
              <a:t> y </a:t>
            </a:r>
            <a:r>
              <a:rPr lang="es-ES" altLang="es-ES" sz="1400" b="1" dirty="0" err="1">
                <a:solidFill>
                  <a:srgbClr val="333333"/>
                </a:solidFill>
              </a:rPr>
              <a:t>klogd</a:t>
            </a:r>
            <a:r>
              <a:rPr lang="es-ES" altLang="es-ES" sz="1400" dirty="0">
                <a:solidFill>
                  <a:srgbClr val="333333"/>
                </a:solidFill>
              </a:rPr>
              <a:t>, este ultimo registra los eventos del </a:t>
            </a:r>
            <a:r>
              <a:rPr lang="es-ES" altLang="es-ES" sz="1400" i="1" dirty="0" err="1">
                <a:solidFill>
                  <a:srgbClr val="333333"/>
                </a:solidFill>
              </a:rPr>
              <a:t>kernel</a:t>
            </a:r>
            <a:r>
              <a:rPr lang="es-ES" altLang="es-ES" sz="1400" dirty="0">
                <a:solidFill>
                  <a:srgbClr val="333333"/>
                </a:solidFill>
              </a:rPr>
              <a:t>. </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Una vez tengamos instalado el sistema de registro tendremos que configurarlo, esto como mencionamos anteriormente lo haremos desde el archivo de configuración </a:t>
            </a:r>
            <a:r>
              <a:rPr lang="es-ES" altLang="es-ES" sz="1400" b="1" dirty="0">
                <a:solidFill>
                  <a:srgbClr val="333333"/>
                </a:solidFill>
              </a:rPr>
              <a:t>/</a:t>
            </a:r>
            <a:r>
              <a:rPr lang="es-ES" altLang="es-ES" sz="1400" b="1" dirty="0" err="1">
                <a:solidFill>
                  <a:srgbClr val="333333"/>
                </a:solidFill>
              </a:rPr>
              <a:t>etc</a:t>
            </a:r>
            <a:r>
              <a:rPr lang="es-ES" altLang="es-ES" sz="1400" b="1" dirty="0">
                <a:solidFill>
                  <a:srgbClr val="333333"/>
                </a:solidFill>
              </a:rPr>
              <a:t>/</a:t>
            </a:r>
            <a:r>
              <a:rPr lang="es-ES" altLang="es-ES" sz="1400" b="1" dirty="0" err="1">
                <a:solidFill>
                  <a:srgbClr val="333333"/>
                </a:solidFill>
              </a:rPr>
              <a:t>syslogd.conf</a:t>
            </a:r>
            <a:r>
              <a:rPr lang="es-ES" altLang="es-ES" sz="1400" dirty="0">
                <a:solidFill>
                  <a:srgbClr val="333333"/>
                </a:solidFill>
              </a:rPr>
              <a:t>. Este archivo tiene un formato sencillo pero ofrece un gran potencial. Las líneas adoptan la siguiente forma:</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err="1">
                <a:solidFill>
                  <a:srgbClr val="333333"/>
                </a:solidFill>
                <a:cs typeface="Courier New" panose="02070309020205020404" pitchFamily="49" charset="0"/>
              </a:rPr>
              <a:t>recurso.prioridad</a:t>
            </a:r>
            <a:r>
              <a:rPr lang="es-ES" altLang="es-ES" sz="1400" b="1" i="1" dirty="0">
                <a:solidFill>
                  <a:srgbClr val="333333"/>
                </a:solidFill>
                <a:cs typeface="Courier New" panose="02070309020205020404" pitchFamily="49" charset="0"/>
              </a:rPr>
              <a:t> acción</a:t>
            </a:r>
            <a:r>
              <a:rPr lang="es-ES" altLang="es-ES" sz="1400" b="1" i="1" dirty="0">
                <a:solidFill>
                  <a:schemeClr val="tx1"/>
                </a:solidFill>
              </a:rPr>
              <a:t> </a:t>
            </a:r>
            <a:endParaRPr lang="es-ES" altLang="es-ES" sz="1400" b="1" i="1"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13790" y="1340615"/>
            <a:ext cx="6185801" cy="4621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Instalación y configuración de </a:t>
            </a:r>
            <a:r>
              <a:rPr lang="es-ES" altLang="es-ES" sz="1400" b="1" dirty="0" err="1">
                <a:solidFill>
                  <a:srgbClr val="333333"/>
                </a:solidFill>
              </a:rPr>
              <a:t>syslogd</a:t>
            </a:r>
            <a:endParaRPr lang="es-ES" altLang="es-ES" sz="1400" b="1" dirty="0">
              <a:solidFill>
                <a:srgbClr val="333333"/>
              </a:solidFill>
            </a:endParaRPr>
          </a:p>
          <a:p>
            <a:pPr marL="0" indent="0">
              <a:buNone/>
            </a:pPr>
            <a:r>
              <a:rPr lang="es-ES" sz="1400" dirty="0"/>
              <a:t>Vamos a ver los posibles valores de cada campo.</a:t>
            </a:r>
            <a:endParaRPr lang="es-ES" sz="1400" dirty="0"/>
          </a:p>
          <a:p>
            <a:pPr marL="0" indent="0">
              <a:buNone/>
            </a:pPr>
            <a:r>
              <a:rPr lang="es-ES" sz="1400" b="1" dirty="0"/>
              <a:t>recurso</a:t>
            </a:r>
            <a:r>
              <a:rPr lang="es-ES" sz="1400" dirty="0"/>
              <a:t>: Identifican a uno o varios servicios como </a:t>
            </a:r>
            <a:r>
              <a:rPr lang="es-ES" sz="1400" i="1" dirty="0" err="1"/>
              <a:t>auth</a:t>
            </a:r>
            <a:r>
              <a:rPr lang="es-ES" sz="1400" dirty="0"/>
              <a:t> (mensajes relacionado con la seguridad), </a:t>
            </a:r>
            <a:r>
              <a:rPr lang="es-ES" sz="1400" i="1" dirty="0" err="1"/>
              <a:t>mark</a:t>
            </a:r>
            <a:r>
              <a:rPr lang="es-ES" sz="1400" dirty="0"/>
              <a:t> (reservado para uso interno), mail, cron, Daemon, </a:t>
            </a:r>
            <a:r>
              <a:rPr lang="es-ES" sz="1400" dirty="0" err="1"/>
              <a:t>lpr</a:t>
            </a:r>
            <a:r>
              <a:rPr lang="es-ES" sz="1400" dirty="0"/>
              <a:t>, </a:t>
            </a:r>
            <a:r>
              <a:rPr lang="es-ES" sz="1400" i="1" dirty="0"/>
              <a:t>ftp</a:t>
            </a:r>
            <a:r>
              <a:rPr lang="es-ES" sz="1400" dirty="0"/>
              <a:t>, </a:t>
            </a:r>
            <a:r>
              <a:rPr lang="es-ES" sz="1400" i="1" dirty="0" err="1"/>
              <a:t>news</a:t>
            </a:r>
            <a:r>
              <a:rPr lang="es-ES" sz="1400" dirty="0"/>
              <a:t>, </a:t>
            </a:r>
            <a:r>
              <a:rPr lang="es-ES" sz="1400" i="1" dirty="0" err="1"/>
              <a:t>syslog</a:t>
            </a:r>
            <a:r>
              <a:rPr lang="es-ES" sz="1400" dirty="0"/>
              <a:t>, </a:t>
            </a:r>
            <a:r>
              <a:rPr lang="es-ES" sz="1400" i="1" dirty="0" err="1"/>
              <a:t>uucp</a:t>
            </a:r>
            <a:r>
              <a:rPr lang="es-ES" sz="1400" dirty="0"/>
              <a:t> y desde </a:t>
            </a:r>
            <a:r>
              <a:rPr lang="es-ES" sz="1400" i="1" dirty="0"/>
              <a:t>local0</a:t>
            </a:r>
            <a:r>
              <a:rPr lang="es-ES" sz="1400" dirty="0"/>
              <a:t> hasta </a:t>
            </a:r>
            <a:r>
              <a:rPr lang="es-ES" sz="1400" i="1" dirty="0"/>
              <a:t>local7</a:t>
            </a:r>
            <a:r>
              <a:rPr lang="es-ES" sz="1400" dirty="0"/>
              <a:t> (usados con cierta libertad por el usuario para diferentes aplicaciones). </a:t>
            </a:r>
            <a:endParaRPr lang="es-ES" sz="1400" dirty="0"/>
          </a:p>
          <a:p>
            <a:r>
              <a:rPr lang="es-ES" sz="1400" b="1" dirty="0"/>
              <a:t>prioridad</a:t>
            </a:r>
            <a:r>
              <a:rPr lang="es-ES" sz="1400" dirty="0"/>
              <a:t>: Con este campo seleccionaremos que mensajes queremos incluir en uno u otro archivo de registro para uno o varios recursos. Los códigos de </a:t>
            </a:r>
            <a:r>
              <a:rPr lang="es-ES" sz="1400" i="1" dirty="0"/>
              <a:t>prioridad</a:t>
            </a:r>
            <a:r>
              <a:rPr lang="es-ES" sz="1400" dirty="0"/>
              <a:t>, listados de menor a mayor prioridad son: </a:t>
            </a:r>
            <a:r>
              <a:rPr lang="es-ES" sz="1400" i="1" dirty="0" err="1"/>
              <a:t>debug</a:t>
            </a:r>
            <a:r>
              <a:rPr lang="es-ES" sz="1400" dirty="0"/>
              <a:t>, </a:t>
            </a:r>
            <a:r>
              <a:rPr lang="es-ES" sz="1400" i="1" dirty="0" err="1"/>
              <a:t>info</a:t>
            </a:r>
            <a:r>
              <a:rPr lang="es-ES" sz="1400" dirty="0"/>
              <a:t>, </a:t>
            </a:r>
            <a:r>
              <a:rPr lang="es-ES" sz="1400" i="1" dirty="0" err="1"/>
              <a:t>notice</a:t>
            </a:r>
            <a:r>
              <a:rPr lang="es-ES" sz="1400" dirty="0"/>
              <a:t>, </a:t>
            </a:r>
            <a:r>
              <a:rPr lang="es-ES" sz="1400" dirty="0" err="1"/>
              <a:t>warning</a:t>
            </a:r>
            <a:r>
              <a:rPr lang="es-ES" sz="1400" dirty="0"/>
              <a:t> (</a:t>
            </a:r>
            <a:r>
              <a:rPr lang="es-ES" sz="1400" dirty="0" err="1"/>
              <a:t>warn</a:t>
            </a:r>
            <a:r>
              <a:rPr lang="es-ES" sz="1400" dirty="0"/>
              <a:t>), </a:t>
            </a:r>
            <a:r>
              <a:rPr lang="es-ES" sz="1400" i="1" dirty="0" err="1"/>
              <a:t>err</a:t>
            </a:r>
            <a:r>
              <a:rPr lang="es-ES" sz="1400" dirty="0"/>
              <a:t> (error), </a:t>
            </a:r>
            <a:r>
              <a:rPr lang="es-ES" sz="1400" i="1" dirty="0" err="1"/>
              <a:t>crit</a:t>
            </a:r>
            <a:r>
              <a:rPr lang="es-ES" sz="1400" dirty="0"/>
              <a:t>, </a:t>
            </a:r>
            <a:r>
              <a:rPr lang="es-ES" sz="1400" i="1" dirty="0" err="1"/>
              <a:t>alert</a:t>
            </a:r>
            <a:r>
              <a:rPr lang="es-ES" sz="1400" dirty="0"/>
              <a:t> y </a:t>
            </a:r>
            <a:r>
              <a:rPr lang="es-ES" sz="1400" i="1" dirty="0" err="1"/>
              <a:t>emerg</a:t>
            </a:r>
            <a:r>
              <a:rPr lang="es-ES" sz="1400" dirty="0"/>
              <a:t> o </a:t>
            </a:r>
            <a:r>
              <a:rPr lang="es-ES" sz="1400" i="1" dirty="0" err="1"/>
              <a:t>panic</a:t>
            </a:r>
            <a:r>
              <a:rPr lang="es-ES" sz="1400" dirty="0"/>
              <a:t> (este último en desuso, al igual que </a:t>
            </a:r>
            <a:r>
              <a:rPr lang="es-ES" sz="1400" dirty="0" err="1"/>
              <a:t>warn</a:t>
            </a:r>
            <a:r>
              <a:rPr lang="es-ES" sz="1400" dirty="0"/>
              <a:t> y error). </a:t>
            </a:r>
            <a:endParaRPr lang="es-ES" sz="1400" dirty="0"/>
          </a:p>
          <a:p>
            <a:r>
              <a:rPr lang="es-ES" sz="1400" b="1" dirty="0"/>
              <a:t>Acción</a:t>
            </a:r>
            <a:r>
              <a:rPr lang="es-ES" sz="1400" dirty="0"/>
              <a:t>: Existen varias opciones para este campo, la mas utilizada es la de guardar los registros en un archivo</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4098" name="Picture 2" descr="Seguridad y Redes: Syslo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40010" y="2516503"/>
            <a:ext cx="4105275" cy="2124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3304" y="1582423"/>
            <a:ext cx="10233546" cy="446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Instalación y configuración de </a:t>
            </a:r>
            <a:r>
              <a:rPr lang="es-ES" altLang="es-ES" sz="1400" b="1" dirty="0" err="1">
                <a:solidFill>
                  <a:srgbClr val="333333"/>
                </a:solidFill>
              </a:rPr>
              <a:t>syslogd</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r>
              <a:rPr lang="es-ES" altLang="es-ES" sz="1600" dirty="0">
                <a:solidFill>
                  <a:srgbClr val="333333"/>
                </a:solidFill>
              </a:rPr>
              <a:t> Vamos a clarificar con algunos ejemplos las situaciones descrita en los puntos anteriores.</a:t>
            </a:r>
            <a:endParaRPr lang="es-ES" altLang="es-ES" sz="16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600" dirty="0">
              <a:solidFill>
                <a:schemeClr val="tx1"/>
              </a:solidFill>
            </a:endParaRPr>
          </a:p>
          <a:p>
            <a:pPr lvl="0" eaLnBrk="0" fontAlgn="base" hangingPunct="0">
              <a:lnSpc>
                <a:spcPct val="100000"/>
              </a:lnSpc>
              <a:spcBef>
                <a:spcPct val="0"/>
              </a:spcBef>
              <a:spcAft>
                <a:spcPct val="0"/>
              </a:spcAft>
              <a:buClr>
                <a:schemeClr val="accent1">
                  <a:lumMod val="75000"/>
                </a:schemeClr>
              </a:buClr>
              <a:buSzTx/>
              <a:buFont typeface="Wingdings" panose="05000000000000000000" pitchFamily="2" charset="2"/>
              <a:buChar char="§"/>
            </a:pPr>
            <a:r>
              <a:rPr lang="es-ES" altLang="es-ES" sz="1600" dirty="0">
                <a:solidFill>
                  <a:srgbClr val="333333"/>
                </a:solidFill>
              </a:rPr>
              <a:t>Registrar todos los mensajes (</a:t>
            </a:r>
            <a:r>
              <a:rPr lang="es-ES" altLang="es-ES" sz="1600" b="1" dirty="0">
                <a:solidFill>
                  <a:srgbClr val="333333"/>
                </a:solidFill>
              </a:rPr>
              <a:t>*</a:t>
            </a:r>
            <a:r>
              <a:rPr lang="es-ES" altLang="es-ES" sz="1600" dirty="0">
                <a:solidFill>
                  <a:srgbClr val="333333"/>
                </a:solidFill>
              </a:rPr>
              <a:t>) del recurso </a:t>
            </a:r>
            <a:r>
              <a:rPr lang="es-ES" altLang="es-ES" sz="1600" i="1" dirty="0">
                <a:solidFill>
                  <a:srgbClr val="333333"/>
                </a:solidFill>
              </a:rPr>
              <a:t>mail</a:t>
            </a:r>
            <a:r>
              <a:rPr lang="es-ES" altLang="es-ES" sz="1600" dirty="0">
                <a:solidFill>
                  <a:srgbClr val="333333"/>
                </a:solidFill>
              </a:rPr>
              <a:t> al archivo </a:t>
            </a:r>
            <a:r>
              <a:rPr lang="es-ES" altLang="es-ES" sz="1600" i="1" dirty="0">
                <a:solidFill>
                  <a:srgbClr val="333333"/>
                </a:solidFill>
              </a:rPr>
              <a:t>/</a:t>
            </a:r>
            <a:r>
              <a:rPr lang="es-ES" altLang="es-ES" sz="1600" i="1" dirty="0" err="1">
                <a:solidFill>
                  <a:srgbClr val="333333"/>
                </a:solidFill>
              </a:rPr>
              <a:t>var</a:t>
            </a:r>
            <a:r>
              <a:rPr lang="es-ES" altLang="es-ES" sz="1600" i="1" dirty="0">
                <a:solidFill>
                  <a:srgbClr val="333333"/>
                </a:solidFill>
              </a:rPr>
              <a:t>/log/mail</a:t>
            </a:r>
            <a:r>
              <a:rPr lang="es-ES" altLang="es-ES" sz="1600" dirty="0">
                <a:solidFill>
                  <a:srgbClr val="333333"/>
                </a:solidFill>
              </a:rPr>
              <a:t>:</a:t>
            </a:r>
            <a:endParaRPr lang="es-ES" altLang="es-ES" sz="1600" dirty="0">
              <a:solidFill>
                <a:srgbClr val="333333"/>
              </a:solidFill>
            </a:endParaRPr>
          </a:p>
          <a:p>
            <a:pPr marL="0" lvl="0" indent="0" algn="ctr" eaLnBrk="0" fontAlgn="base" hangingPunct="0">
              <a:lnSpc>
                <a:spcPct val="100000"/>
              </a:lnSpc>
              <a:spcBef>
                <a:spcPct val="0"/>
              </a:spcBef>
              <a:spcAft>
                <a:spcPct val="0"/>
              </a:spcAft>
              <a:buClrTx/>
              <a:buSzTx/>
              <a:buFontTx/>
              <a:buChar char="•"/>
            </a:pPr>
            <a:endParaRPr lang="es-ES" altLang="es-ES" sz="1600" b="1" i="1" dirty="0">
              <a:solidFill>
                <a:srgbClr val="333333"/>
              </a:solidFill>
            </a:endParaRPr>
          </a:p>
          <a:p>
            <a:pPr marL="0" lvl="0" indent="0" algn="ctr" eaLnBrk="0" fontAlgn="base" hangingPunct="0">
              <a:lnSpc>
                <a:spcPct val="100000"/>
              </a:lnSpc>
              <a:spcBef>
                <a:spcPct val="0"/>
              </a:spcBef>
              <a:spcAft>
                <a:spcPct val="0"/>
              </a:spcAft>
              <a:buClrTx/>
              <a:buSzTx/>
              <a:buNone/>
            </a:pPr>
            <a:r>
              <a:rPr lang="es-ES" altLang="es-ES" sz="1600" b="1" i="1" dirty="0">
                <a:solidFill>
                  <a:srgbClr val="333333"/>
                </a:solidFill>
                <a:cs typeface="Courier New" panose="02070309020205020404" pitchFamily="49" charset="0"/>
              </a:rPr>
              <a:t>mail.*        /</a:t>
            </a:r>
            <a:r>
              <a:rPr lang="es-ES" altLang="es-ES" sz="1600" b="1" i="1" dirty="0" err="1">
                <a:solidFill>
                  <a:srgbClr val="333333"/>
                </a:solidFill>
                <a:cs typeface="Courier New" panose="02070309020205020404" pitchFamily="49" charset="0"/>
              </a:rPr>
              <a:t>var</a:t>
            </a:r>
            <a:r>
              <a:rPr lang="es-ES" altLang="es-ES" sz="1600" b="1" i="1" dirty="0">
                <a:solidFill>
                  <a:srgbClr val="333333"/>
                </a:solidFill>
                <a:cs typeface="Courier New" panose="02070309020205020404" pitchFamily="49" charset="0"/>
              </a:rPr>
              <a:t>/log/mail</a:t>
            </a:r>
            <a:endParaRPr lang="es-ES" altLang="es-ES" sz="1600" b="1" i="1"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endParaRPr lang="es-ES" altLang="es-ES" sz="1600" b="1" i="1" dirty="0">
              <a:solidFill>
                <a:schemeClr val="tx1"/>
              </a:solidFill>
              <a:cs typeface="Courier New" panose="02070309020205020404" pitchFamily="49" charset="0"/>
            </a:endParaRPr>
          </a:p>
          <a:p>
            <a:pPr eaLnBrk="0" fontAlgn="base" hangingPunct="0">
              <a:lnSpc>
                <a:spcPct val="100000"/>
              </a:lnSpc>
              <a:spcBef>
                <a:spcPct val="0"/>
              </a:spcBef>
              <a:spcAft>
                <a:spcPct val="0"/>
              </a:spcAft>
              <a:buClr>
                <a:schemeClr val="accent1">
                  <a:lumMod val="75000"/>
                </a:schemeClr>
              </a:buClr>
              <a:buSzTx/>
              <a:buFont typeface="Wingdings" panose="05000000000000000000" pitchFamily="2" charset="2"/>
              <a:buChar char="§"/>
            </a:pPr>
            <a:r>
              <a:rPr lang="es-ES" altLang="es-ES" sz="1600" dirty="0">
                <a:solidFill>
                  <a:srgbClr val="333333"/>
                </a:solidFill>
              </a:rPr>
              <a:t>Enviar solo los mensajes con prioridad </a:t>
            </a:r>
            <a:r>
              <a:rPr lang="es-ES" altLang="es-ES" sz="1600" i="1" dirty="0" err="1">
                <a:solidFill>
                  <a:srgbClr val="333333"/>
                </a:solidFill>
              </a:rPr>
              <a:t>notice</a:t>
            </a:r>
            <a:r>
              <a:rPr lang="es-ES" altLang="es-ES" sz="1600" dirty="0">
                <a:solidFill>
                  <a:srgbClr val="333333"/>
                </a:solidFill>
              </a:rPr>
              <a:t> para los recursos </a:t>
            </a:r>
            <a:r>
              <a:rPr lang="es-ES" altLang="es-ES" sz="1600" i="1" dirty="0" err="1">
                <a:solidFill>
                  <a:srgbClr val="333333"/>
                </a:solidFill>
              </a:rPr>
              <a:t>news</a:t>
            </a:r>
            <a:r>
              <a:rPr lang="es-ES" altLang="es-ES" sz="1600" dirty="0">
                <a:solidFill>
                  <a:srgbClr val="333333"/>
                </a:solidFill>
              </a:rPr>
              <a:t> y </a:t>
            </a:r>
            <a:r>
              <a:rPr lang="es-ES" altLang="es-ES" sz="1600" i="1" dirty="0">
                <a:solidFill>
                  <a:srgbClr val="333333"/>
                </a:solidFill>
              </a:rPr>
              <a:t>mail</a:t>
            </a:r>
            <a:r>
              <a:rPr lang="es-ES" altLang="es-ES" sz="1600" dirty="0">
                <a:solidFill>
                  <a:srgbClr val="333333"/>
                </a:solidFill>
              </a:rPr>
              <a:t> a la consola principal del sistema:</a:t>
            </a:r>
            <a:endParaRPr lang="es-ES" altLang="es-ES" sz="1600" dirty="0">
              <a:solidFill>
                <a:srgbClr val="333333"/>
              </a:solidFill>
            </a:endParaRPr>
          </a:p>
          <a:p>
            <a:pPr marL="0" indent="0" eaLnBrk="0" fontAlgn="base" hangingPunct="0">
              <a:lnSpc>
                <a:spcPct val="100000"/>
              </a:lnSpc>
              <a:spcBef>
                <a:spcPct val="0"/>
              </a:spcBef>
              <a:spcAft>
                <a:spcPct val="0"/>
              </a:spcAft>
              <a:buClrTx/>
              <a:buSzTx/>
              <a:buNone/>
            </a:pPr>
            <a:endParaRPr lang="es-ES" altLang="es-ES" sz="1600" dirty="0">
              <a:solidFill>
                <a:srgbClr val="333333"/>
              </a:solidFill>
            </a:endParaRPr>
          </a:p>
          <a:p>
            <a:pPr marL="0" lvl="0" indent="0" algn="ctr" eaLnBrk="0" fontAlgn="base" hangingPunct="0">
              <a:lnSpc>
                <a:spcPct val="100000"/>
              </a:lnSpc>
              <a:spcBef>
                <a:spcPct val="0"/>
              </a:spcBef>
              <a:spcAft>
                <a:spcPct val="0"/>
              </a:spcAft>
              <a:buClrTx/>
              <a:buSzTx/>
              <a:buNone/>
            </a:pPr>
            <a:r>
              <a:rPr lang="es-ES" altLang="es-ES" sz="1600" b="1" i="1" dirty="0" err="1">
                <a:solidFill>
                  <a:srgbClr val="333333"/>
                </a:solidFill>
                <a:cs typeface="Courier New" panose="02070309020205020404" pitchFamily="49" charset="0"/>
              </a:rPr>
              <a:t>news,mail</a:t>
            </a:r>
            <a:r>
              <a:rPr lang="es-ES" altLang="es-ES" sz="1600" b="1" i="1" dirty="0">
                <a:solidFill>
                  <a:srgbClr val="333333"/>
                </a:solidFill>
                <a:cs typeface="Courier New" panose="02070309020205020404" pitchFamily="49" charset="0"/>
              </a:rPr>
              <a:t>.=</a:t>
            </a:r>
            <a:r>
              <a:rPr lang="es-ES" altLang="es-ES" sz="1600" b="1" i="1" dirty="0" err="1">
                <a:solidFill>
                  <a:srgbClr val="333333"/>
                </a:solidFill>
                <a:cs typeface="Courier New" panose="02070309020205020404" pitchFamily="49" charset="0"/>
              </a:rPr>
              <a:t>notice</a:t>
            </a:r>
            <a:r>
              <a:rPr lang="es-ES" altLang="es-ES" sz="1600" b="1" i="1" dirty="0">
                <a:solidFill>
                  <a:srgbClr val="333333"/>
                </a:solidFill>
                <a:cs typeface="Courier New" panose="02070309020205020404" pitchFamily="49" charset="0"/>
              </a:rPr>
              <a:t>        /</a:t>
            </a:r>
            <a:r>
              <a:rPr lang="es-ES" altLang="es-ES" sz="1600" b="1" i="1" dirty="0" err="1">
                <a:solidFill>
                  <a:srgbClr val="333333"/>
                </a:solidFill>
                <a:cs typeface="Courier New" panose="02070309020205020404" pitchFamily="49" charset="0"/>
              </a:rPr>
              <a:t>dev</a:t>
            </a:r>
            <a:r>
              <a:rPr lang="es-ES" altLang="es-ES" sz="1600" b="1" i="1" dirty="0">
                <a:solidFill>
                  <a:srgbClr val="333333"/>
                </a:solidFill>
                <a:cs typeface="Courier New" panose="02070309020205020404" pitchFamily="49" charset="0"/>
              </a:rPr>
              <a:t>/</a:t>
            </a:r>
            <a:r>
              <a:rPr lang="es-ES" altLang="es-ES" sz="1600" b="1" i="1" dirty="0" err="1">
                <a:solidFill>
                  <a:srgbClr val="333333"/>
                </a:solidFill>
                <a:cs typeface="Courier New" panose="02070309020205020404" pitchFamily="49" charset="0"/>
              </a:rPr>
              <a:t>console</a:t>
            </a:r>
            <a:endParaRPr lang="es-ES" altLang="es-ES" sz="1600" b="1" i="1"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endParaRPr lang="es-ES" altLang="es-ES" sz="1600" b="1" i="1" dirty="0">
              <a:solidFill>
                <a:schemeClr val="tx1"/>
              </a:solidFill>
            </a:endParaRPr>
          </a:p>
          <a:p>
            <a:pPr marL="0" lvl="0" indent="0" eaLnBrk="0" fontAlgn="base" hangingPunct="0">
              <a:lnSpc>
                <a:spcPct val="100000"/>
              </a:lnSpc>
              <a:spcBef>
                <a:spcPct val="0"/>
              </a:spcBef>
              <a:spcAft>
                <a:spcPct val="0"/>
              </a:spcAft>
              <a:buClrTx/>
              <a:buSzTx/>
              <a:buNone/>
            </a:pPr>
            <a:r>
              <a:rPr lang="es-ES" altLang="es-ES" sz="1600" b="1" dirty="0">
                <a:solidFill>
                  <a:srgbClr val="333333"/>
                </a:solidFill>
              </a:rPr>
              <a:t>Nota</a:t>
            </a:r>
            <a:r>
              <a:rPr lang="es-ES" altLang="es-ES" sz="1600" dirty="0">
                <a:solidFill>
                  <a:srgbClr val="333333"/>
                </a:solidFill>
              </a:rPr>
              <a:t>: Podemos separar varios recursos son ‘</a:t>
            </a:r>
            <a:r>
              <a:rPr lang="es-ES" altLang="es-ES" sz="1600" b="1" dirty="0">
                <a:solidFill>
                  <a:srgbClr val="333333"/>
                </a:solidFill>
              </a:rPr>
              <a:t>,</a:t>
            </a:r>
            <a:r>
              <a:rPr lang="es-ES" altLang="es-ES" sz="1600" dirty="0">
                <a:solidFill>
                  <a:srgbClr val="333333"/>
                </a:solidFill>
              </a:rPr>
              <a:t>‘. Si en el archivo de configuración existe también la entrada del ejemplo anterior, los mensajes de </a:t>
            </a:r>
            <a:r>
              <a:rPr lang="es-ES" altLang="es-ES" sz="1600" i="1" dirty="0">
                <a:solidFill>
                  <a:srgbClr val="333333"/>
                </a:solidFill>
              </a:rPr>
              <a:t>mail</a:t>
            </a:r>
            <a:r>
              <a:rPr lang="es-ES" altLang="es-ES" sz="1600" dirty="0">
                <a:solidFill>
                  <a:srgbClr val="333333"/>
                </a:solidFill>
              </a:rPr>
              <a:t> para prioridad </a:t>
            </a:r>
            <a:r>
              <a:rPr lang="es-ES" altLang="es-ES" sz="1600" i="1" dirty="0" err="1">
                <a:solidFill>
                  <a:srgbClr val="333333"/>
                </a:solidFill>
              </a:rPr>
              <a:t>notice</a:t>
            </a:r>
            <a:r>
              <a:rPr lang="es-ES" altLang="es-ES" sz="1600" dirty="0">
                <a:solidFill>
                  <a:srgbClr val="333333"/>
                </a:solidFill>
              </a:rPr>
              <a:t> serán enviados a la consola y registrados en </a:t>
            </a:r>
            <a:r>
              <a:rPr lang="es-ES" altLang="es-ES" sz="1600" i="1" dirty="0">
                <a:solidFill>
                  <a:srgbClr val="333333"/>
                </a:solidFill>
              </a:rPr>
              <a:t>/</a:t>
            </a:r>
            <a:r>
              <a:rPr lang="es-ES" altLang="es-ES" sz="1600" i="1" dirty="0" err="1">
                <a:solidFill>
                  <a:srgbClr val="333333"/>
                </a:solidFill>
              </a:rPr>
              <a:t>var</a:t>
            </a:r>
            <a:r>
              <a:rPr lang="es-ES" altLang="es-ES" sz="1600" i="1" dirty="0">
                <a:solidFill>
                  <a:srgbClr val="333333"/>
                </a:solidFill>
              </a:rPr>
              <a:t>/log/mail</a:t>
            </a:r>
            <a:r>
              <a:rPr lang="es-ES" altLang="es-ES" sz="1600" dirty="0">
                <a:solidFill>
                  <a:srgbClr val="333333"/>
                </a:solidFill>
              </a:rPr>
              <a:t>. Podríamos haber cambiado </a:t>
            </a:r>
            <a:r>
              <a:rPr lang="es-ES" altLang="es-ES" sz="1600" i="1" dirty="0">
                <a:solidFill>
                  <a:srgbClr val="333333"/>
                </a:solidFill>
              </a:rPr>
              <a:t>/</a:t>
            </a:r>
            <a:r>
              <a:rPr lang="es-ES" altLang="es-ES" sz="1600" i="1" dirty="0" err="1">
                <a:solidFill>
                  <a:srgbClr val="333333"/>
                </a:solidFill>
              </a:rPr>
              <a:t>dev</a:t>
            </a:r>
            <a:r>
              <a:rPr lang="es-ES" altLang="es-ES" sz="1600" i="1" dirty="0">
                <a:solidFill>
                  <a:srgbClr val="333333"/>
                </a:solidFill>
              </a:rPr>
              <a:t>/</a:t>
            </a:r>
            <a:r>
              <a:rPr lang="es-ES" altLang="es-ES" sz="1600" i="1" dirty="0" err="1">
                <a:solidFill>
                  <a:srgbClr val="333333"/>
                </a:solidFill>
              </a:rPr>
              <a:t>console</a:t>
            </a:r>
            <a:r>
              <a:rPr lang="es-ES" altLang="es-ES" sz="1600" dirty="0">
                <a:solidFill>
                  <a:srgbClr val="333333"/>
                </a:solidFill>
              </a:rPr>
              <a:t> por ‘</a:t>
            </a:r>
            <a:r>
              <a:rPr lang="es-ES" altLang="es-ES" sz="1600" b="1" dirty="0">
                <a:solidFill>
                  <a:srgbClr val="333333"/>
                </a:solidFill>
              </a:rPr>
              <a:t>*</a:t>
            </a:r>
            <a:r>
              <a:rPr lang="es-ES" altLang="es-ES" sz="1600" dirty="0">
                <a:solidFill>
                  <a:srgbClr val="333333"/>
                </a:solidFill>
              </a:rPr>
              <a:t>‘ (asterisco) para enviar los mensajes a todas las consolas de modo texto abiertas en el sistema.</a:t>
            </a:r>
            <a:endParaRPr lang="es-ES" altLang="es-ES" sz="1600" dirty="0">
              <a:solidFill>
                <a:schemeClr val="tx1"/>
              </a:solidFill>
            </a:endParaRPr>
          </a:p>
          <a:p>
            <a:pPr marL="0" lvl="0" indent="0" eaLnBrk="0" fontAlgn="base" hangingPunct="0">
              <a:lnSpc>
                <a:spcPct val="100000"/>
              </a:lnSpc>
              <a:spcBef>
                <a:spcPct val="0"/>
              </a:spcBef>
              <a:spcAft>
                <a:spcPct val="0"/>
              </a:spcAft>
              <a:buClrTx/>
              <a:buSzTx/>
              <a:buNone/>
            </a:pP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0864" y="1547082"/>
            <a:ext cx="10233546" cy="4900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Instalación y configuración de </a:t>
            </a:r>
            <a:r>
              <a:rPr lang="es-ES" altLang="es-ES" sz="1400" b="1" dirty="0" err="1">
                <a:solidFill>
                  <a:srgbClr val="333333"/>
                </a:solidFill>
              </a:rPr>
              <a:t>syslogd</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b="1" dirty="0">
              <a:solidFill>
                <a:srgbClr val="333333"/>
              </a:solidFill>
            </a:endParaRPr>
          </a:p>
          <a:p>
            <a:pPr lvl="0" eaLnBrk="0" fontAlgn="base" hangingPunct="0">
              <a:lnSpc>
                <a:spcPct val="100000"/>
              </a:lnSpc>
              <a:spcBef>
                <a:spcPct val="0"/>
              </a:spcBef>
              <a:spcAft>
                <a:spcPct val="0"/>
              </a:spcAft>
              <a:buClrTx/>
              <a:buSzTx/>
              <a:buFont typeface="Wingdings" panose="05000000000000000000" pitchFamily="2" charset="2"/>
              <a:buChar char="§"/>
            </a:pPr>
            <a:r>
              <a:rPr lang="es-ES" altLang="es-ES" sz="1400" dirty="0">
                <a:solidFill>
                  <a:srgbClr val="333333"/>
                </a:solidFill>
              </a:rPr>
              <a:t>Registrar todos los mensajes con prioridad </a:t>
            </a:r>
            <a:r>
              <a:rPr lang="es-ES" altLang="es-ES" sz="1400" i="1" dirty="0" err="1">
                <a:solidFill>
                  <a:srgbClr val="333333"/>
                </a:solidFill>
              </a:rPr>
              <a:t>crit</a:t>
            </a:r>
            <a:r>
              <a:rPr lang="es-ES" altLang="es-ES" sz="1400" dirty="0">
                <a:solidFill>
                  <a:srgbClr val="333333"/>
                </a:solidFill>
              </a:rPr>
              <a:t> o superior (es decir; </a:t>
            </a:r>
            <a:r>
              <a:rPr lang="es-ES" altLang="es-ES" sz="1400" i="1" dirty="0" err="1">
                <a:solidFill>
                  <a:srgbClr val="333333"/>
                </a:solidFill>
              </a:rPr>
              <a:t>crit</a:t>
            </a:r>
            <a:r>
              <a:rPr lang="es-ES" altLang="es-ES" sz="1400" dirty="0">
                <a:solidFill>
                  <a:srgbClr val="333333"/>
                </a:solidFill>
              </a:rPr>
              <a:t>, </a:t>
            </a:r>
            <a:r>
              <a:rPr lang="es-ES" altLang="es-ES" sz="1400" i="1" dirty="0" err="1">
                <a:solidFill>
                  <a:srgbClr val="333333"/>
                </a:solidFill>
              </a:rPr>
              <a:t>alert</a:t>
            </a:r>
            <a:r>
              <a:rPr lang="es-ES" altLang="es-ES" sz="1400" dirty="0">
                <a:solidFill>
                  <a:srgbClr val="333333"/>
                </a:solidFill>
              </a:rPr>
              <a:t> y </a:t>
            </a:r>
            <a:r>
              <a:rPr lang="es-ES" altLang="es-ES" sz="1400" i="1" dirty="0" err="1">
                <a:solidFill>
                  <a:srgbClr val="333333"/>
                </a:solidFill>
              </a:rPr>
              <a:t>emerg</a:t>
            </a:r>
            <a:r>
              <a:rPr lang="es-ES" altLang="es-ES" sz="1400" dirty="0">
                <a:solidFill>
                  <a:srgbClr val="333333"/>
                </a:solidFill>
              </a:rPr>
              <a:t>) del recurso </a:t>
            </a:r>
            <a:r>
              <a:rPr lang="es-ES" altLang="es-ES" sz="1400" i="1" dirty="0" err="1">
                <a:solidFill>
                  <a:srgbClr val="333333"/>
                </a:solidFill>
              </a:rPr>
              <a:t>daemon</a:t>
            </a:r>
            <a:r>
              <a:rPr lang="es-ES" altLang="es-ES" sz="1400" dirty="0">
                <a:solidFill>
                  <a:srgbClr val="333333"/>
                </a:solidFill>
              </a:rPr>
              <a:t> en </a:t>
            </a:r>
            <a:r>
              <a:rPr lang="es-ES" altLang="es-ES" sz="1400" i="1" dirty="0">
                <a:solidFill>
                  <a:srgbClr val="333333"/>
                </a:solidFill>
              </a:rPr>
              <a:t>/</a:t>
            </a:r>
            <a:r>
              <a:rPr lang="es-ES" altLang="es-ES" sz="1400" i="1" dirty="0" err="1">
                <a:solidFill>
                  <a:srgbClr val="333333"/>
                </a:solidFill>
              </a:rPr>
              <a:t>var</a:t>
            </a:r>
            <a:r>
              <a:rPr lang="es-ES" altLang="es-ES" sz="1400" i="1" dirty="0">
                <a:solidFill>
                  <a:srgbClr val="333333"/>
                </a:solidFill>
              </a:rPr>
              <a:t>/log/error</a:t>
            </a:r>
            <a:r>
              <a:rPr lang="es-ES" altLang="es-ES" sz="1400" dirty="0">
                <a:solidFill>
                  <a:srgbClr val="333333"/>
                </a:solidFill>
              </a:rPr>
              <a:t> y los mensajes con prioridad </a:t>
            </a:r>
            <a:r>
              <a:rPr lang="es-ES" altLang="es-ES" sz="1400" i="1" dirty="0" err="1">
                <a:solidFill>
                  <a:srgbClr val="333333"/>
                </a:solidFill>
              </a:rPr>
              <a:t>warn</a:t>
            </a:r>
            <a:r>
              <a:rPr lang="es-ES" altLang="es-ES" sz="1400" dirty="0">
                <a:solidFill>
                  <a:srgbClr val="333333"/>
                </a:solidFill>
              </a:rPr>
              <a:t> o </a:t>
            </a:r>
            <a:r>
              <a:rPr lang="es-ES" altLang="es-ES" sz="1400" i="1" dirty="0">
                <a:solidFill>
                  <a:srgbClr val="333333"/>
                </a:solidFill>
              </a:rPr>
              <a:t>menor</a:t>
            </a:r>
            <a:r>
              <a:rPr lang="es-ES" altLang="es-ES" sz="1400" dirty="0">
                <a:solidFill>
                  <a:srgbClr val="333333"/>
                </a:solidFill>
              </a:rPr>
              <a:t> (es decir; </a:t>
            </a:r>
            <a:r>
              <a:rPr lang="es-ES" altLang="es-ES" sz="1400" i="1" dirty="0" err="1">
                <a:solidFill>
                  <a:srgbClr val="333333"/>
                </a:solidFill>
              </a:rPr>
              <a:t>warn</a:t>
            </a:r>
            <a:r>
              <a:rPr lang="es-ES" altLang="es-ES" sz="1400" dirty="0">
                <a:solidFill>
                  <a:srgbClr val="333333"/>
                </a:solidFill>
              </a:rPr>
              <a:t>, </a:t>
            </a:r>
            <a:r>
              <a:rPr lang="es-ES" altLang="es-ES" sz="1400" i="1" dirty="0" err="1">
                <a:solidFill>
                  <a:srgbClr val="333333"/>
                </a:solidFill>
              </a:rPr>
              <a:t>notice</a:t>
            </a:r>
            <a:r>
              <a:rPr lang="es-ES" altLang="es-ES" sz="1400" dirty="0">
                <a:solidFill>
                  <a:srgbClr val="333333"/>
                </a:solidFill>
              </a:rPr>
              <a:t>, </a:t>
            </a:r>
            <a:r>
              <a:rPr lang="es-ES" altLang="es-ES" sz="1400" i="1" dirty="0" err="1">
                <a:solidFill>
                  <a:srgbClr val="333333"/>
                </a:solidFill>
              </a:rPr>
              <a:t>info</a:t>
            </a:r>
            <a:r>
              <a:rPr lang="es-ES" altLang="es-ES" sz="1400" dirty="0">
                <a:solidFill>
                  <a:srgbClr val="333333"/>
                </a:solidFill>
              </a:rPr>
              <a:t> y </a:t>
            </a:r>
            <a:r>
              <a:rPr lang="es-ES" altLang="es-ES" sz="1400" i="1" dirty="0" err="1">
                <a:solidFill>
                  <a:srgbClr val="333333"/>
                </a:solidFill>
              </a:rPr>
              <a:t>debug</a:t>
            </a:r>
            <a:r>
              <a:rPr lang="es-ES" altLang="es-ES" sz="1400" dirty="0">
                <a:solidFill>
                  <a:srgbClr val="333333"/>
                </a:solidFill>
              </a:rPr>
              <a:t>) para el recurso </a:t>
            </a:r>
            <a:r>
              <a:rPr lang="es-ES" altLang="es-ES" sz="1400" i="1" dirty="0" err="1">
                <a:solidFill>
                  <a:srgbClr val="333333"/>
                </a:solidFill>
              </a:rPr>
              <a:t>lpr</a:t>
            </a:r>
            <a:r>
              <a:rPr lang="es-ES" altLang="es-ES" sz="1400" dirty="0">
                <a:solidFill>
                  <a:srgbClr val="333333"/>
                </a:solidFill>
              </a:rPr>
              <a:t> en </a:t>
            </a:r>
            <a:r>
              <a:rPr lang="es-ES" altLang="es-ES" sz="1400" i="1" dirty="0">
                <a:solidFill>
                  <a:srgbClr val="333333"/>
                </a:solidFill>
              </a:rPr>
              <a:t>/</a:t>
            </a:r>
            <a:r>
              <a:rPr lang="es-ES" altLang="es-ES" sz="1400" i="1" dirty="0" err="1">
                <a:solidFill>
                  <a:srgbClr val="333333"/>
                </a:solidFill>
              </a:rPr>
              <a:t>var</a:t>
            </a:r>
            <a:r>
              <a:rPr lang="es-ES" altLang="es-ES" sz="1400" i="1" dirty="0">
                <a:solidFill>
                  <a:srgbClr val="333333"/>
                </a:solidFill>
              </a:rPr>
              <a:t>/log/</a:t>
            </a:r>
            <a:r>
              <a:rPr lang="es-ES" altLang="es-ES" sz="1400" i="1" dirty="0" err="1">
                <a:solidFill>
                  <a:srgbClr val="333333"/>
                </a:solidFill>
              </a:rPr>
              <a:t>lpr-info</a:t>
            </a:r>
            <a:r>
              <a:rPr lang="es-ES" altLang="es-ES" sz="1400" dirty="0">
                <a:solidFill>
                  <a:srgbClr val="333333"/>
                </a:solidFill>
              </a:rPr>
              <a:t>. Si queremos especificar los mensajes con prioridad igual o menor a una determinada prioridad lo haremos con el </a:t>
            </a:r>
            <a:r>
              <a:rPr lang="es-ES" altLang="es-ES" sz="1400" dirty="0" err="1">
                <a:solidFill>
                  <a:srgbClr val="333333"/>
                </a:solidFill>
              </a:rPr>
              <a:t>caracter</a:t>
            </a:r>
            <a:r>
              <a:rPr lang="es-ES" altLang="es-ES" sz="1400" dirty="0">
                <a:solidFill>
                  <a:srgbClr val="333333"/>
                </a:solidFill>
              </a:rPr>
              <a:t> de admiración ‘</a:t>
            </a:r>
            <a:r>
              <a:rPr lang="es-ES" altLang="es-ES" sz="1400" b="1" dirty="0">
                <a:solidFill>
                  <a:srgbClr val="333333"/>
                </a:solidFill>
              </a:rPr>
              <a:t>!</a:t>
            </a:r>
            <a:r>
              <a:rPr lang="es-ES" altLang="es-ES" sz="1400" dirty="0">
                <a:solidFill>
                  <a:srgbClr val="333333"/>
                </a:solidFill>
              </a:rPr>
              <a:t>‘:</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algn="ctr" eaLnBrk="0" fontAlgn="base" hangingPunct="0">
              <a:lnSpc>
                <a:spcPct val="100000"/>
              </a:lnSpc>
              <a:spcBef>
                <a:spcPct val="0"/>
              </a:spcBef>
              <a:spcAft>
                <a:spcPct val="0"/>
              </a:spcAft>
              <a:buClrTx/>
              <a:buSzTx/>
              <a:buNone/>
            </a:pPr>
            <a:r>
              <a:rPr lang="es-ES" altLang="es-ES" sz="1400" b="1" i="1" dirty="0" err="1">
                <a:solidFill>
                  <a:srgbClr val="333333"/>
                </a:solidFill>
                <a:cs typeface="Courier New" panose="02070309020205020404" pitchFamily="49" charset="0"/>
              </a:rPr>
              <a:t>daemon.crit</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var</a:t>
            </a:r>
            <a:r>
              <a:rPr lang="es-ES" altLang="es-ES" sz="1400" b="1" i="1" dirty="0">
                <a:solidFill>
                  <a:srgbClr val="333333"/>
                </a:solidFill>
                <a:cs typeface="Courier New" panose="02070309020205020404" pitchFamily="49" charset="0"/>
              </a:rPr>
              <a:t>/log/error </a:t>
            </a:r>
            <a:endParaRPr lang="es-ES" altLang="es-ES" sz="1400" b="1" i="1"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err="1">
                <a:solidFill>
                  <a:srgbClr val="333333"/>
                </a:solidFill>
                <a:cs typeface="Courier New" panose="02070309020205020404" pitchFamily="49" charset="0"/>
              </a:rPr>
              <a:t>lpr</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warn</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var</a:t>
            </a:r>
            <a:r>
              <a:rPr lang="es-ES" altLang="es-ES" sz="1400" b="1" i="1" dirty="0">
                <a:solidFill>
                  <a:srgbClr val="333333"/>
                </a:solidFill>
                <a:cs typeface="Courier New" panose="02070309020205020404" pitchFamily="49" charset="0"/>
              </a:rPr>
              <a:t>/log/</a:t>
            </a:r>
            <a:r>
              <a:rPr lang="es-ES" altLang="es-ES" sz="1400" b="1" i="1" dirty="0" err="1">
                <a:solidFill>
                  <a:srgbClr val="333333"/>
                </a:solidFill>
                <a:cs typeface="Courier New" panose="02070309020205020404" pitchFamily="49" charset="0"/>
              </a:rPr>
              <a:t>lpr-info</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eaLnBrk="0" fontAlgn="base" hangingPunct="0">
              <a:lnSpc>
                <a:spcPct val="100000"/>
              </a:lnSpc>
              <a:spcBef>
                <a:spcPct val="0"/>
              </a:spcBef>
              <a:spcAft>
                <a:spcPct val="0"/>
              </a:spcAft>
              <a:buClrTx/>
              <a:buSzTx/>
              <a:buFont typeface="Wingdings" panose="05000000000000000000" pitchFamily="2" charset="2"/>
              <a:buChar char="§"/>
            </a:pPr>
            <a:r>
              <a:rPr lang="es-ES" altLang="es-ES" sz="1400" dirty="0">
                <a:solidFill>
                  <a:srgbClr val="333333"/>
                </a:solidFill>
              </a:rPr>
              <a:t>Ahora vamos a ver como manejar diferentes mensajes según su prioridad para un recurso con acciones diferentes:</a:t>
            </a:r>
            <a:endParaRPr lang="es-ES" altLang="es-ES" sz="1400" dirty="0">
              <a:solidFill>
                <a:srgbClr val="333333"/>
              </a:solidFill>
            </a:endParaRPr>
          </a:p>
          <a:p>
            <a:pPr eaLnBrk="0" fontAlgn="base" hangingPunct="0">
              <a:lnSpc>
                <a:spcPct val="100000"/>
              </a:lnSpc>
              <a:spcBef>
                <a:spcPct val="0"/>
              </a:spcBef>
              <a:spcAft>
                <a:spcPct val="0"/>
              </a:spcAft>
              <a:buClrTx/>
              <a:buSzTx/>
              <a:buFont typeface="Wingdings" panose="05000000000000000000" pitchFamily="2" charset="2"/>
              <a:buChar char="§"/>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b="1" dirty="0">
                <a:solidFill>
                  <a:srgbClr val="333333"/>
                </a:solidFill>
                <a:cs typeface="Courier New" panose="02070309020205020404" pitchFamily="49" charset="0"/>
              </a:rPr>
              <a:t>kern.*        /</a:t>
            </a:r>
            <a:r>
              <a:rPr lang="es-ES" altLang="es-ES" sz="1400" b="1" dirty="0" err="1">
                <a:solidFill>
                  <a:srgbClr val="333333"/>
                </a:solidFill>
                <a:cs typeface="Courier New" panose="02070309020205020404" pitchFamily="49" charset="0"/>
              </a:rPr>
              <a:t>var</a:t>
            </a:r>
            <a:r>
              <a:rPr lang="es-ES" altLang="es-ES" sz="1400" b="1" dirty="0">
                <a:solidFill>
                  <a:srgbClr val="333333"/>
                </a:solidFill>
                <a:cs typeface="Courier New" panose="02070309020205020404" pitchFamily="49" charset="0"/>
              </a:rPr>
              <a:t>/log/</a:t>
            </a:r>
            <a:r>
              <a:rPr lang="es-ES" altLang="es-ES" sz="1400" b="1" dirty="0" err="1">
                <a:solidFill>
                  <a:srgbClr val="333333"/>
                </a:solidFill>
                <a:cs typeface="Courier New" panose="02070309020205020404" pitchFamily="49" charset="0"/>
              </a:rPr>
              <a:t>kernel</a:t>
            </a:r>
            <a:r>
              <a:rPr lang="es-ES" altLang="es-ES" sz="1400" b="1" dirty="0">
                <a:solidFill>
                  <a:srgbClr val="333333"/>
                </a:solidFill>
                <a:cs typeface="Courier New" panose="02070309020205020404" pitchFamily="49" charset="0"/>
              </a:rPr>
              <a:t> </a:t>
            </a:r>
            <a:r>
              <a:rPr lang="es-ES" altLang="es-ES" sz="1400" dirty="0">
                <a:solidFill>
                  <a:srgbClr val="333333"/>
                </a:solidFill>
                <a:cs typeface="Courier New" panose="02070309020205020404" pitchFamily="49" charset="0"/>
              </a:rPr>
              <a:t>; </a:t>
            </a:r>
            <a:r>
              <a:rPr lang="es-ES" altLang="es-ES" sz="1400" dirty="0">
                <a:solidFill>
                  <a:srgbClr val="333333"/>
                </a:solidFill>
              </a:rPr>
              <a:t>enviamos </a:t>
            </a:r>
            <a:r>
              <a:rPr lang="es-ES" altLang="es-ES" sz="1400" dirty="0" err="1">
                <a:solidFill>
                  <a:srgbClr val="333333"/>
                </a:solidFill>
              </a:rPr>
              <a:t>avtodos</a:t>
            </a:r>
            <a:r>
              <a:rPr lang="es-ES" altLang="es-ES" sz="1400" dirty="0">
                <a:solidFill>
                  <a:srgbClr val="333333"/>
                </a:solidFill>
              </a:rPr>
              <a:t> los mensajes generados por el </a:t>
            </a:r>
            <a:r>
              <a:rPr lang="es-ES" altLang="es-ES" sz="1400" dirty="0" err="1">
                <a:solidFill>
                  <a:srgbClr val="333333"/>
                </a:solidFill>
              </a:rPr>
              <a:t>kernel</a:t>
            </a:r>
            <a:r>
              <a:rPr lang="es-ES" altLang="es-ES" sz="1400" dirty="0">
                <a:solidFill>
                  <a:srgbClr val="333333"/>
                </a:solidFill>
              </a:rPr>
              <a:t> al archivo /</a:t>
            </a:r>
            <a:r>
              <a:rPr lang="es-ES" altLang="es-ES" sz="1400" dirty="0" err="1">
                <a:solidFill>
                  <a:srgbClr val="333333"/>
                </a:solidFill>
              </a:rPr>
              <a:t>var</a:t>
            </a:r>
            <a:r>
              <a:rPr lang="es-ES" altLang="es-ES" sz="1400" dirty="0">
                <a:solidFill>
                  <a:srgbClr val="333333"/>
                </a:solidFill>
              </a:rPr>
              <a:t>/log/</a:t>
            </a:r>
            <a:r>
              <a:rPr lang="es-ES" altLang="es-ES" sz="1400" dirty="0" err="1">
                <a:solidFill>
                  <a:srgbClr val="333333"/>
                </a:solidFill>
              </a:rPr>
              <a:t>kernel</a:t>
            </a:r>
            <a:endParaRPr lang="es-ES" altLang="es-ES" sz="1400"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r>
              <a:rPr lang="es-ES" altLang="es-ES" sz="1400" b="1" dirty="0" err="1">
                <a:solidFill>
                  <a:srgbClr val="333333"/>
                </a:solidFill>
                <a:cs typeface="Courier New" panose="02070309020205020404" pitchFamily="49" charset="0"/>
              </a:rPr>
              <a:t>kern.crit</a:t>
            </a:r>
            <a:r>
              <a:rPr lang="es-ES" altLang="es-ES" sz="1400" b="1" dirty="0">
                <a:solidFill>
                  <a:srgbClr val="333333"/>
                </a:solidFill>
                <a:cs typeface="Courier New" panose="02070309020205020404" pitchFamily="49" charset="0"/>
              </a:rPr>
              <a:t>        @unamaquina.enundominio.es </a:t>
            </a:r>
            <a:r>
              <a:rPr lang="es-ES" altLang="es-ES" sz="1400" dirty="0">
                <a:solidFill>
                  <a:srgbClr val="333333"/>
                </a:solidFill>
                <a:cs typeface="Courier New" panose="02070309020205020404" pitchFamily="49" charset="0"/>
              </a:rPr>
              <a:t>; </a:t>
            </a:r>
            <a:r>
              <a:rPr lang="es-ES" altLang="es-ES" sz="1400" dirty="0">
                <a:solidFill>
                  <a:srgbClr val="333333"/>
                </a:solidFill>
              </a:rPr>
              <a:t>además de registrarse en el archivo, aquellos que tengan una prioridad </a:t>
            </a:r>
            <a:r>
              <a:rPr lang="es-ES" altLang="es-ES" sz="1400" dirty="0" err="1">
                <a:solidFill>
                  <a:srgbClr val="333333"/>
                </a:solidFill>
              </a:rPr>
              <a:t>crit</a:t>
            </a:r>
            <a:r>
              <a:rPr lang="es-ES" altLang="es-ES" sz="1400" dirty="0">
                <a:solidFill>
                  <a:srgbClr val="333333"/>
                </a:solidFill>
              </a:rPr>
              <a:t> o superior se enviarán a </a:t>
            </a:r>
            <a:r>
              <a:rPr lang="es-ES" altLang="es-ES" sz="1400" dirty="0" err="1">
                <a:solidFill>
                  <a:srgbClr val="333333"/>
                </a:solidFill>
              </a:rPr>
              <a:t>syslogd</a:t>
            </a:r>
            <a:r>
              <a:rPr lang="es-ES" altLang="es-ES" sz="1400" dirty="0">
                <a:solidFill>
                  <a:srgbClr val="333333"/>
                </a:solidFill>
              </a:rPr>
              <a:t> de otro sistema</a:t>
            </a:r>
            <a:endParaRPr lang="es-ES" altLang="es-ES" sz="1400"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r>
              <a:rPr lang="es-ES" altLang="es-ES" sz="1400" b="1" dirty="0" err="1">
                <a:solidFill>
                  <a:srgbClr val="333333"/>
                </a:solidFill>
                <a:cs typeface="Courier New" panose="02070309020205020404" pitchFamily="49" charset="0"/>
              </a:rPr>
              <a:t>kern.crit</a:t>
            </a:r>
            <a:r>
              <a:rPr lang="es-ES" altLang="es-ES" sz="1400" b="1" dirty="0">
                <a:solidFill>
                  <a:srgbClr val="333333"/>
                </a:solidFill>
                <a:cs typeface="Courier New" panose="02070309020205020404" pitchFamily="49" charset="0"/>
              </a:rPr>
              <a:t>        /</a:t>
            </a:r>
            <a:r>
              <a:rPr lang="es-ES" altLang="es-ES" sz="1400" b="1" dirty="0" err="1">
                <a:solidFill>
                  <a:srgbClr val="333333"/>
                </a:solidFill>
                <a:cs typeface="Courier New" panose="02070309020205020404" pitchFamily="49" charset="0"/>
              </a:rPr>
              <a:t>dev</a:t>
            </a:r>
            <a:r>
              <a:rPr lang="es-ES" altLang="es-ES" sz="1400" b="1" dirty="0">
                <a:solidFill>
                  <a:srgbClr val="333333"/>
                </a:solidFill>
                <a:cs typeface="Courier New" panose="02070309020205020404" pitchFamily="49" charset="0"/>
              </a:rPr>
              <a:t>/</a:t>
            </a:r>
            <a:r>
              <a:rPr lang="es-ES" altLang="es-ES" sz="1400" b="1" dirty="0" err="1">
                <a:solidFill>
                  <a:srgbClr val="333333"/>
                </a:solidFill>
                <a:cs typeface="Courier New" panose="02070309020205020404" pitchFamily="49" charset="0"/>
              </a:rPr>
              <a:t>console</a:t>
            </a:r>
            <a:r>
              <a:rPr lang="es-ES" altLang="es-ES" sz="1400" b="1" dirty="0">
                <a:solidFill>
                  <a:srgbClr val="333333"/>
                </a:solidFill>
                <a:cs typeface="Courier New" panose="02070309020205020404" pitchFamily="49" charset="0"/>
              </a:rPr>
              <a:t> </a:t>
            </a:r>
            <a:r>
              <a:rPr lang="es-ES" altLang="es-ES" sz="1400" dirty="0">
                <a:solidFill>
                  <a:srgbClr val="333333"/>
                </a:solidFill>
                <a:cs typeface="Courier New" panose="02070309020205020404" pitchFamily="49" charset="0"/>
              </a:rPr>
              <a:t>; </a:t>
            </a:r>
            <a:r>
              <a:rPr lang="es-ES" altLang="es-ES" sz="1400" dirty="0">
                <a:solidFill>
                  <a:srgbClr val="333333"/>
                </a:solidFill>
              </a:rPr>
              <a:t>esos mismos mensajes también serán impresos por terminal gracias a la tercera línea</a:t>
            </a:r>
            <a:endParaRPr lang="es-ES" altLang="es-ES" sz="1400" dirty="0">
              <a:solidFill>
                <a:srgbClr val="333333"/>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r>
              <a:rPr lang="es-ES" altLang="es-ES" sz="1400" b="1" dirty="0">
                <a:solidFill>
                  <a:srgbClr val="333333"/>
                </a:solidFill>
                <a:cs typeface="Courier New" panose="02070309020205020404" pitchFamily="49" charset="0"/>
              </a:rPr>
              <a:t>kern.</a:t>
            </a:r>
            <a:r>
              <a:rPr lang="es-ES" altLang="es-ES" sz="1400" b="1" dirty="0" err="1">
                <a:solidFill>
                  <a:srgbClr val="333333"/>
                </a:solidFill>
                <a:cs typeface="Courier New" panose="02070309020205020404" pitchFamily="49" charset="0"/>
              </a:rPr>
              <a:t>info;kern</a:t>
            </a:r>
            <a:r>
              <a:rPr lang="es-ES" altLang="es-ES" sz="1400" b="1" dirty="0">
                <a:solidFill>
                  <a:srgbClr val="333333"/>
                </a:solidFill>
                <a:cs typeface="Courier New" panose="02070309020205020404" pitchFamily="49" charset="0"/>
              </a:rPr>
              <a:t>.!</a:t>
            </a:r>
            <a:r>
              <a:rPr lang="es-ES" altLang="es-ES" sz="1400" b="1" dirty="0" err="1">
                <a:solidFill>
                  <a:srgbClr val="333333"/>
                </a:solidFill>
                <a:cs typeface="Courier New" panose="02070309020205020404" pitchFamily="49" charset="0"/>
              </a:rPr>
              <a:t>err</a:t>
            </a:r>
            <a:r>
              <a:rPr lang="es-ES" altLang="es-ES" sz="1400" b="1" dirty="0">
                <a:solidFill>
                  <a:srgbClr val="333333"/>
                </a:solidFill>
                <a:cs typeface="Courier New" panose="02070309020205020404" pitchFamily="49" charset="0"/>
              </a:rPr>
              <a:t>        /</a:t>
            </a:r>
            <a:r>
              <a:rPr lang="es-ES" altLang="es-ES" sz="1400" b="1" dirty="0" err="1">
                <a:solidFill>
                  <a:srgbClr val="333333"/>
                </a:solidFill>
                <a:cs typeface="Courier New" panose="02070309020205020404" pitchFamily="49" charset="0"/>
              </a:rPr>
              <a:t>var</a:t>
            </a:r>
            <a:r>
              <a:rPr lang="es-ES" altLang="es-ES" sz="1400" b="1" dirty="0">
                <a:solidFill>
                  <a:srgbClr val="333333"/>
                </a:solidFill>
                <a:cs typeface="Courier New" panose="02070309020205020404" pitchFamily="49" charset="0"/>
              </a:rPr>
              <a:t>/log/</a:t>
            </a:r>
            <a:r>
              <a:rPr lang="es-ES" altLang="es-ES" sz="1400" b="1" dirty="0" err="1">
                <a:solidFill>
                  <a:srgbClr val="333333"/>
                </a:solidFill>
                <a:cs typeface="Courier New" panose="02070309020205020404" pitchFamily="49" charset="0"/>
              </a:rPr>
              <a:t>kernel-info</a:t>
            </a:r>
            <a:r>
              <a:rPr lang="es-ES" altLang="es-ES" sz="1400" dirty="0">
                <a:solidFill>
                  <a:srgbClr val="333333"/>
                </a:solidFill>
                <a:cs typeface="Courier New" panose="02070309020205020404" pitchFamily="49" charset="0"/>
              </a:rPr>
              <a:t>; </a:t>
            </a:r>
            <a:r>
              <a:rPr lang="es-ES" altLang="es-ES" sz="1400" dirty="0">
                <a:solidFill>
                  <a:srgbClr val="333333"/>
                </a:solidFill>
              </a:rPr>
              <a:t>todos los mensajes comprendidos entre la prioridad </a:t>
            </a:r>
            <a:r>
              <a:rPr lang="es-ES" altLang="es-ES" sz="1400" dirty="0" err="1">
                <a:solidFill>
                  <a:srgbClr val="333333"/>
                </a:solidFill>
              </a:rPr>
              <a:t>info</a:t>
            </a:r>
            <a:r>
              <a:rPr lang="es-ES" altLang="es-ES" sz="1400" dirty="0">
                <a:solidFill>
                  <a:srgbClr val="333333"/>
                </a:solidFill>
              </a:rPr>
              <a:t> y </a:t>
            </a:r>
            <a:r>
              <a:rPr lang="es-ES" altLang="es-ES" sz="1400" dirty="0" err="1">
                <a:solidFill>
                  <a:srgbClr val="333333"/>
                </a:solidFill>
              </a:rPr>
              <a:t>err</a:t>
            </a:r>
            <a:r>
              <a:rPr lang="es-ES" altLang="es-ES" sz="1400" dirty="0">
                <a:solidFill>
                  <a:srgbClr val="333333"/>
                </a:solidFill>
              </a:rPr>
              <a:t> serán escritos en el archivo </a:t>
            </a:r>
            <a:r>
              <a:rPr lang="es-ES" altLang="es-ES" sz="1400" i="1" dirty="0">
                <a:solidFill>
                  <a:srgbClr val="333333"/>
                </a:solidFill>
              </a:rPr>
              <a:t>/</a:t>
            </a:r>
            <a:r>
              <a:rPr lang="es-ES" altLang="es-ES" sz="1400" i="1" dirty="0" err="1">
                <a:solidFill>
                  <a:srgbClr val="333333"/>
                </a:solidFill>
              </a:rPr>
              <a:t>var</a:t>
            </a:r>
            <a:r>
              <a:rPr lang="es-ES" altLang="es-ES" sz="1400" i="1" dirty="0">
                <a:solidFill>
                  <a:srgbClr val="333333"/>
                </a:solidFill>
              </a:rPr>
              <a:t>/log/</a:t>
            </a:r>
            <a:r>
              <a:rPr lang="es-ES" altLang="es-ES" sz="1400" i="1" dirty="0" err="1">
                <a:solidFill>
                  <a:srgbClr val="333333"/>
                </a:solidFill>
              </a:rPr>
              <a:t>kernel-info</a:t>
            </a:r>
            <a:endParaRPr lang="es-ES" altLang="es-ES" sz="1400" i="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Nota</a:t>
            </a:r>
            <a:r>
              <a:rPr lang="es-ES" altLang="es-ES" sz="1400" dirty="0">
                <a:solidFill>
                  <a:srgbClr val="333333"/>
                </a:solidFill>
              </a:rPr>
              <a:t>: Vemos como hemos seleccionado dos selectores separados por el </a:t>
            </a:r>
            <a:r>
              <a:rPr lang="es-ES" altLang="es-ES" sz="1400" dirty="0" err="1">
                <a:solidFill>
                  <a:srgbClr val="333333"/>
                </a:solidFill>
              </a:rPr>
              <a:t>caracter</a:t>
            </a:r>
            <a:r>
              <a:rPr lang="es-ES" altLang="es-ES" sz="1400" dirty="0">
                <a:solidFill>
                  <a:srgbClr val="333333"/>
                </a:solidFill>
              </a:rPr>
              <a:t> ‘;’ para ser comprendidos por una misma acción</a:t>
            </a:r>
            <a:endParaRPr lang="es-ES" altLang="es-ES" sz="1400"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0864" y="1573637"/>
            <a:ext cx="10233546" cy="2561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Comandos de </a:t>
            </a:r>
            <a:r>
              <a:rPr lang="es-ES" altLang="es-ES" sz="1400" b="1" dirty="0" err="1">
                <a:solidFill>
                  <a:srgbClr val="333333"/>
                </a:solidFill>
              </a:rPr>
              <a:t>syslogd</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r>
              <a:rPr lang="es-ES" altLang="es-ES" sz="1600" b="1" dirty="0">
                <a:solidFill>
                  <a:srgbClr val="333333"/>
                </a:solidFill>
              </a:rPr>
              <a:t>Añadir registros manualmente</a:t>
            </a:r>
            <a:endParaRPr lang="es-ES" altLang="es-ES" sz="1600" b="1"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Cuando mencionamos anteriormente los componentes mas importantes de </a:t>
            </a:r>
            <a:r>
              <a:rPr lang="es-ES" altLang="es-ES" sz="1400" i="1" dirty="0" err="1">
                <a:solidFill>
                  <a:srgbClr val="333333"/>
                </a:solidFill>
              </a:rPr>
              <a:t>syslog</a:t>
            </a:r>
            <a:r>
              <a:rPr lang="es-ES" altLang="es-ES" sz="1400" dirty="0">
                <a:solidFill>
                  <a:srgbClr val="333333"/>
                </a:solidFill>
              </a:rPr>
              <a:t> vimos que </a:t>
            </a:r>
            <a:r>
              <a:rPr lang="es-ES" altLang="es-ES" sz="1400" b="1" dirty="0" err="1">
                <a:solidFill>
                  <a:srgbClr val="333333"/>
                </a:solidFill>
              </a:rPr>
              <a:t>logger</a:t>
            </a:r>
            <a:r>
              <a:rPr lang="es-ES" altLang="es-ES" sz="1400" dirty="0">
                <a:solidFill>
                  <a:srgbClr val="333333"/>
                </a:solidFill>
              </a:rPr>
              <a:t> es la herramienta que nos permite crear registros de forma manual.</a:t>
            </a: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dirty="0">
                <a:solidFill>
                  <a:srgbClr val="333333"/>
                </a:solidFill>
                <a:cs typeface="Courier New" panose="02070309020205020404" pitchFamily="49" charset="0"/>
              </a:rPr>
              <a:t>$ </a:t>
            </a:r>
            <a:r>
              <a:rPr lang="es-ES" altLang="es-ES" sz="1400" b="1" dirty="0" err="1">
                <a:solidFill>
                  <a:srgbClr val="333333"/>
                </a:solidFill>
                <a:cs typeface="Courier New" panose="02070309020205020404" pitchFamily="49" charset="0"/>
              </a:rPr>
              <a:t>logger</a:t>
            </a:r>
            <a:r>
              <a:rPr lang="es-ES" altLang="es-ES" sz="1400" b="1" dirty="0">
                <a:solidFill>
                  <a:srgbClr val="333333"/>
                </a:solidFill>
                <a:cs typeface="Courier New" panose="02070309020205020404" pitchFamily="49" charset="0"/>
              </a:rPr>
              <a:t> ejemplo del funcionamiento de </a:t>
            </a:r>
            <a:r>
              <a:rPr lang="es-ES" altLang="es-ES" sz="1400" b="1" dirty="0" err="1">
                <a:solidFill>
                  <a:srgbClr val="333333"/>
                </a:solidFill>
                <a:cs typeface="Courier New" panose="02070309020205020404" pitchFamily="49" charset="0"/>
              </a:rPr>
              <a:t>logger</a:t>
            </a:r>
            <a:endParaRPr lang="es-ES" altLang="es-ES" sz="1400" b="1" dirty="0">
              <a:solidFill>
                <a:schemeClr val="tx1"/>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endParaRPr lang="es-ES" altLang="es-ES" sz="1400" b="1" dirty="0">
              <a:solidFill>
                <a:schemeClr val="tx1"/>
              </a:solidFill>
              <a:cs typeface="Courier New" panose="02070309020205020404" pitchFamily="49" charset="0"/>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El resultado sería seguramente una entrada en el archivo </a:t>
            </a:r>
            <a:r>
              <a:rPr lang="es-ES" altLang="es-ES" sz="1400" i="1" dirty="0">
                <a:solidFill>
                  <a:srgbClr val="333333"/>
                </a:solidFill>
              </a:rPr>
              <a:t>/</a:t>
            </a:r>
            <a:r>
              <a:rPr lang="es-ES" altLang="es-ES" sz="1400" i="1" dirty="0" err="1">
                <a:solidFill>
                  <a:srgbClr val="333333"/>
                </a:solidFill>
              </a:rPr>
              <a:t>var</a:t>
            </a:r>
            <a:r>
              <a:rPr lang="es-ES" altLang="es-ES" sz="1400" i="1" dirty="0">
                <a:solidFill>
                  <a:srgbClr val="333333"/>
                </a:solidFill>
              </a:rPr>
              <a:t>/log/</a:t>
            </a:r>
            <a:r>
              <a:rPr lang="es-ES" altLang="es-ES" sz="1400" i="1" dirty="0" err="1">
                <a:solidFill>
                  <a:srgbClr val="333333"/>
                </a:solidFill>
              </a:rPr>
              <a:t>message</a:t>
            </a:r>
            <a:r>
              <a:rPr lang="es-ES" altLang="es-ES" sz="1400" dirty="0">
                <a:solidFill>
                  <a:srgbClr val="333333"/>
                </a:solidFill>
              </a:rPr>
              <a:t> con el siguiente contenido:</a:t>
            </a:r>
            <a:endParaRPr lang="es-ES" altLang="es-ES" sz="1400" dirty="0">
              <a:solidFill>
                <a:schemeClr val="tx1"/>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Feb 11 18:02:27 </a:t>
            </a:r>
            <a:r>
              <a:rPr lang="es-ES" altLang="es-ES" sz="1400" dirty="0" err="1">
                <a:solidFill>
                  <a:srgbClr val="333333"/>
                </a:solidFill>
              </a:rPr>
              <a:t>LiMinCinn</a:t>
            </a:r>
            <a:r>
              <a:rPr lang="es-ES" altLang="es-ES" sz="1400" dirty="0">
                <a:solidFill>
                  <a:srgbClr val="333333"/>
                </a:solidFill>
              </a:rPr>
              <a:t> nebul4ck: ejemplo del funcionamiento de </a:t>
            </a:r>
            <a:r>
              <a:rPr lang="es-ES" altLang="es-ES" sz="1400" dirty="0" err="1">
                <a:solidFill>
                  <a:srgbClr val="333333"/>
                </a:solidFill>
              </a:rPr>
              <a:t>logger</a:t>
            </a:r>
            <a:endParaRPr lang="es-ES" altLang="es-ES" sz="1400"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63053" y="1523554"/>
            <a:ext cx="10233546" cy="4816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r>
              <a:rPr lang="es-ES" altLang="es-ES" sz="1400" b="1" dirty="0">
                <a:solidFill>
                  <a:srgbClr val="333333"/>
                </a:solidFill>
              </a:rPr>
              <a:t>Comandos de </a:t>
            </a:r>
            <a:r>
              <a:rPr lang="es-ES" altLang="es-ES" sz="1400" b="1" dirty="0" err="1">
                <a:solidFill>
                  <a:srgbClr val="333333"/>
                </a:solidFill>
              </a:rPr>
              <a:t>syslogd</a:t>
            </a:r>
            <a:endParaRPr lang="es-ES" sz="1400" b="1" dirty="0"/>
          </a:p>
          <a:p>
            <a:r>
              <a:rPr lang="es-ES" sz="1400" b="1" dirty="0" err="1"/>
              <a:t>logger</a:t>
            </a:r>
            <a:r>
              <a:rPr lang="es-ES" sz="1400" dirty="0"/>
              <a:t>: Con esta utilidad podremos crear entradas de registros en </a:t>
            </a:r>
            <a:r>
              <a:rPr lang="es-ES" sz="1400" i="1" dirty="0" err="1"/>
              <a:t>syslog</a:t>
            </a:r>
            <a:r>
              <a:rPr lang="es-ES" sz="1400" dirty="0"/>
              <a:t>. Por defecto serán registradas en</a:t>
            </a:r>
            <a:r>
              <a:rPr lang="es-ES" sz="1400" i="1" dirty="0"/>
              <a:t> /</a:t>
            </a:r>
            <a:r>
              <a:rPr lang="es-ES" sz="1400" i="1" dirty="0" err="1"/>
              <a:t>var</a:t>
            </a:r>
            <a:r>
              <a:rPr lang="es-ES" sz="1400" i="1" dirty="0"/>
              <a:t>/log/</a:t>
            </a:r>
            <a:r>
              <a:rPr lang="es-ES" sz="1400" i="1" dirty="0" err="1"/>
              <a:t>messages</a:t>
            </a:r>
            <a:r>
              <a:rPr lang="es-ES" sz="1400" dirty="0"/>
              <a:t>.</a:t>
            </a:r>
            <a:endParaRPr lang="es-ES" sz="1400" dirty="0"/>
          </a:p>
          <a:p>
            <a:pPr algn="ctr"/>
            <a:r>
              <a:rPr lang="es-ES" sz="1400" b="1" dirty="0" err="1"/>
              <a:t>logger</a:t>
            </a:r>
            <a:r>
              <a:rPr lang="es-ES" sz="1400" b="1" dirty="0"/>
              <a:t> [opciones] mensaje</a:t>
            </a:r>
            <a:endParaRPr lang="es-ES" sz="1400" dirty="0"/>
          </a:p>
          <a:p>
            <a:r>
              <a:rPr lang="es-ES" sz="1400" b="1" dirty="0"/>
              <a:t>Opciones:</a:t>
            </a:r>
            <a:endParaRPr lang="es-ES" sz="1400" b="1" dirty="0"/>
          </a:p>
          <a:p>
            <a:pPr>
              <a:spcBef>
                <a:spcPts val="200"/>
              </a:spcBef>
              <a:buFont typeface="Wingdings" panose="05000000000000000000" pitchFamily="2" charset="2"/>
              <a:buChar char="§"/>
            </a:pPr>
            <a:r>
              <a:rPr lang="es-ES" sz="1400" dirty="0"/>
              <a:t>Usar </a:t>
            </a:r>
            <a:r>
              <a:rPr lang="es-ES" sz="1400" i="1" dirty="0"/>
              <a:t>UDP</a:t>
            </a:r>
            <a:r>
              <a:rPr lang="es-ES" sz="1400" dirty="0"/>
              <a:t> en lugar de </a:t>
            </a:r>
            <a:r>
              <a:rPr lang="es-ES" sz="1400" i="1" dirty="0"/>
              <a:t>TCP</a:t>
            </a:r>
            <a:r>
              <a:rPr lang="es-ES" sz="1400" dirty="0"/>
              <a:t> (por defecto):</a:t>
            </a:r>
            <a:r>
              <a:rPr lang="es-ES" sz="1400" b="1" dirty="0"/>
              <a:t> -d</a:t>
            </a:r>
            <a:r>
              <a:rPr lang="es-ES" sz="1400" dirty="0"/>
              <a:t>, </a:t>
            </a:r>
            <a:r>
              <a:rPr lang="es-ES" sz="1400" b="1" dirty="0"/>
              <a:t>–</a:t>
            </a:r>
            <a:r>
              <a:rPr lang="es-ES" sz="1400" b="1" dirty="0" err="1"/>
              <a:t>udp</a:t>
            </a:r>
            <a:endParaRPr lang="es-ES" sz="1400" dirty="0"/>
          </a:p>
          <a:p>
            <a:pPr>
              <a:spcBef>
                <a:spcPts val="200"/>
              </a:spcBef>
              <a:buFont typeface="Wingdings" panose="05000000000000000000" pitchFamily="2" charset="2"/>
              <a:buChar char="§"/>
            </a:pPr>
            <a:r>
              <a:rPr lang="es-ES" sz="1400" dirty="0"/>
              <a:t>Agregar el </a:t>
            </a:r>
            <a:r>
              <a:rPr lang="es-ES" sz="1400" i="1" dirty="0"/>
              <a:t>PID</a:t>
            </a:r>
            <a:r>
              <a:rPr lang="es-ES" sz="1400" dirty="0"/>
              <a:t> en cada línea: </a:t>
            </a:r>
            <a:r>
              <a:rPr lang="es-ES" sz="1400" b="1" dirty="0"/>
              <a:t>-i</a:t>
            </a:r>
            <a:r>
              <a:rPr lang="es-ES" sz="1400" dirty="0"/>
              <a:t>, </a:t>
            </a:r>
            <a:r>
              <a:rPr lang="es-ES" sz="1400" b="1" dirty="0"/>
              <a:t>–id</a:t>
            </a:r>
            <a:endParaRPr lang="es-ES" sz="1400" dirty="0"/>
          </a:p>
          <a:p>
            <a:pPr>
              <a:spcBef>
                <a:spcPts val="200"/>
              </a:spcBef>
              <a:buFont typeface="Wingdings" panose="05000000000000000000" pitchFamily="2" charset="2"/>
              <a:buChar char="§"/>
            </a:pPr>
            <a:r>
              <a:rPr lang="es-ES" sz="1400" dirty="0"/>
              <a:t>Usar un archivo de registro específico. No puede ser usada desde la línea de comandos: </a:t>
            </a:r>
            <a:r>
              <a:rPr lang="es-ES" sz="1400" b="1" dirty="0"/>
              <a:t>-f</a:t>
            </a:r>
            <a:r>
              <a:rPr lang="es-ES" sz="1400" dirty="0"/>
              <a:t>, </a:t>
            </a:r>
            <a:r>
              <a:rPr lang="es-ES" sz="1400" b="1" dirty="0"/>
              <a:t>–file</a:t>
            </a:r>
            <a:r>
              <a:rPr lang="es-ES" sz="1400" dirty="0"/>
              <a:t> </a:t>
            </a:r>
            <a:r>
              <a:rPr lang="es-ES" sz="1400" i="1" dirty="0"/>
              <a:t>&lt;archivo&gt;</a:t>
            </a:r>
            <a:endParaRPr lang="es-ES" sz="1400" dirty="0"/>
          </a:p>
          <a:p>
            <a:pPr>
              <a:spcBef>
                <a:spcPts val="200"/>
              </a:spcBef>
              <a:buFont typeface="Wingdings" panose="05000000000000000000" pitchFamily="2" charset="2"/>
              <a:buChar char="§"/>
            </a:pPr>
            <a:r>
              <a:rPr lang="es-ES" sz="1400" dirty="0"/>
              <a:t>Escribir en el registro de un sistema remoto a través de </a:t>
            </a:r>
            <a:r>
              <a:rPr lang="es-ES" sz="1400" i="1" dirty="0"/>
              <a:t>UDP</a:t>
            </a:r>
            <a:r>
              <a:rPr lang="es-ES" sz="1400" dirty="0"/>
              <a:t>: </a:t>
            </a:r>
            <a:r>
              <a:rPr lang="es-ES" sz="1400" b="1" dirty="0"/>
              <a:t>-n</a:t>
            </a:r>
            <a:r>
              <a:rPr lang="es-ES" sz="1400" dirty="0"/>
              <a:t>,</a:t>
            </a:r>
            <a:r>
              <a:rPr lang="es-ES" sz="1400" b="1" dirty="0"/>
              <a:t> –server</a:t>
            </a:r>
            <a:r>
              <a:rPr lang="es-ES" sz="1400" dirty="0"/>
              <a:t> </a:t>
            </a:r>
            <a:r>
              <a:rPr lang="es-ES" sz="1400" i="1" dirty="0"/>
              <a:t>&lt;servidor&gt;</a:t>
            </a:r>
            <a:endParaRPr lang="es-ES" sz="1400" dirty="0"/>
          </a:p>
          <a:p>
            <a:pPr>
              <a:spcBef>
                <a:spcPts val="200"/>
              </a:spcBef>
              <a:buFont typeface="Wingdings" panose="05000000000000000000" pitchFamily="2" charset="2"/>
              <a:buChar char="§"/>
            </a:pPr>
            <a:r>
              <a:rPr lang="es-ES" sz="1400" dirty="0"/>
              <a:t>Usar un puerto </a:t>
            </a:r>
            <a:r>
              <a:rPr lang="es-ES" sz="1400" i="1" dirty="0"/>
              <a:t>UDP</a:t>
            </a:r>
            <a:r>
              <a:rPr lang="es-ES" sz="1400" dirty="0"/>
              <a:t> específico, 514 por defecto: </a:t>
            </a:r>
            <a:r>
              <a:rPr lang="es-ES" sz="1400" b="1" dirty="0"/>
              <a:t>-p</a:t>
            </a:r>
            <a:r>
              <a:rPr lang="es-ES" sz="1400" dirty="0"/>
              <a:t>, </a:t>
            </a:r>
            <a:r>
              <a:rPr lang="es-ES" sz="1400" b="1" dirty="0"/>
              <a:t>–</a:t>
            </a:r>
            <a:r>
              <a:rPr lang="es-ES" sz="1400" b="1" dirty="0" err="1"/>
              <a:t>port</a:t>
            </a:r>
            <a:r>
              <a:rPr lang="es-ES" sz="1400" dirty="0"/>
              <a:t> </a:t>
            </a:r>
            <a:r>
              <a:rPr lang="es-ES" sz="1400" i="1" dirty="0"/>
              <a:t>&lt;puerto&gt;</a:t>
            </a:r>
            <a:endParaRPr lang="es-ES" sz="1400" dirty="0"/>
          </a:p>
          <a:p>
            <a:pPr>
              <a:spcBef>
                <a:spcPts val="200"/>
              </a:spcBef>
              <a:buFont typeface="Wingdings" panose="05000000000000000000" pitchFamily="2" charset="2"/>
              <a:buChar char="§"/>
            </a:pPr>
            <a:r>
              <a:rPr lang="es-ES" sz="1400" dirty="0"/>
              <a:t>Enviar los registros con una prioridad por defecto. Puede especificarse como un selector (</a:t>
            </a:r>
            <a:r>
              <a:rPr lang="es-ES" sz="1400" i="1" dirty="0" err="1"/>
              <a:t>recurso.prioridad</a:t>
            </a:r>
            <a:r>
              <a:rPr lang="es-ES" sz="1400" dirty="0"/>
              <a:t>): </a:t>
            </a:r>
            <a:r>
              <a:rPr lang="es-ES" sz="1400" b="1" dirty="0"/>
              <a:t>-p</a:t>
            </a:r>
            <a:r>
              <a:rPr lang="es-ES" sz="1400" dirty="0"/>
              <a:t>,</a:t>
            </a:r>
            <a:r>
              <a:rPr lang="es-ES" sz="1400" b="1" dirty="0"/>
              <a:t> –</a:t>
            </a:r>
            <a:r>
              <a:rPr lang="es-ES" sz="1400" b="1" dirty="0" err="1"/>
              <a:t>priority</a:t>
            </a:r>
            <a:r>
              <a:rPr lang="es-ES" sz="1400" dirty="0"/>
              <a:t> </a:t>
            </a:r>
            <a:r>
              <a:rPr lang="es-ES" sz="1400" i="1" dirty="0"/>
              <a:t>&lt;selector&gt;</a:t>
            </a:r>
            <a:endParaRPr lang="es-ES" sz="1400" dirty="0"/>
          </a:p>
          <a:p>
            <a:pPr>
              <a:spcBef>
                <a:spcPts val="200"/>
              </a:spcBef>
              <a:buFont typeface="Wingdings" panose="05000000000000000000" pitchFamily="2" charset="2"/>
              <a:buChar char="§"/>
            </a:pPr>
            <a:r>
              <a:rPr lang="es-ES" sz="1400" dirty="0"/>
              <a:t>Enviar el mensaje a la salida de error estándar además de al log del sistema: </a:t>
            </a:r>
            <a:r>
              <a:rPr lang="es-ES" sz="1400" b="1" dirty="0"/>
              <a:t>-s</a:t>
            </a:r>
            <a:r>
              <a:rPr lang="es-ES" sz="1400" dirty="0"/>
              <a:t>, </a:t>
            </a:r>
            <a:r>
              <a:rPr lang="es-ES" sz="1400" b="1" dirty="0"/>
              <a:t>–</a:t>
            </a:r>
            <a:r>
              <a:rPr lang="es-ES" sz="1400" b="1" dirty="0" err="1"/>
              <a:t>stderr</a:t>
            </a:r>
            <a:endParaRPr lang="es-ES" sz="1400" dirty="0"/>
          </a:p>
          <a:p>
            <a:pPr>
              <a:spcBef>
                <a:spcPts val="200"/>
              </a:spcBef>
              <a:buFont typeface="Wingdings" panose="05000000000000000000" pitchFamily="2" charset="2"/>
              <a:buChar char="§"/>
            </a:pPr>
            <a:r>
              <a:rPr lang="es-ES" sz="1400" dirty="0"/>
              <a:t>Filtrar el mensaje por un determinado socket: </a:t>
            </a:r>
            <a:r>
              <a:rPr lang="es-ES" sz="1400" b="1" dirty="0"/>
              <a:t>-u</a:t>
            </a:r>
            <a:r>
              <a:rPr lang="es-ES" sz="1400" dirty="0"/>
              <a:t>, </a:t>
            </a:r>
            <a:r>
              <a:rPr lang="es-ES" sz="1400" b="1" dirty="0"/>
              <a:t>–socket</a:t>
            </a:r>
            <a:r>
              <a:rPr lang="es-ES" sz="1400" dirty="0"/>
              <a:t> </a:t>
            </a:r>
            <a:r>
              <a:rPr lang="es-ES" sz="1400" i="1" dirty="0"/>
              <a:t>&lt;socket&gt;</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6" y="1527660"/>
            <a:ext cx="10233546" cy="4606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r>
              <a:rPr lang="es-ES" altLang="es-ES" sz="1400" b="1" dirty="0">
                <a:solidFill>
                  <a:srgbClr val="333333"/>
                </a:solidFill>
              </a:rPr>
              <a:t>Comandos de </a:t>
            </a:r>
            <a:r>
              <a:rPr lang="es-ES" altLang="es-ES" sz="1400" b="1" dirty="0" err="1">
                <a:solidFill>
                  <a:srgbClr val="333333"/>
                </a:solidFill>
              </a:rPr>
              <a:t>syslogd</a:t>
            </a:r>
            <a:r>
              <a:rPr lang="es-ES" altLang="es-ES" sz="1400" b="1" dirty="0">
                <a:solidFill>
                  <a:srgbClr val="333333"/>
                </a:solidFill>
              </a:rPr>
              <a:t> (no utilizado en versiones por encima de 16.04)</a:t>
            </a:r>
            <a:endParaRPr lang="es-ES" sz="1400" b="1" dirty="0"/>
          </a:p>
          <a:p>
            <a:r>
              <a:rPr lang="es-ES" sz="1400" b="1" dirty="0" err="1"/>
              <a:t>syslog</a:t>
            </a:r>
            <a:r>
              <a:rPr lang="es-ES" sz="1400" dirty="0"/>
              <a:t>: Podemos arrancar el servicio </a:t>
            </a:r>
            <a:r>
              <a:rPr lang="es-ES" sz="1400" i="1" dirty="0" err="1"/>
              <a:t>syslog</a:t>
            </a:r>
            <a:r>
              <a:rPr lang="es-ES" sz="1400" dirty="0"/>
              <a:t> con diferentes opciones, aunque el mejor método es especificar todas las opciones en su archivo de configuración y arrancarlo a partir de este, el cual es leído por defecto (</a:t>
            </a:r>
            <a:r>
              <a:rPr lang="es-ES" sz="1400" i="1" dirty="0"/>
              <a:t>/</a:t>
            </a:r>
            <a:r>
              <a:rPr lang="es-ES" sz="1400" i="1" dirty="0" err="1"/>
              <a:t>etc</a:t>
            </a:r>
            <a:r>
              <a:rPr lang="es-ES" sz="1400" i="1" dirty="0"/>
              <a:t>/</a:t>
            </a:r>
            <a:r>
              <a:rPr lang="es-ES" sz="1400" i="1" dirty="0" err="1"/>
              <a:t>syslog.conf</a:t>
            </a:r>
            <a:r>
              <a:rPr lang="es-ES" sz="1400" dirty="0"/>
              <a:t>). Aún así destacamos las opciones:</a:t>
            </a:r>
            <a:endParaRPr lang="es-ES" sz="1400" dirty="0"/>
          </a:p>
          <a:p>
            <a:r>
              <a:rPr lang="es-ES" sz="1400" dirty="0"/>
              <a:t>Opciones:</a:t>
            </a:r>
            <a:endParaRPr lang="es-ES" sz="1400" dirty="0"/>
          </a:p>
          <a:p>
            <a:pPr>
              <a:buFont typeface="Wingdings" panose="05000000000000000000" pitchFamily="2" charset="2"/>
              <a:buChar char="§"/>
            </a:pPr>
            <a:r>
              <a:rPr lang="es-ES" sz="1400" dirty="0"/>
              <a:t>Arrancar con otro archivo de configuración diferente: </a:t>
            </a:r>
            <a:r>
              <a:rPr lang="es-ES" sz="1400" b="1" dirty="0"/>
              <a:t>-f</a:t>
            </a:r>
            <a:r>
              <a:rPr lang="es-ES" sz="1400" dirty="0"/>
              <a:t> </a:t>
            </a:r>
            <a:r>
              <a:rPr lang="es-ES" sz="1400" i="1" dirty="0"/>
              <a:t>archivo</a:t>
            </a:r>
            <a:endParaRPr lang="es-ES" sz="1400" dirty="0"/>
          </a:p>
          <a:p>
            <a:pPr>
              <a:buFont typeface="Wingdings" panose="05000000000000000000" pitchFamily="2" charset="2"/>
              <a:buChar char="§"/>
            </a:pPr>
            <a:r>
              <a:rPr lang="es-ES" sz="1400" dirty="0"/>
              <a:t>Enviar los mensajes recibidos a un host remoto: </a:t>
            </a:r>
            <a:r>
              <a:rPr lang="es-ES" sz="1400" b="1" dirty="0"/>
              <a:t>-h</a:t>
            </a:r>
            <a:r>
              <a:rPr lang="es-ES" sz="1400" dirty="0"/>
              <a:t> </a:t>
            </a:r>
            <a:r>
              <a:rPr lang="es-ES" sz="1400" i="1" dirty="0"/>
              <a:t>&lt;host&gt;</a:t>
            </a:r>
            <a:endParaRPr lang="es-ES" sz="1400" dirty="0"/>
          </a:p>
          <a:p>
            <a:pPr>
              <a:buFont typeface="Wingdings" panose="05000000000000000000" pitchFamily="2" charset="2"/>
              <a:buChar char="§"/>
            </a:pPr>
            <a:r>
              <a:rPr lang="es-ES" sz="1400" dirty="0"/>
              <a:t>Especificar que el nombre del host remoto va en formato simple y no con </a:t>
            </a:r>
            <a:r>
              <a:rPr lang="es-ES" sz="1400" b="1" dirty="0" err="1"/>
              <a:t>fqdn</a:t>
            </a:r>
            <a:r>
              <a:rPr lang="es-ES" sz="1400" dirty="0"/>
              <a:t>. Podemos separar varios hosts con ‘</a:t>
            </a:r>
            <a:r>
              <a:rPr lang="es-ES" sz="1400" b="1" dirty="0"/>
              <a:t>:</a:t>
            </a:r>
            <a:r>
              <a:rPr lang="es-ES" sz="1400" dirty="0"/>
              <a:t>‘ : </a:t>
            </a:r>
            <a:r>
              <a:rPr lang="es-ES" sz="1400" b="1" dirty="0"/>
              <a:t>-l</a:t>
            </a:r>
            <a:r>
              <a:rPr lang="es-ES" sz="1400" dirty="0"/>
              <a:t> </a:t>
            </a:r>
            <a:r>
              <a:rPr lang="es-ES" sz="1400" i="1" dirty="0"/>
              <a:t>&lt;host&gt;</a:t>
            </a:r>
            <a:endParaRPr lang="es-ES" sz="1400" dirty="0"/>
          </a:p>
          <a:p>
            <a:pPr>
              <a:buFont typeface="Wingdings" panose="05000000000000000000" pitchFamily="2" charset="2"/>
              <a:buChar char="§"/>
            </a:pPr>
            <a:r>
              <a:rPr lang="es-ES" sz="1400" dirty="0"/>
              <a:t>Configurar un host para que permita recibir mensajes desde la red: </a:t>
            </a:r>
            <a:r>
              <a:rPr lang="es-ES" sz="1400" b="1" dirty="0"/>
              <a:t>-r</a:t>
            </a:r>
            <a:endParaRPr lang="es-ES" sz="1400" dirty="0"/>
          </a:p>
          <a:p>
            <a:pPr>
              <a:buFont typeface="Wingdings" panose="05000000000000000000" pitchFamily="2" charset="2"/>
              <a:buChar char="§"/>
            </a:pPr>
            <a:r>
              <a:rPr lang="es-ES" sz="1400" dirty="0"/>
              <a:t>Especificar un intervalo de tiempo entre dos líneas marcadas (por defecto 20 minutos): –</a:t>
            </a:r>
            <a:r>
              <a:rPr lang="es-ES" sz="1400" b="1" dirty="0"/>
              <a:t>m</a:t>
            </a:r>
            <a:r>
              <a:rPr lang="es-ES" sz="1400" dirty="0"/>
              <a:t> </a:t>
            </a:r>
            <a:r>
              <a:rPr lang="es-ES" sz="1400" i="1" dirty="0"/>
              <a:t>&lt;intervalo&gt;</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6" y="1548891"/>
            <a:ext cx="10233546" cy="5023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r>
              <a:rPr lang="es-ES" sz="1400" b="1" dirty="0"/>
              <a:t>Rsyslog</a:t>
            </a:r>
            <a:r>
              <a:rPr lang="es-ES" sz="1400" dirty="0"/>
              <a:t> es el remplazo de </a:t>
            </a:r>
            <a:r>
              <a:rPr lang="es-ES" sz="1400" i="1" dirty="0" err="1"/>
              <a:t>syslog</a:t>
            </a:r>
            <a:r>
              <a:rPr lang="es-ES" sz="1400" i="1" dirty="0"/>
              <a:t>-ng</a:t>
            </a:r>
            <a:r>
              <a:rPr lang="es-ES" sz="1400" dirty="0"/>
              <a:t> en muchas distribuciones por defecto. Es un eficiente y rápido sistema de procesamiento de registros del sistema que ofrece un diseño modular y niveles de seguridad que lo hacen ideal para muchos programas modernos. Suele incorporarse en las distribuciones mas modernas (aquellas que aun no implementan </a:t>
            </a:r>
            <a:r>
              <a:rPr lang="es-ES" sz="1400" i="1" dirty="0" err="1"/>
              <a:t>systemd</a:t>
            </a:r>
            <a:r>
              <a:rPr lang="es-ES" sz="1400" dirty="0"/>
              <a:t>) como sistema de registro por defecto al ser suficientemente versátil y robusto para ser utilizado tanto en entornos empresariales como sistemas de escritorio. </a:t>
            </a:r>
            <a:r>
              <a:rPr lang="es-ES" sz="1400" i="1" dirty="0" err="1"/>
              <a:t>rsyslog</a:t>
            </a:r>
            <a:r>
              <a:rPr lang="es-ES" sz="1400" dirty="0"/>
              <a:t> mantiene compatibilidad con </a:t>
            </a:r>
            <a:r>
              <a:rPr lang="es-ES" sz="1400" i="1" dirty="0" err="1"/>
              <a:t>sysklog</a:t>
            </a:r>
            <a:r>
              <a:rPr lang="es-ES" sz="1400" dirty="0"/>
              <a:t>. Es posible utilizar el archivo de configuración </a:t>
            </a:r>
            <a:r>
              <a:rPr lang="es-ES" sz="1400" i="1" dirty="0" err="1"/>
              <a:t>syslog.conf</a:t>
            </a:r>
            <a:r>
              <a:rPr lang="es-ES" sz="1400" dirty="0"/>
              <a:t> para una configuración básica de </a:t>
            </a:r>
            <a:r>
              <a:rPr lang="es-ES" sz="1400" i="1" dirty="0" err="1"/>
              <a:t>rsyslog</a:t>
            </a:r>
            <a:r>
              <a:rPr lang="es-ES" sz="1400" dirty="0"/>
              <a:t>, pero no al revés.</a:t>
            </a:r>
            <a:endParaRPr lang="es-ES" sz="1400" dirty="0"/>
          </a:p>
          <a:p>
            <a:r>
              <a:rPr lang="es-ES" sz="1400" dirty="0"/>
              <a:t>El archivo de configuración principal de </a:t>
            </a:r>
            <a:r>
              <a:rPr lang="es-ES" sz="1400" i="1" dirty="0" err="1"/>
              <a:t>rsyslog</a:t>
            </a:r>
            <a:r>
              <a:rPr lang="es-ES" sz="1400" dirty="0"/>
              <a:t> es </a:t>
            </a:r>
            <a:r>
              <a:rPr lang="es-ES" sz="1400" b="1" dirty="0"/>
              <a:t>/</a:t>
            </a:r>
            <a:r>
              <a:rPr lang="es-ES" sz="1400" b="1" dirty="0" err="1"/>
              <a:t>etc</a:t>
            </a:r>
            <a:r>
              <a:rPr lang="es-ES" sz="1400" b="1" dirty="0"/>
              <a:t>/</a:t>
            </a:r>
            <a:r>
              <a:rPr lang="es-ES" sz="1400" b="1" dirty="0" err="1"/>
              <a:t>rsyslog.conf</a:t>
            </a:r>
            <a:r>
              <a:rPr lang="es-ES" sz="1400" dirty="0"/>
              <a:t> y por regla general suele tener una estructura básica compuesta de las siguientes secciones:</a:t>
            </a:r>
            <a:endParaRPr lang="es-ES" sz="1400" dirty="0"/>
          </a:p>
          <a:p>
            <a:pPr>
              <a:buFont typeface="Wingdings" panose="05000000000000000000" pitchFamily="2" charset="2"/>
              <a:buChar char="§"/>
            </a:pPr>
            <a:r>
              <a:rPr lang="es-ES" sz="1400" b="1" dirty="0"/>
              <a:t>Configuración global</a:t>
            </a:r>
            <a:r>
              <a:rPr lang="es-ES" sz="1400" dirty="0"/>
              <a:t>: Establece las propiedades globales del demonio </a:t>
            </a:r>
            <a:r>
              <a:rPr lang="es-ES" sz="1400" i="1" dirty="0"/>
              <a:t>Rsyslog.</a:t>
            </a:r>
            <a:endParaRPr lang="es-ES" sz="1400" dirty="0"/>
          </a:p>
          <a:p>
            <a:pPr>
              <a:buFont typeface="Wingdings" panose="05000000000000000000" pitchFamily="2" charset="2"/>
              <a:buChar char="§"/>
            </a:pPr>
            <a:r>
              <a:rPr lang="es-ES" sz="1400" b="1" dirty="0"/>
              <a:t>Plantillas</a:t>
            </a:r>
            <a:r>
              <a:rPr lang="es-ES" sz="1400" dirty="0"/>
              <a:t>: Usadas para dar formato a los mensajes de salida o por ejemplo crear nombres de archivos de registro dinámicos en función de unas reglas definidas.</a:t>
            </a:r>
            <a:endParaRPr lang="es-ES" sz="1400" dirty="0"/>
          </a:p>
          <a:p>
            <a:pPr>
              <a:buFont typeface="Wingdings" panose="05000000000000000000" pitchFamily="2" charset="2"/>
              <a:buChar char="§"/>
            </a:pPr>
            <a:r>
              <a:rPr lang="es-ES" sz="1400" b="1" dirty="0"/>
              <a:t>Canales de salida</a:t>
            </a:r>
            <a:r>
              <a:rPr lang="es-ES" sz="1400" dirty="0"/>
              <a:t>: Son un nuevo concepto introducido en </a:t>
            </a:r>
            <a:r>
              <a:rPr lang="es-ES" sz="1400" i="1" dirty="0" err="1"/>
              <a:t>rsyslog</a:t>
            </a:r>
            <a:r>
              <a:rPr lang="es-ES" sz="1400" dirty="0"/>
              <a:t> que permiten definir una serie de propiedades específicas para uno o varios registros. Primero se define un canal y luego este es usado para la salida de un selector. </a:t>
            </a:r>
            <a:endParaRPr lang="es-ES" sz="1400" dirty="0"/>
          </a:p>
          <a:p>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5" y="1537843"/>
            <a:ext cx="10387263" cy="4046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indent="0">
              <a:buNone/>
            </a:pPr>
            <a:endParaRPr lang="es-ES" sz="1400" b="1" dirty="0"/>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$canal de salida &lt;nombre&gt;,&lt;nombre-archivo&gt;,&lt;tamaño-máximo&gt;,&lt;comando-tamaño-máximo&gt;</a:t>
            </a:r>
            <a:endParaRPr lang="es-ES" altLang="es-ES" b="1" i="1" dirty="0">
              <a:solidFill>
                <a:schemeClr val="tx1"/>
              </a:solidFill>
            </a:endParaRPr>
          </a:p>
          <a:p>
            <a:pPr marL="0" lvl="0" indent="0" eaLnBrk="0" fontAlgn="base" hangingPunct="0">
              <a:lnSpc>
                <a:spcPct val="100000"/>
              </a:lnSpc>
              <a:spcBef>
                <a:spcPct val="0"/>
              </a:spcBef>
              <a:spcAft>
                <a:spcPct val="0"/>
              </a:spcAft>
              <a:buClrTx/>
              <a:buSzTx/>
              <a:buNone/>
            </a:pPr>
            <a:endParaRPr lang="es-ES" altLang="es-ES" sz="1400" i="1"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i="1" dirty="0">
                <a:solidFill>
                  <a:srgbClr val="333333"/>
                </a:solidFill>
              </a:rPr>
              <a:t>Donde:</a:t>
            </a:r>
            <a:endParaRPr lang="es-ES" altLang="es-ES" dirty="0">
              <a:solidFill>
                <a:schemeClr val="tx1"/>
              </a:solidFill>
            </a:endParaRPr>
          </a:p>
          <a:p>
            <a:pPr lvl="1" eaLnBrk="0" fontAlgn="base" hangingPunct="0">
              <a:spcBef>
                <a:spcPct val="0"/>
              </a:spcBef>
              <a:spcAft>
                <a:spcPct val="0"/>
              </a:spcAft>
            </a:pPr>
            <a:r>
              <a:rPr lang="es-ES" altLang="es-ES" sz="1400" b="1" dirty="0">
                <a:solidFill>
                  <a:srgbClr val="333333"/>
                </a:solidFill>
              </a:rPr>
              <a:t>nombre</a:t>
            </a:r>
            <a:r>
              <a:rPr lang="es-ES" altLang="es-ES" sz="1400" dirty="0">
                <a:solidFill>
                  <a:srgbClr val="333333"/>
                </a:solidFill>
              </a:rPr>
              <a:t>: nombre del canal de salida</a:t>
            </a:r>
            <a:endParaRPr lang="es-ES" altLang="es-ES" sz="1400" dirty="0">
              <a:solidFill>
                <a:schemeClr val="tx1"/>
              </a:solidFill>
            </a:endParaRPr>
          </a:p>
          <a:p>
            <a:pPr lvl="1" eaLnBrk="0" fontAlgn="base" hangingPunct="0">
              <a:spcBef>
                <a:spcPct val="0"/>
              </a:spcBef>
              <a:spcAft>
                <a:spcPct val="0"/>
              </a:spcAft>
            </a:pPr>
            <a:r>
              <a:rPr lang="es-ES" altLang="es-ES" sz="1400" b="1" dirty="0">
                <a:solidFill>
                  <a:srgbClr val="333333"/>
                </a:solidFill>
              </a:rPr>
              <a:t>nombre-archivo</a:t>
            </a:r>
            <a:r>
              <a:rPr lang="es-ES" altLang="es-ES" sz="1400" dirty="0">
                <a:solidFill>
                  <a:srgbClr val="333333"/>
                </a:solidFill>
              </a:rPr>
              <a:t>: nombre del archivo de registro</a:t>
            </a:r>
            <a:endParaRPr lang="es-ES" altLang="es-ES" sz="1400" dirty="0">
              <a:solidFill>
                <a:schemeClr val="tx1"/>
              </a:solidFill>
            </a:endParaRPr>
          </a:p>
          <a:p>
            <a:pPr lvl="1" eaLnBrk="0" fontAlgn="base" hangingPunct="0">
              <a:spcBef>
                <a:spcPct val="0"/>
              </a:spcBef>
              <a:spcAft>
                <a:spcPct val="0"/>
              </a:spcAft>
            </a:pPr>
            <a:r>
              <a:rPr lang="es-ES" altLang="es-ES" sz="1400" b="1" dirty="0">
                <a:solidFill>
                  <a:srgbClr val="333333"/>
                </a:solidFill>
              </a:rPr>
              <a:t>tamaño-máximo</a:t>
            </a:r>
            <a:r>
              <a:rPr lang="es-ES" altLang="es-ES" sz="1400" dirty="0">
                <a:solidFill>
                  <a:srgbClr val="333333"/>
                </a:solidFill>
              </a:rPr>
              <a:t>: tamaño máximo para el archivo de salida</a:t>
            </a:r>
            <a:endParaRPr lang="es-ES" altLang="es-ES" sz="1400" dirty="0">
              <a:solidFill>
                <a:schemeClr val="tx1"/>
              </a:solidFill>
            </a:endParaRPr>
          </a:p>
          <a:p>
            <a:pPr lvl="1" eaLnBrk="0" fontAlgn="base" hangingPunct="0">
              <a:spcBef>
                <a:spcPct val="0"/>
              </a:spcBef>
              <a:spcAft>
                <a:spcPct val="0"/>
              </a:spcAft>
            </a:pPr>
            <a:r>
              <a:rPr lang="es-ES" altLang="es-ES" sz="1400" b="1" dirty="0">
                <a:solidFill>
                  <a:srgbClr val="333333"/>
                </a:solidFill>
              </a:rPr>
              <a:t>comando-tamaño-máximo</a:t>
            </a:r>
            <a:r>
              <a:rPr lang="es-ES" altLang="es-ES" sz="1400" dirty="0">
                <a:solidFill>
                  <a:srgbClr val="333333"/>
                </a:solidFill>
              </a:rPr>
              <a:t>: nos permite ejecutar un comando cuando el archivo haya alcanzado el tamaño máximo. El comando va acompañado de un parámetro separado por un espacio</a:t>
            </a:r>
            <a:endParaRPr lang="es-ES" altLang="es-ES" sz="1400" dirty="0">
              <a:solidFill>
                <a:schemeClr val="tx1"/>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Para llamar a un canal de salida se usa una sintaxis como por ejemplo</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omfile</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micanal</a:t>
            </a:r>
            <a:endParaRPr lang="es-ES" altLang="es-ES" b="1" i="1" dirty="0">
              <a:solidFill>
                <a:schemeClr val="tx1"/>
              </a:solidFill>
            </a:endParaRPr>
          </a:p>
          <a:p>
            <a:pPr marL="0" lvl="0" indent="0" eaLnBrk="0" fontAlgn="base" hangingPunct="0">
              <a:lnSpc>
                <a:spcPct val="100000"/>
              </a:lnSpc>
              <a:spcBef>
                <a:spcPct val="0"/>
              </a:spcBef>
              <a:spcAft>
                <a:spcPct val="0"/>
              </a:spcAft>
              <a:buClrTx/>
              <a:buSzTx/>
              <a:buNone/>
            </a:pPr>
            <a:endParaRPr lang="es-ES" altLang="es-ES" sz="1400" b="1" dirty="0">
              <a:solidFill>
                <a:srgbClr val="333333"/>
              </a:solidFill>
            </a:endParaRPr>
          </a:p>
          <a:p>
            <a:pPr eaLnBrk="0" fontAlgn="base" hangingPunct="0">
              <a:lnSpc>
                <a:spcPct val="100000"/>
              </a:lnSpc>
              <a:spcBef>
                <a:spcPct val="0"/>
              </a:spcBef>
              <a:spcAft>
                <a:spcPct val="0"/>
              </a:spcAft>
              <a:buClrTx/>
              <a:buSzTx/>
            </a:pPr>
            <a:r>
              <a:rPr lang="es-ES" altLang="es-ES" sz="1400" b="1" dirty="0">
                <a:solidFill>
                  <a:srgbClr val="333333"/>
                </a:solidFill>
              </a:rPr>
              <a:t>Reglas</a:t>
            </a:r>
            <a:r>
              <a:rPr lang="es-ES" altLang="es-ES" sz="1400" dirty="0">
                <a:solidFill>
                  <a:srgbClr val="333333"/>
                </a:solidFill>
              </a:rPr>
              <a:t> (</a:t>
            </a:r>
            <a:r>
              <a:rPr lang="es-ES" altLang="es-ES" sz="1400" i="1" dirty="0">
                <a:solidFill>
                  <a:srgbClr val="333333"/>
                </a:solidFill>
              </a:rPr>
              <a:t>Selector + Acción</a:t>
            </a:r>
            <a:r>
              <a:rPr lang="es-ES" altLang="es-ES" sz="1400" dirty="0">
                <a:solidFill>
                  <a:srgbClr val="333333"/>
                </a:solidFill>
              </a:rPr>
              <a:t>): Las reglas definen en gran parte el comportamiento de los mensajes de registros. La sintaxis y sus opciones son las ya estudiadas anteriormente en </a:t>
            </a:r>
            <a:r>
              <a:rPr lang="es-ES" altLang="es-ES" sz="1400" i="1" dirty="0" err="1">
                <a:solidFill>
                  <a:srgbClr val="333333"/>
                </a:solidFill>
              </a:rPr>
              <a:t>syslog</a:t>
            </a:r>
            <a:r>
              <a:rPr lang="es-ES" altLang="es-ES" sz="1400" i="1" dirty="0">
                <a:solidFill>
                  <a:srgbClr val="333333"/>
                </a:solidFill>
              </a:rPr>
              <a:t>.</a:t>
            </a:r>
            <a:endParaRPr lang="es-ES" altLang="es-ES" sz="1400" dirty="0">
              <a:solidFill>
                <a:srgbClr val="333333"/>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0864" y="1563150"/>
            <a:ext cx="10387263" cy="3683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spcBef>
                <a:spcPts val="200"/>
              </a:spcBef>
              <a:buNone/>
            </a:pPr>
            <a:r>
              <a:rPr lang="es-ES" sz="1400" b="1" dirty="0"/>
              <a:t>REGISTROS DEL SISTEMA</a:t>
            </a:r>
            <a:endParaRPr lang="es-ES" sz="1400" b="1" dirty="0"/>
          </a:p>
          <a:p>
            <a:pPr marL="0" indent="0">
              <a:spcBef>
                <a:spcPts val="400"/>
              </a:spcBef>
              <a:buNone/>
            </a:pPr>
            <a:r>
              <a:rPr lang="es-ES" sz="1400" b="1" dirty="0"/>
              <a:t>Comando de </a:t>
            </a:r>
            <a:r>
              <a:rPr lang="es-ES" sz="1400" b="1" dirty="0" err="1"/>
              <a:t>rsyslogd</a:t>
            </a:r>
            <a:endParaRPr lang="es-ES" sz="1400" b="1" dirty="0"/>
          </a:p>
          <a:p>
            <a:pPr>
              <a:spcBef>
                <a:spcPts val="200"/>
              </a:spcBef>
            </a:pPr>
            <a:r>
              <a:rPr lang="es-ES" sz="1400" b="1" dirty="0" err="1"/>
              <a:t>rsyslogd</a:t>
            </a:r>
            <a:r>
              <a:rPr lang="es-ES" sz="1400" dirty="0"/>
              <a:t>: Podemos iniciar el demonio </a:t>
            </a:r>
            <a:r>
              <a:rPr lang="es-ES" sz="1400" i="1" dirty="0" err="1"/>
              <a:t>rsyslogd</a:t>
            </a:r>
            <a:r>
              <a:rPr lang="es-ES" sz="1400" dirty="0"/>
              <a:t> con una serie de opciones adicionales. El archivo de configuración de </a:t>
            </a:r>
            <a:r>
              <a:rPr lang="es-ES" sz="1400" i="1" dirty="0" err="1"/>
              <a:t>rsyslogd</a:t>
            </a:r>
            <a:r>
              <a:rPr lang="es-ES" sz="1400" dirty="0"/>
              <a:t> es </a:t>
            </a:r>
            <a:r>
              <a:rPr lang="es-ES" sz="1400" i="1" dirty="0"/>
              <a:t>/</a:t>
            </a:r>
            <a:r>
              <a:rPr lang="es-ES" sz="1400" i="1" dirty="0" err="1"/>
              <a:t>etcrsyslog.conf</a:t>
            </a:r>
            <a:endParaRPr lang="es-ES" sz="1400" dirty="0"/>
          </a:p>
          <a:p>
            <a:pPr algn="ctr">
              <a:spcBef>
                <a:spcPts val="200"/>
              </a:spcBef>
            </a:pPr>
            <a:r>
              <a:rPr lang="es-ES" sz="1400" b="1" dirty="0" err="1"/>
              <a:t>rsyslogd</a:t>
            </a:r>
            <a:r>
              <a:rPr lang="es-ES" sz="1400" b="1" dirty="0"/>
              <a:t> [opciones]</a:t>
            </a:r>
            <a:endParaRPr lang="es-ES" sz="1400" dirty="0"/>
          </a:p>
          <a:p>
            <a:pPr>
              <a:spcBef>
                <a:spcPts val="200"/>
              </a:spcBef>
            </a:pPr>
            <a:r>
              <a:rPr lang="es-ES" sz="1400" b="1" dirty="0"/>
              <a:t>Algunas opciones:</a:t>
            </a:r>
            <a:endParaRPr lang="es-ES" sz="1400" b="1" dirty="0"/>
          </a:p>
          <a:p>
            <a:pPr>
              <a:spcBef>
                <a:spcPts val="200"/>
              </a:spcBef>
              <a:buFont typeface="Wingdings" panose="05000000000000000000" pitchFamily="2" charset="2"/>
              <a:buChar char="§"/>
            </a:pPr>
            <a:r>
              <a:rPr lang="es-ES" sz="1400" dirty="0"/>
              <a:t>Escuchar solo desde IPv4 (por defecto escucha desde IPv6 también): </a:t>
            </a:r>
            <a:r>
              <a:rPr lang="es-ES" sz="1400" b="1" dirty="0"/>
              <a:t>-4</a:t>
            </a:r>
            <a:endParaRPr lang="es-ES" sz="1400" dirty="0"/>
          </a:p>
          <a:p>
            <a:pPr>
              <a:spcBef>
                <a:spcPts val="200"/>
              </a:spcBef>
              <a:buFont typeface="Wingdings" panose="05000000000000000000" pitchFamily="2" charset="2"/>
              <a:buChar char="§"/>
            </a:pPr>
            <a:r>
              <a:rPr lang="es-ES" sz="1400" dirty="0"/>
              <a:t>Escuchar solo desde IPv6:</a:t>
            </a:r>
            <a:r>
              <a:rPr lang="es-ES" sz="1400" b="1" dirty="0"/>
              <a:t> -6</a:t>
            </a:r>
            <a:endParaRPr lang="es-ES" sz="1400" dirty="0"/>
          </a:p>
          <a:p>
            <a:pPr>
              <a:spcBef>
                <a:spcPts val="200"/>
              </a:spcBef>
              <a:buFont typeface="Wingdings" panose="05000000000000000000" pitchFamily="2" charset="2"/>
              <a:buChar char="§"/>
            </a:pPr>
            <a:r>
              <a:rPr lang="es-ES" sz="1400" dirty="0"/>
              <a:t>Ejecutar en modo </a:t>
            </a:r>
            <a:r>
              <a:rPr lang="es-ES" sz="1400" i="1" dirty="0" err="1"/>
              <a:t>debug</a:t>
            </a:r>
            <a:r>
              <a:rPr lang="es-ES" sz="1400" dirty="0"/>
              <a:t> (opción avanzada para desarrolladores): </a:t>
            </a:r>
            <a:r>
              <a:rPr lang="es-ES" sz="1400" b="1" dirty="0"/>
              <a:t>-d</a:t>
            </a:r>
            <a:endParaRPr lang="es-ES" sz="1400" dirty="0"/>
          </a:p>
          <a:p>
            <a:pPr>
              <a:spcBef>
                <a:spcPts val="200"/>
              </a:spcBef>
              <a:buFont typeface="Wingdings" panose="05000000000000000000" pitchFamily="2" charset="2"/>
              <a:buChar char="§"/>
            </a:pPr>
            <a:r>
              <a:rPr lang="es-ES" sz="1400" dirty="0"/>
              <a:t>Especificar un fichero de configuración alternativo: </a:t>
            </a:r>
            <a:r>
              <a:rPr lang="es-ES" sz="1400" b="1" dirty="0"/>
              <a:t>-f</a:t>
            </a:r>
            <a:r>
              <a:rPr lang="es-ES" sz="1400" dirty="0"/>
              <a:t> </a:t>
            </a:r>
            <a:r>
              <a:rPr lang="es-ES" sz="1400" i="1" dirty="0"/>
              <a:t>&lt;archivo&gt;</a:t>
            </a:r>
            <a:endParaRPr lang="es-ES" sz="1400" dirty="0"/>
          </a:p>
          <a:p>
            <a:pPr>
              <a:spcBef>
                <a:spcPts val="200"/>
              </a:spcBef>
              <a:buFont typeface="Wingdings" panose="05000000000000000000" pitchFamily="2" charset="2"/>
              <a:buChar char="§"/>
            </a:pPr>
            <a:r>
              <a:rPr lang="es-ES" sz="1400" dirty="0"/>
              <a:t>Cuando existen varias instancias de </a:t>
            </a:r>
            <a:r>
              <a:rPr lang="es-ES" sz="1400" i="1" dirty="0" err="1"/>
              <a:t>rsyslog</a:t>
            </a:r>
            <a:r>
              <a:rPr lang="es-ES" sz="1400" dirty="0"/>
              <a:t> en una misma máquina, podemos seleccionar archivos de </a:t>
            </a:r>
            <a:r>
              <a:rPr lang="es-ES" sz="1400" dirty="0" err="1"/>
              <a:t>pid</a:t>
            </a:r>
            <a:r>
              <a:rPr lang="es-ES" sz="1400" dirty="0"/>
              <a:t> diferentes: </a:t>
            </a:r>
            <a:r>
              <a:rPr lang="es-ES" sz="1400" b="1" dirty="0"/>
              <a:t>-i</a:t>
            </a:r>
            <a:r>
              <a:rPr lang="es-ES" sz="1400" dirty="0"/>
              <a:t> </a:t>
            </a:r>
            <a:r>
              <a:rPr lang="es-ES" sz="1400" i="1" dirty="0"/>
              <a:t>&lt;</a:t>
            </a:r>
            <a:r>
              <a:rPr lang="es-ES" sz="1400" i="1" dirty="0" err="1"/>
              <a:t>pid</a:t>
            </a:r>
            <a:r>
              <a:rPr lang="es-ES" sz="1400" i="1" dirty="0"/>
              <a:t> file&gt;</a:t>
            </a:r>
            <a:endParaRPr lang="es-ES" sz="1400" dirty="0"/>
          </a:p>
          <a:p>
            <a:pPr>
              <a:spcBef>
                <a:spcPts val="200"/>
              </a:spcBef>
              <a:buFont typeface="Wingdings" panose="05000000000000000000" pitchFamily="2" charset="2"/>
              <a:buChar char="§"/>
            </a:pPr>
            <a:r>
              <a:rPr lang="es-ES" sz="1400" dirty="0"/>
              <a:t>Especificar un nombre de host sin su </a:t>
            </a:r>
            <a:r>
              <a:rPr lang="es-ES" sz="1400" i="1" dirty="0" err="1"/>
              <a:t>fqdn</a:t>
            </a:r>
            <a:r>
              <a:rPr lang="es-ES" sz="1400" dirty="0"/>
              <a:t>: </a:t>
            </a:r>
            <a:r>
              <a:rPr lang="es-ES" sz="1400" b="1" dirty="0"/>
              <a:t>-l</a:t>
            </a:r>
            <a:r>
              <a:rPr lang="es-ES" sz="1400" dirty="0"/>
              <a:t> </a:t>
            </a:r>
            <a:r>
              <a:rPr lang="es-ES" sz="1400" i="1" dirty="0"/>
              <a:t>&lt;host1:host2:…:</a:t>
            </a:r>
            <a:r>
              <a:rPr lang="es-ES" sz="1400" i="1" dirty="0" err="1"/>
              <a:t>hostN</a:t>
            </a:r>
            <a:r>
              <a:rPr lang="es-ES" sz="1400" i="1" dirty="0"/>
              <a:t>&gt;</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5" y="1543974"/>
            <a:ext cx="10387263" cy="405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indent="0">
              <a:buNone/>
            </a:pPr>
            <a:r>
              <a:rPr lang="es-ES" sz="1400" b="1" dirty="0" err="1"/>
              <a:t>Journal</a:t>
            </a:r>
            <a:endParaRPr lang="es-ES" sz="1400" b="1" dirty="0"/>
          </a:p>
          <a:p>
            <a:r>
              <a:rPr lang="es-ES" sz="1400" i="1" dirty="0" err="1"/>
              <a:t>Systemd</a:t>
            </a:r>
            <a:r>
              <a:rPr lang="es-ES" sz="1400" dirty="0"/>
              <a:t> incorpora su propio sistema de registro llamado </a:t>
            </a:r>
            <a:r>
              <a:rPr lang="es-ES" sz="1400" b="1" dirty="0" err="1"/>
              <a:t>journal</a:t>
            </a:r>
            <a:r>
              <a:rPr lang="es-ES" sz="1400" dirty="0"/>
              <a:t>, aún así en algunas distribuciones de Linux coexisten ambos sistemas de registros, algo que es compatible y veremos a continuación.</a:t>
            </a:r>
            <a:endParaRPr lang="es-ES" sz="1400" dirty="0"/>
          </a:p>
          <a:p>
            <a:r>
              <a:rPr lang="es-ES" sz="1400" b="1" i="1" dirty="0" err="1"/>
              <a:t>journal</a:t>
            </a:r>
            <a:r>
              <a:rPr lang="es-ES" sz="1400" dirty="0"/>
              <a:t> recopila una serie de mensajes a partir de una serie de fuentes como:</a:t>
            </a:r>
            <a:endParaRPr lang="es-ES" sz="1400" dirty="0"/>
          </a:p>
          <a:p>
            <a:pPr lvl="1"/>
            <a:r>
              <a:rPr lang="es-ES" sz="1400" dirty="0"/>
              <a:t>Los mensajes del </a:t>
            </a:r>
            <a:r>
              <a:rPr lang="es-ES" sz="1400" i="1" dirty="0" err="1"/>
              <a:t>kernel</a:t>
            </a:r>
            <a:r>
              <a:rPr lang="es-ES" sz="1400" dirty="0"/>
              <a:t> vía </a:t>
            </a:r>
            <a:r>
              <a:rPr lang="es-ES" sz="1400" b="1" dirty="0" err="1"/>
              <a:t>Kmsg</a:t>
            </a:r>
            <a:endParaRPr lang="es-ES" sz="1400" dirty="0"/>
          </a:p>
          <a:p>
            <a:pPr lvl="1"/>
            <a:r>
              <a:rPr lang="es-ES" sz="1400" dirty="0"/>
              <a:t>Los mensajes básicos de </a:t>
            </a:r>
            <a:r>
              <a:rPr lang="es-ES" sz="1400" i="1" dirty="0" err="1"/>
              <a:t>syslog</a:t>
            </a:r>
            <a:r>
              <a:rPr lang="es-ES" sz="1400" dirty="0"/>
              <a:t> proporcionados por las llamadas de la librería </a:t>
            </a:r>
            <a:r>
              <a:rPr lang="es-ES" sz="1400" i="1" dirty="0" err="1"/>
              <a:t>libc</a:t>
            </a:r>
            <a:r>
              <a:rPr lang="es-ES" sz="1400" dirty="0"/>
              <a:t> de </a:t>
            </a:r>
            <a:r>
              <a:rPr lang="es-ES" sz="1400" b="1" dirty="0" err="1"/>
              <a:t>syslog</a:t>
            </a:r>
            <a:endParaRPr lang="es-ES" sz="1400" dirty="0"/>
          </a:p>
          <a:p>
            <a:pPr lvl="1"/>
            <a:r>
              <a:rPr lang="es-ES" sz="1400" dirty="0"/>
              <a:t>Mensajes del sistema estructurados, proporcionados por la </a:t>
            </a:r>
            <a:r>
              <a:rPr lang="es-ES" sz="1400" b="1" dirty="0"/>
              <a:t>API</a:t>
            </a:r>
            <a:r>
              <a:rPr lang="es-ES" sz="1400" dirty="0"/>
              <a:t> nativa de </a:t>
            </a:r>
            <a:r>
              <a:rPr lang="es-ES" sz="1400" i="1" dirty="0" err="1"/>
              <a:t>journal</a:t>
            </a:r>
            <a:endParaRPr lang="es-ES" sz="1400" dirty="0"/>
          </a:p>
          <a:p>
            <a:pPr lvl="1"/>
            <a:r>
              <a:rPr lang="es-ES" sz="1400" dirty="0"/>
              <a:t>Mensajes que provienen de la salida estándar (</a:t>
            </a:r>
            <a:r>
              <a:rPr lang="es-ES" sz="1400" b="1" i="1" dirty="0" err="1"/>
              <a:t>stdout</a:t>
            </a:r>
            <a:r>
              <a:rPr lang="es-ES" sz="1400" dirty="0"/>
              <a:t>) y salida de error (</a:t>
            </a:r>
            <a:r>
              <a:rPr lang="es-ES" sz="1400" b="1" i="1" dirty="0" err="1"/>
              <a:t>stderr</a:t>
            </a:r>
            <a:r>
              <a:rPr lang="es-ES" sz="1400" dirty="0"/>
              <a:t>) de los diferentes servicios</a:t>
            </a:r>
            <a:endParaRPr lang="es-ES" sz="1400" dirty="0"/>
          </a:p>
          <a:p>
            <a:pPr lvl="1"/>
            <a:r>
              <a:rPr lang="es-ES" sz="1400" dirty="0"/>
              <a:t>Registros de auditorias entregados mediante el subsistema de auditoría.</a:t>
            </a:r>
            <a:endParaRPr lang="es-ES" sz="1400" dirty="0"/>
          </a:p>
          <a:p>
            <a:r>
              <a:rPr lang="es-ES" sz="1400" dirty="0"/>
              <a:t>Por defecto el registro de </a:t>
            </a:r>
            <a:r>
              <a:rPr lang="es-ES" sz="1400" i="1" dirty="0" err="1"/>
              <a:t>journal</a:t>
            </a:r>
            <a:r>
              <a:rPr lang="es-ES" sz="1400" dirty="0"/>
              <a:t> es </a:t>
            </a:r>
            <a:r>
              <a:rPr lang="es-ES" sz="1400" dirty="0" err="1"/>
              <a:t>volatil</a:t>
            </a:r>
            <a:r>
              <a:rPr lang="es-ES" sz="1400" dirty="0"/>
              <a:t>, es decir perderemos los datos una vez el sistema haya sido reiniciado. Este aspecto de </a:t>
            </a:r>
            <a:r>
              <a:rPr lang="es-ES" sz="1400" i="1" dirty="0" err="1"/>
              <a:t>jounal</a:t>
            </a:r>
            <a:r>
              <a:rPr lang="es-ES" sz="1400" dirty="0"/>
              <a:t> así como muchos otros pueden ser configurables desde sus archivos de configuración.</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78831" y="1529932"/>
            <a:ext cx="10387263" cy="4543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indent="0">
              <a:buNone/>
            </a:pPr>
            <a:r>
              <a:rPr lang="es-ES" sz="1600" b="1" dirty="0"/>
              <a:t>Configurando </a:t>
            </a:r>
            <a:r>
              <a:rPr lang="es-ES" sz="1600" b="1" dirty="0" err="1"/>
              <a:t>Journal</a:t>
            </a:r>
            <a:endParaRPr lang="es-ES" sz="1600" b="1" dirty="0"/>
          </a:p>
          <a:p>
            <a:r>
              <a:rPr lang="es-ES" sz="1400" i="1" dirty="0" err="1"/>
              <a:t>Journal</a:t>
            </a:r>
            <a:r>
              <a:rPr lang="es-ES" sz="1400" dirty="0"/>
              <a:t> es implementado mediante la unidad </a:t>
            </a:r>
            <a:r>
              <a:rPr lang="es-ES" sz="1400" i="1" dirty="0" err="1"/>
              <a:t>systemd-journald.service</a:t>
            </a:r>
            <a:r>
              <a:rPr lang="es-ES" sz="1400" i="1" dirty="0"/>
              <a:t>.</a:t>
            </a:r>
            <a:endParaRPr lang="es-ES" sz="1400" dirty="0"/>
          </a:p>
          <a:p>
            <a:r>
              <a:rPr lang="es-ES" sz="1400" dirty="0"/>
              <a:t>Los archivos de configuración de </a:t>
            </a:r>
            <a:r>
              <a:rPr lang="es-ES" sz="1400" i="1" dirty="0" err="1"/>
              <a:t>journal</a:t>
            </a:r>
            <a:r>
              <a:rPr lang="es-ES" sz="1400" dirty="0"/>
              <a:t> son leídos en el siguiente orden de preferencia:  </a:t>
            </a:r>
            <a:r>
              <a:rPr lang="es-ES" sz="1400" i="1" dirty="0"/>
              <a:t>/</a:t>
            </a:r>
            <a:r>
              <a:rPr lang="es-ES" sz="1400" i="1" dirty="0" err="1"/>
              <a:t>etc</a:t>
            </a:r>
            <a:r>
              <a:rPr lang="es-ES" sz="1400" i="1" dirty="0"/>
              <a:t>/</a:t>
            </a:r>
            <a:r>
              <a:rPr lang="es-ES" sz="1400" i="1" dirty="0" err="1"/>
              <a:t>systemd</a:t>
            </a:r>
            <a:r>
              <a:rPr lang="es-ES" sz="1400" i="1" dirty="0"/>
              <a:t>/</a:t>
            </a:r>
            <a:r>
              <a:rPr lang="es-ES" sz="1400" i="1" dirty="0" err="1"/>
              <a:t>journald.conf.d</a:t>
            </a:r>
            <a:r>
              <a:rPr lang="es-ES" sz="1400" i="1" dirty="0"/>
              <a:t>/.</a:t>
            </a:r>
            <a:r>
              <a:rPr lang="es-ES" sz="1400" i="1" dirty="0" err="1"/>
              <a:t>conf</a:t>
            </a:r>
            <a:r>
              <a:rPr lang="es-ES" sz="1400" dirty="0"/>
              <a:t>, </a:t>
            </a:r>
            <a:r>
              <a:rPr lang="es-ES" sz="1400" i="1" dirty="0"/>
              <a:t>/run/</a:t>
            </a:r>
            <a:r>
              <a:rPr lang="es-ES" sz="1400" i="1" dirty="0" err="1"/>
              <a:t>systemd</a:t>
            </a:r>
            <a:r>
              <a:rPr lang="es-ES" sz="1400" i="1" dirty="0"/>
              <a:t>/</a:t>
            </a:r>
            <a:r>
              <a:rPr lang="es-ES" sz="1400" i="1" dirty="0" err="1"/>
              <a:t>journald.conf.d</a:t>
            </a:r>
            <a:r>
              <a:rPr lang="es-ES" sz="1400" i="1" dirty="0"/>
              <a:t>/</a:t>
            </a:r>
            <a:r>
              <a:rPr lang="es-ES" sz="1400" dirty="0"/>
              <a:t>.</a:t>
            </a:r>
            <a:r>
              <a:rPr lang="es-ES" sz="1400" dirty="0" err="1"/>
              <a:t>conf</a:t>
            </a:r>
            <a:r>
              <a:rPr lang="es-ES" sz="1400" dirty="0"/>
              <a:t> y </a:t>
            </a:r>
            <a:r>
              <a:rPr lang="es-ES" sz="1400" i="1" dirty="0"/>
              <a:t>/</a:t>
            </a:r>
            <a:r>
              <a:rPr lang="es-ES" sz="1400" i="1" dirty="0" err="1"/>
              <a:t>usr</a:t>
            </a:r>
            <a:r>
              <a:rPr lang="es-ES" sz="1400" i="1" dirty="0"/>
              <a:t>/</a:t>
            </a:r>
            <a:r>
              <a:rPr lang="es-ES" sz="1400" i="1" dirty="0" err="1"/>
              <a:t>lib</a:t>
            </a:r>
            <a:r>
              <a:rPr lang="es-ES" sz="1400" i="1" dirty="0"/>
              <a:t>/</a:t>
            </a:r>
            <a:r>
              <a:rPr lang="es-ES" sz="1400" i="1" dirty="0" err="1"/>
              <a:t>systemd</a:t>
            </a:r>
            <a:r>
              <a:rPr lang="es-ES" sz="1400" i="1" dirty="0"/>
              <a:t>/</a:t>
            </a:r>
            <a:r>
              <a:rPr lang="es-ES" sz="1400" i="1" dirty="0" err="1"/>
              <a:t>journald.conf.d</a:t>
            </a:r>
            <a:r>
              <a:rPr lang="es-ES" sz="1400" i="1" dirty="0"/>
              <a:t>/*.conf</a:t>
            </a:r>
            <a:r>
              <a:rPr lang="es-ES" sz="1400" dirty="0"/>
              <a:t>. </a:t>
            </a:r>
            <a:endParaRPr lang="es-ES" sz="1400" dirty="0"/>
          </a:p>
          <a:p>
            <a:r>
              <a:rPr lang="es-ES" sz="1400" dirty="0"/>
              <a:t>Los parámetros y opciones que configuremos en estos archivos serán los que determinen el funcionamiento de </a:t>
            </a:r>
            <a:r>
              <a:rPr lang="es-ES" sz="1400" i="1" dirty="0" err="1"/>
              <a:t>systemd-journald.service</a:t>
            </a:r>
            <a:r>
              <a:rPr lang="es-ES" sz="1400" dirty="0"/>
              <a:t>.</a:t>
            </a:r>
            <a:endParaRPr lang="es-ES" sz="1400" dirty="0"/>
          </a:p>
          <a:p>
            <a:r>
              <a:rPr lang="es-ES" sz="1400" dirty="0"/>
              <a:t>Cuando se instala </a:t>
            </a:r>
            <a:r>
              <a:rPr lang="es-ES" sz="1400" b="1" i="1" dirty="0" err="1"/>
              <a:t>journald</a:t>
            </a:r>
            <a:r>
              <a:rPr lang="es-ES" sz="1400" dirty="0"/>
              <a:t>, por defecto sus paquetes y archivos se instalan sobre </a:t>
            </a:r>
            <a:r>
              <a:rPr lang="es-ES" sz="1400" i="1" dirty="0"/>
              <a:t>/</a:t>
            </a:r>
            <a:r>
              <a:rPr lang="es-ES" sz="1400" i="1" dirty="0" err="1"/>
              <a:t>usr</a:t>
            </a:r>
            <a:r>
              <a:rPr lang="es-ES" sz="1400" i="1" dirty="0"/>
              <a:t>/</a:t>
            </a:r>
            <a:r>
              <a:rPr lang="es-ES" sz="1400" i="1" dirty="0" err="1"/>
              <a:t>lib</a:t>
            </a:r>
            <a:r>
              <a:rPr lang="es-ES" sz="1400" i="1" dirty="0"/>
              <a:t>/</a:t>
            </a:r>
            <a:r>
              <a:rPr lang="es-ES" sz="1400" i="1" dirty="0" err="1"/>
              <a:t>systemd</a:t>
            </a:r>
            <a:r>
              <a:rPr lang="es-ES" sz="1400" dirty="0"/>
              <a:t> pero serán los archivos de </a:t>
            </a:r>
            <a:r>
              <a:rPr lang="es-ES" sz="1400" i="1" dirty="0"/>
              <a:t>/</a:t>
            </a:r>
            <a:r>
              <a:rPr lang="es-ES" sz="1400" i="1" dirty="0" err="1"/>
              <a:t>etc</a:t>
            </a:r>
            <a:r>
              <a:rPr lang="es-ES" sz="1400" i="1" dirty="0"/>
              <a:t>/</a:t>
            </a:r>
            <a:r>
              <a:rPr lang="es-ES" sz="1400" dirty="0"/>
              <a:t> los que use el administrador del sistema para </a:t>
            </a:r>
            <a:r>
              <a:rPr lang="es-ES" sz="1400" dirty="0" err="1"/>
              <a:t>sobreescribir</a:t>
            </a:r>
            <a:r>
              <a:rPr lang="es-ES" sz="1400" dirty="0"/>
              <a:t> los del paquete de origen, es decir, estos tienen preferencia sobre el resto. Los archivos de estos directorios (incluidos los de </a:t>
            </a:r>
            <a:r>
              <a:rPr lang="es-ES" sz="1400" i="1" dirty="0"/>
              <a:t>/run/</a:t>
            </a:r>
            <a:r>
              <a:rPr lang="es-ES" sz="1400" i="1" dirty="0" err="1"/>
              <a:t>systemd</a:t>
            </a:r>
            <a:r>
              <a:rPr lang="es-ES" sz="1400" i="1" dirty="0"/>
              <a:t>/</a:t>
            </a:r>
            <a:r>
              <a:rPr lang="es-ES" sz="1400" dirty="0"/>
              <a:t>) están ordenados por orden alfabético por lo que si una misma opción con diferente valor es indicada en diferentes archivos, será el valor del último archivo el que tome </a:t>
            </a:r>
            <a:r>
              <a:rPr lang="es-ES" sz="1400" i="1" dirty="0" err="1"/>
              <a:t>journald</a:t>
            </a:r>
            <a:r>
              <a:rPr lang="es-ES" sz="1400" dirty="0"/>
              <a:t>. </a:t>
            </a:r>
            <a:endParaRPr lang="es-ES" sz="1400" dirty="0"/>
          </a:p>
          <a:p>
            <a:r>
              <a:rPr lang="es-ES" sz="1400" dirty="0"/>
              <a:t>Para deshabilitar un archivo de configuración, basta con que el administrador del sistema cree un enlace simbólico hacia </a:t>
            </a:r>
            <a:r>
              <a:rPr lang="es-ES" sz="1400" i="1" dirty="0"/>
              <a:t>/</a:t>
            </a:r>
            <a:r>
              <a:rPr lang="es-ES" sz="1400" i="1" dirty="0" err="1"/>
              <a:t>dev</a:t>
            </a:r>
            <a:r>
              <a:rPr lang="es-ES" sz="1400" i="1" dirty="0"/>
              <a:t>/</a:t>
            </a:r>
            <a:r>
              <a:rPr lang="es-ES" sz="1400" i="1" dirty="0" err="1"/>
              <a:t>null</a:t>
            </a:r>
            <a:r>
              <a:rPr lang="es-ES" sz="1400" dirty="0"/>
              <a:t> con el nombre del archivo a deshabilitar en el directorio </a:t>
            </a:r>
            <a:r>
              <a:rPr lang="es-ES" sz="1400" i="1" dirty="0"/>
              <a:t>/</a:t>
            </a:r>
            <a:r>
              <a:rPr lang="es-ES" sz="1400" i="1" dirty="0" err="1"/>
              <a:t>etc</a:t>
            </a:r>
            <a:r>
              <a:rPr lang="es-ES" sz="1400" i="1" dirty="0"/>
              <a:t>/</a:t>
            </a:r>
            <a:r>
              <a:rPr lang="es-ES" sz="1400" i="1" dirty="0" err="1"/>
              <a:t>systemd</a:t>
            </a:r>
            <a:r>
              <a:rPr lang="es-ES" sz="1400" i="1" dirty="0"/>
              <a:t>/</a:t>
            </a:r>
            <a:r>
              <a:rPr lang="es-ES" sz="1400" i="1" dirty="0" err="1"/>
              <a:t>journald</a:t>
            </a:r>
            <a:r>
              <a:rPr lang="es-ES" sz="1400" i="1" dirty="0"/>
              <a:t>/</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78831" y="1568436"/>
            <a:ext cx="10387263" cy="3816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indent="0">
              <a:buNone/>
            </a:pPr>
            <a:r>
              <a:rPr lang="es-ES" sz="1600" b="1" dirty="0"/>
              <a:t>Visualización de Logs de </a:t>
            </a:r>
            <a:r>
              <a:rPr lang="es-ES" sz="1600" b="1" dirty="0" err="1"/>
              <a:t>Journal</a:t>
            </a:r>
            <a:endParaRPr lang="es-ES" sz="1600" b="1" dirty="0"/>
          </a:p>
          <a:p>
            <a:r>
              <a:rPr lang="es-ES" sz="1600" dirty="0"/>
              <a:t>Cuando usamos un sistema de registro como </a:t>
            </a:r>
            <a:r>
              <a:rPr lang="es-ES" sz="1600" i="1" dirty="0" err="1"/>
              <a:t>syslog</a:t>
            </a:r>
            <a:r>
              <a:rPr lang="es-ES" sz="1600" i="1" dirty="0"/>
              <a:t> o</a:t>
            </a:r>
            <a:r>
              <a:rPr lang="es-ES" sz="1600" dirty="0"/>
              <a:t> </a:t>
            </a:r>
            <a:r>
              <a:rPr lang="es-ES" sz="1600" i="1" dirty="0" err="1"/>
              <a:t>rsyslog</a:t>
            </a:r>
            <a:r>
              <a:rPr lang="es-ES" sz="1600" dirty="0"/>
              <a:t>, acostumbrábamos a visualizar el contenido de los registros con herramientas como </a:t>
            </a:r>
            <a:r>
              <a:rPr lang="es-ES" sz="1600" i="1" dirty="0" err="1"/>
              <a:t>cat</a:t>
            </a:r>
            <a:r>
              <a:rPr lang="es-ES" sz="1600" dirty="0"/>
              <a:t>, </a:t>
            </a:r>
            <a:r>
              <a:rPr lang="es-ES" sz="1600" i="1" dirty="0"/>
              <a:t>head</a:t>
            </a:r>
            <a:r>
              <a:rPr lang="es-ES" sz="1600" dirty="0"/>
              <a:t>, </a:t>
            </a:r>
            <a:r>
              <a:rPr lang="es-ES" sz="1600" i="1" dirty="0" err="1"/>
              <a:t>tail</a:t>
            </a:r>
            <a:r>
              <a:rPr lang="es-ES" sz="1600" dirty="0"/>
              <a:t>, </a:t>
            </a:r>
            <a:r>
              <a:rPr lang="es-ES" sz="1600" i="1" dirty="0"/>
              <a:t>more</a:t>
            </a:r>
            <a:r>
              <a:rPr lang="es-ES" sz="1600" dirty="0"/>
              <a:t> o </a:t>
            </a:r>
            <a:r>
              <a:rPr lang="es-ES" sz="1600" i="1" dirty="0" err="1"/>
              <a:t>less</a:t>
            </a:r>
            <a:r>
              <a:rPr lang="es-ES" sz="1600" dirty="0"/>
              <a:t>, esto es porque el contenido es guardado en texto plano. Esto ha cambiado con </a:t>
            </a:r>
            <a:r>
              <a:rPr lang="es-ES" sz="1600" i="1" dirty="0" err="1"/>
              <a:t>journal</a:t>
            </a:r>
            <a:r>
              <a:rPr lang="es-ES" sz="1600" dirty="0"/>
              <a:t>. Como comentábamos anteriormente </a:t>
            </a:r>
            <a:r>
              <a:rPr lang="es-ES" sz="1600" i="1" dirty="0" err="1"/>
              <a:t>journal</a:t>
            </a:r>
            <a:r>
              <a:rPr lang="es-ES" sz="1600" dirty="0"/>
              <a:t> guarda sus registro en formato comprimido por lo que necesitaremos usar la herramienta que el mismo sistema de registro nos proporciona, llamada </a:t>
            </a:r>
            <a:r>
              <a:rPr lang="es-ES" sz="1600" b="1" dirty="0" err="1"/>
              <a:t>journalctl</a:t>
            </a:r>
            <a:r>
              <a:rPr lang="es-ES" sz="1600" dirty="0"/>
              <a:t>. Para invocar </a:t>
            </a:r>
            <a:r>
              <a:rPr lang="es-ES" sz="1600" i="1" dirty="0" err="1"/>
              <a:t>jounalctl</a:t>
            </a:r>
            <a:r>
              <a:rPr lang="es-ES" sz="1600" dirty="0"/>
              <a:t> deberemos de contar en la mayoría de los casos con un usuario con privilegios, ya sea perteneciendo a un grupo específico del sistema o con permisos a través de </a:t>
            </a:r>
            <a:r>
              <a:rPr lang="es-ES" sz="1600" i="1" dirty="0"/>
              <a:t>sudo</a:t>
            </a:r>
            <a:r>
              <a:rPr lang="es-ES" sz="1600" dirty="0"/>
              <a:t>.</a:t>
            </a:r>
            <a:endParaRPr lang="es-ES" sz="1600" dirty="0"/>
          </a:p>
          <a:p>
            <a:r>
              <a:rPr lang="es-ES" sz="1600" dirty="0"/>
              <a:t>Para visualizar todos los registros del sistema ordenados por fecha bastará con invocar a </a:t>
            </a:r>
            <a:r>
              <a:rPr lang="es-ES" sz="1600" i="1" dirty="0" err="1"/>
              <a:t>journalctl</a:t>
            </a:r>
            <a:r>
              <a:rPr lang="es-ES" sz="1600" dirty="0"/>
              <a:t> sin parámetro alguno. </a:t>
            </a:r>
            <a:r>
              <a:rPr lang="es-ES" sz="1600" i="1" dirty="0" err="1"/>
              <a:t>Journalctl</a:t>
            </a:r>
            <a:r>
              <a:rPr lang="es-ES" sz="1600" dirty="0"/>
              <a:t> cuenta con un sistema de filtrado por campos que nos permitirá ajustar mucho mejor la salida para dar caza a registros concretos</a:t>
            </a:r>
            <a:endParaRPr lang="es-ES" sz="16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23554"/>
            <a:ext cx="7403432" cy="345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indent="0">
              <a:buNone/>
            </a:pPr>
            <a:r>
              <a:rPr lang="es-ES" sz="1400" b="1" dirty="0"/>
              <a:t>Visualización de Logs de </a:t>
            </a:r>
            <a:r>
              <a:rPr lang="es-ES" sz="1400" b="1" dirty="0" err="1"/>
              <a:t>Journal</a:t>
            </a:r>
            <a:endParaRPr lang="es-ES" sz="1400" b="1" dirty="0"/>
          </a:p>
          <a:p>
            <a:pPr marL="0" lvl="0" indent="0" eaLnBrk="0" fontAlgn="base" hangingPunct="0">
              <a:lnSpc>
                <a:spcPct val="100000"/>
              </a:lnSpc>
              <a:spcBef>
                <a:spcPts val="200"/>
              </a:spcBef>
              <a:buClrTx/>
              <a:buSzTx/>
              <a:buFontTx/>
              <a:buChar char="•"/>
            </a:pPr>
            <a:r>
              <a:rPr lang="es-ES" altLang="es-ES" sz="1400" dirty="0">
                <a:solidFill>
                  <a:srgbClr val="333333"/>
                </a:solidFill>
              </a:rPr>
              <a:t>Mostrar los mensajes del arranque actual:</a:t>
            </a:r>
            <a:endParaRPr lang="es-ES" altLang="es-ES" sz="1400" dirty="0">
              <a:solidFill>
                <a:srgbClr val="333333"/>
              </a:solidFill>
            </a:endParaRPr>
          </a:p>
          <a:p>
            <a:pPr marL="0" lvl="0" indent="0" eaLnBrk="0" fontAlgn="base" hangingPunct="0">
              <a:lnSpc>
                <a:spcPct val="100000"/>
              </a:lnSpc>
              <a:spcBef>
                <a:spcPts val="200"/>
              </a:spcBef>
              <a:buClrTx/>
              <a:buSzTx/>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–b</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ts val="200"/>
              </a:spcBef>
              <a:buClrTx/>
              <a:buSzTx/>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-b 0</a:t>
            </a:r>
            <a:endParaRPr lang="es-ES" altLang="es-ES" sz="1400" b="1" i="1" dirty="0">
              <a:solidFill>
                <a:schemeClr val="tx1"/>
              </a:solidFill>
            </a:endParaRPr>
          </a:p>
          <a:p>
            <a:pPr marL="0" lvl="0" indent="0" eaLnBrk="0" fontAlgn="base" hangingPunct="0">
              <a:lnSpc>
                <a:spcPct val="100000"/>
              </a:lnSpc>
              <a:spcBef>
                <a:spcPts val="200"/>
              </a:spcBef>
              <a:buClrTx/>
              <a:buSzTx/>
              <a:buFontTx/>
              <a:buChar char="•"/>
            </a:pPr>
            <a:r>
              <a:rPr lang="es-ES" altLang="es-ES" sz="1400" dirty="0">
                <a:solidFill>
                  <a:srgbClr val="333333"/>
                </a:solidFill>
              </a:rPr>
              <a:t>Mostrar los mensajes del arranque anterior o incluso del anterior al anterior (y sucesivos):</a:t>
            </a:r>
            <a:endParaRPr lang="es-ES" altLang="es-ES" sz="1400" dirty="0">
              <a:solidFill>
                <a:srgbClr val="333333"/>
              </a:solidFill>
            </a:endParaRPr>
          </a:p>
          <a:p>
            <a:pPr marL="0" lvl="0" indent="0" eaLnBrk="0" fontAlgn="base" hangingPunct="0">
              <a:lnSpc>
                <a:spcPct val="100000"/>
              </a:lnSpc>
              <a:spcBef>
                <a:spcPts val="200"/>
              </a:spcBef>
              <a:buClrTx/>
              <a:buSzTx/>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-b -1</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ts val="200"/>
              </a:spcBef>
              <a:buClrTx/>
              <a:buSzTx/>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-b -2 ...</a:t>
            </a:r>
            <a:endParaRPr lang="es-ES" altLang="es-ES" sz="1400" b="1" i="1" dirty="0">
              <a:solidFill>
                <a:schemeClr val="tx1"/>
              </a:solidFill>
            </a:endParaRPr>
          </a:p>
          <a:p>
            <a:pPr marL="0" lvl="0" indent="0" eaLnBrk="0" fontAlgn="base" hangingPunct="0">
              <a:lnSpc>
                <a:spcPct val="100000"/>
              </a:lnSpc>
              <a:spcBef>
                <a:spcPts val="200"/>
              </a:spcBef>
              <a:buClrTx/>
              <a:buSzTx/>
              <a:buFontTx/>
              <a:buChar char="•"/>
            </a:pPr>
            <a:r>
              <a:rPr lang="es-ES" altLang="es-ES" sz="1400" dirty="0">
                <a:solidFill>
                  <a:srgbClr val="333333"/>
                </a:solidFill>
              </a:rPr>
              <a:t>Mostrar los mensajes de error de un arranque anterior:</a:t>
            </a:r>
            <a:endParaRPr lang="es-ES" altLang="es-ES" sz="1400" dirty="0">
              <a:solidFill>
                <a:srgbClr val="333333"/>
              </a:solidFill>
            </a:endParaRPr>
          </a:p>
          <a:p>
            <a:pPr marL="0" lvl="0" indent="0" eaLnBrk="0" fontAlgn="base" hangingPunct="0">
              <a:lnSpc>
                <a:spcPct val="100000"/>
              </a:lnSpc>
              <a:spcBef>
                <a:spcPts val="200"/>
              </a:spcBef>
              <a:buClrTx/>
              <a:buSzTx/>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-b -p </a:t>
            </a:r>
            <a:r>
              <a:rPr lang="es-ES" altLang="es-ES" sz="1400" b="1" i="1" dirty="0" err="1">
                <a:solidFill>
                  <a:srgbClr val="333333"/>
                </a:solidFill>
                <a:cs typeface="Courier New" panose="02070309020205020404" pitchFamily="49" charset="0"/>
              </a:rPr>
              <a:t>err</a:t>
            </a:r>
            <a:endParaRPr lang="es-ES" altLang="es-ES" sz="1400" b="1" i="1" dirty="0">
              <a:solidFill>
                <a:schemeClr val="tx1"/>
              </a:solidFill>
            </a:endParaRPr>
          </a:p>
          <a:p>
            <a:pPr marL="0" lvl="0" indent="0" eaLnBrk="0" fontAlgn="base" hangingPunct="0">
              <a:lnSpc>
                <a:spcPct val="100000"/>
              </a:lnSpc>
              <a:spcBef>
                <a:spcPts val="200"/>
              </a:spcBef>
              <a:buClrTx/>
              <a:buSzTx/>
              <a:buFontTx/>
              <a:buChar char="•"/>
            </a:pPr>
            <a:r>
              <a:rPr lang="es-ES" altLang="es-ES" sz="1400" dirty="0">
                <a:solidFill>
                  <a:srgbClr val="333333"/>
                </a:solidFill>
              </a:rPr>
              <a:t>Mostrar los mensajes de un binario concreto:</a:t>
            </a:r>
            <a:endParaRPr lang="es-ES" altLang="es-ES" sz="1400" dirty="0">
              <a:solidFill>
                <a:srgbClr val="333333"/>
              </a:solidFill>
            </a:endParaRPr>
          </a:p>
          <a:p>
            <a:pPr marL="0" lvl="0" indent="0" eaLnBrk="0" fontAlgn="base" hangingPunct="0">
              <a:lnSpc>
                <a:spcPct val="100000"/>
              </a:lnSpc>
              <a:spcBef>
                <a:spcPts val="200"/>
              </a:spcBef>
              <a:buClrTx/>
              <a:buSzTx/>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usr</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bin</a:t>
            </a:r>
            <a:r>
              <a:rPr lang="es-ES" altLang="es-ES" sz="1400" b="1" i="1" dirty="0">
                <a:solidFill>
                  <a:srgbClr val="333333"/>
                </a:solidFill>
                <a:cs typeface="Courier New" panose="02070309020205020404" pitchFamily="49" charset="0"/>
              </a:rPr>
              <a:t>/&lt;binario&gt;</a:t>
            </a:r>
            <a:endParaRPr lang="es-ES" altLang="es-ES" sz="1400" b="1" i="1"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9" name="Imagen 8"/>
          <p:cNvPicPr>
            <a:picLocks noChangeAspect="1"/>
          </p:cNvPicPr>
          <p:nvPr/>
        </p:nvPicPr>
        <p:blipFill>
          <a:blip r:embed="rId1"/>
          <a:stretch>
            <a:fillRect/>
          </a:stretch>
        </p:blipFill>
        <p:spPr>
          <a:xfrm>
            <a:off x="2271712" y="4979885"/>
            <a:ext cx="7648575" cy="97155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494738"/>
            <a:ext cx="10387263" cy="4329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REGISTROS DEL SISTEMA</a:t>
            </a:r>
            <a:endParaRPr lang="es-ES" sz="1400" b="1" dirty="0"/>
          </a:p>
          <a:p>
            <a:pPr marL="0" indent="0">
              <a:buNone/>
            </a:pPr>
            <a:r>
              <a:rPr lang="es-ES" sz="1600" b="1" dirty="0"/>
              <a:t>Visualización de Logs de </a:t>
            </a:r>
            <a:r>
              <a:rPr lang="es-ES" sz="1600" b="1" dirty="0" err="1"/>
              <a:t>Journal</a:t>
            </a:r>
            <a:endParaRPr lang="es-ES" sz="1600" b="1" dirty="0"/>
          </a:p>
          <a:p>
            <a:pPr marL="0" lvl="0" indent="0" eaLnBrk="0" fontAlgn="base" hangingPunct="0">
              <a:lnSpc>
                <a:spcPct val="100000"/>
              </a:lnSpc>
              <a:spcBef>
                <a:spcPts val="0"/>
              </a:spcBef>
              <a:buClrTx/>
              <a:buSzTx/>
              <a:buFontTx/>
              <a:buChar char="•"/>
            </a:pPr>
            <a:r>
              <a:rPr lang="es-ES" altLang="es-ES" sz="1400" dirty="0">
                <a:solidFill>
                  <a:srgbClr val="333333"/>
                </a:solidFill>
              </a:rPr>
              <a:t>Mostrar los mensajes de un proceso concreto:</a:t>
            </a:r>
            <a:endParaRPr lang="es-ES" altLang="es-ES" sz="1400" dirty="0">
              <a:solidFill>
                <a:srgbClr val="333333"/>
              </a:solidFill>
            </a:endParaRPr>
          </a:p>
          <a:p>
            <a:pPr marL="292735" lvl="1" indent="0" eaLnBrk="0" fontAlgn="base" hangingPunct="0">
              <a:spcBef>
                <a:spcPts val="0"/>
              </a:spcBef>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_PID=&lt;proceso&gt;</a:t>
            </a:r>
            <a:endParaRPr lang="es-ES" altLang="es-ES" sz="1400" b="1" i="1" dirty="0">
              <a:solidFill>
                <a:schemeClr val="tx1"/>
              </a:solidFill>
            </a:endParaRPr>
          </a:p>
          <a:p>
            <a:pPr marL="0" lvl="0" indent="0" eaLnBrk="0" fontAlgn="base" hangingPunct="0">
              <a:lnSpc>
                <a:spcPct val="100000"/>
              </a:lnSpc>
              <a:spcBef>
                <a:spcPts val="0"/>
              </a:spcBef>
              <a:buClrTx/>
              <a:buSzTx/>
              <a:buFontTx/>
              <a:buChar char="•"/>
            </a:pPr>
            <a:r>
              <a:rPr lang="es-ES" altLang="es-ES" sz="1400" dirty="0">
                <a:solidFill>
                  <a:srgbClr val="333333"/>
                </a:solidFill>
              </a:rPr>
              <a:t>Mostrar todos los mensajes para un servicio concreto:</a:t>
            </a:r>
            <a:endParaRPr lang="es-ES" altLang="es-ES" sz="1400" dirty="0">
              <a:solidFill>
                <a:srgbClr val="333333"/>
              </a:solidFill>
            </a:endParaRPr>
          </a:p>
          <a:p>
            <a:pPr marL="292735" lvl="1" indent="0" eaLnBrk="0" fontAlgn="base" hangingPunct="0">
              <a:spcBef>
                <a:spcPts val="0"/>
              </a:spcBef>
              <a:buSzTx/>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_SYSTEMD_UNIT=</a:t>
            </a:r>
            <a:r>
              <a:rPr lang="es-ES" altLang="es-ES" sz="1400" b="1" i="1" dirty="0" err="1">
                <a:solidFill>
                  <a:srgbClr val="333333"/>
                </a:solidFill>
                <a:cs typeface="Courier New" panose="02070309020205020404" pitchFamily="49" charset="0"/>
              </a:rPr>
              <a:t>httpd.service</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ts val="0"/>
              </a:spcBef>
              <a:buClrTx/>
              <a:buSzTx/>
              <a:buFontTx/>
              <a:buChar char="•"/>
            </a:pPr>
            <a:r>
              <a:rPr lang="es-ES" altLang="es-ES" sz="1400" dirty="0">
                <a:solidFill>
                  <a:srgbClr val="333333"/>
                </a:solidFill>
              </a:rPr>
              <a:t>Mostrar todos los mensajes de unidades que contengan un patrón específico:</a:t>
            </a:r>
            <a:endParaRPr lang="es-ES" altLang="es-ES" sz="1400" dirty="0">
              <a:solidFill>
                <a:srgbClr val="333333"/>
              </a:solidFill>
            </a:endParaRPr>
          </a:p>
          <a:p>
            <a:pPr marL="292735" lvl="1" indent="0" eaLnBrk="0" fontAlgn="base" hangingPunct="0">
              <a:spcBef>
                <a:spcPts val="0"/>
              </a:spcBef>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-u &lt;patrón&gt;</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ts val="0"/>
              </a:spcBef>
              <a:buClrTx/>
              <a:buSzTx/>
              <a:buFontTx/>
              <a:buChar char="•"/>
            </a:pPr>
            <a:r>
              <a:rPr lang="es-ES" altLang="es-ES" sz="1400" dirty="0">
                <a:solidFill>
                  <a:srgbClr val="333333"/>
                </a:solidFill>
              </a:rPr>
              <a:t>Ver el búfer circular del </a:t>
            </a:r>
            <a:r>
              <a:rPr lang="es-ES" altLang="es-ES" sz="1400" dirty="0" err="1">
                <a:solidFill>
                  <a:srgbClr val="333333"/>
                </a:solidFill>
              </a:rPr>
              <a:t>kernel</a:t>
            </a:r>
            <a:r>
              <a:rPr lang="es-ES" altLang="es-ES" sz="1400" dirty="0">
                <a:solidFill>
                  <a:srgbClr val="333333"/>
                </a:solidFill>
              </a:rPr>
              <a:t>:</a:t>
            </a:r>
            <a:endParaRPr lang="es-ES" altLang="es-ES" sz="1400" dirty="0">
              <a:solidFill>
                <a:srgbClr val="333333"/>
              </a:solidFill>
            </a:endParaRPr>
          </a:p>
          <a:p>
            <a:pPr marL="292735" lvl="1" indent="0" eaLnBrk="0" fontAlgn="base" hangingPunct="0">
              <a:spcBef>
                <a:spcPts val="0"/>
              </a:spcBef>
              <a:buSzTx/>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_TRANSPORT=</a:t>
            </a:r>
            <a:r>
              <a:rPr lang="es-ES" altLang="es-ES" sz="1400" b="1" i="1" dirty="0" err="1">
                <a:solidFill>
                  <a:srgbClr val="333333"/>
                </a:solidFill>
                <a:cs typeface="Courier New" panose="02070309020205020404" pitchFamily="49" charset="0"/>
              </a:rPr>
              <a:t>kernel</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ts val="0"/>
              </a:spcBef>
              <a:buClrTx/>
              <a:buSzTx/>
              <a:buFontTx/>
              <a:buChar char="•"/>
            </a:pPr>
            <a:r>
              <a:rPr lang="es-ES" altLang="es-ES" sz="1400" dirty="0">
                <a:solidFill>
                  <a:srgbClr val="333333"/>
                </a:solidFill>
              </a:rPr>
              <a:t>Usar operadores AND (espacio) y OR (+) para filtrar mensajes:</a:t>
            </a:r>
            <a:endParaRPr lang="es-ES" altLang="es-ES" sz="1400" dirty="0">
              <a:solidFill>
                <a:srgbClr val="333333"/>
              </a:solidFill>
            </a:endParaRPr>
          </a:p>
          <a:p>
            <a:pPr marL="292735" lvl="1" indent="0" eaLnBrk="0" fontAlgn="base" hangingPunct="0">
              <a:spcBef>
                <a:spcPts val="0"/>
              </a:spcBef>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_SYSTEMD_UNIT=</a:t>
            </a:r>
            <a:r>
              <a:rPr lang="es-ES" altLang="es-ES" sz="1400" b="1" i="1" dirty="0" err="1">
                <a:solidFill>
                  <a:srgbClr val="333333"/>
                </a:solidFill>
                <a:cs typeface="Courier New" panose="02070309020205020404" pitchFamily="49" charset="0"/>
              </a:rPr>
              <a:t>httpd.service</a:t>
            </a:r>
            <a:r>
              <a:rPr lang="es-ES" altLang="es-ES" sz="1400" b="1" i="1" dirty="0">
                <a:solidFill>
                  <a:srgbClr val="333333"/>
                </a:solidFill>
                <a:cs typeface="Courier New" panose="02070309020205020404" pitchFamily="49" charset="0"/>
              </a:rPr>
              <a:t> + -u http _PID=3412</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ts val="0"/>
              </a:spcBef>
              <a:buClrTx/>
              <a:buSzTx/>
              <a:buFontTx/>
              <a:buChar char="•"/>
            </a:pPr>
            <a:r>
              <a:rPr lang="es-ES" altLang="es-ES" sz="1400" dirty="0">
                <a:solidFill>
                  <a:srgbClr val="333333"/>
                </a:solidFill>
              </a:rPr>
              <a:t>Mostrar registros para un dispositivo específico:</a:t>
            </a:r>
            <a:endParaRPr lang="es-ES" altLang="es-ES" sz="1400" dirty="0">
              <a:solidFill>
                <a:srgbClr val="333333"/>
              </a:solidFill>
            </a:endParaRPr>
          </a:p>
          <a:p>
            <a:pPr marL="292735" lvl="1" indent="0" eaLnBrk="0" fontAlgn="base" hangingPunct="0">
              <a:spcBef>
                <a:spcPts val="0"/>
              </a:spcBef>
              <a:buSzTx/>
              <a:buNone/>
            </a:pPr>
            <a:r>
              <a:rPr lang="es-ES" altLang="es-ES" sz="1400" b="1" i="1" dirty="0" err="1">
                <a:solidFill>
                  <a:srgbClr val="333333"/>
                </a:solidFill>
                <a:cs typeface="Courier New" panose="02070309020205020404" pitchFamily="49" charset="0"/>
              </a:rPr>
              <a:t>journalctl</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dev</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sdb</a:t>
            </a:r>
            <a:endParaRPr lang="es-ES" altLang="es-ES" sz="1400" b="1" i="1" dirty="0">
              <a:solidFill>
                <a:srgbClr val="333333"/>
              </a:solidFill>
              <a:cs typeface="Courier New" panose="02070309020205020404" pitchFamily="49" charset="0"/>
            </a:endParaRPr>
          </a:p>
          <a:p>
            <a:pPr marL="0" lvl="0" indent="0" eaLnBrk="0" fontAlgn="base" hangingPunct="0">
              <a:lnSpc>
                <a:spcPct val="100000"/>
              </a:lnSpc>
              <a:spcBef>
                <a:spcPts val="0"/>
              </a:spcBef>
              <a:buClrTx/>
              <a:buSzTx/>
              <a:buFontTx/>
              <a:buChar char="•"/>
            </a:pPr>
            <a:r>
              <a:rPr lang="es-ES" altLang="es-ES" sz="1400" dirty="0">
                <a:solidFill>
                  <a:srgbClr val="333333"/>
                </a:solidFill>
              </a:rPr>
              <a:t>Podremos especificar un intervalo de tiempo con los parámetros </a:t>
            </a:r>
            <a:r>
              <a:rPr lang="es-ES" altLang="es-ES" sz="1400" b="1" dirty="0">
                <a:solidFill>
                  <a:srgbClr val="333333"/>
                </a:solidFill>
              </a:rPr>
              <a:t>-</a:t>
            </a:r>
            <a:r>
              <a:rPr lang="es-ES" altLang="es-ES" sz="1400" b="1" dirty="0" err="1">
                <a:solidFill>
                  <a:srgbClr val="333333"/>
                </a:solidFill>
              </a:rPr>
              <a:t>since</a:t>
            </a:r>
            <a:r>
              <a:rPr lang="es-ES" altLang="es-ES" sz="1400" dirty="0">
                <a:solidFill>
                  <a:srgbClr val="333333"/>
                </a:solidFill>
              </a:rPr>
              <a:t> y </a:t>
            </a:r>
            <a:r>
              <a:rPr lang="es-ES" altLang="es-ES" sz="1400" b="1" dirty="0">
                <a:solidFill>
                  <a:srgbClr val="333333"/>
                </a:solidFill>
              </a:rPr>
              <a:t>-</a:t>
            </a:r>
            <a:r>
              <a:rPr lang="es-ES" altLang="es-ES" sz="1400" b="1" dirty="0" err="1">
                <a:solidFill>
                  <a:srgbClr val="333333"/>
                </a:solidFill>
              </a:rPr>
              <a:t>until</a:t>
            </a:r>
            <a:r>
              <a:rPr lang="es-ES" altLang="es-ES" sz="1400" dirty="0">
                <a:solidFill>
                  <a:srgbClr val="333333"/>
                </a:solidFill>
              </a:rPr>
              <a:t>. El intervalo puede ser especificado de manera explicita para días como ‘</a:t>
            </a:r>
            <a:r>
              <a:rPr lang="es-ES" altLang="es-ES" sz="1400" i="1" dirty="0" err="1">
                <a:solidFill>
                  <a:srgbClr val="333333"/>
                </a:solidFill>
              </a:rPr>
              <a:t>yesterday</a:t>
            </a:r>
            <a:r>
              <a:rPr lang="es-ES" altLang="es-ES" sz="1400" dirty="0">
                <a:solidFill>
                  <a:srgbClr val="333333"/>
                </a:solidFill>
              </a:rPr>
              <a:t>‘, ‘</a:t>
            </a:r>
            <a:r>
              <a:rPr lang="es-ES" altLang="es-ES" sz="1400" i="1" dirty="0" err="1">
                <a:solidFill>
                  <a:srgbClr val="333333"/>
                </a:solidFill>
              </a:rPr>
              <a:t>today</a:t>
            </a:r>
            <a:r>
              <a:rPr lang="es-ES" altLang="es-ES" sz="1400" dirty="0">
                <a:solidFill>
                  <a:srgbClr val="333333"/>
                </a:solidFill>
              </a:rPr>
              <a:t>‘ o ‘</a:t>
            </a:r>
            <a:r>
              <a:rPr lang="es-ES" altLang="es-ES" sz="1400" i="1" dirty="0" err="1">
                <a:solidFill>
                  <a:srgbClr val="333333"/>
                </a:solidFill>
              </a:rPr>
              <a:t>tomorrow</a:t>
            </a:r>
            <a:r>
              <a:rPr lang="es-ES" altLang="es-ES" sz="1400" dirty="0">
                <a:solidFill>
                  <a:srgbClr val="333333"/>
                </a:solidFill>
              </a:rPr>
              <a:t>‘, o indicando la fecha mediante el formato “</a:t>
            </a:r>
            <a:r>
              <a:rPr lang="es-ES" altLang="es-ES" sz="1400" i="1" dirty="0">
                <a:solidFill>
                  <a:srgbClr val="333333"/>
                </a:solidFill>
              </a:rPr>
              <a:t>YYYY-MM-DD </a:t>
            </a:r>
            <a:r>
              <a:rPr lang="es-ES" altLang="es-ES" sz="1400" i="1" dirty="0" err="1">
                <a:solidFill>
                  <a:srgbClr val="333333"/>
                </a:solidFill>
              </a:rPr>
              <a:t>hh:mm:ss</a:t>
            </a:r>
            <a:r>
              <a:rPr lang="es-ES" altLang="es-ES" sz="1400" dirty="0">
                <a:solidFill>
                  <a:srgbClr val="333333"/>
                </a:solidFill>
              </a:rPr>
              <a:t>“</a:t>
            </a:r>
            <a:endParaRPr lang="es-ES" altLang="es-ES" sz="1400" dirty="0">
              <a:solidFill>
                <a:srgbClr val="333333"/>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35202"/>
            <a:ext cx="10387263" cy="3705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pPr marL="0" lvl="0" indent="0" eaLnBrk="0" fontAlgn="base" hangingPunct="0">
              <a:lnSpc>
                <a:spcPct val="100000"/>
              </a:lnSpc>
              <a:spcBef>
                <a:spcPts val="0"/>
              </a:spcBef>
              <a:buClrTx/>
              <a:buSzTx/>
              <a:buNone/>
            </a:pPr>
            <a:endParaRPr lang="es-ES" sz="1600" dirty="0"/>
          </a:p>
          <a:p>
            <a:pPr marL="0" lvl="0" indent="0" eaLnBrk="0" fontAlgn="base" hangingPunct="0">
              <a:lnSpc>
                <a:spcPct val="100000"/>
              </a:lnSpc>
              <a:spcBef>
                <a:spcPts val="0"/>
              </a:spcBef>
              <a:buClrTx/>
              <a:buSzTx/>
              <a:buNone/>
            </a:pPr>
            <a:r>
              <a:rPr lang="es-ES" sz="1600" dirty="0"/>
              <a:t>Con </a:t>
            </a:r>
            <a:r>
              <a:rPr lang="es-ES" sz="1600" i="1" dirty="0"/>
              <a:t>Linux</a:t>
            </a:r>
            <a:r>
              <a:rPr lang="es-ES" sz="1600" dirty="0"/>
              <a:t> podremos crear tareas para que sean ejecutadas en un futuro. </a:t>
            </a:r>
            <a:endParaRPr lang="es-ES" sz="1600" dirty="0"/>
          </a:p>
          <a:p>
            <a:pPr marL="0" lvl="0" indent="0" eaLnBrk="0" fontAlgn="base" hangingPunct="0">
              <a:lnSpc>
                <a:spcPct val="100000"/>
              </a:lnSpc>
              <a:spcBef>
                <a:spcPts val="0"/>
              </a:spcBef>
              <a:buClrTx/>
              <a:buSzTx/>
              <a:buNone/>
            </a:pPr>
            <a:r>
              <a:rPr lang="es-ES" sz="1600" dirty="0"/>
              <a:t>Para ello contamos con la utilidad </a:t>
            </a:r>
            <a:r>
              <a:rPr lang="es-ES" sz="1600" b="1" dirty="0"/>
              <a:t>cron</a:t>
            </a:r>
            <a:r>
              <a:rPr lang="es-ES" sz="1600" dirty="0"/>
              <a:t>, estrechamente relacionada con </a:t>
            </a:r>
            <a:r>
              <a:rPr lang="es-ES" sz="1600" b="1" dirty="0"/>
              <a:t>at</a:t>
            </a:r>
            <a:r>
              <a:rPr lang="es-ES" sz="1600" dirty="0"/>
              <a:t>. </a:t>
            </a:r>
            <a:endParaRPr lang="es-ES" sz="1600" dirty="0"/>
          </a:p>
          <a:p>
            <a:pPr marL="0" lvl="0" indent="0" eaLnBrk="0" fontAlgn="base" hangingPunct="0">
              <a:lnSpc>
                <a:spcPct val="100000"/>
              </a:lnSpc>
              <a:spcBef>
                <a:spcPts val="0"/>
              </a:spcBef>
              <a:buClrTx/>
              <a:buSzTx/>
              <a:buNone/>
            </a:pPr>
            <a:r>
              <a:rPr lang="es-ES" sz="1600" dirty="0"/>
              <a:t>La diferencia entre ambas es que </a:t>
            </a:r>
            <a:r>
              <a:rPr lang="es-ES" sz="1600" i="1" dirty="0"/>
              <a:t>cron</a:t>
            </a:r>
            <a:r>
              <a:rPr lang="es-ES" sz="1600" dirty="0"/>
              <a:t> nos permite ejecutar tareas de forma periódicas mientras </a:t>
            </a:r>
            <a:r>
              <a:rPr lang="es-ES" sz="1600" i="1" dirty="0"/>
              <a:t>at</a:t>
            </a:r>
            <a:r>
              <a:rPr lang="es-ES" sz="1600" dirty="0"/>
              <a:t> es utilizada para ejecutar un comando en un momento dado de forma exclusiva. Las tareas </a:t>
            </a:r>
            <a:r>
              <a:rPr lang="es-ES" sz="1600" i="1" dirty="0"/>
              <a:t>cron</a:t>
            </a:r>
            <a:r>
              <a:rPr lang="es-ES" sz="1600" dirty="0"/>
              <a:t> relacionadas con la administración del sistema suelen ejecutarse en horarios en los que la mayoría de ordenadores clientes o de escritorio suelen estar apagado.</a:t>
            </a:r>
            <a:endParaRPr lang="es-ES" sz="1600" dirty="0"/>
          </a:p>
          <a:p>
            <a:pPr marL="0" lvl="0" indent="0" eaLnBrk="0" fontAlgn="base" hangingPunct="0">
              <a:lnSpc>
                <a:spcPct val="100000"/>
              </a:lnSpc>
              <a:spcBef>
                <a:spcPts val="0"/>
              </a:spcBef>
              <a:buClrTx/>
              <a:buSzTx/>
              <a:buNone/>
            </a:pPr>
            <a:r>
              <a:rPr lang="es-ES" sz="1600" dirty="0"/>
              <a:t>Esto se programa así para evitar una sobrecarga en el sistema a horas en los que quizás el usuario este trabajando. </a:t>
            </a:r>
            <a:endParaRPr lang="es-ES" sz="1600" dirty="0"/>
          </a:p>
          <a:p>
            <a:pPr marL="0" lvl="0" indent="0" eaLnBrk="0" fontAlgn="base" hangingPunct="0">
              <a:lnSpc>
                <a:spcPct val="100000"/>
              </a:lnSpc>
              <a:spcBef>
                <a:spcPts val="0"/>
              </a:spcBef>
              <a:buClrTx/>
              <a:buSzTx/>
              <a:buNone/>
            </a:pPr>
            <a:r>
              <a:rPr lang="es-ES" sz="1600" dirty="0"/>
              <a:t>En servidores donde el apagado total del sistema es infrecuente este mecanismo funciona de forma efectiva, pero para solucionar el problema con los ordenadores de escritorio se implementó </a:t>
            </a:r>
            <a:r>
              <a:rPr lang="es-ES" sz="1600" b="1" dirty="0" err="1"/>
              <a:t>anacron</a:t>
            </a:r>
            <a:r>
              <a:rPr lang="es-ES" sz="1600" dirty="0"/>
              <a:t>, el cual se asegura de que las tareas de sistema programas por </a:t>
            </a:r>
            <a:r>
              <a:rPr lang="es-ES" sz="1600" i="1" dirty="0"/>
              <a:t>cron</a:t>
            </a:r>
            <a:r>
              <a:rPr lang="es-ES" sz="1600" dirty="0"/>
              <a:t> sean ejecutadas eficientemente cuando el ordenador del cliente es encendido, mas concretamente cuando el demonio </a:t>
            </a:r>
            <a:r>
              <a:rPr lang="es-ES" sz="1600" i="1" dirty="0" err="1"/>
              <a:t>anacron</a:t>
            </a:r>
            <a:r>
              <a:rPr lang="es-ES" sz="1600" dirty="0"/>
              <a:t> es ejecutado.</a:t>
            </a:r>
            <a:endParaRPr lang="es-ES" altLang="es-ES" sz="1600" dirty="0">
              <a:solidFill>
                <a:srgbClr val="333333"/>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58841"/>
            <a:ext cx="10387263" cy="447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pPr marL="0" indent="0">
              <a:buNone/>
            </a:pPr>
            <a:r>
              <a:rPr lang="es-ES" sz="1600" b="1" dirty="0"/>
              <a:t>Cron</a:t>
            </a:r>
            <a:endParaRPr lang="es-ES" sz="1600" b="1" dirty="0"/>
          </a:p>
          <a:p>
            <a:r>
              <a:rPr lang="es-ES" sz="1600" b="1" i="1" dirty="0"/>
              <a:t>Cron</a:t>
            </a:r>
            <a:r>
              <a:rPr lang="es-ES" sz="1600" dirty="0"/>
              <a:t>  comprueba cada minuto los archivos de los directorios </a:t>
            </a:r>
            <a:r>
              <a:rPr lang="es-ES" sz="1600" b="1" dirty="0"/>
              <a:t>/</a:t>
            </a:r>
            <a:r>
              <a:rPr lang="es-ES" sz="1600" b="1" dirty="0" err="1"/>
              <a:t>var</a:t>
            </a:r>
            <a:r>
              <a:rPr lang="es-ES" sz="1600" b="1" dirty="0"/>
              <a:t>/</a:t>
            </a:r>
            <a:r>
              <a:rPr lang="es-ES" sz="1600" b="1" dirty="0" err="1"/>
              <a:t>spool</a:t>
            </a:r>
            <a:r>
              <a:rPr lang="es-ES" sz="1600" b="1" dirty="0"/>
              <a:t>/cron </a:t>
            </a:r>
            <a:r>
              <a:rPr lang="es-ES" sz="1600" dirty="0"/>
              <a:t>y</a:t>
            </a:r>
            <a:r>
              <a:rPr lang="es-ES" sz="1600" b="1" i="1" dirty="0"/>
              <a:t> /</a:t>
            </a:r>
            <a:r>
              <a:rPr lang="es-ES" sz="1600" b="1" i="1" dirty="0" err="1"/>
              <a:t>etc</a:t>
            </a:r>
            <a:r>
              <a:rPr lang="es-ES" sz="1600" b="1" i="1" dirty="0"/>
              <a:t>/</a:t>
            </a:r>
            <a:r>
              <a:rPr lang="es-ES" sz="1600" b="1" i="1" dirty="0" err="1"/>
              <a:t>cron.d</a:t>
            </a:r>
            <a:r>
              <a:rPr lang="es-ES" sz="1600" b="1" i="1" dirty="0"/>
              <a:t>/ </a:t>
            </a:r>
            <a:r>
              <a:rPr lang="es-ES" sz="1600" dirty="0"/>
              <a:t>además del archivo</a:t>
            </a:r>
            <a:r>
              <a:rPr lang="es-ES" sz="1600" b="1" dirty="0"/>
              <a:t> </a:t>
            </a:r>
            <a:r>
              <a:rPr lang="es-ES" sz="1600" b="1" i="1" dirty="0"/>
              <a:t>/</a:t>
            </a:r>
            <a:r>
              <a:rPr lang="es-ES" sz="1600" b="1" i="1" dirty="0" err="1"/>
              <a:t>etc</a:t>
            </a:r>
            <a:r>
              <a:rPr lang="es-ES" sz="1600" b="1" i="1" dirty="0"/>
              <a:t>/</a:t>
            </a:r>
            <a:r>
              <a:rPr lang="es-ES" sz="1600" b="1" i="1" dirty="0" err="1"/>
              <a:t>crontab</a:t>
            </a:r>
            <a:r>
              <a:rPr lang="es-ES" sz="1600" dirty="0"/>
              <a:t>, ejecutando los comandos especificados en estos archivos, siempre y cuando la hora de comprobación coincida con alguna de las que posee las tareas configuradas.</a:t>
            </a:r>
            <a:endParaRPr lang="es-ES" sz="1600" dirty="0"/>
          </a:p>
          <a:p>
            <a:r>
              <a:rPr lang="es-ES" sz="1600" dirty="0"/>
              <a:t>Existen dos tipos de tareas </a:t>
            </a:r>
            <a:r>
              <a:rPr lang="es-ES" sz="1600" b="1" i="1" dirty="0"/>
              <a:t>cron</a:t>
            </a:r>
            <a:r>
              <a:rPr lang="es-ES" sz="1600" dirty="0"/>
              <a:t>: las</a:t>
            </a:r>
            <a:r>
              <a:rPr lang="es-ES" sz="1600" b="1" dirty="0"/>
              <a:t> tareas cron del sistema</a:t>
            </a:r>
            <a:r>
              <a:rPr lang="es-ES" sz="1600" dirty="0"/>
              <a:t> y </a:t>
            </a:r>
            <a:r>
              <a:rPr lang="es-ES" sz="1600" b="1" dirty="0"/>
              <a:t>tareas del usuario</a:t>
            </a:r>
            <a:r>
              <a:rPr lang="es-ES" sz="1600" dirty="0"/>
              <a:t>.</a:t>
            </a:r>
            <a:endParaRPr lang="es-ES" sz="1600" dirty="0"/>
          </a:p>
          <a:p>
            <a:pPr>
              <a:buFont typeface="Wingdings" panose="05000000000000000000" pitchFamily="2" charset="2"/>
              <a:buChar char="§"/>
            </a:pPr>
            <a:r>
              <a:rPr lang="es-ES" sz="1600" b="1" i="1" dirty="0"/>
              <a:t>Las tareas cron del sistema </a:t>
            </a:r>
            <a:r>
              <a:rPr lang="es-ES" sz="1600" dirty="0"/>
              <a:t>se ejecutan como </a:t>
            </a:r>
            <a:r>
              <a:rPr lang="es-ES" sz="1600" i="1" dirty="0" err="1"/>
              <a:t>root</a:t>
            </a:r>
            <a:r>
              <a:rPr lang="es-ES" sz="1600" dirty="0"/>
              <a:t> y por lo general llevan a cabo tareas de mantenimiento del sistema, como por ejemplo eliminar antiguos archivos temporales del directorio </a:t>
            </a:r>
            <a:r>
              <a:rPr lang="es-ES" sz="1600" i="1" dirty="0"/>
              <a:t>/</a:t>
            </a:r>
            <a:r>
              <a:rPr lang="es-ES" sz="1600" i="1" dirty="0" err="1"/>
              <a:t>tmp</a:t>
            </a:r>
            <a:r>
              <a:rPr lang="es-ES" sz="1600" dirty="0"/>
              <a:t>, rotación de archivos de registro, etc.</a:t>
            </a:r>
            <a:endParaRPr lang="es-ES" sz="1600" dirty="0"/>
          </a:p>
          <a:p>
            <a:pPr>
              <a:buFont typeface="Wingdings" panose="05000000000000000000" pitchFamily="2" charset="2"/>
              <a:buChar char="§"/>
            </a:pPr>
            <a:r>
              <a:rPr lang="es-ES" sz="1600" b="1" dirty="0"/>
              <a:t>Las tareas </a:t>
            </a:r>
            <a:r>
              <a:rPr lang="es-ES" sz="1600" b="1" i="1" dirty="0"/>
              <a:t>cron</a:t>
            </a:r>
            <a:r>
              <a:rPr lang="es-ES" sz="1600" b="1" dirty="0"/>
              <a:t> del usuario </a:t>
            </a:r>
            <a:r>
              <a:rPr lang="es-ES" sz="1600" dirty="0"/>
              <a:t>ejecutan ciertos programas que el usuario quiere ejecutar de forma regular. Es posible crear tareas de usuario que sean ejecutadas por </a:t>
            </a:r>
            <a:r>
              <a:rPr lang="es-ES" sz="1600" i="1" dirty="0" err="1"/>
              <a:t>root</a:t>
            </a:r>
            <a:r>
              <a:rPr lang="es-ES" sz="1600" dirty="0"/>
              <a:t>, por ejemplo si fuese necesario ejecutar ciertos comandos en momentos no contemplados por las tareas del sistema.</a:t>
            </a:r>
            <a:endParaRPr lang="es-ES" sz="16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631232"/>
            <a:ext cx="10387263" cy="432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pPr marL="0" lvl="0" indent="0" eaLnBrk="0" fontAlgn="base" hangingPunct="0">
              <a:lnSpc>
                <a:spcPct val="100000"/>
              </a:lnSpc>
              <a:spcBef>
                <a:spcPts val="200"/>
              </a:spcBef>
              <a:spcAft>
                <a:spcPct val="0"/>
              </a:spcAft>
              <a:buClrTx/>
              <a:buSzTx/>
              <a:buNone/>
            </a:pPr>
            <a:r>
              <a:rPr lang="es-ES" altLang="es-ES" sz="1600" b="1" dirty="0">
                <a:solidFill>
                  <a:srgbClr val="333333"/>
                </a:solidFill>
              </a:rPr>
              <a:t>Formato para la definición de tareas cron</a:t>
            </a:r>
            <a:endParaRPr lang="es-ES" altLang="es-ES" sz="1600" b="1" dirty="0">
              <a:solidFill>
                <a:srgbClr val="333333"/>
              </a:solidFill>
            </a:endParaRPr>
          </a:p>
          <a:p>
            <a:pPr marL="0" lvl="0" indent="0" eaLnBrk="0" fontAlgn="base" hangingPunct="0">
              <a:lnSpc>
                <a:spcPct val="100000"/>
              </a:lnSpc>
              <a:spcBef>
                <a:spcPts val="200"/>
              </a:spcBef>
              <a:spcAft>
                <a:spcPct val="0"/>
              </a:spcAft>
              <a:buClrTx/>
              <a:buSzTx/>
              <a:buNone/>
            </a:pPr>
            <a:r>
              <a:rPr lang="es-ES" altLang="es-ES" sz="1600" dirty="0">
                <a:solidFill>
                  <a:srgbClr val="333333"/>
                </a:solidFill>
              </a:rPr>
              <a:t>Existen diferentes formas de crear una tarea </a:t>
            </a:r>
            <a:r>
              <a:rPr lang="es-ES" altLang="es-ES" sz="1600" i="1" dirty="0">
                <a:solidFill>
                  <a:srgbClr val="333333"/>
                </a:solidFill>
              </a:rPr>
              <a:t>cron</a:t>
            </a:r>
            <a:r>
              <a:rPr lang="es-ES" altLang="es-ES" sz="1600" dirty="0">
                <a:solidFill>
                  <a:srgbClr val="333333"/>
                </a:solidFill>
              </a:rPr>
              <a:t>, pero por lo general el formato de la tarea tendrá la siguiente sintaxis.</a:t>
            </a:r>
            <a:endParaRPr lang="es-ES" altLang="es-ES" sz="1600" dirty="0">
              <a:solidFill>
                <a:srgbClr val="333333"/>
              </a:solidFill>
              <a:cs typeface="Courier New" panose="02070309020205020404" pitchFamily="49" charset="0"/>
            </a:endParaRPr>
          </a:p>
          <a:p>
            <a:pPr marL="0" lvl="0" indent="0" algn="ctr" eaLnBrk="0" fontAlgn="base" hangingPunct="0">
              <a:lnSpc>
                <a:spcPct val="100000"/>
              </a:lnSpc>
              <a:spcBef>
                <a:spcPts val="200"/>
              </a:spcBef>
              <a:spcAft>
                <a:spcPct val="0"/>
              </a:spcAft>
              <a:buClrTx/>
              <a:buSzTx/>
              <a:buNone/>
            </a:pPr>
            <a:r>
              <a:rPr lang="es-ES" altLang="es-ES" sz="1600" b="1" dirty="0">
                <a:solidFill>
                  <a:srgbClr val="333333"/>
                </a:solidFill>
                <a:cs typeface="Courier New" panose="02070309020205020404" pitchFamily="49" charset="0"/>
              </a:rPr>
              <a:t>min  hora  </a:t>
            </a:r>
            <a:r>
              <a:rPr lang="es-ES" altLang="es-ES" sz="1600" b="1" dirty="0" err="1">
                <a:solidFill>
                  <a:srgbClr val="333333"/>
                </a:solidFill>
                <a:cs typeface="Courier New" panose="02070309020205020404" pitchFamily="49" charset="0"/>
              </a:rPr>
              <a:t>diadelmes</a:t>
            </a:r>
            <a:r>
              <a:rPr lang="es-ES" altLang="es-ES" sz="1600" b="1" dirty="0">
                <a:solidFill>
                  <a:srgbClr val="333333"/>
                </a:solidFill>
                <a:cs typeface="Courier New" panose="02070309020205020404" pitchFamily="49" charset="0"/>
              </a:rPr>
              <a:t>  mes  </a:t>
            </a:r>
            <a:r>
              <a:rPr lang="es-ES" altLang="es-ES" sz="1600" b="1" dirty="0" err="1">
                <a:solidFill>
                  <a:srgbClr val="333333"/>
                </a:solidFill>
                <a:cs typeface="Courier New" panose="02070309020205020404" pitchFamily="49" charset="0"/>
              </a:rPr>
              <a:t>diadelasemana</a:t>
            </a:r>
            <a:r>
              <a:rPr lang="es-ES" altLang="es-ES" sz="1600" b="1" dirty="0">
                <a:solidFill>
                  <a:srgbClr val="333333"/>
                </a:solidFill>
                <a:cs typeface="Courier New" panose="02070309020205020404" pitchFamily="49" charset="0"/>
              </a:rPr>
              <a:t>  [usuario]  /ruta/al/script</a:t>
            </a:r>
            <a:endParaRPr lang="es-ES" altLang="es-ES" sz="2000" b="1" dirty="0">
              <a:solidFill>
                <a:schemeClr val="tx1"/>
              </a:solidFill>
            </a:endParaRPr>
          </a:p>
          <a:p>
            <a:pPr eaLnBrk="0" fontAlgn="base" hangingPunct="0">
              <a:lnSpc>
                <a:spcPct val="100000"/>
              </a:lnSpc>
              <a:spcBef>
                <a:spcPts val="200"/>
              </a:spcBef>
              <a:spcAft>
                <a:spcPct val="0"/>
              </a:spcAft>
              <a:buClr>
                <a:schemeClr val="accent1">
                  <a:lumMod val="75000"/>
                </a:schemeClr>
              </a:buClr>
              <a:buSzTx/>
              <a:buFont typeface="Wingdings" panose="05000000000000000000" pitchFamily="2" charset="2"/>
              <a:buChar char="§"/>
            </a:pPr>
            <a:r>
              <a:rPr lang="es-ES" altLang="es-ES" sz="1600" b="1" dirty="0">
                <a:solidFill>
                  <a:srgbClr val="333333"/>
                </a:solidFill>
              </a:rPr>
              <a:t>Minutos</a:t>
            </a:r>
            <a:r>
              <a:rPr lang="es-ES" altLang="es-ES" sz="1600" dirty="0">
                <a:solidFill>
                  <a:srgbClr val="333333"/>
                </a:solidFill>
              </a:rPr>
              <a:t>: 0 – 59</a:t>
            </a:r>
            <a:endParaRPr lang="es-ES" altLang="es-ES" sz="1600" dirty="0">
              <a:solidFill>
                <a:srgbClr val="333333"/>
              </a:solidFill>
            </a:endParaRPr>
          </a:p>
          <a:p>
            <a:pPr eaLnBrk="0" fontAlgn="base" hangingPunct="0">
              <a:lnSpc>
                <a:spcPct val="100000"/>
              </a:lnSpc>
              <a:spcBef>
                <a:spcPts val="200"/>
              </a:spcBef>
              <a:spcAft>
                <a:spcPct val="0"/>
              </a:spcAft>
              <a:buClr>
                <a:schemeClr val="accent1">
                  <a:lumMod val="75000"/>
                </a:schemeClr>
              </a:buClr>
              <a:buSzTx/>
              <a:buFont typeface="Wingdings" panose="05000000000000000000" pitchFamily="2" charset="2"/>
              <a:buChar char="§"/>
            </a:pPr>
            <a:r>
              <a:rPr lang="es-ES" altLang="es-ES" sz="1600" b="1" dirty="0">
                <a:solidFill>
                  <a:srgbClr val="333333"/>
                </a:solidFill>
              </a:rPr>
              <a:t>Horas</a:t>
            </a:r>
            <a:r>
              <a:rPr lang="es-ES" altLang="es-ES" sz="1600" dirty="0">
                <a:solidFill>
                  <a:srgbClr val="333333"/>
                </a:solidFill>
              </a:rPr>
              <a:t>: 0 – 23</a:t>
            </a:r>
            <a:endParaRPr lang="es-ES" altLang="es-ES" sz="1600" dirty="0">
              <a:solidFill>
                <a:srgbClr val="333333"/>
              </a:solidFill>
            </a:endParaRPr>
          </a:p>
          <a:p>
            <a:pPr eaLnBrk="0" fontAlgn="base" hangingPunct="0">
              <a:lnSpc>
                <a:spcPct val="100000"/>
              </a:lnSpc>
              <a:spcBef>
                <a:spcPts val="200"/>
              </a:spcBef>
              <a:spcAft>
                <a:spcPct val="0"/>
              </a:spcAft>
              <a:buClr>
                <a:schemeClr val="accent1">
                  <a:lumMod val="75000"/>
                </a:schemeClr>
              </a:buClr>
              <a:buSzTx/>
              <a:buFont typeface="Wingdings" panose="05000000000000000000" pitchFamily="2" charset="2"/>
              <a:buChar char="§"/>
            </a:pPr>
            <a:r>
              <a:rPr lang="es-ES" altLang="es-ES" sz="1600" b="1" dirty="0">
                <a:solidFill>
                  <a:srgbClr val="333333"/>
                </a:solidFill>
              </a:rPr>
              <a:t>Día del mes</a:t>
            </a:r>
            <a:r>
              <a:rPr lang="es-ES" altLang="es-ES" sz="1600" dirty="0">
                <a:solidFill>
                  <a:srgbClr val="333333"/>
                </a:solidFill>
              </a:rPr>
              <a:t>: 1 – 31</a:t>
            </a:r>
            <a:endParaRPr lang="es-ES" altLang="es-ES" sz="1600" dirty="0">
              <a:solidFill>
                <a:srgbClr val="333333"/>
              </a:solidFill>
            </a:endParaRPr>
          </a:p>
          <a:p>
            <a:pPr eaLnBrk="0" fontAlgn="base" hangingPunct="0">
              <a:lnSpc>
                <a:spcPct val="100000"/>
              </a:lnSpc>
              <a:spcBef>
                <a:spcPts val="200"/>
              </a:spcBef>
              <a:spcAft>
                <a:spcPct val="0"/>
              </a:spcAft>
              <a:buClr>
                <a:schemeClr val="accent1">
                  <a:lumMod val="75000"/>
                </a:schemeClr>
              </a:buClr>
              <a:buSzTx/>
              <a:buFont typeface="Wingdings" panose="05000000000000000000" pitchFamily="2" charset="2"/>
              <a:buChar char="§"/>
            </a:pPr>
            <a:r>
              <a:rPr lang="es-ES" altLang="es-ES" sz="1600" b="1" dirty="0">
                <a:solidFill>
                  <a:srgbClr val="333333"/>
                </a:solidFill>
              </a:rPr>
              <a:t>Mes</a:t>
            </a:r>
            <a:r>
              <a:rPr lang="es-ES" altLang="es-ES" sz="1600" dirty="0">
                <a:solidFill>
                  <a:srgbClr val="333333"/>
                </a:solidFill>
              </a:rPr>
              <a:t>: 1 – 12 o </a:t>
            </a:r>
            <a:r>
              <a:rPr lang="es-ES" altLang="es-ES" sz="1600" i="1" dirty="0">
                <a:solidFill>
                  <a:srgbClr val="333333"/>
                </a:solidFill>
              </a:rPr>
              <a:t>Ene</a:t>
            </a:r>
            <a:r>
              <a:rPr lang="es-ES" altLang="es-ES" sz="1600" dirty="0">
                <a:solidFill>
                  <a:srgbClr val="333333"/>
                </a:solidFill>
              </a:rPr>
              <a:t>, </a:t>
            </a:r>
            <a:r>
              <a:rPr lang="es-ES" altLang="es-ES" sz="1600" i="1" dirty="0">
                <a:solidFill>
                  <a:srgbClr val="333333"/>
                </a:solidFill>
              </a:rPr>
              <a:t>Feb</a:t>
            </a:r>
            <a:r>
              <a:rPr lang="es-ES" altLang="es-ES" sz="1600" dirty="0">
                <a:solidFill>
                  <a:srgbClr val="333333"/>
                </a:solidFill>
              </a:rPr>
              <a:t>, </a:t>
            </a:r>
            <a:r>
              <a:rPr lang="es-ES" altLang="es-ES" sz="1600" i="1" dirty="0">
                <a:solidFill>
                  <a:srgbClr val="333333"/>
                </a:solidFill>
              </a:rPr>
              <a:t>Mar</a:t>
            </a:r>
            <a:r>
              <a:rPr lang="es-ES" altLang="es-ES" sz="1600" dirty="0">
                <a:solidFill>
                  <a:srgbClr val="333333"/>
                </a:solidFill>
              </a:rPr>
              <a:t>, etc.</a:t>
            </a:r>
            <a:endParaRPr lang="es-ES" altLang="es-ES" sz="1600" dirty="0">
              <a:solidFill>
                <a:srgbClr val="333333"/>
              </a:solidFill>
            </a:endParaRPr>
          </a:p>
          <a:p>
            <a:pPr eaLnBrk="0" fontAlgn="base" hangingPunct="0">
              <a:lnSpc>
                <a:spcPct val="100000"/>
              </a:lnSpc>
              <a:spcBef>
                <a:spcPts val="200"/>
              </a:spcBef>
              <a:spcAft>
                <a:spcPct val="0"/>
              </a:spcAft>
              <a:buClr>
                <a:schemeClr val="accent1">
                  <a:lumMod val="75000"/>
                </a:schemeClr>
              </a:buClr>
              <a:buSzTx/>
              <a:buFont typeface="Wingdings" panose="05000000000000000000" pitchFamily="2" charset="2"/>
              <a:buChar char="§"/>
            </a:pPr>
            <a:r>
              <a:rPr lang="es-ES" altLang="es-ES" sz="1600" b="1" dirty="0">
                <a:solidFill>
                  <a:srgbClr val="333333"/>
                </a:solidFill>
              </a:rPr>
              <a:t>Día de la semana</a:t>
            </a:r>
            <a:r>
              <a:rPr lang="es-ES" altLang="es-ES" sz="1600" dirty="0">
                <a:solidFill>
                  <a:srgbClr val="333333"/>
                </a:solidFill>
              </a:rPr>
              <a:t>: 0 – 7 (tanto el 0 como el 7 pertenecen al Domingo, por lo que podríamos concretar con 1 – 7) o </a:t>
            </a:r>
            <a:r>
              <a:rPr lang="es-ES" altLang="es-ES" sz="1600" i="1" dirty="0">
                <a:solidFill>
                  <a:srgbClr val="333333"/>
                </a:solidFill>
              </a:rPr>
              <a:t>Lun</a:t>
            </a:r>
            <a:r>
              <a:rPr lang="es-ES" altLang="es-ES" sz="1600" dirty="0">
                <a:solidFill>
                  <a:srgbClr val="333333"/>
                </a:solidFill>
              </a:rPr>
              <a:t>, </a:t>
            </a:r>
            <a:r>
              <a:rPr lang="es-ES" altLang="es-ES" sz="1600" i="1" dirty="0">
                <a:solidFill>
                  <a:srgbClr val="333333"/>
                </a:solidFill>
              </a:rPr>
              <a:t>Mar</a:t>
            </a:r>
            <a:r>
              <a:rPr lang="es-ES" altLang="es-ES" sz="1600" dirty="0">
                <a:solidFill>
                  <a:srgbClr val="333333"/>
                </a:solidFill>
              </a:rPr>
              <a:t>, </a:t>
            </a:r>
            <a:r>
              <a:rPr lang="es-ES" altLang="es-ES" sz="1600" i="1" dirty="0">
                <a:solidFill>
                  <a:srgbClr val="333333"/>
                </a:solidFill>
              </a:rPr>
              <a:t>Mie</a:t>
            </a:r>
            <a:r>
              <a:rPr lang="es-ES" altLang="es-ES" sz="1600" dirty="0">
                <a:solidFill>
                  <a:srgbClr val="333333"/>
                </a:solidFill>
              </a:rPr>
              <a:t>, etc.</a:t>
            </a:r>
            <a:endParaRPr lang="es-ES" altLang="es-ES" sz="1600" dirty="0">
              <a:solidFill>
                <a:srgbClr val="333333"/>
              </a:solidFill>
            </a:endParaRPr>
          </a:p>
          <a:p>
            <a:pPr eaLnBrk="0" fontAlgn="base" hangingPunct="0">
              <a:lnSpc>
                <a:spcPct val="100000"/>
              </a:lnSpc>
              <a:spcBef>
                <a:spcPts val="200"/>
              </a:spcBef>
              <a:spcAft>
                <a:spcPct val="0"/>
              </a:spcAft>
              <a:buClr>
                <a:schemeClr val="accent1">
                  <a:lumMod val="75000"/>
                </a:schemeClr>
              </a:buClr>
              <a:buSzTx/>
              <a:buFont typeface="Wingdings" panose="05000000000000000000" pitchFamily="2" charset="2"/>
              <a:buChar char="§"/>
            </a:pPr>
            <a:r>
              <a:rPr lang="es-ES" altLang="es-ES" sz="1600" b="1" dirty="0">
                <a:solidFill>
                  <a:srgbClr val="333333"/>
                </a:solidFill>
              </a:rPr>
              <a:t>Usuario</a:t>
            </a:r>
            <a:r>
              <a:rPr lang="es-ES" altLang="es-ES" sz="1600" dirty="0">
                <a:solidFill>
                  <a:srgbClr val="333333"/>
                </a:solidFill>
              </a:rPr>
              <a:t>: Las tareas cron de usuarios no incluyen la especificación del nombre de usuario en esta línea. No obstante suele ser corriente encontrarlo en tareas cron del sistema, donde el encargado de dicha ejecución es </a:t>
            </a:r>
            <a:r>
              <a:rPr lang="es-ES" altLang="es-ES" sz="1600" dirty="0" err="1">
                <a:solidFill>
                  <a:srgbClr val="333333"/>
                </a:solidFill>
              </a:rPr>
              <a:t>root</a:t>
            </a:r>
            <a:r>
              <a:rPr lang="es-ES" altLang="es-ES" sz="1600" dirty="0">
                <a:solidFill>
                  <a:srgbClr val="333333"/>
                </a:solidFill>
              </a:rPr>
              <a:t>.</a:t>
            </a:r>
            <a:endParaRPr lang="es-ES" altLang="es-ES" sz="1600" dirty="0">
              <a:solidFill>
                <a:srgbClr val="333333"/>
              </a:solidFill>
            </a:endParaRPr>
          </a:p>
          <a:p>
            <a:pPr eaLnBrk="0" fontAlgn="base" hangingPunct="0">
              <a:lnSpc>
                <a:spcPct val="100000"/>
              </a:lnSpc>
              <a:spcBef>
                <a:spcPts val="200"/>
              </a:spcBef>
              <a:spcAft>
                <a:spcPct val="0"/>
              </a:spcAft>
              <a:buClr>
                <a:schemeClr val="accent1">
                  <a:lumMod val="75000"/>
                </a:schemeClr>
              </a:buClr>
              <a:buSzTx/>
              <a:buFont typeface="Wingdings" panose="05000000000000000000" pitchFamily="2" charset="2"/>
              <a:buChar char="§"/>
            </a:pPr>
            <a:r>
              <a:rPr lang="es-ES" altLang="es-ES" sz="1600" b="1" dirty="0">
                <a:solidFill>
                  <a:srgbClr val="333333"/>
                </a:solidFill>
              </a:rPr>
              <a:t>Programa</a:t>
            </a:r>
            <a:r>
              <a:rPr lang="es-ES" altLang="es-ES" sz="1600" dirty="0">
                <a:solidFill>
                  <a:srgbClr val="333333"/>
                </a:solidFill>
              </a:rPr>
              <a:t>: Es el binario o script que vamos a </a:t>
            </a:r>
            <a:r>
              <a:rPr lang="es-ES" altLang="es-ES" sz="1600" dirty="0" err="1">
                <a:solidFill>
                  <a:srgbClr val="333333"/>
                </a:solidFill>
              </a:rPr>
              <a:t>ejectar</a:t>
            </a:r>
            <a:r>
              <a:rPr lang="es-ES" altLang="es-ES" sz="1600" dirty="0">
                <a:solidFill>
                  <a:srgbClr val="333333"/>
                </a:solidFill>
              </a:rPr>
              <a:t> el cual realizará las funciones pertinentes. Puede contener varios comandos o cadenas de ellos acompañado de directorios como en el caso de tareas cron de sistema.</a:t>
            </a:r>
            <a:endParaRPr lang="es-ES" altLang="es-ES" sz="1600" dirty="0">
              <a:solidFill>
                <a:srgbClr val="333333"/>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43133"/>
            <a:ext cx="10387263" cy="4502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pPr marL="0" lvl="0" indent="0" eaLnBrk="0" fontAlgn="base" hangingPunct="0">
              <a:lnSpc>
                <a:spcPct val="100000"/>
              </a:lnSpc>
              <a:spcBef>
                <a:spcPts val="200"/>
              </a:spcBef>
              <a:spcAft>
                <a:spcPct val="0"/>
              </a:spcAft>
              <a:buClrTx/>
              <a:buSzTx/>
              <a:buNone/>
            </a:pPr>
            <a:r>
              <a:rPr lang="es-ES" altLang="es-ES" sz="1600" b="1" dirty="0">
                <a:solidFill>
                  <a:srgbClr val="333333"/>
                </a:solidFill>
              </a:rPr>
              <a:t>Formato para la definición de tareas cron</a:t>
            </a:r>
            <a:endParaRPr lang="es-ES" altLang="es-ES" sz="1600" b="1" dirty="0">
              <a:solidFill>
                <a:srgbClr val="333333"/>
              </a:solidFill>
            </a:endParaRPr>
          </a:p>
          <a:p>
            <a:pPr eaLnBrk="0" fontAlgn="base" hangingPunct="0">
              <a:spcBef>
                <a:spcPct val="0"/>
              </a:spcBef>
              <a:spcAft>
                <a:spcPct val="0"/>
              </a:spcAft>
            </a:pPr>
            <a:r>
              <a:rPr lang="es-ES" altLang="es-ES" sz="1400" dirty="0">
                <a:solidFill>
                  <a:srgbClr val="333333"/>
                </a:solidFill>
              </a:rPr>
              <a:t>Una vez que conocemos la sintaxis para definir una tarea, será necesario conocer algunos ‘trucos’ para especificar rangos o momentos concretos, por ejemplo:</a:t>
            </a:r>
            <a:endParaRPr lang="es-ES" altLang="es-ES" sz="1400" dirty="0">
              <a:solidFill>
                <a:schemeClr val="tx1"/>
              </a:solidFill>
            </a:endParaRPr>
          </a:p>
          <a:p>
            <a:pPr marL="0" indent="0" eaLnBrk="0" fontAlgn="base" hangingPunct="0">
              <a:spcBef>
                <a:spcPct val="0"/>
              </a:spcBef>
              <a:spcAft>
                <a:spcPct val="0"/>
              </a:spcAft>
              <a:buFontTx/>
              <a:buChar char="•"/>
            </a:pPr>
            <a:r>
              <a:rPr lang="es-ES" altLang="es-ES" sz="1400" dirty="0">
                <a:solidFill>
                  <a:srgbClr val="333333"/>
                </a:solidFill>
              </a:rPr>
              <a:t>Un asterisco ‘</a:t>
            </a:r>
            <a:r>
              <a:rPr lang="es-ES" altLang="es-ES" sz="1400" b="1" dirty="0">
                <a:solidFill>
                  <a:srgbClr val="333333"/>
                </a:solidFill>
              </a:rPr>
              <a:t>*</a:t>
            </a:r>
            <a:r>
              <a:rPr lang="es-ES" altLang="es-ES" sz="1400" dirty="0">
                <a:solidFill>
                  <a:srgbClr val="333333"/>
                </a:solidFill>
              </a:rPr>
              <a:t>‘ coincide con todos los valores posibles.</a:t>
            </a:r>
            <a:endParaRPr lang="es-ES" altLang="es-ES" sz="1400" dirty="0">
              <a:solidFill>
                <a:srgbClr val="333333"/>
              </a:solidFill>
            </a:endParaRPr>
          </a:p>
          <a:p>
            <a:pPr algn="ctr" eaLnBrk="0" fontAlgn="base" hangingPunct="0">
              <a:spcBef>
                <a:spcPct val="0"/>
              </a:spcBef>
              <a:spcAft>
                <a:spcPct val="0"/>
              </a:spcAft>
            </a:pPr>
            <a:r>
              <a:rPr lang="es-ES" altLang="es-ES" sz="1400" b="1" i="1" dirty="0">
                <a:solidFill>
                  <a:srgbClr val="333333"/>
                </a:solidFill>
                <a:cs typeface="Courier New" panose="02070309020205020404" pitchFamily="49" charset="0"/>
              </a:rPr>
              <a:t>30 * * * 1 </a:t>
            </a:r>
            <a:r>
              <a:rPr lang="es-ES" altLang="es-ES" sz="1400" b="1" i="1" dirty="0" err="1">
                <a:solidFill>
                  <a:srgbClr val="333333"/>
                </a:solidFill>
                <a:cs typeface="Courier New" panose="02070309020205020404" pitchFamily="49" charset="0"/>
              </a:rPr>
              <a:t>root</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usr</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sbin</a:t>
            </a:r>
            <a:r>
              <a:rPr lang="es-ES" altLang="es-ES" sz="1400" b="1" i="1" dirty="0">
                <a:solidFill>
                  <a:srgbClr val="333333"/>
                </a:solidFill>
                <a:cs typeface="Courier New" panose="02070309020205020404" pitchFamily="49" charset="0"/>
              </a:rPr>
              <a:t>/&lt;programa&gt;</a:t>
            </a:r>
            <a:endParaRPr lang="es-ES" altLang="es-ES" sz="1400" b="1" i="1" dirty="0">
              <a:solidFill>
                <a:schemeClr val="tx1"/>
              </a:solidFill>
            </a:endParaRPr>
          </a:p>
          <a:p>
            <a:pPr eaLnBrk="0" fontAlgn="base" hangingPunct="0">
              <a:spcBef>
                <a:spcPct val="0"/>
              </a:spcBef>
              <a:spcAft>
                <a:spcPct val="0"/>
              </a:spcAft>
            </a:pPr>
            <a:r>
              <a:rPr lang="es-ES" altLang="es-ES" sz="1400" dirty="0">
                <a:solidFill>
                  <a:srgbClr val="333333"/>
                </a:solidFill>
              </a:rPr>
              <a:t>Esta tarea se ejecutará todos los días Lunes de todos los meses del año en el minuto 30 de cada hora.</a:t>
            </a:r>
            <a:endParaRPr lang="es-ES" altLang="es-ES" sz="1400" dirty="0">
              <a:solidFill>
                <a:schemeClr val="tx1"/>
              </a:solidFill>
            </a:endParaRPr>
          </a:p>
          <a:p>
            <a:pPr marL="0" indent="0" eaLnBrk="0" fontAlgn="base" hangingPunct="0">
              <a:spcBef>
                <a:spcPct val="0"/>
              </a:spcBef>
              <a:spcAft>
                <a:spcPct val="0"/>
              </a:spcAft>
              <a:buFontTx/>
              <a:buChar char="•"/>
            </a:pPr>
            <a:r>
              <a:rPr lang="es-ES" altLang="es-ES" sz="1400" dirty="0">
                <a:solidFill>
                  <a:srgbClr val="333333"/>
                </a:solidFill>
              </a:rPr>
              <a:t>Un asterisco ‘</a:t>
            </a:r>
            <a:r>
              <a:rPr lang="es-ES" altLang="es-ES" sz="1400" b="1" dirty="0">
                <a:solidFill>
                  <a:srgbClr val="333333"/>
                </a:solidFill>
              </a:rPr>
              <a:t>*</a:t>
            </a:r>
            <a:r>
              <a:rPr lang="es-ES" altLang="es-ES" sz="1400" dirty="0">
                <a:solidFill>
                  <a:srgbClr val="333333"/>
                </a:solidFill>
              </a:rPr>
              <a:t>‘ y una barra inclinada ‘</a:t>
            </a:r>
            <a:r>
              <a:rPr lang="es-ES" altLang="es-ES" sz="1400" b="1" dirty="0">
                <a:solidFill>
                  <a:srgbClr val="333333"/>
                </a:solidFill>
              </a:rPr>
              <a:t>/</a:t>
            </a:r>
            <a:r>
              <a:rPr lang="es-ES" altLang="es-ES" sz="1400" dirty="0">
                <a:solidFill>
                  <a:srgbClr val="333333"/>
                </a:solidFill>
              </a:rPr>
              <a:t>‘ precediendo a un dato indica un valor escalonado</a:t>
            </a:r>
            <a:endParaRPr lang="es-ES" altLang="es-ES" sz="1400" dirty="0">
              <a:solidFill>
                <a:srgbClr val="333333"/>
              </a:solidFill>
            </a:endParaRPr>
          </a:p>
          <a:p>
            <a:pPr algn="ctr" eaLnBrk="0" fontAlgn="base" hangingPunct="0">
              <a:spcBef>
                <a:spcPct val="0"/>
              </a:spcBef>
              <a:spcAft>
                <a:spcPct val="0"/>
              </a:spcAft>
            </a:pPr>
            <a:r>
              <a:rPr lang="es-ES" altLang="es-ES" sz="1400" b="1" i="1" dirty="0">
                <a:solidFill>
                  <a:srgbClr val="333333"/>
                </a:solidFill>
                <a:cs typeface="Courier New" panose="02070309020205020404" pitchFamily="49" charset="0"/>
              </a:rPr>
              <a:t>*/30 * * * 1 </a:t>
            </a:r>
            <a:r>
              <a:rPr lang="es-ES" altLang="es-ES" sz="1400" b="1" i="1" dirty="0" err="1">
                <a:solidFill>
                  <a:srgbClr val="333333"/>
                </a:solidFill>
                <a:cs typeface="Courier New" panose="02070309020205020404" pitchFamily="49" charset="0"/>
              </a:rPr>
              <a:t>root</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usr</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sbin</a:t>
            </a:r>
            <a:r>
              <a:rPr lang="es-ES" altLang="es-ES" sz="1400" b="1" i="1" dirty="0">
                <a:solidFill>
                  <a:srgbClr val="333333"/>
                </a:solidFill>
                <a:cs typeface="Courier New" panose="02070309020205020404" pitchFamily="49" charset="0"/>
              </a:rPr>
              <a:t>/&lt;programa&gt;</a:t>
            </a:r>
            <a:endParaRPr lang="es-ES" altLang="es-ES" sz="1400" b="1" i="1" dirty="0">
              <a:solidFill>
                <a:schemeClr val="tx1"/>
              </a:solidFill>
            </a:endParaRPr>
          </a:p>
          <a:p>
            <a:pPr eaLnBrk="0" fontAlgn="base" hangingPunct="0">
              <a:spcBef>
                <a:spcPct val="0"/>
              </a:spcBef>
              <a:spcAft>
                <a:spcPct val="0"/>
              </a:spcAft>
            </a:pPr>
            <a:r>
              <a:rPr lang="es-ES" altLang="es-ES" sz="1400" dirty="0">
                <a:solidFill>
                  <a:srgbClr val="333333"/>
                </a:solidFill>
              </a:rPr>
              <a:t>Esta tarea se ejecutará cada 30 minutos. La diferencia con la anterior es que esta se ejecutará 2 veces en una hora, mientras que la anterior solo cuando sea el minuto 30′ de cualquier hora.</a:t>
            </a:r>
            <a:endParaRPr lang="es-ES" altLang="es-ES" sz="1400" dirty="0">
              <a:solidFill>
                <a:schemeClr val="tx1"/>
              </a:solidFill>
            </a:endParaRPr>
          </a:p>
          <a:p>
            <a:pPr marL="0" indent="0" eaLnBrk="0" fontAlgn="base" hangingPunct="0">
              <a:spcBef>
                <a:spcPct val="0"/>
              </a:spcBef>
              <a:spcAft>
                <a:spcPct val="0"/>
              </a:spcAft>
              <a:buFontTx/>
              <a:buChar char="•"/>
            </a:pPr>
            <a:r>
              <a:rPr lang="es-ES" altLang="es-ES" sz="1400" dirty="0">
                <a:solidFill>
                  <a:srgbClr val="333333"/>
                </a:solidFill>
              </a:rPr>
              <a:t>Una lista separada por comas (0</a:t>
            </a:r>
            <a:r>
              <a:rPr lang="es-ES" altLang="es-ES" sz="1400" b="1" dirty="0">
                <a:solidFill>
                  <a:srgbClr val="333333"/>
                </a:solidFill>
              </a:rPr>
              <a:t>,</a:t>
            </a:r>
            <a:r>
              <a:rPr lang="es-ES" altLang="es-ES" sz="1400" dirty="0">
                <a:solidFill>
                  <a:srgbClr val="333333"/>
                </a:solidFill>
              </a:rPr>
              <a:t>6</a:t>
            </a:r>
            <a:r>
              <a:rPr lang="es-ES" altLang="es-ES" sz="1400" b="1" dirty="0">
                <a:solidFill>
                  <a:srgbClr val="333333"/>
                </a:solidFill>
              </a:rPr>
              <a:t>,</a:t>
            </a:r>
            <a:r>
              <a:rPr lang="es-ES" altLang="es-ES" sz="1400" dirty="0">
                <a:solidFill>
                  <a:srgbClr val="333333"/>
                </a:solidFill>
              </a:rPr>
              <a:t>12</a:t>
            </a:r>
            <a:r>
              <a:rPr lang="es-ES" altLang="es-ES" sz="1400" b="1" dirty="0">
                <a:solidFill>
                  <a:srgbClr val="333333"/>
                </a:solidFill>
              </a:rPr>
              <a:t>,</a:t>
            </a:r>
            <a:r>
              <a:rPr lang="es-ES" altLang="es-ES" sz="1400" dirty="0">
                <a:solidFill>
                  <a:srgbClr val="333333"/>
                </a:solidFill>
              </a:rPr>
              <a:t>18) coincide con cualquiera de los valores especificados</a:t>
            </a:r>
            <a:endParaRPr lang="es-ES" altLang="es-ES" sz="1400" dirty="0">
              <a:solidFill>
                <a:srgbClr val="333333"/>
              </a:solidFill>
            </a:endParaRPr>
          </a:p>
          <a:p>
            <a:pPr algn="ctr" eaLnBrk="0" fontAlgn="base" hangingPunct="0">
              <a:spcBef>
                <a:spcPct val="0"/>
              </a:spcBef>
              <a:spcAft>
                <a:spcPct val="0"/>
              </a:spcAft>
            </a:pPr>
            <a:r>
              <a:rPr lang="es-ES" altLang="es-ES" sz="1400" b="1" i="1" dirty="0">
                <a:solidFill>
                  <a:srgbClr val="333333"/>
                </a:solidFill>
                <a:cs typeface="Courier New" panose="02070309020205020404" pitchFamily="49" charset="0"/>
              </a:rPr>
              <a:t>30 0,4,8,12,16,20 * * 1 </a:t>
            </a:r>
            <a:r>
              <a:rPr lang="es-ES" altLang="es-ES" sz="1400" b="1" i="1" dirty="0" err="1">
                <a:solidFill>
                  <a:srgbClr val="333333"/>
                </a:solidFill>
                <a:cs typeface="Courier New" panose="02070309020205020404" pitchFamily="49" charset="0"/>
              </a:rPr>
              <a:t>root</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usr</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sbin</a:t>
            </a:r>
            <a:r>
              <a:rPr lang="es-ES" altLang="es-ES" sz="1400" b="1" i="1" dirty="0">
                <a:solidFill>
                  <a:srgbClr val="333333"/>
                </a:solidFill>
                <a:cs typeface="Courier New" panose="02070309020205020404" pitchFamily="49" charset="0"/>
              </a:rPr>
              <a:t>/&lt;script&gt;</a:t>
            </a:r>
            <a:endParaRPr lang="es-ES" altLang="es-ES" sz="1400" b="1" i="1" dirty="0">
              <a:solidFill>
                <a:schemeClr val="tx1"/>
              </a:solidFill>
            </a:endParaRPr>
          </a:p>
          <a:p>
            <a:pPr eaLnBrk="0" fontAlgn="base" hangingPunct="0">
              <a:spcBef>
                <a:spcPct val="0"/>
              </a:spcBef>
              <a:spcAft>
                <a:spcPct val="0"/>
              </a:spcAft>
            </a:pPr>
            <a:r>
              <a:rPr lang="es-ES" altLang="es-ES" sz="1400" dirty="0">
                <a:solidFill>
                  <a:srgbClr val="333333"/>
                </a:solidFill>
              </a:rPr>
              <a:t>Ejecutará en el minuto 30′ de las 12, 4 y 8 AM y 12,16,20 PM la tarea especificada.</a:t>
            </a:r>
            <a:endParaRPr lang="es-ES" altLang="es-ES" sz="1400" dirty="0">
              <a:solidFill>
                <a:schemeClr val="tx1"/>
              </a:solidFill>
            </a:endParaRPr>
          </a:p>
          <a:p>
            <a:pPr marL="0" indent="0" eaLnBrk="0" fontAlgn="base" hangingPunct="0">
              <a:spcBef>
                <a:spcPct val="0"/>
              </a:spcBef>
              <a:spcAft>
                <a:spcPct val="0"/>
              </a:spcAft>
              <a:buFontTx/>
              <a:buChar char="•"/>
            </a:pPr>
            <a:r>
              <a:rPr lang="es-ES" altLang="es-ES" sz="1400" dirty="0">
                <a:solidFill>
                  <a:srgbClr val="333333"/>
                </a:solidFill>
              </a:rPr>
              <a:t>Dos valores separados por un </a:t>
            </a:r>
            <a:r>
              <a:rPr lang="es-ES" altLang="es-ES" sz="1400" dirty="0" err="1">
                <a:solidFill>
                  <a:srgbClr val="333333"/>
                </a:solidFill>
              </a:rPr>
              <a:t>guión</a:t>
            </a:r>
            <a:r>
              <a:rPr lang="es-ES" altLang="es-ES" sz="1400" dirty="0">
                <a:solidFill>
                  <a:srgbClr val="333333"/>
                </a:solidFill>
              </a:rPr>
              <a:t> ‘</a:t>
            </a:r>
            <a:r>
              <a:rPr lang="es-ES" altLang="es-ES" sz="1400" b="1" dirty="0">
                <a:solidFill>
                  <a:srgbClr val="333333"/>
                </a:solidFill>
              </a:rPr>
              <a:t>–</a:t>
            </a:r>
            <a:r>
              <a:rPr lang="es-ES" altLang="es-ES" sz="1400" dirty="0">
                <a:solidFill>
                  <a:srgbClr val="333333"/>
                </a:solidFill>
              </a:rPr>
              <a:t>‘ indican un rango en el que los valores de los extremos son incluidos.</a:t>
            </a:r>
            <a:endParaRPr lang="es-ES" altLang="es-ES" sz="1400" dirty="0">
              <a:solidFill>
                <a:srgbClr val="333333"/>
              </a:solidFill>
            </a:endParaRPr>
          </a:p>
          <a:p>
            <a:pPr algn="ctr" eaLnBrk="0" fontAlgn="base" hangingPunct="0">
              <a:spcBef>
                <a:spcPct val="0"/>
              </a:spcBef>
              <a:spcAft>
                <a:spcPct val="0"/>
              </a:spcAft>
            </a:pPr>
            <a:r>
              <a:rPr lang="es-ES" altLang="es-ES" sz="1400" b="1" i="1" dirty="0">
                <a:solidFill>
                  <a:srgbClr val="333333"/>
                </a:solidFill>
                <a:cs typeface="Courier New" panose="02070309020205020404" pitchFamily="49" charset="0"/>
              </a:rPr>
              <a:t>15 16-22 * * * /home/nebul4ck/</a:t>
            </a:r>
            <a:r>
              <a:rPr lang="es-ES" altLang="es-ES" sz="1400" b="1" i="1" dirty="0" err="1">
                <a:solidFill>
                  <a:srgbClr val="333333"/>
                </a:solidFill>
                <a:cs typeface="Courier New" panose="02070309020205020404" pitchFamily="49" charset="0"/>
              </a:rPr>
              <a:t>bin</a:t>
            </a:r>
            <a:r>
              <a:rPr lang="es-ES" altLang="es-ES" sz="1400" b="1" i="1" dirty="0">
                <a:solidFill>
                  <a:srgbClr val="333333"/>
                </a:solidFill>
                <a:cs typeface="Courier New" panose="02070309020205020404" pitchFamily="49" charset="0"/>
              </a:rPr>
              <a:t>/script</a:t>
            </a:r>
            <a:endParaRPr lang="es-ES" altLang="es-ES" sz="1400" b="1" i="1" dirty="0">
              <a:solidFill>
                <a:schemeClr val="tx1"/>
              </a:solidFill>
            </a:endParaRPr>
          </a:p>
          <a:p>
            <a:pPr eaLnBrk="0" fontAlgn="base" hangingPunct="0">
              <a:spcBef>
                <a:spcPct val="0"/>
              </a:spcBef>
              <a:spcAft>
                <a:spcPct val="0"/>
              </a:spcAft>
            </a:pPr>
            <a:r>
              <a:rPr lang="es-ES" altLang="es-ES" sz="1400" dirty="0">
                <a:solidFill>
                  <a:srgbClr val="333333"/>
                </a:solidFill>
              </a:rPr>
              <a:t>Se ejecutará la tarea del usuario </a:t>
            </a:r>
            <a:r>
              <a:rPr lang="es-ES" altLang="es-ES" sz="1400" i="1" dirty="0">
                <a:solidFill>
                  <a:srgbClr val="333333"/>
                </a:solidFill>
              </a:rPr>
              <a:t>nebul4ck</a:t>
            </a:r>
            <a:r>
              <a:rPr lang="es-ES" altLang="es-ES" sz="1400" dirty="0">
                <a:solidFill>
                  <a:srgbClr val="333333"/>
                </a:solidFill>
              </a:rPr>
              <a:t> los minutos 15′ de las horas 16,17,18,29,20,21 y 22</a:t>
            </a:r>
            <a:endParaRPr lang="es-ES" altLang="es-ES" sz="1400"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6" y="1583147"/>
            <a:ext cx="10387263" cy="446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Crear tareas cron del sistema</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Una vez que conocemos los archivos de configuración de </a:t>
            </a:r>
            <a:r>
              <a:rPr lang="es-ES" altLang="es-ES" sz="1400" b="1" i="1" dirty="0">
                <a:solidFill>
                  <a:srgbClr val="333333"/>
                </a:solidFill>
              </a:rPr>
              <a:t>cron</a:t>
            </a:r>
            <a:r>
              <a:rPr lang="es-ES" altLang="es-ES" sz="1400" dirty="0">
                <a:solidFill>
                  <a:srgbClr val="333333"/>
                </a:solidFill>
              </a:rPr>
              <a:t> y el formato para definir una tarea, vamos a aprender a programar una tarea </a:t>
            </a:r>
            <a:r>
              <a:rPr lang="es-ES" altLang="es-ES" sz="1400" i="1" dirty="0">
                <a:solidFill>
                  <a:srgbClr val="333333"/>
                </a:solidFill>
              </a:rPr>
              <a:t>cron</a:t>
            </a:r>
            <a:r>
              <a:rPr lang="es-ES" altLang="es-ES" sz="1400" dirty="0">
                <a:solidFill>
                  <a:srgbClr val="333333"/>
                </a:solidFill>
              </a:rPr>
              <a:t> del sistema.</a:t>
            </a:r>
            <a:endParaRPr lang="es-ES" altLang="es-ES" sz="1400" dirty="0">
              <a:solidFill>
                <a:schemeClr val="tx1"/>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Lo primero es saber que el archivo </a:t>
            </a:r>
            <a:r>
              <a:rPr lang="es-ES" altLang="es-ES" sz="1400" b="1" dirty="0">
                <a:solidFill>
                  <a:srgbClr val="333333"/>
                </a:solidFill>
              </a:rPr>
              <a:t>/</a:t>
            </a:r>
            <a:r>
              <a:rPr lang="es-ES" altLang="es-ES" sz="1400" b="1" dirty="0" err="1">
                <a:solidFill>
                  <a:srgbClr val="333333"/>
                </a:solidFill>
              </a:rPr>
              <a:t>etc</a:t>
            </a:r>
            <a:r>
              <a:rPr lang="es-ES" altLang="es-ES" sz="1400" b="1" dirty="0">
                <a:solidFill>
                  <a:srgbClr val="333333"/>
                </a:solidFill>
              </a:rPr>
              <a:t>/</a:t>
            </a:r>
            <a:r>
              <a:rPr lang="es-ES" altLang="es-ES" sz="1400" b="1" dirty="0" err="1">
                <a:solidFill>
                  <a:srgbClr val="333333"/>
                </a:solidFill>
              </a:rPr>
              <a:t>crontab</a:t>
            </a:r>
            <a:r>
              <a:rPr lang="es-ES" altLang="es-ES" sz="1400" dirty="0">
                <a:solidFill>
                  <a:srgbClr val="333333"/>
                </a:solidFill>
              </a:rPr>
              <a:t> es el encargado de las tareas del sistema, suele comenzar con algunas líneas donde se definen variables como </a:t>
            </a:r>
            <a:r>
              <a:rPr lang="es-ES" altLang="es-ES" sz="1400" i="1" dirty="0">
                <a:solidFill>
                  <a:srgbClr val="333333"/>
                </a:solidFill>
              </a:rPr>
              <a:t>$PATH</a:t>
            </a:r>
            <a:r>
              <a:rPr lang="es-ES" altLang="es-ES" sz="1400" dirty="0">
                <a:solidFill>
                  <a:srgbClr val="333333"/>
                </a:solidFill>
              </a:rPr>
              <a:t> y </a:t>
            </a:r>
            <a:r>
              <a:rPr lang="es-ES" altLang="es-ES" sz="1400" i="1" dirty="0">
                <a:solidFill>
                  <a:srgbClr val="333333"/>
                </a:solidFill>
              </a:rPr>
              <a:t>$MAILTO</a:t>
            </a:r>
            <a:r>
              <a:rPr lang="es-ES" altLang="es-ES" sz="1400" dirty="0">
                <a:solidFill>
                  <a:srgbClr val="333333"/>
                </a:solidFill>
              </a:rPr>
              <a:t> y a continuación una serie de líneas que invocarán determinadas tareas.</a:t>
            </a: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La forma en la que </a:t>
            </a:r>
            <a:r>
              <a:rPr lang="es-ES" altLang="es-ES" sz="1400" i="1" dirty="0">
                <a:solidFill>
                  <a:srgbClr val="333333"/>
                </a:solidFill>
              </a:rPr>
              <a:t>Linux</a:t>
            </a:r>
            <a:r>
              <a:rPr lang="es-ES" altLang="es-ES" sz="1400" dirty="0">
                <a:solidFill>
                  <a:srgbClr val="333333"/>
                </a:solidFill>
              </a:rPr>
              <a:t> ejecuta estas tareas se simplifica enormemente con el uso de comandos como </a:t>
            </a:r>
            <a:r>
              <a:rPr lang="es-ES" altLang="es-ES" sz="1400" b="1" dirty="0">
                <a:solidFill>
                  <a:srgbClr val="333333"/>
                </a:solidFill>
              </a:rPr>
              <a:t>run-</a:t>
            </a:r>
            <a:r>
              <a:rPr lang="es-ES" altLang="es-ES" sz="1400" b="1" dirty="0" err="1">
                <a:solidFill>
                  <a:srgbClr val="333333"/>
                </a:solidFill>
              </a:rPr>
              <a:t>parts</a:t>
            </a:r>
            <a:r>
              <a:rPr lang="es-ES" altLang="es-ES" sz="1400" dirty="0">
                <a:solidFill>
                  <a:srgbClr val="333333"/>
                </a:solidFill>
              </a:rPr>
              <a:t>, </a:t>
            </a:r>
            <a:r>
              <a:rPr lang="es-ES" altLang="es-ES" sz="1400" b="1" dirty="0" err="1">
                <a:solidFill>
                  <a:srgbClr val="333333"/>
                </a:solidFill>
              </a:rPr>
              <a:t>cronloop</a:t>
            </a:r>
            <a:r>
              <a:rPr lang="es-ES" altLang="es-ES" sz="1400" dirty="0">
                <a:solidFill>
                  <a:srgbClr val="333333"/>
                </a:solidFill>
              </a:rPr>
              <a:t> o una utilidad similar y unos directorios en los que se encuentran los script a ejecutar. Lo que hacen estos comandos es ordenar que se ejecuten todos los scripts que se encuentren dentro del directorio especificado, de esta manera no tendremos que crear una línea por cada script/tarea a ejecutar.</a:t>
            </a: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400" b="1" i="1" dirty="0">
                <a:solidFill>
                  <a:srgbClr val="333333"/>
                </a:solidFill>
                <a:cs typeface="Courier New" panose="02070309020205020404" pitchFamily="49" charset="0"/>
              </a:rPr>
              <a:t>17 * * * * </a:t>
            </a:r>
            <a:r>
              <a:rPr lang="es-ES" altLang="es-ES" sz="1400" b="1" i="1" dirty="0" err="1">
                <a:solidFill>
                  <a:srgbClr val="333333"/>
                </a:solidFill>
                <a:cs typeface="Courier New" panose="02070309020205020404" pitchFamily="49" charset="0"/>
              </a:rPr>
              <a:t>root</a:t>
            </a:r>
            <a:r>
              <a:rPr lang="es-ES" altLang="es-ES" sz="1400" b="1" i="1" dirty="0">
                <a:solidFill>
                  <a:srgbClr val="333333"/>
                </a:solidFill>
                <a:cs typeface="Courier New" panose="02070309020205020404" pitchFamily="49" charset="0"/>
              </a:rPr>
              <a:t> cd / &amp;&amp; run-</a:t>
            </a:r>
            <a:r>
              <a:rPr lang="es-ES" altLang="es-ES" sz="1400" b="1" i="1" dirty="0" err="1">
                <a:solidFill>
                  <a:srgbClr val="333333"/>
                </a:solidFill>
                <a:cs typeface="Courier New" panose="02070309020205020404" pitchFamily="49" charset="0"/>
              </a:rPr>
              <a:t>parts</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report</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etc</a:t>
            </a:r>
            <a:r>
              <a:rPr lang="es-ES" altLang="es-ES" sz="1400" b="1" i="1" dirty="0">
                <a:solidFill>
                  <a:srgbClr val="333333"/>
                </a:solidFill>
                <a:cs typeface="Courier New" panose="02070309020205020404" pitchFamily="49" charset="0"/>
              </a:rPr>
              <a:t>/</a:t>
            </a:r>
            <a:r>
              <a:rPr lang="es-ES" altLang="es-ES" sz="1400" b="1" i="1" dirty="0" err="1">
                <a:solidFill>
                  <a:srgbClr val="333333"/>
                </a:solidFill>
                <a:cs typeface="Courier New" panose="02070309020205020404" pitchFamily="49" charset="0"/>
              </a:rPr>
              <a:t>cron.hourly</a:t>
            </a:r>
            <a:endParaRPr lang="es-ES" altLang="es-ES" sz="1400" b="1" i="1"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endParaRPr lang="es-ES" altLang="es-ES" sz="1400" b="1" i="1" dirty="0">
              <a:solidFill>
                <a:schemeClr val="tx1"/>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Esta línea llegada las </a:t>
            </a:r>
            <a:r>
              <a:rPr lang="es-ES" altLang="es-ES" sz="1400" i="1" dirty="0">
                <a:solidFill>
                  <a:srgbClr val="333333"/>
                </a:solidFill>
              </a:rPr>
              <a:t>17:00</a:t>
            </a:r>
            <a:r>
              <a:rPr lang="es-ES" altLang="es-ES" sz="1400" dirty="0">
                <a:solidFill>
                  <a:srgbClr val="333333"/>
                </a:solidFill>
              </a:rPr>
              <a:t> se desplazará como </a:t>
            </a:r>
            <a:r>
              <a:rPr lang="es-ES" altLang="es-ES" sz="1400" i="1" dirty="0" err="1">
                <a:solidFill>
                  <a:srgbClr val="333333"/>
                </a:solidFill>
              </a:rPr>
              <a:t>root</a:t>
            </a:r>
            <a:r>
              <a:rPr lang="es-ES" altLang="es-ES" sz="1400" dirty="0">
                <a:solidFill>
                  <a:srgbClr val="333333"/>
                </a:solidFill>
              </a:rPr>
              <a:t> al directorio </a:t>
            </a:r>
            <a:r>
              <a:rPr lang="es-ES" altLang="es-ES" sz="1400" i="1" dirty="0">
                <a:solidFill>
                  <a:srgbClr val="333333"/>
                </a:solidFill>
              </a:rPr>
              <a:t>raíz</a:t>
            </a:r>
            <a:r>
              <a:rPr lang="es-ES" altLang="es-ES" sz="1400" dirty="0">
                <a:solidFill>
                  <a:srgbClr val="333333"/>
                </a:solidFill>
              </a:rPr>
              <a:t> y desde allí ejecutará el comando </a:t>
            </a:r>
            <a:r>
              <a:rPr lang="es-ES" altLang="es-ES" sz="1400" b="1" dirty="0">
                <a:solidFill>
                  <a:srgbClr val="333333"/>
                </a:solidFill>
              </a:rPr>
              <a:t>run-</a:t>
            </a:r>
            <a:r>
              <a:rPr lang="es-ES" altLang="es-ES" sz="1400" b="1" dirty="0" err="1">
                <a:solidFill>
                  <a:srgbClr val="333333"/>
                </a:solidFill>
              </a:rPr>
              <a:t>parts</a:t>
            </a:r>
            <a:r>
              <a:rPr lang="es-ES" altLang="es-ES" sz="1400" dirty="0">
                <a:solidFill>
                  <a:srgbClr val="333333"/>
                </a:solidFill>
              </a:rPr>
              <a:t> el cual a su vez ejecutará todos los scripts que se encuentren dentro del directorio </a:t>
            </a:r>
            <a:r>
              <a:rPr lang="es-ES" altLang="es-ES" sz="1400" i="1" dirty="0">
                <a:solidFill>
                  <a:srgbClr val="333333"/>
                </a:solidFill>
              </a:rPr>
              <a:t>/</a:t>
            </a:r>
            <a:r>
              <a:rPr lang="es-ES" altLang="es-ES" sz="1400" i="1" dirty="0" err="1">
                <a:solidFill>
                  <a:srgbClr val="333333"/>
                </a:solidFill>
              </a:rPr>
              <a:t>etc</a:t>
            </a:r>
            <a:r>
              <a:rPr lang="es-ES" altLang="es-ES" sz="1400" i="1" dirty="0">
                <a:solidFill>
                  <a:srgbClr val="333333"/>
                </a:solidFill>
              </a:rPr>
              <a:t>/</a:t>
            </a:r>
            <a:r>
              <a:rPr lang="es-ES" altLang="es-ES" sz="1400" i="1" dirty="0" err="1">
                <a:solidFill>
                  <a:srgbClr val="333333"/>
                </a:solidFill>
              </a:rPr>
              <a:t>cron.hourly</a:t>
            </a:r>
            <a:endParaRPr lang="es-ES" altLang="es-ES" sz="1400" dirty="0">
              <a:solidFill>
                <a:schemeClr val="tx1"/>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endParaRPr>
          </a:p>
          <a:p>
            <a:pPr marL="0" lvl="0" indent="0" eaLnBrk="0" fontAlgn="base" hangingPunct="0">
              <a:lnSpc>
                <a:spcPct val="100000"/>
              </a:lnSpc>
              <a:spcBef>
                <a:spcPct val="0"/>
              </a:spcBef>
              <a:spcAft>
                <a:spcPct val="0"/>
              </a:spcAft>
              <a:buClrTx/>
              <a:buSzTx/>
              <a:buNone/>
            </a:pPr>
            <a:r>
              <a:rPr lang="es-ES" altLang="es-ES" sz="1400" dirty="0">
                <a:solidFill>
                  <a:srgbClr val="333333"/>
                </a:solidFill>
              </a:rPr>
              <a:t>Entonces si sabemos que todos los script, por ejemplo bajo el directorio </a:t>
            </a:r>
            <a:r>
              <a:rPr lang="es-ES" altLang="es-ES" sz="1400" i="1" dirty="0">
                <a:solidFill>
                  <a:srgbClr val="333333"/>
                </a:solidFill>
              </a:rPr>
              <a:t>/</a:t>
            </a:r>
            <a:r>
              <a:rPr lang="es-ES" altLang="es-ES" sz="1400" i="1" dirty="0" err="1">
                <a:solidFill>
                  <a:srgbClr val="333333"/>
                </a:solidFill>
              </a:rPr>
              <a:t>etc</a:t>
            </a:r>
            <a:r>
              <a:rPr lang="es-ES" altLang="es-ES" sz="1400" i="1" dirty="0">
                <a:solidFill>
                  <a:srgbClr val="333333"/>
                </a:solidFill>
              </a:rPr>
              <a:t>/</a:t>
            </a:r>
            <a:r>
              <a:rPr lang="es-ES" altLang="es-ES" sz="1400" i="1" dirty="0" err="1">
                <a:solidFill>
                  <a:srgbClr val="333333"/>
                </a:solidFill>
              </a:rPr>
              <a:t>cron.daily</a:t>
            </a:r>
            <a:r>
              <a:rPr lang="es-ES" altLang="es-ES" sz="1400" dirty="0">
                <a:solidFill>
                  <a:srgbClr val="333333"/>
                </a:solidFill>
              </a:rPr>
              <a:t> o </a:t>
            </a:r>
            <a:r>
              <a:rPr lang="es-ES" altLang="es-ES" sz="1400" i="1" dirty="0">
                <a:solidFill>
                  <a:srgbClr val="333333"/>
                </a:solidFill>
              </a:rPr>
              <a:t>/</a:t>
            </a:r>
            <a:r>
              <a:rPr lang="es-ES" altLang="es-ES" sz="1400" i="1" dirty="0" err="1">
                <a:solidFill>
                  <a:srgbClr val="333333"/>
                </a:solidFill>
              </a:rPr>
              <a:t>etc</a:t>
            </a:r>
            <a:r>
              <a:rPr lang="es-ES" altLang="es-ES" sz="1400" i="1" dirty="0">
                <a:solidFill>
                  <a:srgbClr val="333333"/>
                </a:solidFill>
              </a:rPr>
              <a:t>/</a:t>
            </a:r>
            <a:r>
              <a:rPr lang="es-ES" altLang="es-ES" sz="1400" i="1" dirty="0" err="1">
                <a:solidFill>
                  <a:srgbClr val="333333"/>
                </a:solidFill>
              </a:rPr>
              <a:t>cron.d</a:t>
            </a:r>
            <a:r>
              <a:rPr lang="es-ES" altLang="es-ES" sz="1400" i="1" dirty="0">
                <a:solidFill>
                  <a:srgbClr val="333333"/>
                </a:solidFill>
              </a:rPr>
              <a:t>/</a:t>
            </a:r>
            <a:r>
              <a:rPr lang="es-ES" altLang="es-ES" sz="1400" i="1" dirty="0" err="1">
                <a:solidFill>
                  <a:srgbClr val="333333"/>
                </a:solidFill>
              </a:rPr>
              <a:t>daily</a:t>
            </a:r>
            <a:r>
              <a:rPr lang="es-ES" altLang="es-ES" sz="1400" dirty="0">
                <a:solidFill>
                  <a:srgbClr val="333333"/>
                </a:solidFill>
              </a:rPr>
              <a:t> van a ser ejecutados diariamente, podremos crear nuestro propio script y copiarlo dentro de este directorio, así nos aseguraremos</a:t>
            </a:r>
            <a:r>
              <a:rPr lang="es-ES" altLang="es-ES" sz="1400" b="1" dirty="0">
                <a:solidFill>
                  <a:srgbClr val="333333"/>
                </a:solidFill>
              </a:rPr>
              <a:t>*</a:t>
            </a:r>
            <a:r>
              <a:rPr lang="es-ES" altLang="es-ES" sz="1400" dirty="0">
                <a:solidFill>
                  <a:srgbClr val="333333"/>
                </a:solidFill>
              </a:rPr>
              <a:t> que </a:t>
            </a:r>
            <a:r>
              <a:rPr lang="es-ES" altLang="es-ES" sz="1400" i="1" dirty="0" err="1">
                <a:solidFill>
                  <a:srgbClr val="333333"/>
                </a:solidFill>
              </a:rPr>
              <a:t>root</a:t>
            </a:r>
            <a:r>
              <a:rPr lang="es-ES" altLang="es-ES" sz="1400" dirty="0">
                <a:solidFill>
                  <a:srgbClr val="333333"/>
                </a:solidFill>
              </a:rPr>
              <a:t> ejecutará la tarea de forma diaria.</a:t>
            </a:r>
            <a:endParaRPr lang="es-ES" altLang="es-ES" sz="1400"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42739" y="1564390"/>
            <a:ext cx="10387263" cy="42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Crear tareas cron del usuario</a:t>
            </a:r>
            <a:endParaRPr lang="es-ES" altLang="es-ES" sz="1400" b="1"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400" dirty="0">
              <a:solidFill>
                <a:srgbClr val="333333"/>
              </a:solidFill>
              <a:latin typeface="Helvetica" panose="020B0604020202020204" pitchFamily="34" charset="0"/>
            </a:endParaRPr>
          </a:p>
          <a:p>
            <a:pPr marL="0" indent="0" eaLnBrk="0" fontAlgn="base" hangingPunct="0">
              <a:lnSpc>
                <a:spcPct val="100000"/>
              </a:lnSpc>
              <a:spcBef>
                <a:spcPts val="200"/>
              </a:spcBef>
              <a:spcAft>
                <a:spcPct val="0"/>
              </a:spcAft>
              <a:buClrTx/>
              <a:buSzTx/>
              <a:buNone/>
            </a:pPr>
            <a:r>
              <a:rPr lang="es-ES" altLang="es-ES" sz="1400" dirty="0">
                <a:solidFill>
                  <a:srgbClr val="333333"/>
                </a:solidFill>
                <a:latin typeface="Helvetica" panose="020B0604020202020204" pitchFamily="34" charset="0"/>
              </a:rPr>
              <a:t>En la sección anterior hemos aprendido a crear tareas </a:t>
            </a:r>
            <a:r>
              <a:rPr lang="es-ES" altLang="es-ES" sz="1400" i="1" dirty="0">
                <a:solidFill>
                  <a:srgbClr val="333333"/>
                </a:solidFill>
                <a:latin typeface="Helvetica" panose="020B0604020202020204" pitchFamily="34" charset="0"/>
              </a:rPr>
              <a:t>cron</a:t>
            </a:r>
            <a:r>
              <a:rPr lang="es-ES" altLang="es-ES" sz="1400" dirty="0">
                <a:solidFill>
                  <a:srgbClr val="333333"/>
                </a:solidFill>
                <a:latin typeface="Helvetica" panose="020B0604020202020204" pitchFamily="34" charset="0"/>
              </a:rPr>
              <a:t> del sistema y para ello hemos hecho uso del archivo </a:t>
            </a:r>
            <a:r>
              <a:rPr lang="es-ES" altLang="es-ES" sz="1400" i="1" dirty="0">
                <a:solidFill>
                  <a:srgbClr val="333333"/>
                </a:solidFill>
                <a:latin typeface="Helvetica" panose="020B0604020202020204" pitchFamily="34" charset="0"/>
              </a:rPr>
              <a:t>/</a:t>
            </a:r>
            <a:r>
              <a:rPr lang="es-ES" altLang="es-ES" sz="1400" i="1" dirty="0" err="1">
                <a:solidFill>
                  <a:srgbClr val="333333"/>
                </a:solidFill>
                <a:latin typeface="Helvetica" panose="020B0604020202020204" pitchFamily="34" charset="0"/>
              </a:rPr>
              <a:t>etc</a:t>
            </a:r>
            <a:r>
              <a:rPr lang="es-ES" altLang="es-ES" sz="1400" i="1" dirty="0">
                <a:solidFill>
                  <a:srgbClr val="333333"/>
                </a:solidFill>
                <a:latin typeface="Helvetica" panose="020B0604020202020204" pitchFamily="34" charset="0"/>
              </a:rPr>
              <a:t>/</a:t>
            </a:r>
            <a:r>
              <a:rPr lang="es-ES" altLang="es-ES" sz="1400" i="1" dirty="0" err="1">
                <a:solidFill>
                  <a:srgbClr val="333333"/>
                </a:solidFill>
                <a:latin typeface="Helvetica" panose="020B0604020202020204" pitchFamily="34" charset="0"/>
              </a:rPr>
              <a:t>crontab</a:t>
            </a:r>
            <a:r>
              <a:rPr lang="es-ES" altLang="es-ES" sz="1400" dirty="0">
                <a:solidFill>
                  <a:srgbClr val="333333"/>
                </a:solidFill>
                <a:latin typeface="Helvetica" panose="020B0604020202020204" pitchFamily="34" charset="0"/>
              </a:rPr>
              <a:t>.</a:t>
            </a:r>
            <a:endParaRPr lang="es-ES" altLang="es-ES" sz="1400" dirty="0">
              <a:solidFill>
                <a:srgbClr val="333333"/>
              </a:solidFill>
              <a:latin typeface="Helvetica" panose="020B0604020202020204" pitchFamily="34" charset="0"/>
            </a:endParaRPr>
          </a:p>
          <a:p>
            <a:pPr eaLnBrk="0" fontAlgn="base" hangingPunct="0">
              <a:lnSpc>
                <a:spcPct val="100000"/>
              </a:lnSpc>
              <a:spcBef>
                <a:spcPts val="200"/>
              </a:spcBef>
              <a:spcAft>
                <a:spcPct val="0"/>
              </a:spcAft>
              <a:buClrTx/>
              <a:buSzTx/>
              <a:buFont typeface="Wingdings" panose="05000000000000000000" pitchFamily="2" charset="2"/>
              <a:buChar char="§"/>
            </a:pPr>
            <a:r>
              <a:rPr lang="es-ES" altLang="es-ES" sz="1400" dirty="0">
                <a:solidFill>
                  <a:srgbClr val="333333"/>
                </a:solidFill>
                <a:latin typeface="Helvetica" panose="020B0604020202020204" pitchFamily="34" charset="0"/>
              </a:rPr>
              <a:t>Cuando nos refiramos al archivo de configuración de tareas </a:t>
            </a:r>
            <a:r>
              <a:rPr lang="es-ES" altLang="es-ES" sz="1400" i="1" dirty="0">
                <a:solidFill>
                  <a:srgbClr val="333333"/>
                </a:solidFill>
                <a:latin typeface="Helvetica" panose="020B0604020202020204" pitchFamily="34" charset="0"/>
              </a:rPr>
              <a:t>cron</a:t>
            </a:r>
            <a:r>
              <a:rPr lang="es-ES" altLang="es-ES" sz="1400" dirty="0">
                <a:solidFill>
                  <a:srgbClr val="333333"/>
                </a:solidFill>
                <a:latin typeface="Helvetica" panose="020B0604020202020204" pitchFamily="34" charset="0"/>
              </a:rPr>
              <a:t> del sistema deberemos de indicar la ruta completa ya que existe un programa con el mismo nombre ‘</a:t>
            </a:r>
            <a:r>
              <a:rPr lang="es-ES" altLang="es-ES" sz="1400" b="1" i="1" dirty="0" err="1">
                <a:solidFill>
                  <a:srgbClr val="333333"/>
                </a:solidFill>
                <a:latin typeface="Helvetica" panose="020B0604020202020204" pitchFamily="34" charset="0"/>
              </a:rPr>
              <a:t>crontab</a:t>
            </a:r>
            <a:r>
              <a:rPr lang="es-ES" altLang="es-ES" sz="1400" dirty="0">
                <a:solidFill>
                  <a:srgbClr val="333333"/>
                </a:solidFill>
                <a:latin typeface="Helvetica" panose="020B0604020202020204" pitchFamily="34" charset="0"/>
              </a:rPr>
              <a:t>‘ con el que podremos mantener los archivos de configuración de tareas </a:t>
            </a:r>
            <a:r>
              <a:rPr lang="es-ES" altLang="es-ES" sz="1400" i="1" dirty="0">
                <a:solidFill>
                  <a:srgbClr val="333333"/>
                </a:solidFill>
                <a:latin typeface="Helvetica" panose="020B0604020202020204" pitchFamily="34" charset="0"/>
              </a:rPr>
              <a:t>cron</a:t>
            </a:r>
            <a:r>
              <a:rPr lang="es-ES" altLang="es-ES" sz="1400" dirty="0">
                <a:solidFill>
                  <a:srgbClr val="333333"/>
                </a:solidFill>
                <a:latin typeface="Helvetica" panose="020B0604020202020204" pitchFamily="34" charset="0"/>
              </a:rPr>
              <a:t> del usuario.</a:t>
            </a:r>
            <a:endParaRPr lang="es-ES" altLang="es-ES" sz="1400" dirty="0">
              <a:solidFill>
                <a:srgbClr val="333333"/>
              </a:solidFill>
              <a:latin typeface="Helvetica" panose="020B0604020202020204" pitchFamily="34" charset="0"/>
            </a:endParaRPr>
          </a:p>
          <a:p>
            <a:pPr eaLnBrk="0" fontAlgn="base" hangingPunct="0">
              <a:lnSpc>
                <a:spcPct val="100000"/>
              </a:lnSpc>
              <a:spcBef>
                <a:spcPts val="200"/>
              </a:spcBef>
              <a:spcAft>
                <a:spcPct val="0"/>
              </a:spcAft>
              <a:buClrTx/>
              <a:buSzTx/>
              <a:buFont typeface="Wingdings" panose="05000000000000000000" pitchFamily="2" charset="2"/>
              <a:buChar char="§"/>
            </a:pPr>
            <a:r>
              <a:rPr lang="es-ES" altLang="es-ES" sz="1400" dirty="0">
                <a:solidFill>
                  <a:srgbClr val="333333"/>
                </a:solidFill>
                <a:latin typeface="Helvetica" panose="020B0604020202020204" pitchFamily="34" charset="0"/>
              </a:rPr>
              <a:t>Dicho esto vamos a crear una tarea </a:t>
            </a:r>
            <a:r>
              <a:rPr lang="es-ES" altLang="es-ES" sz="1400" i="1" dirty="0">
                <a:solidFill>
                  <a:srgbClr val="333333"/>
                </a:solidFill>
                <a:latin typeface="Helvetica" panose="020B0604020202020204" pitchFamily="34" charset="0"/>
              </a:rPr>
              <a:t>cron</a:t>
            </a:r>
            <a:r>
              <a:rPr lang="es-ES" altLang="es-ES" sz="1400" dirty="0">
                <a:solidFill>
                  <a:srgbClr val="333333"/>
                </a:solidFill>
                <a:latin typeface="Helvetica" panose="020B0604020202020204" pitchFamily="34" charset="0"/>
              </a:rPr>
              <a:t> de usuario, que ya sabemos entonces que deberemos de utilizar la herramienta </a:t>
            </a:r>
            <a:r>
              <a:rPr lang="es-ES" altLang="es-ES" sz="1400" i="1" dirty="0" err="1">
                <a:solidFill>
                  <a:srgbClr val="333333"/>
                </a:solidFill>
                <a:latin typeface="Helvetica" panose="020B0604020202020204" pitchFamily="34" charset="0"/>
              </a:rPr>
              <a:t>crontab</a:t>
            </a:r>
            <a:r>
              <a:rPr lang="es-ES" altLang="es-ES" sz="1400" dirty="0">
                <a:solidFill>
                  <a:srgbClr val="333333"/>
                </a:solidFill>
                <a:latin typeface="Helvetica" panose="020B0604020202020204" pitchFamily="34" charset="0"/>
              </a:rPr>
              <a:t> cuya sintaxis es la siguiente:</a:t>
            </a:r>
            <a:endParaRPr lang="es-ES" altLang="es-ES" sz="1400" dirty="0">
              <a:solidFill>
                <a:srgbClr val="333333"/>
              </a:solidFill>
              <a:latin typeface="Courier New" panose="02070309020205020404" pitchFamily="49" charset="0"/>
              <a:cs typeface="Courier New" panose="02070309020205020404" pitchFamily="49" charset="0"/>
            </a:endParaRPr>
          </a:p>
          <a:p>
            <a:pPr marL="0" lvl="0" indent="0" algn="ctr" eaLnBrk="0" fontAlgn="base" hangingPunct="0">
              <a:lnSpc>
                <a:spcPct val="100000"/>
              </a:lnSpc>
              <a:spcBef>
                <a:spcPts val="200"/>
              </a:spcBef>
              <a:spcAft>
                <a:spcPct val="0"/>
              </a:spcAft>
              <a:buClrTx/>
              <a:buSzTx/>
              <a:buNone/>
            </a:pPr>
            <a:r>
              <a:rPr lang="es-ES" altLang="es-ES" sz="1400" b="1" i="1" dirty="0" err="1">
                <a:solidFill>
                  <a:srgbClr val="333333"/>
                </a:solidFill>
                <a:cs typeface="Courier New" panose="02070309020205020404" pitchFamily="49" charset="0"/>
              </a:rPr>
              <a:t>crontab</a:t>
            </a:r>
            <a:r>
              <a:rPr lang="es-ES" altLang="es-ES" sz="1400" b="1" i="1" dirty="0">
                <a:solidFill>
                  <a:srgbClr val="333333"/>
                </a:solidFill>
                <a:cs typeface="Courier New" panose="02070309020205020404" pitchFamily="49" charset="0"/>
              </a:rPr>
              <a:t> [-u usuario] [-l | -e | -r] [archivo]</a:t>
            </a:r>
            <a:endParaRPr lang="es-ES" altLang="es-ES" b="1" i="1" dirty="0">
              <a:solidFill>
                <a:schemeClr val="tx1"/>
              </a:solidFill>
            </a:endParaRPr>
          </a:p>
          <a:p>
            <a:pPr marL="0" lvl="0" indent="0" eaLnBrk="0" fontAlgn="base" hangingPunct="0">
              <a:lnSpc>
                <a:spcPct val="100000"/>
              </a:lnSpc>
              <a:spcBef>
                <a:spcPts val="200"/>
              </a:spcBef>
              <a:spcAft>
                <a:spcPct val="0"/>
              </a:spcAft>
              <a:buClrTx/>
              <a:buSzTx/>
              <a:buNone/>
            </a:pP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ts val="200"/>
              </a:spcBef>
              <a:spcAft>
                <a:spcPct val="0"/>
              </a:spcAft>
              <a:buClrTx/>
              <a:buSzTx/>
              <a:buNone/>
            </a:pPr>
            <a:r>
              <a:rPr lang="es-ES" altLang="es-ES" sz="1400" dirty="0">
                <a:solidFill>
                  <a:srgbClr val="333333"/>
                </a:solidFill>
                <a:latin typeface="Helvetica" panose="020B0604020202020204" pitchFamily="34" charset="0"/>
              </a:rPr>
              <a:t>Si no proporcionamos el parámetro </a:t>
            </a:r>
            <a:r>
              <a:rPr lang="es-ES" altLang="es-ES" sz="1400" b="1" dirty="0">
                <a:solidFill>
                  <a:srgbClr val="333333"/>
                </a:solidFill>
                <a:latin typeface="Helvetica" panose="020B0604020202020204" pitchFamily="34" charset="0"/>
              </a:rPr>
              <a:t>-u</a:t>
            </a:r>
            <a:r>
              <a:rPr lang="es-ES" altLang="es-ES" sz="1400" dirty="0">
                <a:solidFill>
                  <a:srgbClr val="333333"/>
                </a:solidFill>
                <a:latin typeface="Helvetica" panose="020B0604020202020204" pitchFamily="34" charset="0"/>
              </a:rPr>
              <a:t> </a:t>
            </a:r>
            <a:r>
              <a:rPr lang="es-ES" altLang="es-ES" sz="1400" i="1" dirty="0">
                <a:solidFill>
                  <a:srgbClr val="333333"/>
                </a:solidFill>
                <a:latin typeface="Helvetica" panose="020B0604020202020204" pitchFamily="34" charset="0"/>
              </a:rPr>
              <a:t>&lt;usuario&gt;</a:t>
            </a:r>
            <a:r>
              <a:rPr lang="es-ES" altLang="es-ES" sz="1400" dirty="0">
                <a:solidFill>
                  <a:srgbClr val="333333"/>
                </a:solidFill>
                <a:latin typeface="Helvetica" panose="020B0604020202020204" pitchFamily="34" charset="0"/>
              </a:rPr>
              <a:t> modificaremos el archivo de configuración de tareas de usuario del usuario desde el que es invocado el comando.</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ts val="200"/>
              </a:spcBef>
              <a:spcAft>
                <a:spcPct val="0"/>
              </a:spcAft>
              <a:buClrTx/>
              <a:buSzTx/>
              <a:buNone/>
            </a:pPr>
            <a:r>
              <a:rPr lang="es-ES" altLang="es-ES" sz="1400" dirty="0">
                <a:solidFill>
                  <a:srgbClr val="333333"/>
                </a:solidFill>
                <a:latin typeface="Helvetica" panose="020B0604020202020204" pitchFamily="34" charset="0"/>
              </a:rPr>
              <a:t>De lo contrario si queremos modificar el archivo </a:t>
            </a:r>
            <a:r>
              <a:rPr lang="es-ES" altLang="es-ES" sz="1400" i="1" dirty="0">
                <a:solidFill>
                  <a:srgbClr val="333333"/>
                </a:solidFill>
                <a:latin typeface="Helvetica" panose="020B0604020202020204" pitchFamily="34" charset="0"/>
              </a:rPr>
              <a:t>cron</a:t>
            </a:r>
            <a:r>
              <a:rPr lang="es-ES" altLang="es-ES" sz="1400" dirty="0">
                <a:solidFill>
                  <a:srgbClr val="333333"/>
                </a:solidFill>
                <a:latin typeface="Helvetica" panose="020B0604020202020204" pitchFamily="34" charset="0"/>
              </a:rPr>
              <a:t> de otro usuario, algo que deberemos de hacer como </a:t>
            </a:r>
            <a:r>
              <a:rPr lang="es-ES" altLang="es-ES" sz="1400" i="1" dirty="0" err="1">
                <a:solidFill>
                  <a:srgbClr val="333333"/>
                </a:solidFill>
                <a:latin typeface="Helvetica" panose="020B0604020202020204" pitchFamily="34" charset="0"/>
              </a:rPr>
              <a:t>root</a:t>
            </a:r>
            <a:r>
              <a:rPr lang="es-ES" altLang="es-ES" sz="1400" dirty="0">
                <a:solidFill>
                  <a:srgbClr val="333333"/>
                </a:solidFill>
                <a:latin typeface="Helvetica" panose="020B0604020202020204" pitchFamily="34" charset="0"/>
              </a:rPr>
              <a:t>, tendremos que especificar la opción </a:t>
            </a:r>
            <a:r>
              <a:rPr lang="es-ES" altLang="es-ES" sz="1400" i="1" dirty="0">
                <a:solidFill>
                  <a:srgbClr val="333333"/>
                </a:solidFill>
                <a:latin typeface="Helvetica" panose="020B0604020202020204" pitchFamily="34" charset="0"/>
              </a:rPr>
              <a:t>-u</a:t>
            </a:r>
            <a:r>
              <a:rPr lang="es-ES" altLang="es-ES" sz="1400" dirty="0">
                <a:solidFill>
                  <a:srgbClr val="333333"/>
                </a:solidFill>
                <a:latin typeface="Helvetica" panose="020B0604020202020204" pitchFamily="34" charset="0"/>
              </a:rPr>
              <a:t>. </a:t>
            </a:r>
            <a:endParaRPr lang="es-ES" altLang="es-ES" sz="1400" dirty="0">
              <a:solidFill>
                <a:srgbClr val="333333"/>
              </a:solidFill>
              <a:latin typeface="Helvetica" panose="020B0604020202020204" pitchFamily="34" charset="0"/>
            </a:endParaRPr>
          </a:p>
          <a:p>
            <a:pPr marL="0" lvl="0" indent="0" eaLnBrk="0" fontAlgn="base" hangingPunct="0">
              <a:lnSpc>
                <a:spcPct val="100000"/>
              </a:lnSpc>
              <a:spcBef>
                <a:spcPts val="200"/>
              </a:spcBef>
              <a:spcAft>
                <a:spcPct val="0"/>
              </a:spcAft>
              <a:buClrTx/>
              <a:buSzTx/>
              <a:buNone/>
            </a:pPr>
            <a:r>
              <a:rPr lang="es-ES" altLang="es-ES" sz="1400" dirty="0">
                <a:solidFill>
                  <a:srgbClr val="333333"/>
                </a:solidFill>
                <a:latin typeface="Helvetica" panose="020B0604020202020204" pitchFamily="34" charset="0"/>
              </a:rPr>
              <a:t>Si queremos listar el contenido del archivo </a:t>
            </a:r>
            <a:r>
              <a:rPr lang="es-ES" altLang="es-ES" sz="1400" i="1" dirty="0">
                <a:solidFill>
                  <a:srgbClr val="333333"/>
                </a:solidFill>
                <a:latin typeface="Helvetica" panose="020B0604020202020204" pitchFamily="34" charset="0"/>
              </a:rPr>
              <a:t>cron</a:t>
            </a:r>
            <a:r>
              <a:rPr lang="es-ES" altLang="es-ES" sz="1400" dirty="0">
                <a:solidFill>
                  <a:srgbClr val="333333"/>
                </a:solidFill>
                <a:latin typeface="Helvetica" panose="020B0604020202020204" pitchFamily="34" charset="0"/>
              </a:rPr>
              <a:t> del usuario empleamos </a:t>
            </a:r>
            <a:r>
              <a:rPr lang="es-ES" altLang="es-ES" sz="1400" b="1" dirty="0">
                <a:solidFill>
                  <a:srgbClr val="333333"/>
                </a:solidFill>
                <a:latin typeface="Helvetica" panose="020B0604020202020204" pitchFamily="34" charset="0"/>
              </a:rPr>
              <a:t>-l</a:t>
            </a:r>
            <a:r>
              <a:rPr lang="es-ES" altLang="es-ES" sz="1400" dirty="0">
                <a:solidFill>
                  <a:srgbClr val="333333"/>
                </a:solidFill>
                <a:latin typeface="Helvetica" panose="020B0604020202020204" pitchFamily="34" charset="0"/>
              </a:rPr>
              <a:t>, </a:t>
            </a:r>
            <a:r>
              <a:rPr lang="es-ES" altLang="es-ES" sz="1400" b="1" dirty="0">
                <a:solidFill>
                  <a:srgbClr val="333333"/>
                </a:solidFill>
                <a:latin typeface="Helvetica" panose="020B0604020202020204" pitchFamily="34" charset="0"/>
              </a:rPr>
              <a:t>-r</a:t>
            </a:r>
            <a:r>
              <a:rPr lang="es-ES" altLang="es-ES" sz="1400" dirty="0">
                <a:solidFill>
                  <a:srgbClr val="333333"/>
                </a:solidFill>
                <a:latin typeface="Helvetica" panose="020B0604020202020204" pitchFamily="34" charset="0"/>
              </a:rPr>
              <a:t> elimina y </a:t>
            </a:r>
            <a:r>
              <a:rPr lang="es-ES" altLang="es-ES" sz="1400" b="1" dirty="0">
                <a:solidFill>
                  <a:srgbClr val="333333"/>
                </a:solidFill>
                <a:latin typeface="Helvetica" panose="020B0604020202020204" pitchFamily="34" charset="0"/>
              </a:rPr>
              <a:t>-e</a:t>
            </a:r>
            <a:r>
              <a:rPr lang="es-ES" altLang="es-ES" sz="1400" dirty="0">
                <a:solidFill>
                  <a:srgbClr val="333333"/>
                </a:solidFill>
                <a:latin typeface="Helvetica" panose="020B0604020202020204" pitchFamily="34" charset="0"/>
              </a:rPr>
              <a:t> edita el archivo. Para editar se empleará un editor de texto predeterminado que podremos modificar cambiando el valor de la variable </a:t>
            </a:r>
            <a:r>
              <a:rPr lang="es-ES" altLang="es-ES" sz="1400" i="1" dirty="0">
                <a:solidFill>
                  <a:srgbClr val="333333"/>
                </a:solidFill>
                <a:latin typeface="Helvetica" panose="020B0604020202020204" pitchFamily="34" charset="0"/>
              </a:rPr>
              <a:t>$VISUAL</a:t>
            </a:r>
            <a:r>
              <a:rPr lang="es-ES" altLang="es-ES" sz="1400" dirty="0">
                <a:solidFill>
                  <a:srgbClr val="333333"/>
                </a:solidFill>
                <a:latin typeface="Helvetica" panose="020B0604020202020204" pitchFamily="34" charset="0"/>
              </a:rPr>
              <a:t> o </a:t>
            </a:r>
            <a:r>
              <a:rPr lang="es-ES" altLang="es-ES" sz="1400" i="1" dirty="0">
                <a:solidFill>
                  <a:srgbClr val="333333"/>
                </a:solidFill>
                <a:latin typeface="Helvetica" panose="020B0604020202020204" pitchFamily="34" charset="0"/>
              </a:rPr>
              <a:t>$EDITOR</a:t>
            </a:r>
            <a:endParaRPr lang="es-ES" altLang="es-ES" sz="1400" i="1" dirty="0">
              <a:solidFill>
                <a:srgbClr val="333333"/>
              </a:solidFill>
              <a:latin typeface="Helvetica" panose="020B0604020202020204" pitchFamily="34" charset="0"/>
            </a:endParaRPr>
          </a:p>
          <a:p>
            <a:pPr marL="0" lvl="0" indent="0" eaLnBrk="0" fontAlgn="base" hangingPunct="0">
              <a:lnSpc>
                <a:spcPct val="100000"/>
              </a:lnSpc>
              <a:spcBef>
                <a:spcPts val="200"/>
              </a:spcBef>
              <a:spcAft>
                <a:spcPct val="0"/>
              </a:spcAft>
              <a:buClrTx/>
              <a:buSzTx/>
              <a:buNone/>
            </a:pPr>
            <a:endParaRPr lang="es-ES" altLang="es-ES" sz="1400"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9" name="Rectangle 1"/>
          <p:cNvSpPr>
            <a:spLocks noChangeArrowheads="1"/>
          </p:cNvSpPr>
          <p:nvPr/>
        </p:nvSpPr>
        <p:spPr bwMode="auto">
          <a:xfrm>
            <a:off x="4138862" y="5721224"/>
            <a:ext cx="3477127" cy="307777"/>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400" b="1" i="0" u="none" strike="noStrike" cap="none" normalizeH="0" baseline="0">
                <a:ln>
                  <a:noFill/>
                </a:ln>
                <a:solidFill>
                  <a:srgbClr val="333333"/>
                </a:solidFill>
                <a:effectLst/>
                <a:cs typeface="Courier New" panose="02070309020205020404" pitchFamily="49" charset="0"/>
              </a:rPr>
              <a:t>$ crontab -u &lt;usuario&gt; mi-archivo-cron</a:t>
            </a:r>
            <a:r>
              <a:rPr kumimoji="0" lang="es-ES" altLang="es-ES" sz="1400" b="1" i="0" u="none" strike="noStrike" cap="none" normalizeH="0" baseline="0">
                <a:ln>
                  <a:noFill/>
                </a:ln>
                <a:solidFill>
                  <a:schemeClr val="tx1"/>
                </a:solidFill>
                <a:effectLst/>
              </a:rPr>
              <a:t> </a:t>
            </a:r>
            <a:endParaRPr kumimoji="0" lang="es-ES" altLang="es-ES" sz="1400" b="1" i="0" u="none" strike="noStrike" cap="none" normalizeH="0" baseline="0">
              <a:ln>
                <a:noFill/>
              </a:ln>
              <a:solidFill>
                <a:schemeClr val="tx1"/>
              </a:solidFill>
              <a:effectLs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6" y="1543036"/>
            <a:ext cx="10387263" cy="3034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pPr marL="0" indent="0">
              <a:buNone/>
            </a:pPr>
            <a:r>
              <a:rPr lang="es-ES" sz="1400" b="1" dirty="0"/>
              <a:t>Restringir el acceso a cron</a:t>
            </a:r>
            <a:endParaRPr lang="es-ES" sz="1400" b="1" dirty="0"/>
          </a:p>
          <a:p>
            <a:r>
              <a:rPr lang="es-ES" sz="1400" dirty="0"/>
              <a:t>El acceso al recurso </a:t>
            </a:r>
            <a:r>
              <a:rPr lang="es-ES" sz="1400" i="1" dirty="0"/>
              <a:t>cron</a:t>
            </a:r>
            <a:r>
              <a:rPr lang="es-ES" sz="1400" dirty="0"/>
              <a:t> se puede restringir de varias maneras:</a:t>
            </a:r>
            <a:endParaRPr lang="es-ES" sz="1400" dirty="0"/>
          </a:p>
          <a:p>
            <a:pPr>
              <a:buFont typeface="Wingdings" panose="05000000000000000000" pitchFamily="2" charset="2"/>
              <a:buChar char="§"/>
            </a:pPr>
            <a:r>
              <a:rPr lang="es-ES" sz="1400" b="1" dirty="0"/>
              <a:t>Permisos de ejecución</a:t>
            </a:r>
            <a:r>
              <a:rPr lang="es-ES" sz="1400" dirty="0"/>
              <a:t>: Podremos modificar los permisos de ejecución para </a:t>
            </a:r>
            <a:r>
              <a:rPr lang="es-ES" sz="1400" i="1" dirty="0"/>
              <a:t>cron</a:t>
            </a:r>
            <a:r>
              <a:rPr lang="es-ES" sz="1400" dirty="0"/>
              <a:t> y </a:t>
            </a:r>
            <a:r>
              <a:rPr lang="es-ES" sz="1400" i="1" dirty="0" err="1"/>
              <a:t>crontab</a:t>
            </a:r>
            <a:r>
              <a:rPr lang="es-ES" sz="1400" dirty="0"/>
              <a:t>, de manera que solo puedan ser ejecutados por usuarios pertenecientes a un determinado grupo como por ejemplo </a:t>
            </a:r>
            <a:r>
              <a:rPr lang="es-ES" sz="1400" i="1" dirty="0"/>
              <a:t>cron</a:t>
            </a:r>
            <a:r>
              <a:rPr lang="es-ES" sz="1400" dirty="0"/>
              <a:t>.</a:t>
            </a:r>
            <a:endParaRPr lang="es-ES" sz="1400" dirty="0"/>
          </a:p>
          <a:p>
            <a:pPr>
              <a:buFont typeface="Wingdings" panose="05000000000000000000" pitchFamily="2" charset="2"/>
              <a:buChar char="§"/>
            </a:pPr>
            <a:r>
              <a:rPr lang="es-ES" sz="1400" b="1" dirty="0"/>
              <a:t>Lista de usuarios permitidos</a:t>
            </a:r>
            <a:r>
              <a:rPr lang="es-ES" sz="1400" dirty="0"/>
              <a:t>: El archivo </a:t>
            </a:r>
            <a:r>
              <a:rPr lang="es-ES" sz="1400" i="1" dirty="0"/>
              <a:t>/</a:t>
            </a:r>
            <a:r>
              <a:rPr lang="es-ES" sz="1400" i="1" dirty="0" err="1"/>
              <a:t>etc</a:t>
            </a:r>
            <a:r>
              <a:rPr lang="es-ES" sz="1400" i="1" dirty="0"/>
              <a:t>/</a:t>
            </a:r>
            <a:r>
              <a:rPr lang="es-ES" sz="1400" i="1" dirty="0" err="1"/>
              <a:t>cron.allow</a:t>
            </a:r>
            <a:r>
              <a:rPr lang="es-ES" sz="1400" dirty="0"/>
              <a:t> contiene una lista de los usuarios a los que se permite el acceso a </a:t>
            </a:r>
            <a:r>
              <a:rPr lang="es-ES" sz="1400" i="1" dirty="0"/>
              <a:t>cron</a:t>
            </a:r>
            <a:r>
              <a:rPr lang="es-ES" sz="1400" dirty="0"/>
              <a:t>. Si este archivo está presente, sólo podrán utilizar </a:t>
            </a:r>
            <a:r>
              <a:rPr lang="es-ES" sz="1400" i="1" dirty="0"/>
              <a:t>cron</a:t>
            </a:r>
            <a:r>
              <a:rPr lang="es-ES" sz="1400" dirty="0"/>
              <a:t> aquellos usuarios cuyos nombres figuren en el archivo.</a:t>
            </a:r>
            <a:endParaRPr lang="es-ES" sz="1400" dirty="0"/>
          </a:p>
          <a:p>
            <a:pPr>
              <a:buFont typeface="Wingdings" panose="05000000000000000000" pitchFamily="2" charset="2"/>
              <a:buChar char="§"/>
            </a:pPr>
            <a:r>
              <a:rPr lang="es-ES" sz="1400" b="1" dirty="0"/>
              <a:t>Lista de usuarios rechazados</a:t>
            </a:r>
            <a:r>
              <a:rPr lang="es-ES" sz="1400" dirty="0"/>
              <a:t>: El archivo </a:t>
            </a:r>
            <a:r>
              <a:rPr lang="es-ES" sz="1400" i="1" dirty="0"/>
              <a:t>/</a:t>
            </a:r>
            <a:r>
              <a:rPr lang="es-ES" sz="1400" i="1" dirty="0" err="1"/>
              <a:t>etc</a:t>
            </a:r>
            <a:r>
              <a:rPr lang="es-ES" sz="1400" i="1" dirty="0"/>
              <a:t>/</a:t>
            </a:r>
            <a:r>
              <a:rPr lang="es-ES" sz="1400" i="1" dirty="0" err="1"/>
              <a:t>cron.deny</a:t>
            </a:r>
            <a:r>
              <a:rPr lang="es-ES" sz="1400" dirty="0"/>
              <a:t> contiene una lista de usuarios que tienen denegado el acceso a cron.</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47618"/>
            <a:ext cx="10387263" cy="4326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r>
              <a:rPr lang="es-ES" sz="1400" b="1" dirty="0" err="1"/>
              <a:t>Anacron</a:t>
            </a:r>
            <a:endParaRPr lang="es-ES" sz="1400" b="1" dirty="0"/>
          </a:p>
          <a:p>
            <a:r>
              <a:rPr lang="es-ES" sz="1400" dirty="0"/>
              <a:t>En sistemas que se apagan con frecuencia, como portátiles o PC personales, es frecuente que las tareas </a:t>
            </a:r>
            <a:r>
              <a:rPr lang="es-ES" sz="1400" i="1" dirty="0"/>
              <a:t>cron</a:t>
            </a:r>
            <a:r>
              <a:rPr lang="es-ES" sz="1400" dirty="0"/>
              <a:t> del sistema no se ejecuten nunca, sobre todo aquellas que son ejecutadas a altas horas de la madrugada. </a:t>
            </a:r>
            <a:endParaRPr lang="es-ES" sz="1400" dirty="0"/>
          </a:p>
          <a:p>
            <a:r>
              <a:rPr lang="es-ES" sz="1400" dirty="0"/>
              <a:t>Por ello se implementó el uso de </a:t>
            </a:r>
            <a:r>
              <a:rPr lang="es-ES" sz="1400" b="1" dirty="0" err="1"/>
              <a:t>anacron</a:t>
            </a:r>
            <a:r>
              <a:rPr lang="es-ES" sz="1400" dirty="0"/>
              <a:t>, concebido como suplemento de </a:t>
            </a:r>
            <a:r>
              <a:rPr lang="es-ES" sz="1400" i="1" dirty="0"/>
              <a:t>cron</a:t>
            </a:r>
            <a:r>
              <a:rPr lang="es-ES" sz="1400" dirty="0"/>
              <a:t>, con el fin de asegurar que las tareas de mantenimiento regular se ejecuten a intervalos razonables. De hecho </a:t>
            </a:r>
            <a:r>
              <a:rPr lang="es-ES" sz="1400" b="1" i="1" dirty="0" err="1"/>
              <a:t>anacron</a:t>
            </a:r>
            <a:r>
              <a:rPr lang="es-ES" sz="1400" dirty="0"/>
              <a:t> se utiliza en algunas distribuciones para ejecutar tareas </a:t>
            </a:r>
            <a:r>
              <a:rPr lang="es-ES" sz="1400" i="1" dirty="0"/>
              <a:t>cron</a:t>
            </a:r>
            <a:r>
              <a:rPr lang="es-ES" sz="1400" dirty="0"/>
              <a:t>, por lo que el efecto es tomar el control de las obligaciones de </a:t>
            </a:r>
            <a:r>
              <a:rPr lang="es-ES" sz="1400" i="1" dirty="0"/>
              <a:t>cron</a:t>
            </a:r>
            <a:r>
              <a:rPr lang="es-ES" sz="1400" b="1" i="1" dirty="0"/>
              <a:t>*</a:t>
            </a:r>
            <a:r>
              <a:rPr lang="es-ES" sz="1400" dirty="0"/>
              <a:t>.</a:t>
            </a:r>
            <a:endParaRPr lang="es-ES" sz="1400" dirty="0"/>
          </a:p>
          <a:p>
            <a:r>
              <a:rPr lang="es-ES" sz="1400" dirty="0"/>
              <a:t>(</a:t>
            </a:r>
            <a:r>
              <a:rPr lang="es-ES" sz="1400" b="1" dirty="0"/>
              <a:t>*</a:t>
            </a:r>
            <a:r>
              <a:rPr lang="es-ES" sz="1400" dirty="0"/>
              <a:t>) </a:t>
            </a:r>
            <a:r>
              <a:rPr lang="es-ES" sz="1400" b="1" i="1" dirty="0" err="1"/>
              <a:t>Anacron</a:t>
            </a:r>
            <a:r>
              <a:rPr lang="es-ES" sz="1400" dirty="0"/>
              <a:t> mide sus intervalos de tiempo en días por lo que no servirá para ejecutar tareas </a:t>
            </a:r>
            <a:r>
              <a:rPr lang="es-ES" sz="1400" i="1" dirty="0"/>
              <a:t>cron</a:t>
            </a:r>
            <a:r>
              <a:rPr lang="es-ES" sz="1400" dirty="0"/>
              <a:t> que se ejecuten con intervalos de horas. Por consiguiente no deberíamos de eliminar las tareas </a:t>
            </a:r>
            <a:r>
              <a:rPr lang="es-ES" sz="1400" i="1" dirty="0"/>
              <a:t>cron</a:t>
            </a:r>
            <a:r>
              <a:rPr lang="es-ES" sz="1400" dirty="0"/>
              <a:t> de sistema.</a:t>
            </a:r>
            <a:endParaRPr lang="es-ES" sz="1400" dirty="0"/>
          </a:p>
          <a:p>
            <a:r>
              <a:rPr lang="es-ES" sz="1400" b="1" i="1" dirty="0" err="1"/>
              <a:t>Anacron</a:t>
            </a:r>
            <a:r>
              <a:rPr lang="es-ES" sz="1400" dirty="0"/>
              <a:t> guarda un registro de los programas que se deberían de ejecutar y la frecuencia en días con la que deberían de hacerlo. Cuando se ejecuta, </a:t>
            </a:r>
            <a:r>
              <a:rPr lang="es-ES" sz="1400" i="1" dirty="0" err="1"/>
              <a:t>anacron</a:t>
            </a:r>
            <a:r>
              <a:rPr lang="es-ES" sz="1400" dirty="0"/>
              <a:t> comprueba en su configuración (</a:t>
            </a:r>
            <a:r>
              <a:rPr lang="es-ES" sz="1400" i="1" dirty="0"/>
              <a:t>/</a:t>
            </a:r>
            <a:r>
              <a:rPr lang="es-ES" sz="1400" i="1" dirty="0" err="1"/>
              <a:t>etc</a:t>
            </a:r>
            <a:r>
              <a:rPr lang="es-ES" sz="1400" i="1" dirty="0"/>
              <a:t>/</a:t>
            </a:r>
            <a:r>
              <a:rPr lang="es-ES" sz="1400" i="1" dirty="0" err="1"/>
              <a:t>anacrontab</a:t>
            </a:r>
            <a:r>
              <a:rPr lang="es-ES" sz="1400" dirty="0"/>
              <a:t>) que programas deben de ejecutarse y determina si ha transcurrido un periodo superior al intervalo de ejecución. Si el periodo ha sido superado, </a:t>
            </a:r>
            <a:r>
              <a:rPr lang="es-ES" sz="1400" i="1" dirty="0" err="1"/>
              <a:t>anacron</a:t>
            </a:r>
            <a:r>
              <a:rPr lang="es-ES" sz="1400" dirty="0"/>
              <a:t> ejecutará el programa. </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02896" y="1618405"/>
            <a:ext cx="10387263" cy="3433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pPr marL="0" lvl="0" indent="0" eaLnBrk="0" fontAlgn="base" hangingPunct="0">
              <a:lnSpc>
                <a:spcPct val="100000"/>
              </a:lnSpc>
              <a:spcBef>
                <a:spcPct val="0"/>
              </a:spcBef>
              <a:spcAft>
                <a:spcPct val="0"/>
              </a:spcAft>
              <a:buClrTx/>
              <a:buSzTx/>
              <a:buNone/>
            </a:pPr>
            <a:r>
              <a:rPr lang="es-ES" altLang="es-ES" sz="1400" b="1" dirty="0">
                <a:solidFill>
                  <a:srgbClr val="333333"/>
                </a:solidFill>
              </a:rPr>
              <a:t>Configuración de </a:t>
            </a:r>
            <a:r>
              <a:rPr lang="es-ES" altLang="es-ES" sz="1400" b="1" dirty="0" err="1">
                <a:solidFill>
                  <a:srgbClr val="333333"/>
                </a:solidFill>
              </a:rPr>
              <a:t>anacron</a:t>
            </a:r>
            <a:endParaRPr lang="es-ES" altLang="es-ES" sz="1400" b="1" dirty="0">
              <a:solidFill>
                <a:srgbClr val="333333"/>
              </a:solidFill>
            </a:endParaRPr>
          </a:p>
          <a:p>
            <a:pPr marL="0" lvl="0" indent="0" eaLnBrk="0" fontAlgn="base" hangingPunct="0">
              <a:lnSpc>
                <a:spcPct val="100000"/>
              </a:lnSpc>
              <a:spcBef>
                <a:spcPts val="200"/>
              </a:spcBef>
              <a:spcAft>
                <a:spcPct val="0"/>
              </a:spcAft>
              <a:buClrTx/>
              <a:buSzTx/>
              <a:buNone/>
            </a:pPr>
            <a:r>
              <a:rPr lang="es-ES" altLang="es-ES" sz="1400" dirty="0">
                <a:solidFill>
                  <a:srgbClr val="333333"/>
                </a:solidFill>
              </a:rPr>
              <a:t>El archivo de configuración de </a:t>
            </a:r>
            <a:r>
              <a:rPr lang="es-ES" altLang="es-ES" sz="1400" i="1" dirty="0" err="1">
                <a:solidFill>
                  <a:srgbClr val="333333"/>
                </a:solidFill>
              </a:rPr>
              <a:t>anacron</a:t>
            </a:r>
            <a:r>
              <a:rPr lang="es-ES" altLang="es-ES" sz="1400" dirty="0">
                <a:solidFill>
                  <a:srgbClr val="333333"/>
                </a:solidFill>
              </a:rPr>
              <a:t> consta de tres tipos de líneas: </a:t>
            </a:r>
            <a:endParaRPr lang="es-ES" altLang="es-ES" sz="1400" dirty="0">
              <a:solidFill>
                <a:srgbClr val="333333"/>
              </a:solidFill>
            </a:endParaRPr>
          </a:p>
          <a:p>
            <a:pPr marL="0" lvl="0" indent="0" eaLnBrk="0" fontAlgn="base" hangingPunct="0">
              <a:lnSpc>
                <a:spcPct val="100000"/>
              </a:lnSpc>
              <a:spcBef>
                <a:spcPts val="200"/>
              </a:spcBef>
              <a:spcAft>
                <a:spcPct val="0"/>
              </a:spcAft>
              <a:buClrTx/>
              <a:buSzTx/>
              <a:buNone/>
            </a:pPr>
            <a:endParaRPr lang="es-ES" altLang="es-ES" sz="1400" dirty="0">
              <a:solidFill>
                <a:srgbClr val="333333"/>
              </a:solidFill>
            </a:endParaRPr>
          </a:p>
          <a:p>
            <a:pPr lvl="1" eaLnBrk="0" fontAlgn="base" hangingPunct="0">
              <a:spcAft>
                <a:spcPct val="0"/>
              </a:spcAft>
              <a:buClr>
                <a:schemeClr val="accent1">
                  <a:lumMod val="75000"/>
                </a:schemeClr>
              </a:buClr>
              <a:buFont typeface="Wingdings" panose="05000000000000000000" pitchFamily="2" charset="2"/>
              <a:buChar char="§"/>
            </a:pPr>
            <a:r>
              <a:rPr lang="es-ES" altLang="es-ES" sz="1400" dirty="0">
                <a:solidFill>
                  <a:srgbClr val="333333"/>
                </a:solidFill>
              </a:rPr>
              <a:t>líneas de comentarios (comienzan con #), </a:t>
            </a:r>
            <a:endParaRPr lang="es-ES" altLang="es-ES" sz="1400" dirty="0">
              <a:solidFill>
                <a:srgbClr val="333333"/>
              </a:solidFill>
            </a:endParaRPr>
          </a:p>
          <a:p>
            <a:pPr lvl="1" eaLnBrk="0" fontAlgn="base" hangingPunct="0">
              <a:spcAft>
                <a:spcPct val="0"/>
              </a:spcAft>
              <a:buClr>
                <a:schemeClr val="accent1">
                  <a:lumMod val="75000"/>
                </a:schemeClr>
              </a:buClr>
              <a:buFont typeface="Wingdings" panose="05000000000000000000" pitchFamily="2" charset="2"/>
              <a:buChar char="§"/>
            </a:pPr>
            <a:r>
              <a:rPr lang="es-ES" altLang="es-ES" sz="1400" dirty="0">
                <a:solidFill>
                  <a:srgbClr val="333333"/>
                </a:solidFill>
              </a:rPr>
              <a:t>asignaciones de variables de entorno (</a:t>
            </a:r>
            <a:r>
              <a:rPr lang="es-ES" altLang="es-ES" sz="1400" i="1" dirty="0">
                <a:solidFill>
                  <a:srgbClr val="333333"/>
                </a:solidFill>
              </a:rPr>
              <a:t>SHELL=/</a:t>
            </a:r>
            <a:r>
              <a:rPr lang="es-ES" altLang="es-ES" sz="1400" i="1" dirty="0" err="1">
                <a:solidFill>
                  <a:srgbClr val="333333"/>
                </a:solidFill>
              </a:rPr>
              <a:t>bin</a:t>
            </a:r>
            <a:r>
              <a:rPr lang="es-ES" altLang="es-ES" sz="1400" i="1" dirty="0">
                <a:solidFill>
                  <a:srgbClr val="333333"/>
                </a:solidFill>
              </a:rPr>
              <a:t>/</a:t>
            </a:r>
            <a:r>
              <a:rPr lang="es-ES" altLang="es-ES" sz="1400" i="1" dirty="0" err="1">
                <a:solidFill>
                  <a:srgbClr val="333333"/>
                </a:solidFill>
              </a:rPr>
              <a:t>bash</a:t>
            </a:r>
            <a:r>
              <a:rPr lang="es-ES" altLang="es-ES" sz="1400" dirty="0">
                <a:solidFill>
                  <a:srgbClr val="333333"/>
                </a:solidFill>
              </a:rPr>
              <a:t>) y </a:t>
            </a:r>
            <a:endParaRPr lang="es-ES" altLang="es-ES" sz="1400" dirty="0">
              <a:solidFill>
                <a:srgbClr val="333333"/>
              </a:solidFill>
            </a:endParaRPr>
          </a:p>
          <a:p>
            <a:pPr lvl="1" eaLnBrk="0" fontAlgn="base" hangingPunct="0">
              <a:spcAft>
                <a:spcPct val="0"/>
              </a:spcAft>
              <a:buClr>
                <a:schemeClr val="accent1">
                  <a:lumMod val="75000"/>
                </a:schemeClr>
              </a:buClr>
              <a:buFont typeface="Wingdings" panose="05000000000000000000" pitchFamily="2" charset="2"/>
              <a:buChar char="§"/>
            </a:pPr>
            <a:r>
              <a:rPr lang="es-ES" altLang="es-ES" sz="1400" dirty="0">
                <a:solidFill>
                  <a:srgbClr val="333333"/>
                </a:solidFill>
              </a:rPr>
              <a:t>líneas de definición de tareas, las cuales están formadas por cuatro campos: </a:t>
            </a:r>
            <a:r>
              <a:rPr lang="es-ES" altLang="es-ES" sz="1400" dirty="0">
                <a:solidFill>
                  <a:srgbClr val="333333"/>
                </a:solidFill>
                <a:cs typeface="Courier New" panose="02070309020205020404" pitchFamily="49" charset="0"/>
              </a:rPr>
              <a:t>periodo retardo identificador comando</a:t>
            </a:r>
            <a:endParaRPr lang="es-ES" altLang="es-ES" sz="1400" dirty="0">
              <a:solidFill>
                <a:schemeClr val="tx1"/>
              </a:solidFill>
            </a:endParaRPr>
          </a:p>
          <a:p>
            <a:pPr lvl="0" eaLnBrk="0" fontAlgn="base" hangingPunct="0">
              <a:lnSpc>
                <a:spcPct val="100000"/>
              </a:lnSpc>
              <a:spcBef>
                <a:spcPts val="200"/>
              </a:spcBef>
              <a:spcAft>
                <a:spcPct val="0"/>
              </a:spcAft>
              <a:buClrTx/>
              <a:buSzTx/>
              <a:buFont typeface="Wingdings" panose="05000000000000000000" pitchFamily="2" charset="2"/>
              <a:buChar char="§"/>
            </a:pPr>
            <a:endParaRPr lang="es-ES" altLang="es-ES" sz="1400" dirty="0">
              <a:solidFill>
                <a:srgbClr val="333333"/>
              </a:solidFill>
              <a:cs typeface="Courier New" panose="02070309020205020404" pitchFamily="49" charset="0"/>
            </a:endParaRPr>
          </a:p>
          <a:p>
            <a:pPr lvl="2" eaLnBrk="0" fontAlgn="base" hangingPunct="0">
              <a:spcAft>
                <a:spcPct val="0"/>
              </a:spcAft>
              <a:buFont typeface="Wingdings" panose="05000000000000000000" pitchFamily="2" charset="2"/>
              <a:buChar char="§"/>
            </a:pPr>
            <a:r>
              <a:rPr lang="es-ES" altLang="es-ES" sz="1400" dirty="0">
                <a:solidFill>
                  <a:srgbClr val="333333"/>
                </a:solidFill>
              </a:rPr>
              <a:t>El </a:t>
            </a:r>
            <a:r>
              <a:rPr lang="es-ES" altLang="es-ES" sz="1400" b="1" dirty="0">
                <a:solidFill>
                  <a:srgbClr val="333333"/>
                </a:solidFill>
              </a:rPr>
              <a:t>periodo</a:t>
            </a:r>
            <a:r>
              <a:rPr lang="es-ES" altLang="es-ES" sz="1400" dirty="0">
                <a:solidFill>
                  <a:srgbClr val="333333"/>
                </a:solidFill>
              </a:rPr>
              <a:t> es la frecuencia en días con la que se debe de ejecutar el comando.</a:t>
            </a:r>
            <a:endParaRPr lang="es-ES" altLang="es-ES" sz="1400" dirty="0">
              <a:solidFill>
                <a:srgbClr val="333333"/>
              </a:solidFill>
            </a:endParaRPr>
          </a:p>
          <a:p>
            <a:pPr lvl="2" eaLnBrk="0" fontAlgn="base" hangingPunct="0">
              <a:spcAft>
                <a:spcPct val="0"/>
              </a:spcAft>
              <a:buFont typeface="Wingdings" panose="05000000000000000000" pitchFamily="2" charset="2"/>
              <a:buChar char="§"/>
            </a:pPr>
            <a:r>
              <a:rPr lang="es-ES" altLang="es-ES" sz="1400" dirty="0">
                <a:solidFill>
                  <a:srgbClr val="333333"/>
                </a:solidFill>
              </a:rPr>
              <a:t>El </a:t>
            </a:r>
            <a:r>
              <a:rPr lang="es-ES" altLang="es-ES" sz="1400" b="1" dirty="0">
                <a:solidFill>
                  <a:srgbClr val="333333"/>
                </a:solidFill>
              </a:rPr>
              <a:t>retardo</a:t>
            </a:r>
            <a:r>
              <a:rPr lang="es-ES" altLang="es-ES" sz="1400" dirty="0">
                <a:solidFill>
                  <a:srgbClr val="333333"/>
                </a:solidFill>
              </a:rPr>
              <a:t> es el periodo en minutos que transcurre entre el inicio de </a:t>
            </a:r>
            <a:r>
              <a:rPr lang="es-ES" altLang="es-ES" sz="1400" i="1" dirty="0" err="1">
                <a:solidFill>
                  <a:srgbClr val="333333"/>
                </a:solidFill>
              </a:rPr>
              <a:t>anacron</a:t>
            </a:r>
            <a:r>
              <a:rPr lang="es-ES" altLang="es-ES" sz="1400" dirty="0">
                <a:solidFill>
                  <a:srgbClr val="333333"/>
                </a:solidFill>
              </a:rPr>
              <a:t> y el momento en que se ejecuta el comando. Esta función está pensada para evitar que el sistema de sobrecargue si </a:t>
            </a:r>
            <a:r>
              <a:rPr lang="es-ES" altLang="es-ES" sz="1400" i="1" dirty="0" err="1">
                <a:solidFill>
                  <a:srgbClr val="333333"/>
                </a:solidFill>
              </a:rPr>
              <a:t>anacron</a:t>
            </a:r>
            <a:r>
              <a:rPr lang="es-ES" altLang="es-ES" sz="1400" dirty="0">
                <a:solidFill>
                  <a:srgbClr val="333333"/>
                </a:solidFill>
              </a:rPr>
              <a:t> tiene pendiente de ejecutar muchas tareas a su inicio.</a:t>
            </a:r>
            <a:endParaRPr lang="es-ES" altLang="es-ES" sz="1400" dirty="0">
              <a:solidFill>
                <a:srgbClr val="333333"/>
              </a:solidFill>
            </a:endParaRPr>
          </a:p>
          <a:p>
            <a:pPr lvl="2" eaLnBrk="0" fontAlgn="base" hangingPunct="0">
              <a:spcAft>
                <a:spcPct val="0"/>
              </a:spcAft>
              <a:buFont typeface="Wingdings" panose="05000000000000000000" pitchFamily="2" charset="2"/>
              <a:buChar char="§"/>
            </a:pPr>
            <a:r>
              <a:rPr lang="es-ES" altLang="es-ES" sz="1400" dirty="0">
                <a:solidFill>
                  <a:srgbClr val="333333"/>
                </a:solidFill>
              </a:rPr>
              <a:t>El </a:t>
            </a:r>
            <a:r>
              <a:rPr lang="es-ES" altLang="es-ES" sz="1400" b="1" dirty="0">
                <a:solidFill>
                  <a:srgbClr val="333333"/>
                </a:solidFill>
              </a:rPr>
              <a:t>identificador</a:t>
            </a:r>
            <a:r>
              <a:rPr lang="es-ES" altLang="es-ES" sz="1400" dirty="0">
                <a:solidFill>
                  <a:srgbClr val="333333"/>
                </a:solidFill>
              </a:rPr>
              <a:t> identifica al comando.</a:t>
            </a:r>
            <a:endParaRPr lang="es-ES" altLang="es-ES" sz="1400" dirty="0">
              <a:solidFill>
                <a:srgbClr val="333333"/>
              </a:solidFill>
            </a:endParaRPr>
          </a:p>
          <a:p>
            <a:pPr lvl="2" eaLnBrk="0" fontAlgn="base" hangingPunct="0">
              <a:spcAft>
                <a:spcPct val="0"/>
              </a:spcAft>
              <a:buFont typeface="Wingdings" panose="05000000000000000000" pitchFamily="2" charset="2"/>
              <a:buChar char="§"/>
            </a:pPr>
            <a:r>
              <a:rPr lang="es-ES" altLang="es-ES" sz="1400" dirty="0">
                <a:solidFill>
                  <a:srgbClr val="333333"/>
                </a:solidFill>
              </a:rPr>
              <a:t>El </a:t>
            </a:r>
            <a:r>
              <a:rPr lang="es-ES" altLang="es-ES" sz="1400" b="1" dirty="0">
                <a:solidFill>
                  <a:srgbClr val="333333"/>
                </a:solidFill>
              </a:rPr>
              <a:t>comando</a:t>
            </a:r>
            <a:r>
              <a:rPr lang="es-ES" altLang="es-ES" sz="1400" dirty="0">
                <a:solidFill>
                  <a:srgbClr val="333333"/>
                </a:solidFill>
              </a:rPr>
              <a:t> es el programa a ejecutar seguido opcionalmente de los parámetros que pudiera recibir.</a:t>
            </a:r>
            <a:endParaRPr lang="es-ES" altLang="es-ES" sz="1400" dirty="0">
              <a:solidFill>
                <a:srgbClr val="333333"/>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23554"/>
            <a:ext cx="10387263" cy="4585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r>
              <a:rPr lang="es-ES" sz="1400" b="1" dirty="0"/>
              <a:t>Invocar a </a:t>
            </a:r>
            <a:r>
              <a:rPr lang="es-ES" sz="1400" b="1" dirty="0" err="1"/>
              <a:t>anacron</a:t>
            </a:r>
            <a:endParaRPr lang="es-ES" sz="1400" b="1" dirty="0"/>
          </a:p>
          <a:p>
            <a:r>
              <a:rPr lang="es-ES" sz="1400" dirty="0"/>
              <a:t>Para que todo lo anterior funcione obviamente hay que invocar a </a:t>
            </a:r>
            <a:r>
              <a:rPr lang="es-ES" sz="1400" i="1" dirty="0" err="1"/>
              <a:t>anacron</a:t>
            </a:r>
            <a:r>
              <a:rPr lang="es-ES" sz="1400" dirty="0"/>
              <a:t> que suele hacerse de dos maneras:</a:t>
            </a:r>
            <a:endParaRPr lang="es-ES" sz="1400" dirty="0"/>
          </a:p>
          <a:p>
            <a:r>
              <a:rPr lang="es-ES" sz="1400" b="1" dirty="0"/>
              <a:t>Mediante un script de inicio</a:t>
            </a:r>
            <a:r>
              <a:rPr lang="es-ES" sz="1400" dirty="0"/>
              <a:t>: Puede crear un sencillo script de inicio </a:t>
            </a:r>
            <a:r>
              <a:rPr lang="es-ES" sz="1400" i="1" dirty="0" err="1"/>
              <a:t>SysV</a:t>
            </a:r>
            <a:r>
              <a:rPr lang="es-ES" sz="1400" dirty="0"/>
              <a:t> que ejecute </a:t>
            </a:r>
            <a:r>
              <a:rPr lang="es-ES" sz="1400" i="1" dirty="0" err="1"/>
              <a:t>anacron</a:t>
            </a:r>
            <a:r>
              <a:rPr lang="es-ES" sz="1400" dirty="0"/>
              <a:t> desde su modo de ejecución normal o colocar la llamada a </a:t>
            </a:r>
            <a:r>
              <a:rPr lang="es-ES" sz="1400" i="1" dirty="0" err="1"/>
              <a:t>anacron</a:t>
            </a:r>
            <a:r>
              <a:rPr lang="es-ES" sz="1400" dirty="0"/>
              <a:t> en un script de inicio local como </a:t>
            </a:r>
            <a:r>
              <a:rPr lang="es-ES" sz="1400" i="1" dirty="0"/>
              <a:t>/</a:t>
            </a:r>
            <a:r>
              <a:rPr lang="es-ES" sz="1400" i="1" dirty="0" err="1"/>
              <a:t>etc</a:t>
            </a:r>
            <a:r>
              <a:rPr lang="es-ES" sz="1400" i="1" dirty="0"/>
              <a:t>/</a:t>
            </a:r>
            <a:r>
              <a:rPr lang="es-ES" sz="1400" i="1" dirty="0" err="1"/>
              <a:t>rc.d</a:t>
            </a:r>
            <a:r>
              <a:rPr lang="es-ES" sz="1400" i="1" dirty="0"/>
              <a:t>/</a:t>
            </a:r>
            <a:r>
              <a:rPr lang="es-ES" sz="1400" i="1" dirty="0" err="1"/>
              <a:t>rc.local</a:t>
            </a:r>
            <a:r>
              <a:rPr lang="es-ES" sz="1400" dirty="0"/>
              <a:t> (Fedora y Red </a:t>
            </a:r>
            <a:r>
              <a:rPr lang="es-ES" sz="1400" dirty="0" err="1"/>
              <a:t>Hat</a:t>
            </a:r>
            <a:r>
              <a:rPr lang="es-ES" sz="1400" dirty="0"/>
              <a:t>) o </a:t>
            </a:r>
            <a:r>
              <a:rPr lang="es-ES" sz="1400" i="1" dirty="0"/>
              <a:t>/</a:t>
            </a:r>
            <a:r>
              <a:rPr lang="es-ES" sz="1400" i="1" dirty="0" err="1"/>
              <a:t>etc</a:t>
            </a:r>
            <a:r>
              <a:rPr lang="es-ES" sz="1400" i="1" dirty="0"/>
              <a:t>/</a:t>
            </a:r>
            <a:r>
              <a:rPr lang="es-ES" sz="1400" i="1" dirty="0" err="1"/>
              <a:t>boot.d</a:t>
            </a:r>
            <a:r>
              <a:rPr lang="es-ES" sz="1400" i="1" dirty="0"/>
              <a:t>/</a:t>
            </a:r>
            <a:r>
              <a:rPr lang="es-ES" sz="1400" i="1" dirty="0" err="1"/>
              <a:t>boot.local</a:t>
            </a:r>
            <a:r>
              <a:rPr lang="es-ES" sz="1400" dirty="0"/>
              <a:t> (</a:t>
            </a:r>
            <a:r>
              <a:rPr lang="es-ES" sz="1400" dirty="0" err="1"/>
              <a:t>Suse</a:t>
            </a:r>
            <a:r>
              <a:rPr lang="es-ES" sz="1400" dirty="0"/>
              <a:t>). Esto es preferible en sistemas que se apagan e inician con frecuencia, como portátiles o sistemas de escritorio.</a:t>
            </a:r>
            <a:endParaRPr lang="es-ES" sz="1400" dirty="0"/>
          </a:p>
          <a:p>
            <a:r>
              <a:rPr lang="es-ES" sz="1400" b="1" dirty="0"/>
              <a:t>Mediante una tarea cron en /</a:t>
            </a:r>
            <a:r>
              <a:rPr lang="es-ES" sz="1400" b="1" dirty="0" err="1"/>
              <a:t>etc</a:t>
            </a:r>
            <a:r>
              <a:rPr lang="es-ES" sz="1400" b="1" dirty="0"/>
              <a:t>/</a:t>
            </a:r>
            <a:r>
              <a:rPr lang="es-ES" sz="1400" b="1" dirty="0" err="1"/>
              <a:t>crontab</a:t>
            </a:r>
            <a:r>
              <a:rPr lang="es-ES" sz="1400" dirty="0"/>
              <a:t> que remplace a las entradas normales de las tareas </a:t>
            </a:r>
            <a:r>
              <a:rPr lang="es-ES" sz="1400" i="1" dirty="0"/>
              <a:t>cron</a:t>
            </a:r>
            <a:r>
              <a:rPr lang="es-ES" sz="1400" dirty="0"/>
              <a:t> de su sistema. Esto puede presentar los mismos problemas que </a:t>
            </a:r>
            <a:r>
              <a:rPr lang="es-ES" sz="1400" i="1" dirty="0"/>
              <a:t>cron</a:t>
            </a:r>
            <a:r>
              <a:rPr lang="es-ES" sz="1400" dirty="0"/>
              <a:t>, es decir, que el PC este apagado cuando sea el momento de ejecutar </a:t>
            </a:r>
            <a:r>
              <a:rPr lang="es-ES" sz="1400" i="1" dirty="0" err="1"/>
              <a:t>anacron</a:t>
            </a:r>
            <a:r>
              <a:rPr lang="es-ES" sz="1400" dirty="0"/>
              <a:t>, pero podremos sino  invocar a </a:t>
            </a:r>
            <a:r>
              <a:rPr lang="es-ES" sz="1400" i="1" dirty="0" err="1"/>
              <a:t>anacron</a:t>
            </a:r>
            <a:r>
              <a:rPr lang="es-ES" sz="1400" dirty="0"/>
              <a:t> mas de una vez al día, por ejemplo, una vez cada seis horas asegurándonos que se ejecutará durante una típica jornada diaria de ocho horas.</a:t>
            </a:r>
            <a:endParaRPr lang="es-ES" sz="1400" dirty="0"/>
          </a:p>
          <a:p>
            <a:r>
              <a:rPr lang="es-ES" sz="1400" b="1" dirty="0"/>
              <a:t>Importante</a:t>
            </a:r>
            <a:r>
              <a:rPr lang="es-ES" sz="1400" dirty="0"/>
              <a:t>: Independientemente de como ejecute </a:t>
            </a:r>
            <a:r>
              <a:rPr lang="es-ES" sz="1400" i="1" dirty="0" err="1"/>
              <a:t>anacron</a:t>
            </a:r>
            <a:r>
              <a:rPr lang="es-ES" sz="1400" dirty="0"/>
              <a:t>, asegúrese de desactivar de </a:t>
            </a:r>
            <a:r>
              <a:rPr lang="es-ES" sz="1400" i="1" dirty="0"/>
              <a:t>cron</a:t>
            </a:r>
            <a:r>
              <a:rPr lang="es-ES" sz="1400" dirty="0"/>
              <a:t> cualquier tarea que sea controlada ahora por </a:t>
            </a:r>
            <a:r>
              <a:rPr lang="es-ES" sz="1400" i="1" dirty="0" err="1"/>
              <a:t>anacron</a:t>
            </a:r>
            <a:r>
              <a:rPr lang="es-ES" sz="1400" dirty="0"/>
              <a:t>, de lo contrario esta tarea será ejecutada dos veces en el caso de que el PC se encuentre encendido cuando </a:t>
            </a:r>
            <a:r>
              <a:rPr lang="es-ES" sz="1400" i="1" dirty="0"/>
              <a:t>cron</a:t>
            </a:r>
            <a:r>
              <a:rPr lang="es-ES" sz="1400" dirty="0"/>
              <a:t> ejecute sus tareas.</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87116" y="1463394"/>
            <a:ext cx="10387263" cy="5023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r>
              <a:rPr lang="es-ES" sz="1400" b="1" dirty="0"/>
              <a:t>At</a:t>
            </a:r>
            <a:endParaRPr lang="es-ES" sz="1400" b="1" dirty="0"/>
          </a:p>
          <a:p>
            <a:r>
              <a:rPr lang="es-ES" sz="1400" dirty="0"/>
              <a:t>El programa </a:t>
            </a:r>
            <a:r>
              <a:rPr lang="es-ES" sz="1400" b="1" dirty="0"/>
              <a:t>at</a:t>
            </a:r>
            <a:r>
              <a:rPr lang="es-ES" sz="1400" dirty="0"/>
              <a:t> nos permite ejecutar una sola vez un único comando en un momento futuro determinado, útil cuando el uso de </a:t>
            </a:r>
            <a:r>
              <a:rPr lang="es-ES" sz="1400" i="1" dirty="0"/>
              <a:t>cron</a:t>
            </a:r>
            <a:r>
              <a:rPr lang="es-ES" sz="1400" dirty="0"/>
              <a:t> o </a:t>
            </a:r>
            <a:r>
              <a:rPr lang="es-ES" sz="1400" i="1" dirty="0" err="1"/>
              <a:t>anacron</a:t>
            </a:r>
            <a:r>
              <a:rPr lang="es-ES" sz="1400" dirty="0"/>
              <a:t> suponen un despliegue excesivo. El comando </a:t>
            </a:r>
            <a:r>
              <a:rPr lang="es-ES" sz="1400" i="1" dirty="0"/>
              <a:t>at</a:t>
            </a:r>
            <a:r>
              <a:rPr lang="es-ES" sz="1400" dirty="0"/>
              <a:t> depende del demonio </a:t>
            </a:r>
            <a:r>
              <a:rPr lang="es-ES" sz="1400" i="1" dirty="0" err="1"/>
              <a:t>atd</a:t>
            </a:r>
            <a:r>
              <a:rPr lang="es-ES" sz="1400" dirty="0"/>
              <a:t> por lo que tendremos que asegurarnos de que </a:t>
            </a:r>
            <a:r>
              <a:rPr lang="es-ES" sz="1400" i="1" dirty="0" err="1"/>
              <a:t>atd</a:t>
            </a:r>
            <a:r>
              <a:rPr lang="es-ES" sz="1400" dirty="0"/>
              <a:t> está ejecutándose en segundo plano.</a:t>
            </a:r>
            <a:endParaRPr lang="es-ES" sz="1400" dirty="0"/>
          </a:p>
          <a:p>
            <a:r>
              <a:rPr lang="es-ES" sz="1400" dirty="0"/>
              <a:t>En su uso normal </a:t>
            </a:r>
            <a:r>
              <a:rPr lang="es-ES" sz="1400" b="1" i="1" dirty="0"/>
              <a:t>at</a:t>
            </a:r>
            <a:r>
              <a:rPr lang="es-ES" sz="1400" dirty="0"/>
              <a:t> recibe como única opción una </a:t>
            </a:r>
            <a:r>
              <a:rPr lang="es-ES" sz="1400" b="1" dirty="0"/>
              <a:t>hora</a:t>
            </a:r>
            <a:r>
              <a:rPr lang="es-ES" sz="1400" dirty="0"/>
              <a:t>: debemos añadirle </a:t>
            </a:r>
            <a:r>
              <a:rPr lang="es-ES" sz="1400" i="1" dirty="0"/>
              <a:t>AM</a:t>
            </a:r>
            <a:r>
              <a:rPr lang="es-ES" sz="1400" dirty="0"/>
              <a:t> o </a:t>
            </a:r>
            <a:r>
              <a:rPr lang="es-ES" sz="1400" i="1" dirty="0"/>
              <a:t>PM</a:t>
            </a:r>
            <a:r>
              <a:rPr lang="es-ES" sz="1400" dirty="0"/>
              <a:t> para utilizar el formato de 12 horas. Si la hora marcada ya ha pasado, el comando se ejecutará al día siguiente. Las siguientes palabras pueden ser utilizada para ejecutar un comando a las 12 PM ‘</a:t>
            </a:r>
            <a:r>
              <a:rPr lang="es-ES" sz="1400" b="1" i="1" dirty="0" err="1"/>
              <a:t>noon</a:t>
            </a:r>
            <a:r>
              <a:rPr lang="es-ES" sz="1400" dirty="0"/>
              <a:t>‘, a las 00:00 ‘</a:t>
            </a:r>
            <a:r>
              <a:rPr lang="es-ES" sz="1400" b="1" i="1" dirty="0" err="1"/>
              <a:t>midnight</a:t>
            </a:r>
            <a:r>
              <a:rPr lang="es-ES" sz="1400" dirty="0"/>
              <a:t>‘, a las 16:00 o 04:00 PM ‘</a:t>
            </a:r>
            <a:r>
              <a:rPr lang="es-ES" sz="1400" b="1" i="1" dirty="0" err="1"/>
              <a:t>teatime</a:t>
            </a:r>
            <a:r>
              <a:rPr lang="es-ES" sz="1400" dirty="0"/>
              <a:t>‘, el día de hoy ‘</a:t>
            </a:r>
            <a:r>
              <a:rPr lang="es-ES" sz="1400" b="1" i="1" dirty="0" err="1"/>
              <a:t>today</a:t>
            </a:r>
            <a:r>
              <a:rPr lang="es-ES" sz="1400" dirty="0"/>
              <a:t>‘ o el día de mañana ‘</a:t>
            </a:r>
            <a:r>
              <a:rPr lang="es-ES" sz="1400" b="1" i="1" dirty="0" err="1"/>
              <a:t>tomorrow</a:t>
            </a:r>
            <a:r>
              <a:rPr lang="es-ES" sz="1400" dirty="0"/>
              <a:t>‘</a:t>
            </a:r>
            <a:endParaRPr lang="es-ES" sz="1400" dirty="0"/>
          </a:p>
          <a:p>
            <a:r>
              <a:rPr lang="es-ES" sz="1400" b="1" dirty="0"/>
              <a:t>Un determinado día</a:t>
            </a:r>
            <a:r>
              <a:rPr lang="es-ES" sz="1400" dirty="0"/>
              <a:t>: Si especificamos un día querrá decir que estamos planificando una tarea para ser ejecutada con mas de 24 horas de antelación. Deberemos de añadir el día tras la hora tal que así; ‘</a:t>
            </a:r>
            <a:r>
              <a:rPr lang="es-ES" sz="1400" i="1" dirty="0" err="1"/>
              <a:t>hh:mm</a:t>
            </a:r>
            <a:r>
              <a:rPr lang="es-ES" sz="1400" i="1" dirty="0"/>
              <a:t> MMDDYY</a:t>
            </a:r>
            <a:r>
              <a:rPr lang="es-ES" sz="1400" dirty="0"/>
              <a:t>‘, ‘</a:t>
            </a:r>
            <a:r>
              <a:rPr lang="es-ES" sz="1400" i="1" dirty="0" err="1"/>
              <a:t>hh:mm</a:t>
            </a:r>
            <a:r>
              <a:rPr lang="es-ES" sz="1400" i="1" dirty="0"/>
              <a:t> MM/DD/YY</a:t>
            </a:r>
            <a:r>
              <a:rPr lang="es-ES" sz="1400" dirty="0"/>
              <a:t>‘ o ‘</a:t>
            </a:r>
            <a:r>
              <a:rPr lang="es-ES" sz="1400" dirty="0" err="1"/>
              <a:t>hh:mm</a:t>
            </a:r>
            <a:r>
              <a:rPr lang="es-ES" sz="1400" i="1" dirty="0"/>
              <a:t> DD.MM.YY</a:t>
            </a:r>
            <a:r>
              <a:rPr lang="es-ES" sz="1400" dirty="0"/>
              <a:t>‘</a:t>
            </a:r>
            <a:endParaRPr lang="es-ES" sz="1400" dirty="0"/>
          </a:p>
          <a:p>
            <a:r>
              <a:rPr lang="es-ES" sz="1400" dirty="0"/>
              <a:t>Concretar </a:t>
            </a:r>
            <a:r>
              <a:rPr lang="es-ES" sz="1400" b="1" dirty="0"/>
              <a:t>un futuro específico</a:t>
            </a:r>
            <a:r>
              <a:rPr lang="es-ES" sz="1400" dirty="0"/>
              <a:t>: Por ejemplo, queremos ejecutar una tarea dentro de 3 horas, independientemente de la hora actual. Usaremos la palabra </a:t>
            </a:r>
            <a:r>
              <a:rPr lang="es-ES" sz="1400" i="1" dirty="0" err="1"/>
              <a:t>now</a:t>
            </a:r>
            <a:r>
              <a:rPr lang="es-ES" sz="1400" dirty="0"/>
              <a:t> (ahora) y le sumamos las horas que deberán de transcurrir: ‘</a:t>
            </a:r>
            <a:r>
              <a:rPr lang="es-ES" sz="1400" b="1" i="1" dirty="0" err="1"/>
              <a:t>now</a:t>
            </a:r>
            <a:r>
              <a:rPr lang="es-ES" sz="1400" b="1" i="1" dirty="0"/>
              <a:t> + 3</a:t>
            </a:r>
            <a:r>
              <a:rPr lang="es-ES" sz="1400" dirty="0"/>
              <a:t>‘. Igualmente podemos indicar que a partir de ahora (</a:t>
            </a:r>
            <a:r>
              <a:rPr lang="es-ES" sz="1400" dirty="0" err="1"/>
              <a:t>now</a:t>
            </a:r>
            <a:r>
              <a:rPr lang="es-ES" sz="1400" dirty="0"/>
              <a:t>) espere por ejemplo hasta el próximo Sábado y reinicie ‘</a:t>
            </a:r>
            <a:r>
              <a:rPr lang="es-ES" sz="1400" b="1" i="1" dirty="0"/>
              <a:t>at </a:t>
            </a:r>
            <a:r>
              <a:rPr lang="es-ES" sz="1400" b="1" i="1" dirty="0" err="1"/>
              <a:t>now</a:t>
            </a:r>
            <a:r>
              <a:rPr lang="es-ES" sz="1400" b="1" i="1" dirty="0"/>
              <a:t> </a:t>
            </a:r>
            <a:r>
              <a:rPr lang="es-ES" sz="1400" b="1" i="1" dirty="0" err="1"/>
              <a:t>sat</a:t>
            </a:r>
            <a:r>
              <a:rPr lang="es-ES" sz="1400" b="1" i="1" dirty="0"/>
              <a:t> </a:t>
            </a:r>
            <a:r>
              <a:rPr lang="es-ES" sz="1400" b="1" i="1" dirty="0" err="1"/>
              <a:t>reboot</a:t>
            </a:r>
            <a:r>
              <a:rPr lang="es-ES" sz="1400" dirty="0"/>
              <a:t>‘</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63632"/>
            <a:ext cx="10555705" cy="4260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r>
              <a:rPr lang="es-ES" sz="1400" b="1" dirty="0"/>
              <a:t>At</a:t>
            </a:r>
            <a:endParaRPr lang="es-ES" sz="1400" b="1" dirty="0"/>
          </a:p>
          <a:p>
            <a:pPr marL="0" lvl="0" indent="0" eaLnBrk="0" fontAlgn="base" hangingPunct="0">
              <a:lnSpc>
                <a:spcPct val="100000"/>
              </a:lnSpc>
              <a:spcBef>
                <a:spcPts val="200"/>
              </a:spcBef>
              <a:spcAft>
                <a:spcPct val="0"/>
              </a:spcAft>
              <a:buClrTx/>
              <a:buSzTx/>
              <a:buNone/>
            </a:pPr>
            <a:r>
              <a:rPr lang="es-ES" altLang="es-ES" sz="1400" dirty="0">
                <a:solidFill>
                  <a:srgbClr val="333333"/>
                </a:solidFill>
              </a:rPr>
              <a:t>Cuando ejecutemos el comando </a:t>
            </a:r>
            <a:r>
              <a:rPr lang="es-ES" altLang="es-ES" sz="1400" i="1" dirty="0">
                <a:solidFill>
                  <a:srgbClr val="333333"/>
                </a:solidFill>
              </a:rPr>
              <a:t>at</a:t>
            </a:r>
            <a:r>
              <a:rPr lang="es-ES" altLang="es-ES" sz="1400" dirty="0">
                <a:solidFill>
                  <a:srgbClr val="333333"/>
                </a:solidFill>
              </a:rPr>
              <a:t> con su hora (no importa el formato utilizado), el programa responderá con su propio </a:t>
            </a:r>
            <a:r>
              <a:rPr lang="es-ES" altLang="es-ES" sz="1400" i="1" dirty="0" err="1">
                <a:solidFill>
                  <a:srgbClr val="333333"/>
                </a:solidFill>
              </a:rPr>
              <a:t>prompt</a:t>
            </a:r>
            <a:endParaRPr lang="es-ES" altLang="es-ES" sz="1400" dirty="0">
              <a:solidFill>
                <a:srgbClr val="333333"/>
              </a:solidFill>
              <a:cs typeface="Courier New" panose="02070309020205020404" pitchFamily="49" charset="0"/>
            </a:endParaRPr>
          </a:p>
          <a:p>
            <a:pPr marL="0" lvl="0" indent="0" eaLnBrk="0" fontAlgn="base" hangingPunct="0">
              <a:lnSpc>
                <a:spcPct val="100000"/>
              </a:lnSpc>
              <a:spcBef>
                <a:spcPts val="200"/>
              </a:spcBef>
              <a:spcAft>
                <a:spcPct val="0"/>
              </a:spcAft>
              <a:buClrTx/>
              <a:buSzTx/>
              <a:buNone/>
            </a:pPr>
            <a:r>
              <a:rPr lang="es-ES" altLang="es-ES" sz="1400" b="1" i="1" dirty="0">
                <a:solidFill>
                  <a:srgbClr val="333333"/>
                </a:solidFill>
                <a:cs typeface="Courier New" panose="02070309020205020404" pitchFamily="49" charset="0"/>
              </a:rPr>
              <a:t>at &gt;</a:t>
            </a:r>
            <a:endParaRPr lang="es-ES" altLang="es-ES" b="1" i="1" dirty="0">
              <a:solidFill>
                <a:schemeClr val="tx1"/>
              </a:solidFill>
              <a:cs typeface="Courier New" panose="02070309020205020404" pitchFamily="49" charset="0"/>
            </a:endParaRPr>
          </a:p>
          <a:p>
            <a:pPr marL="0" lvl="0" indent="0" eaLnBrk="0" fontAlgn="base" hangingPunct="0">
              <a:lnSpc>
                <a:spcPct val="100000"/>
              </a:lnSpc>
              <a:spcBef>
                <a:spcPts val="200"/>
              </a:spcBef>
              <a:spcAft>
                <a:spcPct val="0"/>
              </a:spcAft>
              <a:buClrTx/>
              <a:buSzTx/>
              <a:buNone/>
            </a:pPr>
            <a:r>
              <a:rPr lang="es-ES" altLang="es-ES" sz="1400" dirty="0">
                <a:solidFill>
                  <a:srgbClr val="333333"/>
                </a:solidFill>
              </a:rPr>
              <a:t>Podremos utilizar el </a:t>
            </a:r>
            <a:r>
              <a:rPr lang="es-ES" altLang="es-ES" sz="1400" i="1" dirty="0" err="1">
                <a:solidFill>
                  <a:srgbClr val="333333"/>
                </a:solidFill>
              </a:rPr>
              <a:t>prompt</a:t>
            </a:r>
            <a:r>
              <a:rPr lang="es-ES" altLang="es-ES" sz="1400" dirty="0">
                <a:solidFill>
                  <a:srgbClr val="333333"/>
                </a:solidFill>
              </a:rPr>
              <a:t> de </a:t>
            </a:r>
            <a:r>
              <a:rPr lang="es-ES" altLang="es-ES" sz="1400" i="1" dirty="0">
                <a:solidFill>
                  <a:srgbClr val="333333"/>
                </a:solidFill>
              </a:rPr>
              <a:t>at</a:t>
            </a:r>
            <a:r>
              <a:rPr lang="es-ES" altLang="es-ES" sz="1400" dirty="0">
                <a:solidFill>
                  <a:srgbClr val="333333"/>
                </a:solidFill>
              </a:rPr>
              <a:t> como si de </a:t>
            </a:r>
            <a:r>
              <a:rPr lang="es-ES" altLang="es-ES" sz="1400" i="1" dirty="0" err="1">
                <a:solidFill>
                  <a:srgbClr val="333333"/>
                </a:solidFill>
              </a:rPr>
              <a:t>bash</a:t>
            </a:r>
            <a:r>
              <a:rPr lang="es-ES" altLang="es-ES" sz="1400" dirty="0">
                <a:solidFill>
                  <a:srgbClr val="333333"/>
                </a:solidFill>
              </a:rPr>
              <a:t> se tratara, es decir escribiremos los comandos que queremos ejecutar, con la diferencia que no serán ejecutados en el momento si no cuando sea la hora especificada. </a:t>
            </a:r>
            <a:endParaRPr lang="es-ES" altLang="es-ES" sz="1400" dirty="0">
              <a:solidFill>
                <a:srgbClr val="333333"/>
              </a:solidFill>
            </a:endParaRPr>
          </a:p>
          <a:p>
            <a:pPr marL="0" lvl="0" indent="0" eaLnBrk="0" fontAlgn="base" hangingPunct="0">
              <a:lnSpc>
                <a:spcPct val="100000"/>
              </a:lnSpc>
              <a:spcBef>
                <a:spcPts val="200"/>
              </a:spcBef>
              <a:spcAft>
                <a:spcPct val="0"/>
              </a:spcAft>
              <a:buClrTx/>
              <a:buSzTx/>
              <a:buNone/>
            </a:pPr>
            <a:r>
              <a:rPr lang="es-ES" altLang="es-ES" sz="1400" dirty="0">
                <a:solidFill>
                  <a:srgbClr val="333333"/>
                </a:solidFill>
              </a:rPr>
              <a:t>Una vez hayamos terminado de escribir comandos finalizaremos con la combinación de teclas </a:t>
            </a:r>
            <a:r>
              <a:rPr lang="es-ES" altLang="es-ES" sz="1400" b="1" dirty="0" err="1">
                <a:solidFill>
                  <a:srgbClr val="333333"/>
                </a:solidFill>
              </a:rPr>
              <a:t>Control+D</a:t>
            </a:r>
            <a:r>
              <a:rPr lang="es-ES" altLang="es-ES" sz="1400" dirty="0">
                <a:solidFill>
                  <a:srgbClr val="333333"/>
                </a:solidFill>
              </a:rPr>
              <a:t>. </a:t>
            </a:r>
            <a:endParaRPr lang="es-ES" altLang="es-ES" sz="1400" dirty="0">
              <a:solidFill>
                <a:srgbClr val="333333"/>
              </a:solidFill>
            </a:endParaRPr>
          </a:p>
          <a:p>
            <a:pPr marL="0" lvl="0" indent="0" eaLnBrk="0" fontAlgn="base" hangingPunct="0">
              <a:lnSpc>
                <a:spcPct val="100000"/>
              </a:lnSpc>
              <a:spcBef>
                <a:spcPts val="200"/>
              </a:spcBef>
              <a:spcAft>
                <a:spcPct val="0"/>
              </a:spcAft>
              <a:buClrTx/>
              <a:buSzTx/>
              <a:buNone/>
            </a:pPr>
            <a:r>
              <a:rPr lang="es-ES" altLang="es-ES" sz="1400" dirty="0">
                <a:solidFill>
                  <a:srgbClr val="333333"/>
                </a:solidFill>
              </a:rPr>
              <a:t>Podremos realizar la misma función pero pasando un archivo con los comandos en vez de escribirlos en el </a:t>
            </a:r>
            <a:r>
              <a:rPr lang="es-ES" altLang="es-ES" sz="1400" i="1" dirty="0" err="1">
                <a:solidFill>
                  <a:srgbClr val="333333"/>
                </a:solidFill>
              </a:rPr>
              <a:t>prompt</a:t>
            </a:r>
            <a:r>
              <a:rPr lang="es-ES" altLang="es-ES" sz="1400" dirty="0">
                <a:solidFill>
                  <a:srgbClr val="333333"/>
                </a:solidFill>
              </a:rPr>
              <a:t>. Un ejemplo de esto podría ser:</a:t>
            </a: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ts val="200"/>
              </a:spcBef>
              <a:spcAft>
                <a:spcPct val="0"/>
              </a:spcAft>
              <a:buClrTx/>
              <a:buSzTx/>
              <a:buNone/>
            </a:pPr>
            <a:r>
              <a:rPr lang="es-ES" altLang="es-ES" sz="1400" b="1" i="1" dirty="0">
                <a:solidFill>
                  <a:srgbClr val="333333"/>
                </a:solidFill>
                <a:cs typeface="Courier New" panose="02070309020205020404" pitchFamily="49" charset="0"/>
              </a:rPr>
              <a:t>at -f comandos </a:t>
            </a:r>
            <a:r>
              <a:rPr lang="es-ES" altLang="es-ES" sz="1400" b="1" i="1" dirty="0" err="1">
                <a:solidFill>
                  <a:srgbClr val="333333"/>
                </a:solidFill>
                <a:cs typeface="Courier New" panose="02070309020205020404" pitchFamily="49" charset="0"/>
              </a:rPr>
              <a:t>teatime</a:t>
            </a:r>
            <a:endParaRPr lang="es-ES" altLang="es-ES" b="1" i="1" dirty="0">
              <a:solidFill>
                <a:schemeClr val="tx1"/>
              </a:solidFill>
            </a:endParaRPr>
          </a:p>
          <a:p>
            <a:pPr marL="0" lvl="0" indent="0" eaLnBrk="0" fontAlgn="base" hangingPunct="0">
              <a:lnSpc>
                <a:spcPct val="100000"/>
              </a:lnSpc>
              <a:spcBef>
                <a:spcPts val="200"/>
              </a:spcBef>
              <a:spcAft>
                <a:spcPct val="0"/>
              </a:spcAft>
              <a:buClrTx/>
              <a:buSzTx/>
              <a:buNone/>
            </a:pPr>
            <a:r>
              <a:rPr lang="es-ES" altLang="es-ES" sz="1400" dirty="0">
                <a:solidFill>
                  <a:srgbClr val="333333"/>
                </a:solidFill>
              </a:rPr>
              <a:t>Algunos programas que ofrecen soporte a </a:t>
            </a:r>
            <a:r>
              <a:rPr lang="es-ES" altLang="es-ES" sz="1400" i="1" dirty="0">
                <a:solidFill>
                  <a:srgbClr val="333333"/>
                </a:solidFill>
              </a:rPr>
              <a:t>at</a:t>
            </a:r>
            <a:r>
              <a:rPr lang="es-ES" altLang="es-ES" sz="1400" dirty="0">
                <a:solidFill>
                  <a:srgbClr val="333333"/>
                </a:solidFill>
              </a:rPr>
              <a:t> son:</a:t>
            </a:r>
            <a:endParaRPr lang="es-ES" altLang="es-ES" dirty="0">
              <a:solidFill>
                <a:schemeClr val="tx1"/>
              </a:solidFill>
            </a:endParaRPr>
          </a:p>
          <a:p>
            <a:pPr eaLnBrk="0" fontAlgn="base" hangingPunct="0">
              <a:lnSpc>
                <a:spcPct val="100000"/>
              </a:lnSpc>
              <a:spcBef>
                <a:spcPts val="200"/>
              </a:spcBef>
              <a:spcAft>
                <a:spcPct val="0"/>
              </a:spcAft>
              <a:buClrTx/>
              <a:buSzTx/>
              <a:buFont typeface="Wingdings" panose="05000000000000000000" pitchFamily="2" charset="2"/>
              <a:buChar char="§"/>
            </a:pPr>
            <a:r>
              <a:rPr lang="es-ES" altLang="es-ES" sz="1400" b="1" dirty="0" err="1">
                <a:solidFill>
                  <a:srgbClr val="333333"/>
                </a:solidFill>
              </a:rPr>
              <a:t>atq</a:t>
            </a:r>
            <a:r>
              <a:rPr lang="es-ES" altLang="es-ES" sz="1400" dirty="0">
                <a:solidFill>
                  <a:srgbClr val="333333"/>
                </a:solidFill>
              </a:rPr>
              <a:t>: Enumera las tareas pendientes. Es igual que </a:t>
            </a:r>
            <a:r>
              <a:rPr lang="es-ES" altLang="es-ES" sz="1400" b="1" i="1" dirty="0">
                <a:solidFill>
                  <a:srgbClr val="333333"/>
                </a:solidFill>
              </a:rPr>
              <a:t>at -l</a:t>
            </a:r>
            <a:endParaRPr lang="es-ES" altLang="es-ES" sz="1400" dirty="0">
              <a:solidFill>
                <a:srgbClr val="333333"/>
              </a:solidFill>
            </a:endParaRPr>
          </a:p>
          <a:p>
            <a:pPr eaLnBrk="0" fontAlgn="base" hangingPunct="0">
              <a:lnSpc>
                <a:spcPct val="100000"/>
              </a:lnSpc>
              <a:spcBef>
                <a:spcPts val="200"/>
              </a:spcBef>
              <a:spcAft>
                <a:spcPct val="0"/>
              </a:spcAft>
              <a:buClrTx/>
              <a:buSzTx/>
              <a:buFont typeface="Wingdings" panose="05000000000000000000" pitchFamily="2" charset="2"/>
              <a:buChar char="§"/>
            </a:pPr>
            <a:r>
              <a:rPr lang="es-ES" altLang="es-ES" sz="1400" b="1" dirty="0" err="1">
                <a:solidFill>
                  <a:srgbClr val="333333"/>
                </a:solidFill>
              </a:rPr>
              <a:t>atrm</a:t>
            </a:r>
            <a:r>
              <a:rPr lang="es-ES" altLang="es-ES" sz="1400" dirty="0">
                <a:solidFill>
                  <a:srgbClr val="333333"/>
                </a:solidFill>
              </a:rPr>
              <a:t>: Elimina una tarea de la cola. Es igual que </a:t>
            </a:r>
            <a:r>
              <a:rPr lang="es-ES" altLang="es-ES" sz="1400" b="1" i="1" dirty="0">
                <a:solidFill>
                  <a:srgbClr val="333333"/>
                </a:solidFill>
              </a:rPr>
              <a:t>at -d</a:t>
            </a:r>
            <a:endParaRPr lang="es-ES" altLang="es-ES" sz="1400" dirty="0">
              <a:solidFill>
                <a:srgbClr val="333333"/>
              </a:solidFill>
            </a:endParaRPr>
          </a:p>
          <a:p>
            <a:pPr eaLnBrk="0" fontAlgn="base" hangingPunct="0">
              <a:lnSpc>
                <a:spcPct val="100000"/>
              </a:lnSpc>
              <a:spcBef>
                <a:spcPts val="200"/>
              </a:spcBef>
              <a:spcAft>
                <a:spcPct val="0"/>
              </a:spcAft>
              <a:buClrTx/>
              <a:buSzTx/>
              <a:buFont typeface="Wingdings" panose="05000000000000000000" pitchFamily="2" charset="2"/>
              <a:buChar char="§"/>
            </a:pPr>
            <a:r>
              <a:rPr lang="es-ES" altLang="es-ES" sz="1400" b="1" dirty="0" err="1">
                <a:solidFill>
                  <a:srgbClr val="333333"/>
                </a:solidFill>
              </a:rPr>
              <a:t>batch</a:t>
            </a:r>
            <a:r>
              <a:rPr lang="es-ES" altLang="es-ES" sz="1400" dirty="0">
                <a:solidFill>
                  <a:srgbClr val="333333"/>
                </a:solidFill>
              </a:rPr>
              <a:t>: Interesante en equipos que suelen tener </a:t>
            </a:r>
            <a:r>
              <a:rPr lang="es-ES" altLang="es-ES" sz="1400" dirty="0" err="1">
                <a:solidFill>
                  <a:srgbClr val="333333"/>
                </a:solidFill>
              </a:rPr>
              <a:t>indices</a:t>
            </a:r>
            <a:r>
              <a:rPr lang="es-ES" altLang="es-ES" sz="1400" dirty="0">
                <a:solidFill>
                  <a:srgbClr val="333333"/>
                </a:solidFill>
              </a:rPr>
              <a:t> de carga elevados. </a:t>
            </a:r>
            <a:r>
              <a:rPr lang="es-ES" altLang="es-ES" sz="1400" i="1" dirty="0" err="1">
                <a:solidFill>
                  <a:srgbClr val="333333"/>
                </a:solidFill>
              </a:rPr>
              <a:t>batch</a:t>
            </a:r>
            <a:r>
              <a:rPr lang="es-ES" altLang="es-ES" sz="1400" dirty="0">
                <a:solidFill>
                  <a:srgbClr val="333333"/>
                </a:solidFill>
              </a:rPr>
              <a:t> funciona de modo muy similar a </a:t>
            </a:r>
            <a:r>
              <a:rPr lang="es-ES" altLang="es-ES" sz="1400" i="1" dirty="0">
                <a:solidFill>
                  <a:srgbClr val="333333"/>
                </a:solidFill>
              </a:rPr>
              <a:t>at</a:t>
            </a:r>
            <a:r>
              <a:rPr lang="es-ES" altLang="es-ES" sz="1400" dirty="0">
                <a:solidFill>
                  <a:srgbClr val="333333"/>
                </a:solidFill>
              </a:rPr>
              <a:t>, pero solo ejecuta las tareas cuando el </a:t>
            </a:r>
            <a:r>
              <a:rPr lang="es-ES" altLang="es-ES" sz="1400" i="1" dirty="0">
                <a:solidFill>
                  <a:srgbClr val="333333"/>
                </a:solidFill>
              </a:rPr>
              <a:t>nivel de carga del sistema baja de </a:t>
            </a:r>
            <a:r>
              <a:rPr lang="es-ES" altLang="es-ES" sz="1400" b="1" i="1" dirty="0">
                <a:solidFill>
                  <a:srgbClr val="333333"/>
                </a:solidFill>
              </a:rPr>
              <a:t>0,8</a:t>
            </a:r>
            <a:r>
              <a:rPr lang="es-ES" altLang="es-ES" sz="1400" dirty="0">
                <a:solidFill>
                  <a:srgbClr val="333333"/>
                </a:solidFill>
              </a:rPr>
              <a:t>. Igual a </a:t>
            </a:r>
            <a:r>
              <a:rPr lang="es-ES" altLang="es-ES" sz="1400" b="1" i="1" dirty="0">
                <a:solidFill>
                  <a:srgbClr val="333333"/>
                </a:solidFill>
              </a:rPr>
              <a:t>at -b</a:t>
            </a:r>
            <a:endParaRPr lang="es-ES" altLang="es-ES" sz="1400" dirty="0">
              <a:solidFill>
                <a:srgbClr val="333333"/>
              </a:solidFill>
            </a:endParaRPr>
          </a:p>
          <a:p>
            <a:endParaRPr lang="es-ES" sz="1400" b="1"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23554"/>
            <a:ext cx="10555705" cy="355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r>
              <a:rPr lang="es-ES" sz="1400" b="1" dirty="0"/>
              <a:t>At</a:t>
            </a:r>
            <a:endParaRPr lang="es-ES" sz="1400" b="1" dirty="0"/>
          </a:p>
          <a:p>
            <a:r>
              <a:rPr lang="es-ES" dirty="0"/>
              <a:t>Restringir el acceso a at</a:t>
            </a:r>
            <a:endParaRPr lang="es-ES" dirty="0"/>
          </a:p>
          <a:p>
            <a:r>
              <a:rPr lang="es-ES" dirty="0"/>
              <a:t>Podemos implementar restricciones en el uso de </a:t>
            </a:r>
            <a:r>
              <a:rPr lang="es-ES" i="1" dirty="0"/>
              <a:t>at</a:t>
            </a:r>
            <a:r>
              <a:rPr lang="es-ES" dirty="0"/>
              <a:t> al igual que hacíamos con </a:t>
            </a:r>
            <a:r>
              <a:rPr lang="es-ES" i="1" dirty="0"/>
              <a:t>cron</a:t>
            </a:r>
            <a:r>
              <a:rPr lang="es-ES" dirty="0"/>
              <a:t>. Los archivos </a:t>
            </a:r>
            <a:r>
              <a:rPr lang="es-ES" i="1" dirty="0"/>
              <a:t>/</a:t>
            </a:r>
            <a:r>
              <a:rPr lang="es-ES" i="1" dirty="0" err="1"/>
              <a:t>etc</a:t>
            </a:r>
            <a:r>
              <a:rPr lang="es-ES" i="1" dirty="0"/>
              <a:t>/</a:t>
            </a:r>
            <a:r>
              <a:rPr lang="es-ES" i="1" dirty="0" err="1"/>
              <a:t>at.allow</a:t>
            </a:r>
            <a:r>
              <a:rPr lang="es-ES" dirty="0"/>
              <a:t> y </a:t>
            </a:r>
            <a:r>
              <a:rPr lang="es-ES" i="1" dirty="0"/>
              <a:t>/</a:t>
            </a:r>
            <a:r>
              <a:rPr lang="es-ES" i="1" dirty="0" err="1"/>
              <a:t>etc</a:t>
            </a:r>
            <a:r>
              <a:rPr lang="es-ES" i="1" dirty="0"/>
              <a:t>/</a:t>
            </a:r>
            <a:r>
              <a:rPr lang="es-ES" i="1" dirty="0" err="1"/>
              <a:t>at.deny</a:t>
            </a:r>
            <a:r>
              <a:rPr lang="es-ES" dirty="0"/>
              <a:t> funcional de manera análoga a los archivos de restricciones de </a:t>
            </a:r>
            <a:r>
              <a:rPr lang="es-ES" i="1" dirty="0"/>
              <a:t>cron</a:t>
            </a:r>
            <a:r>
              <a:rPr lang="es-ES" dirty="0"/>
              <a:t>. </a:t>
            </a:r>
            <a:r>
              <a:rPr lang="es-ES" u="sng" dirty="0"/>
              <a:t>Si ninguno de los 2 archivos existe solo </a:t>
            </a:r>
            <a:r>
              <a:rPr lang="es-ES" i="1" u="sng" dirty="0" err="1"/>
              <a:t>root</a:t>
            </a:r>
            <a:r>
              <a:rPr lang="es-ES" u="sng" dirty="0"/>
              <a:t> podrá ejecutar </a:t>
            </a:r>
            <a:r>
              <a:rPr lang="es-ES" i="1" u="sng" dirty="0"/>
              <a:t>at</a:t>
            </a:r>
            <a:r>
              <a:rPr lang="es-ES" dirty="0"/>
              <a:t>. La lista de usuarios permitido concederá derecho de ejecución de </a:t>
            </a:r>
            <a:r>
              <a:rPr lang="es-ES" i="1" dirty="0"/>
              <a:t>at</a:t>
            </a:r>
            <a:r>
              <a:rPr lang="es-ES" dirty="0"/>
              <a:t> a aquellos usuarios cuyo nombre aparezca en la lista y de la misma forma serán denegados aquellos que estén en la lista de usuarios denegados (</a:t>
            </a:r>
            <a:r>
              <a:rPr lang="es-ES" i="1" dirty="0"/>
              <a:t>/</a:t>
            </a:r>
            <a:r>
              <a:rPr lang="es-ES" i="1" dirty="0" err="1"/>
              <a:t>etc</a:t>
            </a:r>
            <a:r>
              <a:rPr lang="es-ES" i="1" dirty="0"/>
              <a:t>/</a:t>
            </a:r>
            <a:r>
              <a:rPr lang="es-ES" i="1" dirty="0" err="1"/>
              <a:t>at.deny</a:t>
            </a:r>
            <a:r>
              <a:rPr lang="es-ES" dirty="0"/>
              <a:t>)</a:t>
            </a:r>
            <a:endParaRPr lang="es-ES" dirty="0"/>
          </a:p>
          <a:p>
            <a:endParaRPr lang="es-ES" sz="1400" b="1"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66800" y="1507864"/>
            <a:ext cx="10555705" cy="4786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r>
              <a:rPr lang="es-ES" sz="1400" b="1" dirty="0"/>
              <a:t>COMANDOS PARA TAREAS AUTOMATIZADAS</a:t>
            </a:r>
            <a:endParaRPr lang="es-ES" sz="1400" b="1" dirty="0"/>
          </a:p>
          <a:p>
            <a:r>
              <a:rPr lang="es-ES" sz="1400" b="1" dirty="0" err="1"/>
              <a:t>crontab</a:t>
            </a:r>
            <a:r>
              <a:rPr lang="es-ES" sz="1400" dirty="0"/>
              <a:t>: Edita los archivos </a:t>
            </a:r>
            <a:r>
              <a:rPr lang="es-ES" sz="1400" i="1" dirty="0" err="1"/>
              <a:t>crontab</a:t>
            </a:r>
            <a:r>
              <a:rPr lang="es-ES" sz="1400" dirty="0"/>
              <a:t> de los usuarios.</a:t>
            </a:r>
            <a:endParaRPr lang="es-ES" sz="1400" dirty="0"/>
          </a:p>
          <a:p>
            <a:pPr algn="ctr"/>
            <a:r>
              <a:rPr lang="es-ES" sz="1400" b="1" dirty="0" err="1"/>
              <a:t>crontab</a:t>
            </a:r>
            <a:r>
              <a:rPr lang="es-ES" sz="1400" b="1" dirty="0"/>
              <a:t> [ -u usuario ] [opciones] archivo</a:t>
            </a:r>
            <a:endParaRPr lang="es-ES" sz="1400" dirty="0"/>
          </a:p>
          <a:p>
            <a:r>
              <a:rPr lang="es-ES" sz="1400" b="1" dirty="0"/>
              <a:t>Opciones:</a:t>
            </a:r>
            <a:endParaRPr lang="es-ES" sz="1400" b="1" dirty="0"/>
          </a:p>
          <a:p>
            <a:pPr>
              <a:buFont typeface="Wingdings" panose="05000000000000000000" pitchFamily="2" charset="2"/>
              <a:buChar char="§"/>
            </a:pPr>
            <a:r>
              <a:rPr lang="es-ES" sz="1400" dirty="0"/>
              <a:t>Listar el archivo </a:t>
            </a:r>
            <a:r>
              <a:rPr lang="es-ES" sz="1400" i="1" dirty="0" err="1"/>
              <a:t>crontab</a:t>
            </a:r>
            <a:r>
              <a:rPr lang="es-ES" sz="1400" dirty="0"/>
              <a:t> de un determinado usuario:</a:t>
            </a:r>
            <a:r>
              <a:rPr lang="es-ES" sz="1400" b="1" dirty="0"/>
              <a:t> -l</a:t>
            </a:r>
            <a:endParaRPr lang="es-ES" sz="1400" dirty="0"/>
          </a:p>
          <a:p>
            <a:pPr>
              <a:buFont typeface="Wingdings" panose="05000000000000000000" pitchFamily="2" charset="2"/>
              <a:buChar char="§"/>
            </a:pPr>
            <a:r>
              <a:rPr lang="es-ES" sz="1400" dirty="0"/>
              <a:t>Eliminar el actual </a:t>
            </a:r>
            <a:r>
              <a:rPr lang="es-ES" sz="1400" i="1" dirty="0" err="1"/>
              <a:t>crontab</a:t>
            </a:r>
            <a:r>
              <a:rPr lang="es-ES" sz="1400" dirty="0"/>
              <a:t>: </a:t>
            </a:r>
            <a:r>
              <a:rPr lang="es-ES" sz="1400" b="1" dirty="0"/>
              <a:t>-r</a:t>
            </a:r>
            <a:endParaRPr lang="es-ES" sz="1400" dirty="0"/>
          </a:p>
          <a:p>
            <a:pPr>
              <a:buFont typeface="Wingdings" panose="05000000000000000000" pitchFamily="2" charset="2"/>
              <a:buChar char="§"/>
            </a:pPr>
            <a:r>
              <a:rPr lang="es-ES" sz="1400" dirty="0"/>
              <a:t>Pedir confirmación antes de eliminar: </a:t>
            </a:r>
            <a:r>
              <a:rPr lang="es-ES" sz="1400" b="1" dirty="0"/>
              <a:t>-i</a:t>
            </a:r>
            <a:endParaRPr lang="es-ES" sz="1400" dirty="0"/>
          </a:p>
          <a:p>
            <a:pPr>
              <a:buFont typeface="Wingdings" panose="05000000000000000000" pitchFamily="2" charset="2"/>
              <a:buChar char="§"/>
            </a:pPr>
            <a:r>
              <a:rPr lang="es-ES" sz="1400" dirty="0"/>
              <a:t>Editar el archivo: </a:t>
            </a:r>
            <a:r>
              <a:rPr lang="es-ES" sz="1400" b="1" dirty="0"/>
              <a:t>-e</a:t>
            </a:r>
            <a:endParaRPr lang="es-ES" sz="1400" dirty="0"/>
          </a:p>
          <a:p>
            <a:r>
              <a:rPr lang="es-ES" sz="1400" b="1" dirty="0"/>
              <a:t>run-</a:t>
            </a:r>
            <a:r>
              <a:rPr lang="es-ES" sz="1400" b="1" dirty="0" err="1"/>
              <a:t>parts</a:t>
            </a:r>
            <a:r>
              <a:rPr lang="es-ES" sz="1400" dirty="0"/>
              <a:t>: Ejecuta scripts o programas que se encuentran dentro de un determinado directorio. Es frecuente utilizarlo para ejecutar tareas </a:t>
            </a:r>
            <a:r>
              <a:rPr lang="es-ES" sz="1400" i="1" dirty="0"/>
              <a:t>cron</a:t>
            </a:r>
            <a:r>
              <a:rPr lang="es-ES" sz="1400" dirty="0"/>
              <a:t> de sistema. Basta con pasarle como argumento el </a:t>
            </a:r>
            <a:r>
              <a:rPr lang="es-ES" sz="1400" i="1" dirty="0" err="1"/>
              <a:t>path</a:t>
            </a:r>
            <a:r>
              <a:rPr lang="es-ES" sz="1400" dirty="0"/>
              <a:t> completo del directorio donde se encuentran los programas que queremos ejecutar.</a:t>
            </a:r>
            <a:endParaRPr lang="es-ES" sz="1400" dirty="0"/>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163053" y="1523554"/>
            <a:ext cx="10555705" cy="4051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r>
              <a:rPr lang="es-ES" sz="1400" b="1" dirty="0"/>
              <a:t>COMANDOS PARA TAREAS AUTOMATIZADAS</a:t>
            </a:r>
            <a:endParaRPr lang="es-ES" sz="1400" b="1" dirty="0"/>
          </a:p>
          <a:p>
            <a:pPr marL="0" lvl="0" indent="0" eaLnBrk="0" fontAlgn="base" hangingPunct="0">
              <a:lnSpc>
                <a:spcPct val="100000"/>
              </a:lnSpc>
              <a:spcBef>
                <a:spcPts val="200"/>
              </a:spcBef>
              <a:buClrTx/>
              <a:buSzTx/>
              <a:buNone/>
            </a:pPr>
            <a:r>
              <a:rPr lang="es-ES" altLang="es-ES" sz="1400" b="1" dirty="0">
                <a:solidFill>
                  <a:srgbClr val="333333"/>
                </a:solidFill>
              </a:rPr>
              <a:t>at</a:t>
            </a:r>
            <a:r>
              <a:rPr lang="es-ES" altLang="es-ES" sz="1400" dirty="0">
                <a:solidFill>
                  <a:srgbClr val="333333"/>
                </a:solidFill>
              </a:rPr>
              <a:t>: Ejecuta una tarea en un momento dado y tan solo por una sola vez. Si la hora programada a pasado se ejecutará al día siguiente. </a:t>
            </a:r>
            <a:r>
              <a:rPr lang="es-ES" altLang="es-ES" sz="1400" i="1" dirty="0">
                <a:solidFill>
                  <a:srgbClr val="333333"/>
                </a:solidFill>
              </a:rPr>
              <a:t>at</a:t>
            </a:r>
            <a:r>
              <a:rPr lang="es-ES" altLang="es-ES" sz="1400" dirty="0">
                <a:solidFill>
                  <a:srgbClr val="333333"/>
                </a:solidFill>
              </a:rPr>
              <a:t> se invoca seguido de una hora/fecha, a continuación se desplegará un </a:t>
            </a:r>
            <a:r>
              <a:rPr lang="es-ES" altLang="es-ES" sz="1400" i="1" dirty="0" err="1">
                <a:solidFill>
                  <a:srgbClr val="333333"/>
                </a:solidFill>
              </a:rPr>
              <a:t>prompt</a:t>
            </a:r>
            <a:r>
              <a:rPr lang="es-ES" altLang="es-ES" sz="1400" dirty="0">
                <a:solidFill>
                  <a:srgbClr val="333333"/>
                </a:solidFill>
              </a:rPr>
              <a:t> donde introduciremos los comandos y una vez terminado pulsaremos </a:t>
            </a:r>
            <a:r>
              <a:rPr lang="es-ES" altLang="es-ES" sz="1400" i="1" dirty="0" err="1">
                <a:solidFill>
                  <a:srgbClr val="333333"/>
                </a:solidFill>
              </a:rPr>
              <a:t>Control+D</a:t>
            </a:r>
            <a:r>
              <a:rPr lang="es-ES" altLang="es-ES" sz="1400" dirty="0">
                <a:solidFill>
                  <a:srgbClr val="333333"/>
                </a:solidFill>
              </a:rPr>
              <a:t> y ya estará la tarea programada. La sintaxis es sencilla:</a:t>
            </a:r>
            <a:endParaRPr lang="es-ES" altLang="es-ES" sz="1400" dirty="0">
              <a:solidFill>
                <a:schemeClr val="tx1"/>
              </a:solidFill>
            </a:endParaRPr>
          </a:p>
          <a:p>
            <a:pPr marL="0" lvl="0" indent="0" algn="ctr" eaLnBrk="0" fontAlgn="base" hangingPunct="0">
              <a:lnSpc>
                <a:spcPct val="100000"/>
              </a:lnSpc>
              <a:spcBef>
                <a:spcPts val="200"/>
              </a:spcBef>
              <a:buClrTx/>
              <a:buSzTx/>
              <a:buNone/>
            </a:pPr>
            <a:r>
              <a:rPr lang="es-ES" altLang="es-ES" sz="1400" b="1" dirty="0">
                <a:solidFill>
                  <a:srgbClr val="333333"/>
                </a:solidFill>
              </a:rPr>
              <a:t>at [opciones] fecha</a:t>
            </a:r>
            <a:endParaRPr lang="es-ES" altLang="es-ES" sz="1400" dirty="0">
              <a:solidFill>
                <a:schemeClr val="tx1"/>
              </a:solidFill>
            </a:endParaRPr>
          </a:p>
          <a:p>
            <a:pPr marL="0" lvl="0" indent="0" algn="ctr" eaLnBrk="0" fontAlgn="base" hangingPunct="0">
              <a:lnSpc>
                <a:spcPct val="100000"/>
              </a:lnSpc>
              <a:spcBef>
                <a:spcPts val="200"/>
              </a:spcBef>
              <a:buClrTx/>
              <a:buSzTx/>
              <a:buNone/>
            </a:pPr>
            <a:r>
              <a:rPr lang="es-ES" altLang="es-ES" sz="1400" b="1" dirty="0">
                <a:solidFill>
                  <a:srgbClr val="333333"/>
                </a:solidFill>
              </a:rPr>
              <a:t>at fecha -f </a:t>
            </a:r>
            <a:r>
              <a:rPr lang="es-ES" altLang="es-ES" sz="1400" b="1" dirty="0" err="1">
                <a:solidFill>
                  <a:srgbClr val="333333"/>
                </a:solidFill>
              </a:rPr>
              <a:t>archivo_comandos</a:t>
            </a:r>
            <a:endParaRPr lang="es-ES" altLang="es-ES" sz="1400" dirty="0">
              <a:solidFill>
                <a:schemeClr val="tx1"/>
              </a:solidFill>
            </a:endParaRPr>
          </a:p>
          <a:p>
            <a:pPr marL="0" lvl="0" indent="0" eaLnBrk="0" fontAlgn="base" hangingPunct="0">
              <a:lnSpc>
                <a:spcPct val="100000"/>
              </a:lnSpc>
              <a:spcBef>
                <a:spcPts val="200"/>
              </a:spcBef>
              <a:buClrTx/>
              <a:buSzTx/>
              <a:buNone/>
            </a:pPr>
            <a:r>
              <a:rPr lang="es-ES" altLang="es-ES" sz="1400" dirty="0">
                <a:solidFill>
                  <a:srgbClr val="333333"/>
                </a:solidFill>
              </a:rPr>
              <a:t>La primera línea de sintaxis acepta las siguientes opciones:</a:t>
            </a:r>
            <a:endParaRPr lang="es-ES" altLang="es-ES" sz="1400" dirty="0">
              <a:solidFill>
                <a:schemeClr val="tx1"/>
              </a:solidFill>
            </a:endParaRPr>
          </a:p>
          <a:p>
            <a:pPr lvl="0" eaLnBrk="0" fontAlgn="base" hangingPunct="0">
              <a:lnSpc>
                <a:spcPct val="100000"/>
              </a:lnSpc>
              <a:spcBef>
                <a:spcPts val="200"/>
              </a:spcBef>
              <a:buClrTx/>
              <a:buSzTx/>
              <a:buFont typeface="Wingdings" panose="05000000000000000000" pitchFamily="2" charset="2"/>
              <a:buChar char="§"/>
            </a:pPr>
            <a:r>
              <a:rPr lang="es-ES" altLang="es-ES" sz="1400" dirty="0">
                <a:solidFill>
                  <a:srgbClr val="333333"/>
                </a:solidFill>
              </a:rPr>
              <a:t>Ejecutar los trabajos cuando la carga del sistema se encuentre por debajo de 0,8: </a:t>
            </a:r>
            <a:r>
              <a:rPr lang="es-ES" altLang="es-ES" sz="1400" b="1" dirty="0">
                <a:solidFill>
                  <a:srgbClr val="333333"/>
                </a:solidFill>
              </a:rPr>
              <a:t>-b</a:t>
            </a:r>
            <a:r>
              <a:rPr lang="es-ES" altLang="es-ES" sz="1400" dirty="0">
                <a:solidFill>
                  <a:srgbClr val="333333"/>
                </a:solidFill>
              </a:rPr>
              <a:t> , es equivalente a </a:t>
            </a:r>
            <a:r>
              <a:rPr lang="es-ES" altLang="es-ES" sz="1400" b="1" dirty="0" err="1">
                <a:solidFill>
                  <a:srgbClr val="333333"/>
                </a:solidFill>
              </a:rPr>
              <a:t>Batch</a:t>
            </a:r>
            <a:endParaRPr lang="es-ES" altLang="es-ES" sz="1400" dirty="0">
              <a:solidFill>
                <a:srgbClr val="333333"/>
              </a:solidFill>
            </a:endParaRPr>
          </a:p>
          <a:p>
            <a:pPr lvl="0" eaLnBrk="0" fontAlgn="base" hangingPunct="0">
              <a:lnSpc>
                <a:spcPct val="100000"/>
              </a:lnSpc>
              <a:spcBef>
                <a:spcPts val="200"/>
              </a:spcBef>
              <a:buClrTx/>
              <a:buSzTx/>
              <a:buFont typeface="Wingdings" panose="05000000000000000000" pitchFamily="2" charset="2"/>
              <a:buChar char="§"/>
            </a:pPr>
            <a:r>
              <a:rPr lang="es-ES" altLang="es-ES" sz="1400" dirty="0">
                <a:solidFill>
                  <a:srgbClr val="333333"/>
                </a:solidFill>
              </a:rPr>
              <a:t>Eliminar trabajos: </a:t>
            </a:r>
            <a:r>
              <a:rPr lang="es-ES" altLang="es-ES" sz="1400" b="1" dirty="0">
                <a:solidFill>
                  <a:srgbClr val="333333"/>
                </a:solidFill>
              </a:rPr>
              <a:t>-d</a:t>
            </a:r>
            <a:r>
              <a:rPr lang="es-ES" altLang="es-ES" sz="1400" dirty="0">
                <a:solidFill>
                  <a:srgbClr val="333333"/>
                </a:solidFill>
              </a:rPr>
              <a:t> , es equivalente a </a:t>
            </a:r>
            <a:r>
              <a:rPr lang="es-ES" altLang="es-ES" sz="1400" b="1" dirty="0" err="1">
                <a:solidFill>
                  <a:srgbClr val="333333"/>
                </a:solidFill>
              </a:rPr>
              <a:t>atrm</a:t>
            </a:r>
            <a:endParaRPr lang="es-ES" altLang="es-ES" sz="1400" dirty="0">
              <a:solidFill>
                <a:srgbClr val="333333"/>
              </a:solidFill>
            </a:endParaRPr>
          </a:p>
          <a:p>
            <a:pPr lvl="0" eaLnBrk="0" fontAlgn="base" hangingPunct="0">
              <a:lnSpc>
                <a:spcPct val="100000"/>
              </a:lnSpc>
              <a:spcBef>
                <a:spcPts val="200"/>
              </a:spcBef>
              <a:buClrTx/>
              <a:buSzTx/>
              <a:buFont typeface="Wingdings" panose="05000000000000000000" pitchFamily="2" charset="2"/>
              <a:buChar char="§"/>
            </a:pPr>
            <a:r>
              <a:rPr lang="es-ES" altLang="es-ES" sz="1400" dirty="0">
                <a:solidFill>
                  <a:srgbClr val="333333"/>
                </a:solidFill>
              </a:rPr>
              <a:t>Listar la lista de trabajos: </a:t>
            </a:r>
            <a:r>
              <a:rPr lang="es-ES" altLang="es-ES" sz="1400" b="1" dirty="0">
                <a:solidFill>
                  <a:srgbClr val="333333"/>
                </a:solidFill>
              </a:rPr>
              <a:t>-l</a:t>
            </a:r>
            <a:r>
              <a:rPr lang="es-ES" altLang="es-ES" sz="1400" dirty="0">
                <a:solidFill>
                  <a:srgbClr val="333333"/>
                </a:solidFill>
              </a:rPr>
              <a:t> , es equivalente a </a:t>
            </a:r>
            <a:r>
              <a:rPr lang="es-ES" altLang="es-ES" sz="1400" b="1" dirty="0" err="1">
                <a:solidFill>
                  <a:srgbClr val="333333"/>
                </a:solidFill>
              </a:rPr>
              <a:t>atq</a:t>
            </a:r>
            <a:endParaRPr lang="es-ES" altLang="es-ES" sz="1400" dirty="0">
              <a:solidFill>
                <a:srgbClr val="333333"/>
              </a:solidFill>
            </a:endParaRPr>
          </a:p>
          <a:p>
            <a:pPr lvl="0" eaLnBrk="0" fontAlgn="base" hangingPunct="0">
              <a:lnSpc>
                <a:spcPct val="100000"/>
              </a:lnSpc>
              <a:spcBef>
                <a:spcPts val="200"/>
              </a:spcBef>
              <a:buClrTx/>
              <a:buSzTx/>
              <a:buFont typeface="Wingdings" panose="05000000000000000000" pitchFamily="2" charset="2"/>
              <a:buChar char="§"/>
            </a:pPr>
            <a:r>
              <a:rPr lang="es-ES" altLang="es-ES" sz="1400" dirty="0">
                <a:solidFill>
                  <a:srgbClr val="333333"/>
                </a:solidFill>
              </a:rPr>
              <a:t>Enviar un correo al usuario cuando el trabajo es completado: </a:t>
            </a:r>
            <a:r>
              <a:rPr lang="es-ES" altLang="es-ES" sz="1400" b="1" dirty="0">
                <a:solidFill>
                  <a:srgbClr val="333333"/>
                </a:solidFill>
              </a:rPr>
              <a:t>-m</a:t>
            </a:r>
            <a:endParaRPr lang="es-ES" altLang="es-ES" sz="1400" dirty="0">
              <a:solidFill>
                <a:srgbClr val="333333"/>
              </a:solidFill>
            </a:endParaRPr>
          </a:p>
          <a:p>
            <a:pPr marL="0" lvl="0" indent="0" eaLnBrk="0" fontAlgn="base" hangingPunct="0">
              <a:lnSpc>
                <a:spcPct val="100000"/>
              </a:lnSpc>
              <a:spcBef>
                <a:spcPts val="200"/>
              </a:spcBef>
              <a:buClrTx/>
              <a:buSzTx/>
              <a:buNone/>
            </a:pPr>
            <a:r>
              <a:rPr lang="es-ES" altLang="es-ES" sz="1400" dirty="0">
                <a:solidFill>
                  <a:srgbClr val="333333"/>
                </a:solidFill>
              </a:rPr>
              <a:t>Cuando ejecutamos </a:t>
            </a:r>
            <a:r>
              <a:rPr lang="es-ES" altLang="es-ES" sz="1400" i="1" dirty="0">
                <a:solidFill>
                  <a:srgbClr val="333333"/>
                </a:solidFill>
              </a:rPr>
              <a:t>at</a:t>
            </a:r>
            <a:r>
              <a:rPr lang="es-ES" altLang="es-ES" sz="1400" dirty="0">
                <a:solidFill>
                  <a:srgbClr val="333333"/>
                </a:solidFill>
              </a:rPr>
              <a:t> con la fecha indicada obtendremos un </a:t>
            </a:r>
            <a:r>
              <a:rPr lang="es-ES" altLang="es-ES" sz="1400" i="1" dirty="0" err="1">
                <a:solidFill>
                  <a:srgbClr val="333333"/>
                </a:solidFill>
              </a:rPr>
              <a:t>prompt</a:t>
            </a:r>
            <a:r>
              <a:rPr lang="es-ES" altLang="es-ES" sz="1400" dirty="0">
                <a:solidFill>
                  <a:srgbClr val="333333"/>
                </a:solidFill>
              </a:rPr>
              <a:t> en el que añadir los comandos que queremos que sean ejecutado en esa fecha. También podremos usar la segunda línea de la sintaxis para pasar un archivo que contenga a estos comandos.</a:t>
            </a:r>
            <a:endParaRPr lang="es-ES" altLang="es-ES" sz="1400"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r>
              <a:rPr lang="es-ES" dirty="0"/>
              <a:t>TAREAS ADMINISTRATIVAS</a:t>
            </a:r>
            <a:endParaRPr lang="es-ES" dirty="0"/>
          </a:p>
        </p:txBody>
      </p:sp>
      <p:sp>
        <p:nvSpPr>
          <p:cNvPr id="4" name="Rectangle 1"/>
          <p:cNvSpPr>
            <a:spLocks noGrp="1" noChangeArrowheads="1"/>
          </p:cNvSpPr>
          <p:nvPr>
            <p:ph idx="1"/>
          </p:nvPr>
        </p:nvSpPr>
        <p:spPr bwMode="auto">
          <a:xfrm>
            <a:off x="1090864" y="1526044"/>
            <a:ext cx="10555705" cy="4482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s-ES" sz="1400" b="1" dirty="0"/>
              <a:t>TAREAS AUTOMATIZADAS</a:t>
            </a:r>
            <a:endParaRPr lang="es-ES" sz="1400" b="1" dirty="0"/>
          </a:p>
          <a:p>
            <a:r>
              <a:rPr lang="es-ES" sz="1400" b="1" dirty="0"/>
              <a:t>COMANDOS PARA TAREAS AUTOMATIZADAS</a:t>
            </a:r>
            <a:endParaRPr lang="es-ES" sz="1400" b="1" dirty="0"/>
          </a:p>
          <a:p>
            <a:pPr marL="0" lvl="0" indent="0" eaLnBrk="0" fontAlgn="base" hangingPunct="0">
              <a:lnSpc>
                <a:spcPct val="100000"/>
              </a:lnSpc>
              <a:spcBef>
                <a:spcPts val="200"/>
              </a:spcBef>
              <a:buClrTx/>
              <a:buSzTx/>
              <a:buNone/>
            </a:pPr>
            <a:r>
              <a:rPr lang="es-ES" altLang="es-ES" sz="1400" dirty="0">
                <a:solidFill>
                  <a:srgbClr val="333333"/>
                </a:solidFill>
              </a:rPr>
              <a:t>Cuando ejecutamos </a:t>
            </a:r>
            <a:r>
              <a:rPr lang="es-ES" altLang="es-ES" sz="1400" i="1" dirty="0">
                <a:solidFill>
                  <a:srgbClr val="333333"/>
                </a:solidFill>
              </a:rPr>
              <a:t>at</a:t>
            </a:r>
            <a:r>
              <a:rPr lang="es-ES" altLang="es-ES" sz="1400" dirty="0">
                <a:solidFill>
                  <a:srgbClr val="333333"/>
                </a:solidFill>
              </a:rPr>
              <a:t> con la fecha indicada obtendremos un </a:t>
            </a:r>
            <a:r>
              <a:rPr lang="es-ES" altLang="es-ES" sz="1400" b="1" i="1" dirty="0" err="1">
                <a:solidFill>
                  <a:srgbClr val="333333"/>
                </a:solidFill>
              </a:rPr>
              <a:t>prompt</a:t>
            </a:r>
            <a:r>
              <a:rPr lang="es-ES" altLang="es-ES" sz="1400" dirty="0">
                <a:solidFill>
                  <a:srgbClr val="333333"/>
                </a:solidFill>
              </a:rPr>
              <a:t> en el que añadir los comandos que queremos que sean ejecutado en esa fecha. También podremos usar la segunda línea de la sintaxis para pasar un archivo que contenga a estos comandos.</a:t>
            </a:r>
            <a:r>
              <a:rPr lang="es-ES" altLang="es-ES" sz="1400" dirty="0">
                <a:solidFill>
                  <a:schemeClr val="tx1"/>
                </a:solidFill>
              </a:rPr>
              <a:t> </a:t>
            </a:r>
            <a:r>
              <a:rPr lang="es-ES" altLang="es-ES" sz="1400" dirty="0">
                <a:solidFill>
                  <a:srgbClr val="333333"/>
                </a:solidFill>
              </a:rPr>
              <a:t>Existen diferentes formas de proporcionar una fecha a </a:t>
            </a:r>
            <a:r>
              <a:rPr lang="es-ES" altLang="es-ES" sz="1400" i="1" dirty="0">
                <a:solidFill>
                  <a:srgbClr val="333333"/>
                </a:solidFill>
              </a:rPr>
              <a:t>at</a:t>
            </a:r>
            <a:r>
              <a:rPr lang="es-ES" altLang="es-ES" sz="1400" dirty="0">
                <a:solidFill>
                  <a:srgbClr val="333333"/>
                </a:solidFill>
              </a:rPr>
              <a:t>:</a:t>
            </a:r>
            <a:endParaRPr lang="es-ES" altLang="es-ES" sz="1400" dirty="0">
              <a:solidFill>
                <a:schemeClr val="tx1"/>
              </a:solidFill>
            </a:endParaRPr>
          </a:p>
          <a:p>
            <a:pPr lvl="0" eaLnBrk="0" fontAlgn="base" hangingPunct="0">
              <a:lnSpc>
                <a:spcPct val="100000"/>
              </a:lnSpc>
              <a:spcBef>
                <a:spcPts val="200"/>
              </a:spcBef>
              <a:buClrTx/>
              <a:buSzTx/>
              <a:buFont typeface="Wingdings" panose="05000000000000000000" pitchFamily="2" charset="2"/>
              <a:buChar char="§"/>
            </a:pPr>
            <a:r>
              <a:rPr lang="es-ES" altLang="es-ES" sz="1400" dirty="0">
                <a:solidFill>
                  <a:srgbClr val="333333"/>
                </a:solidFill>
              </a:rPr>
              <a:t>Ejecutar tareas en horas/días determinados utilizando palabras:</a:t>
            </a:r>
            <a:endParaRPr lang="es-ES" altLang="es-ES" sz="1400" dirty="0">
              <a:solidFill>
                <a:srgbClr val="333333"/>
              </a:solidFill>
            </a:endParaRPr>
          </a:p>
          <a:p>
            <a:pPr marL="0" lvl="0" indent="0" eaLnBrk="0" fontAlgn="base" hangingPunct="0">
              <a:lnSpc>
                <a:spcPct val="100000"/>
              </a:lnSpc>
              <a:spcBef>
                <a:spcPts val="200"/>
              </a:spcBef>
              <a:buClrTx/>
              <a:buSzTx/>
              <a:buNone/>
            </a:pPr>
            <a:r>
              <a:rPr lang="es-ES" altLang="es-ES" sz="1400" dirty="0">
                <a:solidFill>
                  <a:srgbClr val="333333"/>
                </a:solidFill>
              </a:rPr>
              <a:t>Ejecutar las tareas ahora mismo, a las </a:t>
            </a:r>
            <a:r>
              <a:rPr lang="es-ES" altLang="es-ES" sz="1400" b="1" dirty="0">
                <a:solidFill>
                  <a:srgbClr val="333333"/>
                </a:solidFill>
              </a:rPr>
              <a:t>12:00</a:t>
            </a:r>
            <a:r>
              <a:rPr lang="es-ES" altLang="es-ES" sz="1400" dirty="0">
                <a:solidFill>
                  <a:srgbClr val="333333"/>
                </a:solidFill>
              </a:rPr>
              <a:t>, a las </a:t>
            </a:r>
            <a:r>
              <a:rPr lang="es-ES" altLang="es-ES" sz="1400" b="1" dirty="0">
                <a:solidFill>
                  <a:srgbClr val="333333"/>
                </a:solidFill>
              </a:rPr>
              <a:t>16:00</a:t>
            </a:r>
            <a:r>
              <a:rPr lang="es-ES" altLang="es-ES" sz="1400" dirty="0">
                <a:solidFill>
                  <a:srgbClr val="333333"/>
                </a:solidFill>
              </a:rPr>
              <a:t>, a las </a:t>
            </a:r>
            <a:r>
              <a:rPr lang="es-ES" altLang="es-ES" sz="1400" b="1" dirty="0">
                <a:solidFill>
                  <a:srgbClr val="333333"/>
                </a:solidFill>
              </a:rPr>
              <a:t>00:00</a:t>
            </a:r>
            <a:r>
              <a:rPr lang="es-ES" altLang="es-ES" sz="1400" dirty="0">
                <a:solidFill>
                  <a:srgbClr val="333333"/>
                </a:solidFill>
              </a:rPr>
              <a:t>, a las </a:t>
            </a:r>
            <a:r>
              <a:rPr lang="es-ES" altLang="es-ES" sz="1400" b="1" dirty="0">
                <a:solidFill>
                  <a:srgbClr val="333333"/>
                </a:solidFill>
              </a:rPr>
              <a:t>10PM de hoy</a:t>
            </a:r>
            <a:r>
              <a:rPr lang="es-ES" altLang="es-ES" sz="1400" dirty="0">
                <a:solidFill>
                  <a:srgbClr val="333333"/>
                </a:solidFill>
              </a:rPr>
              <a:t> o a las </a:t>
            </a:r>
            <a:r>
              <a:rPr lang="es-ES" altLang="es-ES" sz="1400" b="1" dirty="0">
                <a:solidFill>
                  <a:srgbClr val="333333"/>
                </a:solidFill>
              </a:rPr>
              <a:t>1AM de mañana</a:t>
            </a:r>
            <a:r>
              <a:rPr lang="es-ES" altLang="es-ES" sz="1400" dirty="0">
                <a:solidFill>
                  <a:srgbClr val="333333"/>
                </a:solidFill>
              </a:rPr>
              <a:t> respectivamente:</a:t>
            </a: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ts val="200"/>
              </a:spcBef>
              <a:buClrTx/>
              <a:buSzTx/>
              <a:buNone/>
            </a:pPr>
            <a:r>
              <a:rPr lang="es-ES" altLang="es-ES" sz="1400" b="1" i="1" dirty="0">
                <a:solidFill>
                  <a:srgbClr val="333333"/>
                </a:solidFill>
                <a:cs typeface="Courier New" panose="02070309020205020404" pitchFamily="49" charset="0"/>
              </a:rPr>
              <a:t>at </a:t>
            </a:r>
            <a:r>
              <a:rPr lang="es-ES" altLang="es-ES" sz="1400" b="1" i="1" dirty="0" err="1">
                <a:solidFill>
                  <a:srgbClr val="333333"/>
                </a:solidFill>
                <a:cs typeface="Courier New" panose="02070309020205020404" pitchFamily="49" charset="0"/>
              </a:rPr>
              <a:t>now</a:t>
            </a:r>
            <a:r>
              <a:rPr lang="es-ES" altLang="es-ES" sz="1400" b="1" i="1" dirty="0">
                <a:solidFill>
                  <a:srgbClr val="333333"/>
                </a:solidFill>
                <a:cs typeface="Courier New" panose="02070309020205020404" pitchFamily="49" charset="0"/>
              </a:rPr>
              <a:t> | </a:t>
            </a:r>
            <a:r>
              <a:rPr lang="es-ES" altLang="es-ES" sz="1400" b="1" i="1" dirty="0" err="1">
                <a:solidFill>
                  <a:srgbClr val="333333"/>
                </a:solidFill>
                <a:cs typeface="Courier New" panose="02070309020205020404" pitchFamily="49" charset="0"/>
              </a:rPr>
              <a:t>noon</a:t>
            </a:r>
            <a:r>
              <a:rPr lang="es-ES" altLang="es-ES" sz="1400" b="1" i="1" dirty="0">
                <a:solidFill>
                  <a:srgbClr val="333333"/>
                </a:solidFill>
                <a:cs typeface="Courier New" panose="02070309020205020404" pitchFamily="49" charset="0"/>
              </a:rPr>
              <a:t> | </a:t>
            </a:r>
            <a:r>
              <a:rPr lang="es-ES" altLang="es-ES" sz="1400" b="1" i="1" dirty="0" err="1">
                <a:solidFill>
                  <a:srgbClr val="333333"/>
                </a:solidFill>
                <a:cs typeface="Courier New" panose="02070309020205020404" pitchFamily="49" charset="0"/>
              </a:rPr>
              <a:t>teatime</a:t>
            </a:r>
            <a:r>
              <a:rPr lang="es-ES" altLang="es-ES" sz="1400" b="1" i="1" dirty="0">
                <a:solidFill>
                  <a:srgbClr val="333333"/>
                </a:solidFill>
                <a:cs typeface="Courier New" panose="02070309020205020404" pitchFamily="49" charset="0"/>
              </a:rPr>
              <a:t> | </a:t>
            </a:r>
            <a:r>
              <a:rPr lang="es-ES" altLang="es-ES" sz="1400" b="1" i="1" dirty="0" err="1">
                <a:solidFill>
                  <a:srgbClr val="333333"/>
                </a:solidFill>
                <a:cs typeface="Courier New" panose="02070309020205020404" pitchFamily="49" charset="0"/>
              </a:rPr>
              <a:t>midnight</a:t>
            </a:r>
            <a:r>
              <a:rPr lang="es-ES" altLang="es-ES" sz="1400" b="1" i="1" dirty="0">
                <a:solidFill>
                  <a:srgbClr val="333333"/>
                </a:solidFill>
                <a:cs typeface="Courier New" panose="02070309020205020404" pitchFamily="49" charset="0"/>
              </a:rPr>
              <a:t> | </a:t>
            </a:r>
            <a:r>
              <a:rPr lang="es-ES" altLang="es-ES" sz="1400" b="1" i="1" dirty="0" err="1">
                <a:solidFill>
                  <a:srgbClr val="333333"/>
                </a:solidFill>
                <a:cs typeface="Courier New" panose="02070309020205020404" pitchFamily="49" charset="0"/>
              </a:rPr>
              <a:t>today</a:t>
            </a:r>
            <a:r>
              <a:rPr lang="es-ES" altLang="es-ES" sz="1400" b="1" i="1" dirty="0">
                <a:solidFill>
                  <a:srgbClr val="333333"/>
                </a:solidFill>
                <a:cs typeface="Courier New" panose="02070309020205020404" pitchFamily="49" charset="0"/>
              </a:rPr>
              <a:t> 22:00 | </a:t>
            </a:r>
            <a:r>
              <a:rPr lang="es-ES" altLang="es-ES" sz="1400" b="1" i="1" dirty="0" err="1">
                <a:solidFill>
                  <a:srgbClr val="333333"/>
                </a:solidFill>
                <a:cs typeface="Courier New" panose="02070309020205020404" pitchFamily="49" charset="0"/>
              </a:rPr>
              <a:t>tomorrow</a:t>
            </a:r>
            <a:r>
              <a:rPr lang="es-ES" altLang="es-ES" sz="1400" b="1" i="1" dirty="0">
                <a:solidFill>
                  <a:srgbClr val="333333"/>
                </a:solidFill>
                <a:cs typeface="Courier New" panose="02070309020205020404" pitchFamily="49" charset="0"/>
              </a:rPr>
              <a:t> 1am</a:t>
            </a:r>
            <a:endParaRPr lang="es-ES" altLang="es-ES" sz="1400" b="1" i="1" dirty="0">
              <a:solidFill>
                <a:schemeClr val="tx1"/>
              </a:solidFill>
            </a:endParaRPr>
          </a:p>
          <a:p>
            <a:pPr lvl="0" eaLnBrk="0" fontAlgn="base" hangingPunct="0">
              <a:lnSpc>
                <a:spcPct val="100000"/>
              </a:lnSpc>
              <a:spcBef>
                <a:spcPts val="200"/>
              </a:spcBef>
              <a:buClrTx/>
              <a:buSzTx/>
              <a:buFont typeface="Wingdings" panose="05000000000000000000" pitchFamily="2" charset="2"/>
              <a:buChar char="§"/>
            </a:pPr>
            <a:r>
              <a:rPr lang="es-ES" altLang="es-ES" sz="1400" dirty="0">
                <a:solidFill>
                  <a:srgbClr val="333333"/>
                </a:solidFill>
              </a:rPr>
              <a:t>Ejecutar tareas indicando una hora del día de hoy ( del día de mañana en caso de que esa hora ya haya pasado), ejecutar dentro de unas horas o días específico:</a:t>
            </a:r>
            <a:endParaRPr lang="es-ES" altLang="es-ES" sz="1400" dirty="0">
              <a:solidFill>
                <a:srgbClr val="333333"/>
              </a:solidFill>
            </a:endParaRPr>
          </a:p>
          <a:p>
            <a:pPr marL="0" lvl="0" indent="0" eaLnBrk="0" fontAlgn="base" hangingPunct="0">
              <a:lnSpc>
                <a:spcPct val="100000"/>
              </a:lnSpc>
              <a:spcBef>
                <a:spcPts val="200"/>
              </a:spcBef>
              <a:buClrTx/>
              <a:buSzTx/>
              <a:buNone/>
            </a:pPr>
            <a:r>
              <a:rPr lang="es-ES" altLang="es-ES" sz="1400" dirty="0">
                <a:solidFill>
                  <a:srgbClr val="333333"/>
                </a:solidFill>
              </a:rPr>
              <a:t>Ejecutar una tarea a las 3 de la tarde del día de hoy. Si esta hora ya ha pasado se ejecutará mañana a las 15:00:</a:t>
            </a:r>
            <a:endParaRPr lang="es-ES" altLang="es-ES" sz="1400" dirty="0">
              <a:solidFill>
                <a:srgbClr val="333333"/>
              </a:solidFill>
              <a:cs typeface="Courier New" panose="02070309020205020404" pitchFamily="49" charset="0"/>
            </a:endParaRPr>
          </a:p>
          <a:p>
            <a:pPr marL="0" lvl="0" indent="0" algn="ctr" eaLnBrk="0" fontAlgn="base" hangingPunct="0">
              <a:lnSpc>
                <a:spcPct val="100000"/>
              </a:lnSpc>
              <a:spcBef>
                <a:spcPts val="200"/>
              </a:spcBef>
              <a:buClrTx/>
              <a:buSzTx/>
              <a:buNone/>
            </a:pPr>
            <a:r>
              <a:rPr lang="es-ES" altLang="es-ES" sz="1400" b="1" i="1" dirty="0">
                <a:solidFill>
                  <a:srgbClr val="333333"/>
                </a:solidFill>
                <a:cs typeface="Courier New" panose="02070309020205020404" pitchFamily="49" charset="0"/>
              </a:rPr>
              <a:t>at 3pm at 15:00</a:t>
            </a:r>
            <a:endParaRPr lang="es-ES" altLang="es-ES" sz="1400" b="1" i="1" dirty="0">
              <a:solidFill>
                <a:schemeClr val="tx1"/>
              </a:solidFill>
            </a:endParaRPr>
          </a:p>
          <a:p>
            <a:pPr lvl="0" eaLnBrk="0" fontAlgn="base" hangingPunct="0">
              <a:lnSpc>
                <a:spcPct val="100000"/>
              </a:lnSpc>
              <a:spcBef>
                <a:spcPts val="200"/>
              </a:spcBef>
              <a:buClrTx/>
              <a:buSzTx/>
              <a:buFont typeface="Wingdings" panose="05000000000000000000" pitchFamily="2" charset="2"/>
              <a:buChar char="§"/>
            </a:pPr>
            <a:r>
              <a:rPr lang="es-ES" altLang="es-ES" sz="1400" dirty="0">
                <a:solidFill>
                  <a:srgbClr val="333333"/>
                </a:solidFill>
              </a:rPr>
              <a:t>Ejecutar en un momento dado especificado según un tiempo que queramos dejar pasar. En nuestro caso vamos ha hacer que empiece a contar a partir de ahora y sea ejecutado dentro de 3 horas. El comando </a:t>
            </a:r>
            <a:r>
              <a:rPr lang="es-ES" altLang="es-ES" sz="1400" i="1" dirty="0" err="1">
                <a:solidFill>
                  <a:srgbClr val="333333"/>
                </a:solidFill>
              </a:rPr>
              <a:t>now</a:t>
            </a:r>
            <a:r>
              <a:rPr lang="es-ES" altLang="es-ES" sz="1400" dirty="0">
                <a:solidFill>
                  <a:srgbClr val="333333"/>
                </a:solidFill>
              </a:rPr>
              <a:t> por defecto cuenta en horas. A ambos podemos indicarle minutos ‘</a:t>
            </a:r>
            <a:r>
              <a:rPr lang="es-ES" altLang="es-ES" sz="1400" b="1" i="1" dirty="0">
                <a:solidFill>
                  <a:srgbClr val="333333"/>
                </a:solidFill>
              </a:rPr>
              <a:t>minutes</a:t>
            </a:r>
            <a:r>
              <a:rPr lang="es-ES" altLang="es-ES" sz="1400" dirty="0">
                <a:solidFill>
                  <a:srgbClr val="333333"/>
                </a:solidFill>
              </a:rPr>
              <a:t>‘, horas ‘</a:t>
            </a:r>
            <a:r>
              <a:rPr lang="es-ES" altLang="es-ES" sz="1400" b="1" i="1" dirty="0" err="1">
                <a:solidFill>
                  <a:srgbClr val="333333"/>
                </a:solidFill>
              </a:rPr>
              <a:t>hours</a:t>
            </a:r>
            <a:r>
              <a:rPr lang="es-ES" altLang="es-ES" sz="1400" dirty="0">
                <a:solidFill>
                  <a:srgbClr val="333333"/>
                </a:solidFill>
              </a:rPr>
              <a:t>‘, días ‘</a:t>
            </a:r>
            <a:r>
              <a:rPr lang="es-ES" altLang="es-ES" sz="1400" b="1" i="1" dirty="0" err="1">
                <a:solidFill>
                  <a:srgbClr val="333333"/>
                </a:solidFill>
              </a:rPr>
              <a:t>days</a:t>
            </a:r>
            <a:r>
              <a:rPr lang="es-ES" altLang="es-ES" sz="1400" dirty="0">
                <a:solidFill>
                  <a:srgbClr val="333333"/>
                </a:solidFill>
              </a:rPr>
              <a:t>‘ o semanas ‘</a:t>
            </a:r>
            <a:r>
              <a:rPr lang="es-ES" altLang="es-ES" sz="1400" b="1" i="1" dirty="0" err="1">
                <a:solidFill>
                  <a:srgbClr val="333333"/>
                </a:solidFill>
              </a:rPr>
              <a:t>weeks</a:t>
            </a:r>
            <a:r>
              <a:rPr lang="es-ES" altLang="es-ES" sz="1400" dirty="0">
                <a:solidFill>
                  <a:srgbClr val="333333"/>
                </a:solidFill>
              </a:rPr>
              <a:t>‘. Además podemos usar abreviatura de 3 caracteres para los días de la semana:</a:t>
            </a:r>
            <a:endParaRPr lang="es-ES" altLang="es-ES" sz="1400" dirty="0">
              <a:solidFill>
                <a:srgbClr val="333333"/>
              </a:solidFill>
            </a:endParaRPr>
          </a:p>
          <a:p>
            <a:pPr marL="0" lvl="0" indent="0" algn="ctr" eaLnBrk="0" fontAlgn="base" hangingPunct="0">
              <a:lnSpc>
                <a:spcPct val="100000"/>
              </a:lnSpc>
              <a:spcBef>
                <a:spcPts val="200"/>
              </a:spcBef>
              <a:buClrTx/>
              <a:buSzTx/>
              <a:buNone/>
            </a:pPr>
            <a:r>
              <a:rPr lang="es-ES" altLang="es-ES" sz="1400" b="1" i="1" dirty="0">
                <a:solidFill>
                  <a:srgbClr val="333333"/>
                </a:solidFill>
                <a:cs typeface="Courier New" panose="02070309020205020404" pitchFamily="49" charset="0"/>
              </a:rPr>
              <a:t>at </a:t>
            </a:r>
            <a:r>
              <a:rPr lang="es-ES" altLang="es-ES" sz="1400" b="1" i="1" dirty="0" err="1">
                <a:solidFill>
                  <a:srgbClr val="333333"/>
                </a:solidFill>
                <a:cs typeface="Courier New" panose="02070309020205020404" pitchFamily="49" charset="0"/>
              </a:rPr>
              <a:t>now</a:t>
            </a:r>
            <a:r>
              <a:rPr lang="es-ES" altLang="es-ES" sz="1400" b="1" i="1" dirty="0">
                <a:solidFill>
                  <a:srgbClr val="333333"/>
                </a:solidFill>
                <a:cs typeface="Courier New" panose="02070309020205020404" pitchFamily="49" charset="0"/>
              </a:rPr>
              <a:t> +3 at +3 </a:t>
            </a:r>
            <a:r>
              <a:rPr lang="es-ES" altLang="es-ES" sz="1400" b="1" i="1" dirty="0" err="1">
                <a:solidFill>
                  <a:srgbClr val="333333"/>
                </a:solidFill>
                <a:cs typeface="Courier New" panose="02070309020205020404" pitchFamily="49" charset="0"/>
              </a:rPr>
              <a:t>hours</a:t>
            </a:r>
            <a:r>
              <a:rPr lang="es-ES" altLang="es-ES" sz="1400" b="1" i="1" dirty="0">
                <a:solidFill>
                  <a:srgbClr val="333333"/>
                </a:solidFill>
                <a:cs typeface="Courier New" panose="02070309020205020404" pitchFamily="49" charset="0"/>
              </a:rPr>
              <a:t> at </a:t>
            </a:r>
            <a:r>
              <a:rPr lang="es-ES" altLang="es-ES" sz="1400" b="1" i="1" dirty="0" err="1">
                <a:solidFill>
                  <a:srgbClr val="333333"/>
                </a:solidFill>
                <a:cs typeface="Courier New" panose="02070309020205020404" pitchFamily="49" charset="0"/>
              </a:rPr>
              <a:t>now</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sat</a:t>
            </a:r>
            <a:r>
              <a:rPr lang="es-ES" altLang="es-ES" sz="1400" b="1" i="1" dirty="0">
                <a:solidFill>
                  <a:srgbClr val="333333"/>
                </a:solidFill>
                <a:cs typeface="Courier New" panose="02070309020205020404" pitchFamily="49" charset="0"/>
              </a:rPr>
              <a:t> </a:t>
            </a:r>
            <a:r>
              <a:rPr lang="es-ES" altLang="es-ES" sz="1400" b="1" i="1" dirty="0" err="1">
                <a:solidFill>
                  <a:srgbClr val="333333"/>
                </a:solidFill>
                <a:cs typeface="Courier New" panose="02070309020205020404" pitchFamily="49" charset="0"/>
              </a:rPr>
              <a:t>reboot</a:t>
            </a:r>
            <a:endParaRPr lang="es-ES" altLang="es-ES" sz="1400" b="1" i="1" dirty="0">
              <a:solidFill>
                <a:schemeClr val="tx1"/>
              </a:solidFill>
            </a:endParaRPr>
          </a:p>
        </p:txBody>
      </p:sp>
      <p:sp>
        <p:nvSpPr>
          <p:cNvPr id="3"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88357"/>
            <a:ext cx="358971" cy="2804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Helvetica" panose="020B0604020202020204" pitchFamily="34" charset="0"/>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0" y="-22074"/>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22074"/>
            <a:ext cx="65" cy="5013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Arial Nova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Nov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70565</Words>
  <Application>WPS Presentation</Application>
  <PresentationFormat>Panorámica</PresentationFormat>
  <Paragraphs>1106</Paragraphs>
  <Slides>78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78</vt:i4>
      </vt:variant>
    </vt:vector>
  </HeadingPairs>
  <TitlesOfParts>
    <vt:vector size="89" baseType="lpstr">
      <vt:lpstr>Arial</vt:lpstr>
      <vt:lpstr>SimSun</vt:lpstr>
      <vt:lpstr>Wingdings</vt:lpstr>
      <vt:lpstr>Calibri</vt:lpstr>
      <vt:lpstr>Courier New</vt:lpstr>
      <vt:lpstr>Arial Nova</vt:lpstr>
      <vt:lpstr>Arial Nova Light</vt:lpstr>
      <vt:lpstr>Microsoft YaHei</vt:lpstr>
      <vt:lpstr>Arial Unicode MS</vt:lpstr>
      <vt:lpstr>Helvetica</vt:lpstr>
      <vt:lpstr>RetrospectVTI</vt:lpstr>
      <vt:lpstr>Certificación LPI LPIC-1:  Linux Administrator  </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lpstr>TAREAS ADMINISTRATIVAS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Certificación LPI LPIC-1:  Linux Administrator</dc:title>
  <dc:creator>Sonia Fernandez</dc:creator>
  <cp:lastModifiedBy>paz13</cp:lastModifiedBy>
  <cp:revision>330</cp:revision>
  <dcterms:created xsi:type="dcterms:W3CDTF">2020-02-24T09:11:00Z</dcterms:created>
  <dcterms:modified xsi:type="dcterms:W3CDTF">2025-04-02T18:28:26Z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316A823703064D1FAE3E677D8CEDDECF_13</vt:lpwstr>
  </property>
  <property fmtid="{D5CDD505-2E9C-101B-9397-08002B2CF9AE}" pid="3" name="KSOProductBuildVer">
    <vt:lpwstr>3082-12.2.0.20348</vt:lpwstr>
  </property>
</Properties>
</file>