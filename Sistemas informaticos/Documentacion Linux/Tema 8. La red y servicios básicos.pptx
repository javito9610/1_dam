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74" r:id="rId4"/>
    <p:sldId id="275" r:id="rId5"/>
    <p:sldId id="276" r:id="rId6"/>
    <p:sldId id="277" r:id="rId7"/>
    <p:sldId id="278" r:id="rId8"/>
    <p:sldId id="279" r:id="rId9"/>
    <p:sldId id="281" r:id="rId10"/>
    <p:sldId id="280" r:id="rId11"/>
    <p:sldId id="318" r:id="rId12"/>
    <p:sldId id="282" r:id="rId13"/>
    <p:sldId id="283" r:id="rId14"/>
    <p:sldId id="329" r:id="rId15"/>
    <p:sldId id="330" r:id="rId16"/>
    <p:sldId id="284" r:id="rId17"/>
    <p:sldId id="285" r:id="rId18"/>
    <p:sldId id="286" r:id="rId19"/>
    <p:sldId id="287" r:id="rId20"/>
    <p:sldId id="288" r:id="rId21"/>
    <p:sldId id="290" r:id="rId22"/>
    <p:sldId id="289" r:id="rId23"/>
    <p:sldId id="291" r:id="rId24"/>
    <p:sldId id="292" r:id="rId25"/>
    <p:sldId id="293" r:id="rId26"/>
    <p:sldId id="294" r:id="rId27"/>
    <p:sldId id="295" r:id="rId28"/>
    <p:sldId id="296" r:id="rId29"/>
    <p:sldId id="297" r:id="rId30"/>
    <p:sldId id="298" r:id="rId31"/>
    <p:sldId id="299" r:id="rId32"/>
    <p:sldId id="300" r:id="rId33"/>
    <p:sldId id="301" r:id="rId34"/>
    <p:sldId id="302" r:id="rId35"/>
    <p:sldId id="303" r:id="rId36"/>
    <p:sldId id="304" r:id="rId37"/>
    <p:sldId id="305" r:id="rId38"/>
    <p:sldId id="306" r:id="rId39"/>
    <p:sldId id="307" r:id="rId40"/>
    <p:sldId id="308" r:id="rId41"/>
    <p:sldId id="310" r:id="rId42"/>
    <p:sldId id="311" r:id="rId43"/>
    <p:sldId id="312" r:id="rId44"/>
    <p:sldId id="313" r:id="rId45"/>
    <p:sldId id="314" r:id="rId46"/>
    <p:sldId id="315" r:id="rId47"/>
    <p:sldId id="316" r:id="rId48"/>
    <p:sldId id="319" r:id="rId49"/>
    <p:sldId id="320" r:id="rId50"/>
    <p:sldId id="321" r:id="rId51"/>
    <p:sldId id="322" r:id="rId52"/>
    <p:sldId id="323" r:id="rId53"/>
    <p:sldId id="324" r:id="rId54"/>
    <p:sldId id="325" r:id="rId55"/>
    <p:sldId id="326" r:id="rId56"/>
    <p:sldId id="327" r:id="rId57"/>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249" autoAdjust="0"/>
  </p:normalViewPr>
  <p:slideViewPr>
    <p:cSldViewPr snapToGrid="0">
      <p:cViewPr varScale="1">
        <p:scale>
          <a:sx n="56" d="100"/>
          <a:sy n="56" d="100"/>
        </p:scale>
        <p:origin x="99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0" Type="http://schemas.openxmlformats.org/officeDocument/2006/relationships/tableStyles" Target="tableStyles.xml"/><Relationship Id="rId6" Type="http://schemas.openxmlformats.org/officeDocument/2006/relationships/slide" Target="slides/slide4.xml"/><Relationship Id="rId59" Type="http://schemas.openxmlformats.org/officeDocument/2006/relationships/viewProps" Target="viewProps.xml"/><Relationship Id="rId58" Type="http://schemas.openxmlformats.org/officeDocument/2006/relationships/presProps" Target="presProps.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10" name="Rectangle 9"/>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p:cNvSpPr>
            <a:spLocks noGrp="1"/>
          </p:cNvSpPr>
          <p:nvPr>
            <p:ph type="dt" sz="half" idx="10"/>
          </p:nvPr>
        </p:nvSpPr>
        <p:spPr/>
        <p:txBody>
          <a:bodyPr/>
          <a:lstStyle/>
          <a:p>
            <a:fld id="{9184DA70-C731-4C70-880D-CCD4705E623C}" type="datetime1">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4BE1D723-8F53-4F53-90B0-1982A396982E}" type="datetime1">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cxnSp>
        <p:nvCxnSpPr>
          <p:cNvPr id="9" name="Straight Connector 8"/>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p:cNvSpPr>
            <a:spLocks noGrp="1"/>
          </p:cNvSpPr>
          <p:nvPr>
            <p:ph type="dt" sz="half" idx="10"/>
          </p:nvPr>
        </p:nvSpPr>
        <p:spPr/>
        <p:txBody>
          <a:bodyPr/>
          <a:lstStyle/>
          <a:p>
            <a:fld id="{97669AF7-7BEB-44E4-9852-375E34362B5B}" type="datetime1">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11" name="Slide Number Placeholder 10"/>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2" name="Date Placeholder 1"/>
          <p:cNvSpPr>
            <a:spLocks noGrp="1"/>
          </p:cNvSpPr>
          <p:nvPr>
            <p:ph type="dt" sz="half" idx="10"/>
          </p:nvPr>
        </p:nvSpPr>
        <p:spPr/>
        <p:txBody>
          <a:bodyPr/>
          <a:lstStyle/>
          <a:p>
            <a:fld id="{BAAAC38D-0552-4C82-B593-E6124DFADBE2}" type="datetime1">
              <a:rPr lang="en-US" smtClean="0"/>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2" name="Date Placeholder 1"/>
          <p:cNvSpPr>
            <a:spLocks noGrp="1"/>
          </p:cNvSpPr>
          <p:nvPr>
            <p:ph type="dt" sz="half" idx="10"/>
          </p:nvPr>
        </p:nvSpPr>
        <p:spPr/>
        <p:txBody>
          <a:bodyPr/>
          <a:lstStyle/>
          <a:p>
            <a:fld id="{D9DF0F1C-5577-4ACB-BB62-DF8F3C494C7E}" type="datetime1">
              <a:rPr lang="en-US" smtClean="0"/>
            </a:fld>
            <a:endParaRPr lang="en-US" dirty="0"/>
          </a:p>
        </p:txBody>
      </p:sp>
      <p:sp>
        <p:nvSpPr>
          <p:cNvPr id="11" name="Footer Placeholder 10"/>
          <p:cNvSpPr>
            <a:spLocks noGrp="1"/>
          </p:cNvSpPr>
          <p:nvPr>
            <p:ph type="ftr" sz="quarter" idx="11"/>
          </p:nvPr>
        </p:nvSpPr>
        <p:spPr/>
        <p:txBody>
          <a:bodyPr/>
          <a:lstStyle/>
          <a:p>
            <a:endParaRPr lang="en-US" dirty="0"/>
          </a:p>
        </p:txBody>
      </p:sp>
      <p:sp>
        <p:nvSpPr>
          <p:cNvPr id="12" name="Slide Number Placeholder 11"/>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p:cNvSpPr>
            <a:spLocks noGrp="1"/>
          </p:cNvSpPr>
          <p:nvPr>
            <p:ph type="dt" sz="half" idx="10"/>
          </p:nvPr>
        </p:nvSpPr>
        <p:spPr/>
        <p:txBody>
          <a:bodyPr/>
          <a:lstStyle/>
          <a:p>
            <a:fld id="{1775B394-D9F9-4F0C-B15D-605F45CB9E9F}" type="datetime1">
              <a:rPr lang="en-US" smtClean="0"/>
            </a:fld>
            <a:endParaRPr lang="en-US" dirty="0"/>
          </a:p>
        </p:txBody>
      </p:sp>
      <p:sp>
        <p:nvSpPr>
          <p:cNvPr id="7" name="Footer Placeholder 6"/>
          <p:cNvSpPr>
            <a:spLocks noGrp="1"/>
          </p:cNvSpPr>
          <p:nvPr>
            <p:ph type="ftr" sz="quarter" idx="11"/>
          </p:nvPr>
        </p:nvSpPr>
        <p:spPr/>
        <p:txBody>
          <a:bodyPr/>
          <a:lstStyle/>
          <a:p>
            <a:endParaRPr lang="en-US" dirty="0"/>
          </a:p>
        </p:txBody>
      </p:sp>
      <p:sp>
        <p:nvSpPr>
          <p:cNvPr id="8" name="Slide Number Placeholder 7"/>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Blank">
    <p:spTree>
      <p:nvGrpSpPr>
        <p:cNvPr id="1" name=""/>
        <p:cNvGrpSpPr/>
        <p:nvPr/>
      </p:nvGrpSpPr>
      <p:grpSpPr>
        <a:xfrm>
          <a:off x="0" y="0"/>
          <a:ext cx="0" cy="0"/>
          <a:chOff x="0" y="0"/>
          <a:chExt cx="0" cy="0"/>
        </a:xfrm>
      </p:grpSpPr>
      <p:sp>
        <p:nvSpPr>
          <p:cNvPr id="10" name="Rectangle 9"/>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39667345-2558-425A-8533-9BFDBCE15005}" type="datetime1">
              <a:rPr lang="en-US" smtClean="0"/>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Content with Caption">
    <p:spTree>
      <p:nvGrpSpPr>
        <p:cNvPr id="1" name=""/>
        <p:cNvGrpSpPr/>
        <p:nvPr/>
      </p:nvGrpSpPr>
      <p:grpSpPr>
        <a:xfrm>
          <a:off x="0" y="0"/>
          <a:ext cx="0" cy="0"/>
          <a:chOff x="0" y="0"/>
          <a:chExt cx="0" cy="0"/>
        </a:xfrm>
      </p:grpSpPr>
      <p:sp>
        <p:nvSpPr>
          <p:cNvPr id="8" name="Rectangle 7"/>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sp>
        <p:nvSpPr>
          <p:cNvPr id="8" name="Rectangle 7"/>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B612A279-0833-481D-8C56-F67FD0AC6C50}" type="datetime1">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showMasterSp="0">
  <p:cSld name="Vertical Title and Text">
    <p:spTree>
      <p:nvGrpSpPr>
        <p:cNvPr id="1" name=""/>
        <p:cNvGrpSpPr/>
        <p:nvPr/>
      </p:nvGrpSpPr>
      <p:grpSpPr>
        <a:xfrm>
          <a:off x="0" y="0"/>
          <a:ext cx="0" cy="0"/>
          <a:chOff x="0" y="0"/>
          <a:chExt cx="0" cy="0"/>
        </a:xfrm>
      </p:grpSpPr>
      <p:sp>
        <p:nvSpPr>
          <p:cNvPr id="9" name="Rectangle 8"/>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6587DA83-5663-4C9C-B9AA-0B40A3DAFF81}" type="datetime1">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fld>
            <a:endParaRPr lang="en-US" dirty="0"/>
          </a:p>
        </p:txBody>
      </p:sp>
      <p:cxnSp>
        <p:nvCxnSpPr>
          <p:cNvPr id="10" name="Straight Connector 9"/>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2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20000"/>
        </a:lnSpc>
        <a:spcBef>
          <a:spcPts val="1200"/>
        </a:spcBef>
        <a:spcAft>
          <a:spcPts val="200"/>
        </a:spcAft>
        <a:buClr>
          <a:schemeClr val="accent1"/>
        </a:buClr>
        <a:buSzPct val="100000"/>
        <a:buFont typeface="Calibri" panose="020F0502020204030204" pitchFamily="34" charset="0"/>
        <a:buChar char=" "/>
        <a:defRPr sz="18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100000"/>
        </a:lnSpc>
        <a:spcBef>
          <a:spcPts val="200"/>
        </a:spcBef>
        <a:spcAft>
          <a:spcPts val="400"/>
        </a:spcAft>
        <a:buClrTx/>
        <a:buFont typeface="Calibri" panose="020F0502020204030204" pitchFamily="34" charset="0"/>
        <a:buChar char="◦"/>
        <a:defRPr sz="16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100000"/>
        </a:lnSpc>
        <a:spcBef>
          <a:spcPts val="200"/>
        </a:spcBef>
        <a:spcAft>
          <a:spcPts val="400"/>
        </a:spcAft>
        <a:buClrTx/>
        <a:buFont typeface="Calibri" panose="020F0502020204030204" pitchFamily="34" charset="0"/>
        <a:buChar char="◦"/>
        <a:defRPr sz="12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100000"/>
        </a:lnSpc>
        <a:spcBef>
          <a:spcPts val="200"/>
        </a:spcBef>
        <a:spcAft>
          <a:spcPts val="400"/>
        </a:spcAft>
        <a:buClrTx/>
        <a:buFont typeface="Calibri" panose="020F0502020204030204" pitchFamily="34" charset="0"/>
        <a:buChar char="◦"/>
        <a:defRPr sz="12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100000"/>
        </a:lnSpc>
        <a:spcBef>
          <a:spcPts val="200"/>
        </a:spcBef>
        <a:spcAft>
          <a:spcPts val="400"/>
        </a:spcAft>
        <a:buClrTx/>
        <a:buFont typeface="Calibri" panose="020F0502020204030204" pitchFamily="34" charset="0"/>
        <a:buChar char="◦"/>
        <a:defRPr sz="12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image" Target="../media/image17.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3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image" Target="../media/image2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7.png"/><Relationship Id="rId1" Type="http://schemas.openxmlformats.org/officeDocument/2006/relationships/image" Target="../media/image26.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p:cNvSpPr>
            <a:spLocks noGrp="1" noRot="1" noChangeAspect="1" noMove="1" noResize="1" noEditPoints="1" noAdjustHandles="1" noChangeArrowheads="1" noChangeShapeType="1" noTextEdit="1"/>
          </p:cNvSpPr>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p:cNvSpPr>
            <a:spLocks noGrp="1"/>
          </p:cNvSpPr>
          <p:nvPr>
            <p:ph type="ctrTitle"/>
          </p:nvPr>
        </p:nvSpPr>
        <p:spPr>
          <a:xfrm>
            <a:off x="3958251" y="1417983"/>
            <a:ext cx="7319175" cy="2550028"/>
          </a:xfrm>
        </p:spPr>
        <p:txBody>
          <a:bodyPr>
            <a:normAutofit/>
          </a:bodyPr>
          <a:lstStyle/>
          <a:p>
            <a:r>
              <a:rPr lang="es-ES" sz="4800" dirty="0"/>
              <a:t>Certificación LPI LPIC-1: </a:t>
            </a:r>
            <a:br>
              <a:rPr lang="es-ES" sz="4800" dirty="0"/>
            </a:br>
            <a:r>
              <a:rPr lang="es-ES" sz="4800" dirty="0"/>
              <a:t>Linux Administrator </a:t>
            </a:r>
            <a:br>
              <a:rPr lang="es-ES" sz="4800" dirty="0"/>
            </a:br>
            <a:endParaRPr lang="es-ES" sz="4800" dirty="0"/>
          </a:p>
        </p:txBody>
      </p:sp>
      <p:pic>
        <p:nvPicPr>
          <p:cNvPr id="5" name="Imagen 4" descr="Imagen que contiene dibujo&#10;&#10;Descripción generada automáticamente"/>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20973" y="1781229"/>
            <a:ext cx="2758331" cy="2776843"/>
          </a:xfrm>
          <a:prstGeom prst="rect">
            <a:avLst/>
          </a:prstGeom>
        </p:spPr>
      </p:pic>
      <p:cxnSp>
        <p:nvCxnSpPr>
          <p:cNvPr id="12" name="Straight Connector 11"/>
          <p:cNvCxnSpPr>
            <a:cxnSpLocks noGrp="1" noRot="1" noChangeAspect="1" noMove="1" noResize="1" noEditPoints="1" noAdjustHandles="1" noChangeArrowheads="1" noChangeShapeType="1"/>
          </p:cNvCxnSpPr>
          <p:nvPr/>
        </p:nvCxnSpPr>
        <p:spPr>
          <a:xfrm>
            <a:off x="3958251" y="4294753"/>
            <a:ext cx="71323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4" name="Rectangle 13"/>
          <p:cNvSpPr>
            <a:spLocks noGrp="1" noRot="1" noChangeAspect="1" noMove="1" noResize="1" noEditPoints="1" noAdjustHandles="1" noChangeArrowheads="1" noChangeShapeType="1" noTextEdit="1"/>
          </p:cNvSpPr>
          <p:nvPr/>
        </p:nvSpPr>
        <p:spPr>
          <a:xfrm>
            <a:off x="0" y="6400800"/>
            <a:ext cx="12192000"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CuadroTexto 5"/>
          <p:cNvSpPr txBox="1"/>
          <p:nvPr/>
        </p:nvSpPr>
        <p:spPr>
          <a:xfrm>
            <a:off x="3918992" y="3767956"/>
            <a:ext cx="4854470" cy="400110"/>
          </a:xfrm>
          <a:prstGeom prst="rect">
            <a:avLst/>
          </a:prstGeom>
          <a:noFill/>
        </p:spPr>
        <p:txBody>
          <a:bodyPr wrap="none" rtlCol="0">
            <a:spAutoFit/>
          </a:bodyPr>
          <a:lstStyle/>
          <a:p>
            <a:r>
              <a:rPr lang="es-ES" sz="2000" dirty="0"/>
              <a:t>Tema 8: LA RED Y SERVICIOS BÁSICOS</a:t>
            </a:r>
            <a:endParaRPr lang="es-E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854765"/>
            <a:ext cx="10058400" cy="882595"/>
          </a:xfrm>
        </p:spPr>
        <p:txBody>
          <a:bodyPr/>
          <a:lstStyle/>
          <a:p>
            <a:r>
              <a:rPr lang="es-ES" dirty="0"/>
              <a:t>LA RED</a:t>
            </a:r>
            <a:endParaRPr lang="es-ES" dirty="0"/>
          </a:p>
        </p:txBody>
      </p:sp>
      <p:sp>
        <p:nvSpPr>
          <p:cNvPr id="3" name="Marcador de contenido 2"/>
          <p:cNvSpPr>
            <a:spLocks noGrp="1"/>
          </p:cNvSpPr>
          <p:nvPr>
            <p:ph idx="1"/>
          </p:nvPr>
        </p:nvSpPr>
        <p:spPr>
          <a:xfrm>
            <a:off x="1144748" y="1869662"/>
            <a:ext cx="10010931" cy="4446078"/>
          </a:xfrm>
        </p:spPr>
        <p:txBody>
          <a:bodyPr>
            <a:normAutofit/>
          </a:bodyPr>
          <a:lstStyle/>
          <a:p>
            <a:r>
              <a:rPr lang="es-ES" b="1" dirty="0"/>
              <a:t>TCP/IP</a:t>
            </a:r>
            <a:endParaRPr lang="es-ES" b="1" dirty="0"/>
          </a:p>
          <a:p>
            <a:r>
              <a:rPr lang="es-ES" dirty="0"/>
              <a:t>La mayoría de los sistemas </a:t>
            </a:r>
            <a:r>
              <a:rPr lang="es-ES" i="1" dirty="0"/>
              <a:t>Linux</a:t>
            </a:r>
            <a:r>
              <a:rPr lang="es-ES" dirty="0"/>
              <a:t> están conectados a una red, ya sea como máquinas clientes, servidores o ambos a la vez. Es por ello necesario saber como configurar las herramientas básicas de red, de manera que sea posible mantener comunicaciones con el exterior.</a:t>
            </a:r>
            <a:endParaRPr lang="es-ES" dirty="0"/>
          </a:p>
          <a:p>
            <a:r>
              <a:rPr lang="es-ES" dirty="0"/>
              <a:t>Actualmente, el </a:t>
            </a:r>
            <a:r>
              <a:rPr lang="es-ES" dirty="0" err="1"/>
              <a:t>estańdar</a:t>
            </a:r>
            <a:r>
              <a:rPr lang="es-ES" dirty="0"/>
              <a:t> de la industria en redes es un conjunto o pila de protocolos denominado </a:t>
            </a:r>
            <a:r>
              <a:rPr lang="es-ES" b="1" dirty="0"/>
              <a:t>TCP/IP</a:t>
            </a:r>
            <a:br>
              <a:rPr lang="es-ES" sz="1600" dirty="0"/>
            </a:br>
            <a:r>
              <a:rPr lang="es-ES" dirty="0"/>
              <a:t>(</a:t>
            </a:r>
            <a:r>
              <a:rPr lang="es-ES" i="1" dirty="0" err="1"/>
              <a:t>Transmission</a:t>
            </a:r>
            <a:r>
              <a:rPr lang="es-ES" i="1" dirty="0"/>
              <a:t> Control </a:t>
            </a:r>
            <a:r>
              <a:rPr lang="es-ES" i="1" dirty="0" err="1"/>
              <a:t>Protocol</a:t>
            </a:r>
            <a:r>
              <a:rPr lang="es-ES" i="1" dirty="0"/>
              <a:t>/Internet </a:t>
            </a:r>
            <a:r>
              <a:rPr lang="es-ES" i="1" dirty="0" err="1"/>
              <a:t>Procotol</a:t>
            </a:r>
            <a:r>
              <a:rPr lang="es-ES" i="1" dirty="0"/>
              <a:t>, Protocolo de control de Transmisión/Protocolo de Internet</a:t>
            </a:r>
            <a:r>
              <a:rPr lang="es-ES" dirty="0"/>
              <a:t>) formado por una serie  de capas o niveles que resuelven tareas relacionadas con la transmisión de datos y proporcionan un servicio bien definido a los niveles mas altos. Los niveles mas altos son los mas cercanos al usuario y tratan con datos mas abstractos, dejando a los niveles más bajos la labor de traducir los datos de forma que sean físicamente manipulables.</a:t>
            </a:r>
            <a:endParaRPr lang="es-ES" sz="1600"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854765"/>
            <a:ext cx="10058400" cy="882595"/>
          </a:xfrm>
        </p:spPr>
        <p:txBody>
          <a:bodyPr/>
          <a:lstStyle/>
          <a:p>
            <a:r>
              <a:rPr lang="es-ES" dirty="0"/>
              <a:t>LA RED</a:t>
            </a:r>
            <a:endParaRPr lang="es-ES" dirty="0"/>
          </a:p>
        </p:txBody>
      </p:sp>
      <p:sp>
        <p:nvSpPr>
          <p:cNvPr id="3" name="Marcador de contenido 2"/>
          <p:cNvSpPr>
            <a:spLocks noGrp="1"/>
          </p:cNvSpPr>
          <p:nvPr>
            <p:ph idx="1"/>
          </p:nvPr>
        </p:nvSpPr>
        <p:spPr>
          <a:xfrm>
            <a:off x="1144749" y="1869662"/>
            <a:ext cx="5415078" cy="4446078"/>
          </a:xfrm>
        </p:spPr>
        <p:txBody>
          <a:bodyPr>
            <a:normAutofit fontScale="92500" lnSpcReduction="20000"/>
          </a:bodyPr>
          <a:lstStyle/>
          <a:p>
            <a:r>
              <a:rPr lang="es-ES" b="1" dirty="0"/>
              <a:t>TCP/IP</a:t>
            </a:r>
            <a:endParaRPr lang="es-ES" b="1" dirty="0"/>
          </a:p>
          <a:p>
            <a:r>
              <a:rPr lang="es-ES" dirty="0"/>
              <a:t>La pila de </a:t>
            </a:r>
            <a:r>
              <a:rPr lang="es-ES" i="1" dirty="0"/>
              <a:t>TCP/IP</a:t>
            </a:r>
            <a:r>
              <a:rPr lang="es-ES" dirty="0"/>
              <a:t> es un conjunto de protocolos de red en los que se basa Internet permitiendo la comunicación y transferencia de datos entre ordenadores instalado en distintos puntos.</a:t>
            </a:r>
            <a:endParaRPr lang="es-ES" dirty="0"/>
          </a:p>
          <a:p>
            <a:r>
              <a:rPr lang="es-ES" dirty="0"/>
              <a:t>Podemos describir por analogía la pila </a:t>
            </a:r>
            <a:r>
              <a:rPr lang="es-ES" i="1" dirty="0"/>
              <a:t>TCP/IP</a:t>
            </a:r>
            <a:r>
              <a:rPr lang="es-ES" dirty="0"/>
              <a:t> con el modelo </a:t>
            </a:r>
            <a:r>
              <a:rPr lang="es-ES" b="1" dirty="0"/>
              <a:t>OSI</a:t>
            </a:r>
            <a:r>
              <a:rPr lang="es-ES" dirty="0"/>
              <a:t> (</a:t>
            </a:r>
            <a:r>
              <a:rPr lang="es-ES" i="1" dirty="0"/>
              <a:t>Open </a:t>
            </a:r>
            <a:r>
              <a:rPr lang="es-ES" i="1" dirty="0" err="1"/>
              <a:t>System</a:t>
            </a:r>
            <a:r>
              <a:rPr lang="es-ES" i="1" dirty="0"/>
              <a:t> </a:t>
            </a:r>
            <a:r>
              <a:rPr lang="es-ES" i="1" dirty="0" err="1"/>
              <a:t>Interconnection</a:t>
            </a:r>
            <a:r>
              <a:rPr lang="es-ES" dirty="0"/>
              <a:t>) propuesto como una aproximación teórica y como una primera fase en la evolución de la redes de ordenadores. El modelo </a:t>
            </a:r>
            <a:r>
              <a:rPr lang="es-ES" i="1" dirty="0"/>
              <a:t>OSI</a:t>
            </a:r>
            <a:r>
              <a:rPr lang="es-ES" dirty="0"/>
              <a:t> es mas fácil de entender pero el que se utiliza es </a:t>
            </a:r>
            <a:r>
              <a:rPr lang="es-ES" i="1" dirty="0"/>
              <a:t>TCP/IP</a:t>
            </a:r>
            <a:r>
              <a:rPr lang="es-ES" dirty="0"/>
              <a:t> sucesor de </a:t>
            </a:r>
            <a:r>
              <a:rPr lang="es-ES" b="1" dirty="0"/>
              <a:t>NCP</a:t>
            </a:r>
            <a:r>
              <a:rPr lang="es-ES" dirty="0"/>
              <a:t> (</a:t>
            </a:r>
            <a:r>
              <a:rPr lang="es-ES" i="1" dirty="0"/>
              <a:t>Network Control </a:t>
            </a:r>
            <a:r>
              <a:rPr lang="es-ES" i="1" dirty="0" err="1"/>
              <a:t>Program</a:t>
            </a:r>
            <a:r>
              <a:rPr lang="es-ES" dirty="0"/>
              <a:t>). El modelo </a:t>
            </a:r>
            <a:r>
              <a:rPr lang="es-ES" i="1" dirty="0"/>
              <a:t>OSI</a:t>
            </a:r>
            <a:r>
              <a:rPr lang="es-ES" dirty="0"/>
              <a:t> esta formado por un total de </a:t>
            </a:r>
            <a:r>
              <a:rPr lang="es-ES" i="1" dirty="0"/>
              <a:t>siete</a:t>
            </a:r>
            <a:r>
              <a:rPr lang="es-ES" dirty="0"/>
              <a:t> capas mientras que </a:t>
            </a:r>
            <a:r>
              <a:rPr lang="es-ES" i="1" dirty="0"/>
              <a:t>TCP/IP</a:t>
            </a:r>
            <a:r>
              <a:rPr lang="es-ES" dirty="0"/>
              <a:t> ‘absorbe’ alguna de ellas en varias capas reduciendo el número a </a:t>
            </a:r>
            <a:r>
              <a:rPr lang="es-ES" i="1" dirty="0"/>
              <a:t>cuatro</a:t>
            </a:r>
            <a:r>
              <a:rPr lang="es-ES" dirty="0"/>
              <a:t>, es por ello que </a:t>
            </a:r>
            <a:r>
              <a:rPr lang="es-ES" i="1" dirty="0"/>
              <a:t>OSI</a:t>
            </a:r>
            <a:r>
              <a:rPr lang="es-ES" dirty="0"/>
              <a:t> se entiende mejor. </a:t>
            </a:r>
            <a:endParaRPr lang="es-ES" dirty="0"/>
          </a:p>
        </p:txBody>
      </p:sp>
      <p:pic>
        <p:nvPicPr>
          <p:cNvPr id="3074" name="Picture 2" descr="ositcpip"/>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174523" y="2024941"/>
            <a:ext cx="4093697" cy="398132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854765"/>
            <a:ext cx="10058400" cy="882595"/>
          </a:xfrm>
        </p:spPr>
        <p:txBody>
          <a:bodyPr/>
          <a:lstStyle/>
          <a:p>
            <a:r>
              <a:rPr lang="es-ES" dirty="0"/>
              <a:t>LA RED</a:t>
            </a:r>
            <a:endParaRPr lang="es-ES" dirty="0"/>
          </a:p>
        </p:txBody>
      </p:sp>
      <p:sp>
        <p:nvSpPr>
          <p:cNvPr id="3" name="Marcador de contenido 2"/>
          <p:cNvSpPr>
            <a:spLocks noGrp="1"/>
          </p:cNvSpPr>
          <p:nvPr>
            <p:ph idx="1"/>
          </p:nvPr>
        </p:nvSpPr>
        <p:spPr>
          <a:xfrm>
            <a:off x="1144748" y="1869662"/>
            <a:ext cx="10058399" cy="4446078"/>
          </a:xfrm>
        </p:spPr>
        <p:txBody>
          <a:bodyPr>
            <a:normAutofit/>
          </a:bodyPr>
          <a:lstStyle/>
          <a:p>
            <a:r>
              <a:rPr lang="es-ES" b="1" dirty="0"/>
              <a:t>TCP/IP</a:t>
            </a:r>
            <a:endParaRPr lang="es-ES" b="1" dirty="0"/>
          </a:p>
          <a:p>
            <a:r>
              <a:rPr lang="es-ES" dirty="0"/>
              <a:t>A continuación vamos a resumir muy brevemente lo que realiza cada capa de la pila </a:t>
            </a:r>
            <a:r>
              <a:rPr lang="es-ES" i="1" dirty="0"/>
              <a:t>TCP/IP</a:t>
            </a:r>
            <a:endParaRPr lang="es-ES" dirty="0"/>
          </a:p>
          <a:p>
            <a:r>
              <a:rPr lang="es-ES" dirty="0"/>
              <a:t>La capa de </a:t>
            </a:r>
            <a:r>
              <a:rPr lang="es-ES" i="1" dirty="0"/>
              <a:t>Acceso a la red</a:t>
            </a:r>
            <a:r>
              <a:rPr lang="es-ES" dirty="0"/>
              <a:t> controla los dispositivos del hardware y los medios que forman la red, por ejemplo la tarjeta de red del usuario, asegurando que existe conexión y está OK</a:t>
            </a:r>
            <a:endParaRPr lang="es-ES" dirty="0"/>
          </a:p>
          <a:p>
            <a:r>
              <a:rPr lang="es-ES" dirty="0"/>
              <a:t>La siguiente capa “</a:t>
            </a:r>
            <a:r>
              <a:rPr lang="es-ES" i="1" dirty="0"/>
              <a:t>Internet</a:t>
            </a:r>
            <a:r>
              <a:rPr lang="es-ES" dirty="0"/>
              <a:t>” determina la mejor ruta a seguir a través de la red.</a:t>
            </a:r>
            <a:endParaRPr lang="es-ES" dirty="0"/>
          </a:p>
          <a:p>
            <a:r>
              <a:rPr lang="es-ES" dirty="0"/>
              <a:t> La capa de transporte admite las comunicaciones entre distintos  dispositivos  de  distintas redes</a:t>
            </a:r>
            <a:endParaRPr lang="es-ES" dirty="0"/>
          </a:p>
          <a:p>
            <a:r>
              <a:rPr lang="es-ES" dirty="0"/>
              <a:t> Representa los datos para el usuario, además del control de codificación, compresión y diálogo entre usuarios</a:t>
            </a:r>
            <a:endParaRPr lang="es-E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854765"/>
            <a:ext cx="10058400" cy="882595"/>
          </a:xfrm>
        </p:spPr>
        <p:txBody>
          <a:bodyPr/>
          <a:lstStyle/>
          <a:p>
            <a:r>
              <a:rPr lang="es-ES" dirty="0"/>
              <a:t>LA RED</a:t>
            </a:r>
            <a:endParaRPr lang="es-ES" dirty="0"/>
          </a:p>
        </p:txBody>
      </p:sp>
      <p:sp>
        <p:nvSpPr>
          <p:cNvPr id="3" name="Marcador de contenido 2"/>
          <p:cNvSpPr>
            <a:spLocks noGrp="1"/>
          </p:cNvSpPr>
          <p:nvPr>
            <p:ph idx="1"/>
          </p:nvPr>
        </p:nvSpPr>
        <p:spPr>
          <a:xfrm>
            <a:off x="1144748" y="1869662"/>
            <a:ext cx="10058399" cy="4446078"/>
          </a:xfrm>
        </p:spPr>
        <p:txBody>
          <a:bodyPr>
            <a:normAutofit fontScale="85000" lnSpcReduction="20000"/>
          </a:bodyPr>
          <a:lstStyle/>
          <a:p>
            <a:r>
              <a:rPr lang="es-ES" b="1" dirty="0"/>
              <a:t>TCP/IP. I</a:t>
            </a:r>
            <a:r>
              <a:rPr lang="es-ES" dirty="0"/>
              <a:t>Pv6. </a:t>
            </a:r>
            <a:r>
              <a:rPr lang="es-ES" b="1" dirty="0"/>
              <a:t>Mejoras sobre IPv4</a:t>
            </a:r>
            <a:endParaRPr lang="es-ES" b="1" dirty="0"/>
          </a:p>
          <a:p>
            <a:r>
              <a:rPr lang="es-ES" dirty="0"/>
              <a:t>Mientras </a:t>
            </a:r>
            <a:r>
              <a:rPr lang="es-ES" i="1" dirty="0"/>
              <a:t>IPv4</a:t>
            </a:r>
            <a:r>
              <a:rPr lang="es-ES" dirty="0"/>
              <a:t> alcanza un máximo teórico de “</a:t>
            </a:r>
            <a:r>
              <a:rPr lang="es-ES" i="1" dirty="0"/>
              <a:t>cuatro mil millones</a:t>
            </a:r>
            <a:r>
              <a:rPr lang="es-ES" dirty="0"/>
              <a:t>” de direcciones </a:t>
            </a:r>
            <a:r>
              <a:rPr lang="es-ES" i="1" dirty="0"/>
              <a:t>IP</a:t>
            </a:r>
            <a:r>
              <a:rPr lang="es-ES" dirty="0"/>
              <a:t>, que debido al mal reparto de estas son algunas menos, </a:t>
            </a:r>
            <a:r>
              <a:rPr lang="es-ES" i="1" dirty="0"/>
              <a:t>IPv6</a:t>
            </a:r>
            <a:r>
              <a:rPr lang="es-ES" dirty="0"/>
              <a:t> eleva esta cifra a “</a:t>
            </a:r>
            <a:r>
              <a:rPr lang="es-ES" i="1" dirty="0"/>
              <a:t>seiscientos setenta mil billones</a:t>
            </a:r>
            <a:r>
              <a:rPr lang="es-ES" dirty="0"/>
              <a:t>” (670 mil billones) de direcciones </a:t>
            </a:r>
            <a:r>
              <a:rPr lang="es-ES" i="1" dirty="0"/>
              <a:t>IP</a:t>
            </a:r>
            <a:r>
              <a:rPr lang="es-ES" dirty="0"/>
              <a:t> por cada milímetro cuadrado de la superficie de la tierra.</a:t>
            </a:r>
            <a:endParaRPr lang="es-ES" dirty="0"/>
          </a:p>
          <a:p>
            <a:r>
              <a:rPr lang="es-ES" b="1" dirty="0" err="1"/>
              <a:t>Multicast</a:t>
            </a:r>
            <a:r>
              <a:rPr lang="es-ES" dirty="0"/>
              <a:t>, habilidad para enviar un único paquete a múltiples destinos. Forma parte de la especificación base de </a:t>
            </a:r>
            <a:r>
              <a:rPr lang="es-ES" i="1" dirty="0"/>
              <a:t>IPv6</a:t>
            </a:r>
            <a:r>
              <a:rPr lang="es-ES" dirty="0"/>
              <a:t> y no como en </a:t>
            </a:r>
            <a:r>
              <a:rPr lang="es-ES" i="1" dirty="0"/>
              <a:t>IPv4</a:t>
            </a:r>
            <a:r>
              <a:rPr lang="es-ES" dirty="0"/>
              <a:t>, donde es opcional aunque usualmente implementado. </a:t>
            </a:r>
            <a:r>
              <a:rPr lang="es-ES" i="1" dirty="0"/>
              <a:t>IPv6</a:t>
            </a:r>
            <a:r>
              <a:rPr lang="es-ES" dirty="0"/>
              <a:t> no implementa </a:t>
            </a:r>
            <a:r>
              <a:rPr lang="es-ES" i="1" dirty="0"/>
              <a:t>broadcast</a:t>
            </a:r>
            <a:r>
              <a:rPr lang="es-ES" dirty="0"/>
              <a:t> (envió de un paquete a todos los nodos conectados). El </a:t>
            </a:r>
            <a:r>
              <a:rPr lang="es-ES" i="1" dirty="0" err="1"/>
              <a:t>multicast</a:t>
            </a:r>
            <a:r>
              <a:rPr lang="es-ES" dirty="0"/>
              <a:t> </a:t>
            </a:r>
            <a:r>
              <a:rPr lang="es-ES" i="1" dirty="0"/>
              <a:t>IPv6</a:t>
            </a:r>
            <a:r>
              <a:rPr lang="es-ES" dirty="0"/>
              <a:t> comparte protocolos y características comunes con </a:t>
            </a:r>
            <a:r>
              <a:rPr lang="es-ES" i="1" dirty="0"/>
              <a:t>IPv4</a:t>
            </a:r>
            <a:r>
              <a:rPr lang="es-ES" dirty="0"/>
              <a:t>, pero también incorpora cambios y mejoras.</a:t>
            </a:r>
            <a:endParaRPr lang="es-ES" dirty="0"/>
          </a:p>
          <a:p>
            <a:r>
              <a:rPr lang="es-ES" b="1" dirty="0"/>
              <a:t>SLAAC</a:t>
            </a:r>
            <a:r>
              <a:rPr lang="es-ES" dirty="0"/>
              <a:t> (</a:t>
            </a:r>
            <a:r>
              <a:rPr lang="es-ES" i="1" dirty="0" err="1"/>
              <a:t>Stateless</a:t>
            </a:r>
            <a:r>
              <a:rPr lang="es-ES" i="1" dirty="0"/>
              <a:t> </a:t>
            </a:r>
            <a:r>
              <a:rPr lang="es-ES" i="1" dirty="0" err="1"/>
              <a:t>Address</a:t>
            </a:r>
            <a:r>
              <a:rPr lang="es-ES" i="1" dirty="0"/>
              <a:t> </a:t>
            </a:r>
            <a:r>
              <a:rPr lang="es-ES" i="1" dirty="0" err="1"/>
              <a:t>Autoconfiguration</a:t>
            </a:r>
            <a:r>
              <a:rPr lang="es-ES" dirty="0"/>
              <a:t>): La primera vez que un dispositivo es conectado a una red, este envía una solicitud de </a:t>
            </a:r>
            <a:r>
              <a:rPr lang="es-ES" dirty="0" err="1"/>
              <a:t>router</a:t>
            </a:r>
            <a:r>
              <a:rPr lang="es-ES" dirty="0"/>
              <a:t> (</a:t>
            </a:r>
            <a:r>
              <a:rPr lang="es-ES" i="1" dirty="0"/>
              <a:t>RS: </a:t>
            </a:r>
            <a:r>
              <a:rPr lang="es-ES" i="1" dirty="0" err="1"/>
              <a:t>router</a:t>
            </a:r>
            <a:r>
              <a:rPr lang="es-ES" i="1" dirty="0"/>
              <a:t> </a:t>
            </a:r>
            <a:r>
              <a:rPr lang="es-ES" i="1" dirty="0" err="1"/>
              <a:t>rolicitation</a:t>
            </a:r>
            <a:r>
              <a:rPr lang="es-ES" dirty="0"/>
              <a:t>) usando </a:t>
            </a:r>
            <a:r>
              <a:rPr lang="es-ES" i="1" dirty="0" err="1"/>
              <a:t>multicast</a:t>
            </a:r>
            <a:r>
              <a:rPr lang="es-ES" dirty="0"/>
              <a:t> pidiendo los parámetros de configuración. Si los </a:t>
            </a:r>
            <a:r>
              <a:rPr lang="es-ES" dirty="0" err="1"/>
              <a:t>router</a:t>
            </a:r>
            <a:r>
              <a:rPr lang="es-ES" dirty="0"/>
              <a:t> están configurados para responder a esta petición, enviarán un </a:t>
            </a:r>
            <a:r>
              <a:rPr lang="es-ES" i="1" dirty="0"/>
              <a:t>RA: </a:t>
            </a:r>
            <a:r>
              <a:rPr lang="es-ES" i="1" dirty="0" err="1"/>
              <a:t>router</a:t>
            </a:r>
            <a:r>
              <a:rPr lang="es-ES" i="1" dirty="0"/>
              <a:t> </a:t>
            </a:r>
            <a:r>
              <a:rPr lang="es-ES" i="1" dirty="0" err="1"/>
              <a:t>advertisement</a:t>
            </a:r>
            <a:r>
              <a:rPr lang="es-ES" dirty="0"/>
              <a:t> con los datos de configuración. Si una aplicación no soporta </a:t>
            </a:r>
            <a:r>
              <a:rPr lang="es-ES" i="1" dirty="0"/>
              <a:t>SLAAC</a:t>
            </a:r>
            <a:r>
              <a:rPr lang="es-ES" dirty="0"/>
              <a:t> usará entonces </a:t>
            </a:r>
            <a:r>
              <a:rPr lang="es-ES" i="1" dirty="0"/>
              <a:t>DHCP</a:t>
            </a:r>
            <a:r>
              <a:rPr lang="es-ES" dirty="0"/>
              <a:t>.</a:t>
            </a:r>
            <a:endParaRPr lang="es-ES" dirty="0"/>
          </a:p>
          <a:p>
            <a:r>
              <a:rPr lang="es-ES" b="1" dirty="0" err="1"/>
              <a:t>IPSec</a:t>
            </a:r>
            <a:r>
              <a:rPr lang="es-ES" dirty="0"/>
              <a:t> (</a:t>
            </a:r>
            <a:r>
              <a:rPr lang="es-ES" i="1" dirty="0"/>
              <a:t>Internet </a:t>
            </a:r>
            <a:r>
              <a:rPr lang="es-ES" i="1" dirty="0" err="1"/>
              <a:t>Protocol</a:t>
            </a:r>
            <a:r>
              <a:rPr lang="es-ES" i="1" dirty="0"/>
              <a:t> Security</a:t>
            </a:r>
            <a:r>
              <a:rPr lang="es-ES" dirty="0"/>
              <a:t>): Protocolo para cifrado y autenticación de </a:t>
            </a:r>
            <a:r>
              <a:rPr lang="es-ES" i="1" dirty="0"/>
              <a:t>IP</a:t>
            </a:r>
            <a:r>
              <a:rPr lang="es-ES" dirty="0"/>
              <a:t>. Obligatorio en </a:t>
            </a:r>
            <a:r>
              <a:rPr lang="es-ES" i="1" dirty="0"/>
              <a:t>IPv6 ya que viene como base del protocolo, aunque actualmente no se está utilizando.</a:t>
            </a:r>
            <a:endParaRPr lang="es-ES" dirty="0"/>
          </a:p>
          <a:p>
            <a:r>
              <a:rPr lang="es-ES" dirty="0"/>
              <a:t>IPv6 ofrece mejoras en el rendimiento relativo al procesamiento de datos a través de los </a:t>
            </a:r>
            <a:r>
              <a:rPr lang="es-ES" dirty="0" err="1"/>
              <a:t>router</a:t>
            </a:r>
            <a:r>
              <a:rPr lang="es-ES" dirty="0"/>
              <a:t>.</a:t>
            </a:r>
            <a:endParaRPr lang="es-ES" dirty="0"/>
          </a:p>
          <a:p>
            <a:endParaRPr lang="es-ES" b="1"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854765"/>
            <a:ext cx="10058400" cy="882595"/>
          </a:xfrm>
        </p:spPr>
        <p:txBody>
          <a:bodyPr/>
          <a:lstStyle/>
          <a:p>
            <a:r>
              <a:rPr lang="es-ES" dirty="0"/>
              <a:t>LA RED</a:t>
            </a:r>
            <a:endParaRPr lang="es-ES" dirty="0"/>
          </a:p>
        </p:txBody>
      </p:sp>
      <p:sp>
        <p:nvSpPr>
          <p:cNvPr id="3" name="Marcador de contenido 2"/>
          <p:cNvSpPr>
            <a:spLocks noGrp="1"/>
          </p:cNvSpPr>
          <p:nvPr>
            <p:ph idx="1"/>
          </p:nvPr>
        </p:nvSpPr>
        <p:spPr>
          <a:xfrm>
            <a:off x="1144748" y="1869662"/>
            <a:ext cx="10058399" cy="4446078"/>
          </a:xfrm>
        </p:spPr>
        <p:txBody>
          <a:bodyPr>
            <a:normAutofit/>
          </a:bodyPr>
          <a:lstStyle/>
          <a:p>
            <a:r>
              <a:rPr lang="es-ES" b="1" dirty="0"/>
              <a:t>TCP/IP. Direcciones IPV4</a:t>
            </a:r>
            <a:endParaRPr lang="es-ES" b="1" dirty="0"/>
          </a:p>
          <a:p>
            <a:r>
              <a:rPr lang="es-ES" dirty="0"/>
              <a:t>Las direcciones </a:t>
            </a:r>
            <a:r>
              <a:rPr lang="es-ES" i="1" dirty="0"/>
              <a:t>IPv4</a:t>
            </a:r>
            <a:r>
              <a:rPr lang="es-ES" dirty="0"/>
              <a:t> se suelen expresar con cuatro números en base decimal, donde cada uno puede llegar al máximo de 255 (</a:t>
            </a:r>
            <a:r>
              <a:rPr lang="es-ES" i="1" dirty="0"/>
              <a:t>192.168.10.255</a:t>
            </a:r>
            <a:r>
              <a:rPr lang="es-ES" dirty="0"/>
              <a:t>) separados por puntos o bien, mediante notación “</a:t>
            </a:r>
            <a:r>
              <a:rPr lang="es-ES" b="1" i="1" dirty="0" err="1"/>
              <a:t>dotted</a:t>
            </a:r>
            <a:r>
              <a:rPr lang="es-ES" b="1" i="1" dirty="0"/>
              <a:t> </a:t>
            </a:r>
            <a:r>
              <a:rPr lang="es-ES" b="1" i="1" dirty="0" err="1"/>
              <a:t>quad</a:t>
            </a:r>
            <a:r>
              <a:rPr lang="es-ES" dirty="0"/>
              <a:t>“. Por ejemplo podríamos representar la IP de máscara de red </a:t>
            </a:r>
            <a:r>
              <a:rPr lang="es-ES" i="1" dirty="0"/>
              <a:t>255.255.128.0</a:t>
            </a:r>
            <a:r>
              <a:rPr lang="es-ES" dirty="0"/>
              <a:t> de la siguiente forma:</a:t>
            </a:r>
            <a:endParaRPr lang="es-ES" dirty="0"/>
          </a:p>
          <a:p>
            <a:endParaRPr lang="es-ES" b="1" dirty="0"/>
          </a:p>
          <a:p>
            <a:r>
              <a:rPr lang="es-ES" dirty="0"/>
              <a:t>Las direcciones </a:t>
            </a:r>
            <a:r>
              <a:rPr lang="es-ES" i="1" dirty="0"/>
              <a:t>IPv6</a:t>
            </a:r>
            <a:r>
              <a:rPr lang="es-ES" dirty="0"/>
              <a:t> constan de ocho grupos de números hexadecimales de cuatro dígitos separados por dos puntos y tienen un tamaño de 16 bytes (</a:t>
            </a:r>
            <a:r>
              <a:rPr lang="es-ES" i="1" dirty="0"/>
              <a:t>128 bits</a:t>
            </a:r>
            <a:r>
              <a:rPr lang="es-ES" dirty="0"/>
              <a:t>). Si uno o varios grupos de cuatro dígitos son 0000, éste o estos se pueden omitir, indicándolo con “</a:t>
            </a:r>
            <a:r>
              <a:rPr lang="es-ES" b="1" dirty="0"/>
              <a:t>: :</a:t>
            </a:r>
            <a:r>
              <a:rPr lang="es-ES" dirty="0"/>
              <a:t>“</a:t>
            </a:r>
            <a:endParaRPr lang="es-ES" dirty="0"/>
          </a:p>
          <a:p>
            <a:endParaRPr lang="es-ES" b="1" dirty="0"/>
          </a:p>
        </p:txBody>
      </p:sp>
      <p:pic>
        <p:nvPicPr>
          <p:cNvPr id="4" name="Imagen 3"/>
          <p:cNvPicPr>
            <a:picLocks noChangeAspect="1"/>
          </p:cNvPicPr>
          <p:nvPr/>
        </p:nvPicPr>
        <p:blipFill>
          <a:blip r:embed="rId1"/>
          <a:stretch>
            <a:fillRect/>
          </a:stretch>
        </p:blipFill>
        <p:spPr>
          <a:xfrm>
            <a:off x="3618465" y="3621214"/>
            <a:ext cx="4010025" cy="523875"/>
          </a:xfrm>
          <a:prstGeom prst="rect">
            <a:avLst/>
          </a:prstGeom>
        </p:spPr>
      </p:pic>
      <p:pic>
        <p:nvPicPr>
          <p:cNvPr id="5" name="Imagen 4"/>
          <p:cNvPicPr>
            <a:picLocks noChangeAspect="1"/>
          </p:cNvPicPr>
          <p:nvPr/>
        </p:nvPicPr>
        <p:blipFill>
          <a:blip r:embed="rId2"/>
          <a:stretch>
            <a:fillRect/>
          </a:stretch>
        </p:blipFill>
        <p:spPr>
          <a:xfrm>
            <a:off x="4104239" y="5687091"/>
            <a:ext cx="3286125" cy="4191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854765"/>
            <a:ext cx="10058400" cy="882595"/>
          </a:xfrm>
        </p:spPr>
        <p:txBody>
          <a:bodyPr/>
          <a:lstStyle/>
          <a:p>
            <a:r>
              <a:rPr lang="es-ES" dirty="0"/>
              <a:t>LA RED</a:t>
            </a:r>
            <a:endParaRPr lang="es-ES" dirty="0"/>
          </a:p>
        </p:txBody>
      </p:sp>
      <p:sp>
        <p:nvSpPr>
          <p:cNvPr id="3" name="Marcador de contenido 2"/>
          <p:cNvSpPr>
            <a:spLocks noGrp="1"/>
          </p:cNvSpPr>
          <p:nvPr>
            <p:ph idx="1"/>
          </p:nvPr>
        </p:nvSpPr>
        <p:spPr>
          <a:xfrm>
            <a:off x="1144748" y="1869662"/>
            <a:ext cx="10058399" cy="4446078"/>
          </a:xfrm>
        </p:spPr>
        <p:txBody>
          <a:bodyPr>
            <a:normAutofit/>
          </a:bodyPr>
          <a:lstStyle/>
          <a:p>
            <a:r>
              <a:rPr lang="es-ES" b="1" dirty="0"/>
              <a:t>TCP/IP. Máscara de red</a:t>
            </a:r>
            <a:endParaRPr lang="es-ES" b="1" dirty="0"/>
          </a:p>
          <a:p>
            <a:r>
              <a:rPr lang="es-ES" dirty="0"/>
              <a:t>La máscara de red como ya adelantábamos (también llamada máscara de </a:t>
            </a:r>
            <a:r>
              <a:rPr lang="es-ES" i="1" dirty="0"/>
              <a:t>subred</a:t>
            </a:r>
            <a:r>
              <a:rPr lang="es-ES" dirty="0"/>
              <a:t> o </a:t>
            </a:r>
            <a:r>
              <a:rPr lang="es-ES" i="1" dirty="0" err="1"/>
              <a:t>netmask</a:t>
            </a:r>
            <a:r>
              <a:rPr lang="es-ES" dirty="0"/>
              <a:t>) es un número que define las 2 partes de las que está formada una </a:t>
            </a:r>
            <a:r>
              <a:rPr lang="es-ES" i="1" dirty="0"/>
              <a:t>IP</a:t>
            </a:r>
            <a:r>
              <a:rPr lang="es-ES" dirty="0"/>
              <a:t>, la parte de dirección de red y la de dirección de host. Empleando el ejemplo de </a:t>
            </a:r>
            <a:r>
              <a:rPr lang="es-ES" dirty="0" err="1"/>
              <a:t>netmask</a:t>
            </a:r>
            <a:r>
              <a:rPr lang="es-ES" dirty="0"/>
              <a:t> podríamos apreciar ambas partes de la siguiente manera, donde con azul representamos la dirección de red y con rojo el número de hosts que podemos anidar en esa red.</a:t>
            </a:r>
            <a:endParaRPr lang="es-ES" dirty="0"/>
          </a:p>
          <a:p>
            <a:endParaRPr lang="es-ES" b="1" dirty="0"/>
          </a:p>
          <a:p>
            <a:r>
              <a:rPr lang="es-ES" dirty="0"/>
              <a:t>La máscara de red de </a:t>
            </a:r>
            <a:r>
              <a:rPr lang="es-ES" i="1" dirty="0"/>
              <a:t>IPv6</a:t>
            </a:r>
            <a:r>
              <a:rPr lang="es-ES" dirty="0"/>
              <a:t> funcionan igual que las de </a:t>
            </a:r>
            <a:r>
              <a:rPr lang="es-ES" i="1" dirty="0"/>
              <a:t>IPv4</a:t>
            </a:r>
            <a:r>
              <a:rPr lang="es-ES" dirty="0"/>
              <a:t> con la diferencia de que los números son más largos y que en </a:t>
            </a:r>
            <a:r>
              <a:rPr lang="es-ES" i="1" dirty="0"/>
              <a:t>IPv6</a:t>
            </a:r>
            <a:r>
              <a:rPr lang="es-ES" dirty="0"/>
              <a:t> se tiende a emplear la notación hexadecimal.</a:t>
            </a:r>
            <a:endParaRPr lang="es-ES" b="1" dirty="0"/>
          </a:p>
        </p:txBody>
      </p:sp>
      <p:pic>
        <p:nvPicPr>
          <p:cNvPr id="6" name="Imagen 5"/>
          <p:cNvPicPr>
            <a:picLocks noChangeAspect="1"/>
          </p:cNvPicPr>
          <p:nvPr/>
        </p:nvPicPr>
        <p:blipFill>
          <a:blip r:embed="rId1"/>
          <a:stretch>
            <a:fillRect/>
          </a:stretch>
        </p:blipFill>
        <p:spPr>
          <a:xfrm>
            <a:off x="2830673" y="4288964"/>
            <a:ext cx="2819400" cy="333375"/>
          </a:xfrm>
          <a:prstGeom prst="rect">
            <a:avLst/>
          </a:prstGeom>
        </p:spPr>
      </p:pic>
      <p:pic>
        <p:nvPicPr>
          <p:cNvPr id="7" name="Imagen 6"/>
          <p:cNvPicPr>
            <a:picLocks noChangeAspect="1"/>
          </p:cNvPicPr>
          <p:nvPr/>
        </p:nvPicPr>
        <p:blipFill>
          <a:blip r:embed="rId2"/>
          <a:stretch>
            <a:fillRect/>
          </a:stretch>
        </p:blipFill>
        <p:spPr>
          <a:xfrm>
            <a:off x="6621623" y="4288964"/>
            <a:ext cx="1428750" cy="29527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854765"/>
            <a:ext cx="10058400" cy="882595"/>
          </a:xfrm>
        </p:spPr>
        <p:txBody>
          <a:bodyPr/>
          <a:lstStyle/>
          <a:p>
            <a:r>
              <a:rPr lang="es-ES" dirty="0"/>
              <a:t>LA RED</a:t>
            </a:r>
            <a:endParaRPr lang="es-ES" dirty="0"/>
          </a:p>
        </p:txBody>
      </p:sp>
      <p:sp>
        <p:nvSpPr>
          <p:cNvPr id="3" name="Marcador de contenido 2"/>
          <p:cNvSpPr>
            <a:spLocks noGrp="1"/>
          </p:cNvSpPr>
          <p:nvPr>
            <p:ph idx="1"/>
          </p:nvPr>
        </p:nvSpPr>
        <p:spPr>
          <a:xfrm>
            <a:off x="1144748" y="1869662"/>
            <a:ext cx="10058399" cy="4446078"/>
          </a:xfrm>
        </p:spPr>
        <p:txBody>
          <a:bodyPr>
            <a:normAutofit fontScale="92500" lnSpcReduction="10000"/>
          </a:bodyPr>
          <a:lstStyle/>
          <a:p>
            <a:r>
              <a:rPr lang="es-ES" b="1" dirty="0"/>
              <a:t>TCP/IP. Clases de redes</a:t>
            </a:r>
            <a:endParaRPr lang="es-ES" b="1" dirty="0"/>
          </a:p>
          <a:p>
            <a:r>
              <a:rPr lang="es-ES" sz="1700" dirty="0"/>
              <a:t>Dentro de </a:t>
            </a:r>
            <a:r>
              <a:rPr lang="es-ES" sz="1700" i="1" dirty="0"/>
              <a:t>IPv4</a:t>
            </a:r>
            <a:r>
              <a:rPr lang="es-ES" sz="1700" dirty="0"/>
              <a:t> nos encontramos con bloques de direcciones que definen redes, estas se han dividido tradicionalmente en varias clases, cada una de ellas destinadas a un tamaño de red.</a:t>
            </a:r>
            <a:endParaRPr lang="es-ES" sz="1700" dirty="0"/>
          </a:p>
          <a:p>
            <a:endParaRPr lang="es-ES" b="1" dirty="0"/>
          </a:p>
          <a:p>
            <a:endParaRPr lang="es-ES" b="1" dirty="0"/>
          </a:p>
          <a:p>
            <a:endParaRPr lang="es-ES" b="1" dirty="0"/>
          </a:p>
          <a:p>
            <a:r>
              <a:rPr lang="es-ES" sz="1700" dirty="0"/>
              <a:t>Los rangos de direcciones privadas reservados en cada clase son los siguientes. (Estos rangos de </a:t>
            </a:r>
            <a:r>
              <a:rPr lang="es-ES" sz="1700" i="1" dirty="0"/>
              <a:t>IP</a:t>
            </a:r>
            <a:r>
              <a:rPr lang="es-ES" sz="1700" dirty="0"/>
              <a:t> reservadas se conocen como direcciones </a:t>
            </a:r>
            <a:r>
              <a:rPr lang="es-ES" sz="1700" b="1" dirty="0"/>
              <a:t>RFC1918)</a:t>
            </a:r>
            <a:r>
              <a:rPr lang="es-ES" sz="1700" dirty="0"/>
              <a:t>:</a:t>
            </a:r>
            <a:endParaRPr lang="es-ES" sz="1700" dirty="0"/>
          </a:p>
          <a:p>
            <a:pPr>
              <a:spcBef>
                <a:spcPts val="600"/>
              </a:spcBef>
              <a:buFont typeface="Arial" panose="020B0604020202020204" pitchFamily="34" charset="0"/>
              <a:buChar char="•"/>
            </a:pPr>
            <a:r>
              <a:rPr lang="es-ES" sz="1700" b="1" dirty="0"/>
              <a:t>Clase A: </a:t>
            </a:r>
            <a:r>
              <a:rPr lang="es-ES" sz="1700" dirty="0"/>
              <a:t>10.0.0.0 – 10.255.255.255</a:t>
            </a:r>
            <a:endParaRPr lang="es-ES" sz="1700" dirty="0"/>
          </a:p>
          <a:p>
            <a:pPr>
              <a:spcBef>
                <a:spcPts val="600"/>
              </a:spcBef>
              <a:buFont typeface="Arial" panose="020B0604020202020204" pitchFamily="34" charset="0"/>
              <a:buChar char="•"/>
            </a:pPr>
            <a:r>
              <a:rPr lang="es-ES" sz="1700" b="1" dirty="0"/>
              <a:t>Clase B: </a:t>
            </a:r>
            <a:r>
              <a:rPr lang="es-ES" sz="1700" dirty="0"/>
              <a:t>172.16.0.0 – 172.31.255.255</a:t>
            </a:r>
            <a:endParaRPr lang="es-ES" sz="1700" dirty="0"/>
          </a:p>
          <a:p>
            <a:pPr>
              <a:spcBef>
                <a:spcPts val="600"/>
              </a:spcBef>
              <a:buFont typeface="Arial" panose="020B0604020202020204" pitchFamily="34" charset="0"/>
              <a:buChar char="•"/>
            </a:pPr>
            <a:r>
              <a:rPr lang="es-ES" sz="1700" b="1" dirty="0"/>
              <a:t>Clase C: </a:t>
            </a:r>
            <a:r>
              <a:rPr lang="es-ES" sz="1700" dirty="0"/>
              <a:t>192.168.0.0 – 192.168.255.255</a:t>
            </a:r>
            <a:endParaRPr lang="es-ES" sz="1700" dirty="0"/>
          </a:p>
          <a:p>
            <a:endParaRPr lang="es-ES" b="1" dirty="0"/>
          </a:p>
          <a:p>
            <a:endParaRPr lang="es-ES" b="1" dirty="0"/>
          </a:p>
          <a:p>
            <a:endParaRPr lang="es-ES" b="1" dirty="0"/>
          </a:p>
        </p:txBody>
      </p:sp>
      <p:pic>
        <p:nvPicPr>
          <p:cNvPr id="8194" name="Picture 2" descr="subredes"/>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226508" y="2933701"/>
            <a:ext cx="5738984" cy="158114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854765"/>
            <a:ext cx="10058400" cy="882595"/>
          </a:xfrm>
        </p:spPr>
        <p:txBody>
          <a:bodyPr/>
          <a:lstStyle/>
          <a:p>
            <a:r>
              <a:rPr lang="es-ES" dirty="0"/>
              <a:t>LA RED</a:t>
            </a:r>
            <a:endParaRPr lang="es-ES" dirty="0"/>
          </a:p>
        </p:txBody>
      </p:sp>
      <p:sp>
        <p:nvSpPr>
          <p:cNvPr id="3" name="Marcador de contenido 2"/>
          <p:cNvSpPr>
            <a:spLocks noGrp="1"/>
          </p:cNvSpPr>
          <p:nvPr>
            <p:ph idx="1"/>
          </p:nvPr>
        </p:nvSpPr>
        <p:spPr>
          <a:xfrm>
            <a:off x="1144748" y="1869662"/>
            <a:ext cx="10802610" cy="4398791"/>
          </a:xfrm>
        </p:spPr>
        <p:txBody>
          <a:bodyPr>
            <a:normAutofit/>
          </a:bodyPr>
          <a:lstStyle/>
          <a:p>
            <a:r>
              <a:rPr lang="es-ES" b="1" dirty="0"/>
              <a:t>TCP/IP. </a:t>
            </a:r>
            <a:endParaRPr lang="es-ES" b="1" dirty="0"/>
          </a:p>
          <a:p>
            <a:endParaRPr lang="es-ES" b="1" dirty="0"/>
          </a:p>
          <a:p>
            <a:endParaRPr lang="es-ES" b="1" dirty="0"/>
          </a:p>
        </p:txBody>
      </p:sp>
      <p:pic>
        <p:nvPicPr>
          <p:cNvPr id="5" name="Imagen 4"/>
          <p:cNvPicPr>
            <a:picLocks noChangeAspect="1"/>
          </p:cNvPicPr>
          <p:nvPr/>
        </p:nvPicPr>
        <p:blipFill>
          <a:blip r:embed="rId1"/>
          <a:stretch>
            <a:fillRect/>
          </a:stretch>
        </p:blipFill>
        <p:spPr>
          <a:xfrm>
            <a:off x="1144748" y="2286000"/>
            <a:ext cx="10296525" cy="34480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854765"/>
            <a:ext cx="10058400" cy="882595"/>
          </a:xfrm>
        </p:spPr>
        <p:txBody>
          <a:bodyPr/>
          <a:lstStyle/>
          <a:p>
            <a:r>
              <a:rPr lang="es-ES" dirty="0"/>
              <a:t>LA RED</a:t>
            </a:r>
            <a:endParaRPr lang="es-ES" dirty="0"/>
          </a:p>
        </p:txBody>
      </p:sp>
      <p:sp>
        <p:nvSpPr>
          <p:cNvPr id="3" name="Marcador de contenido 2"/>
          <p:cNvSpPr>
            <a:spLocks noGrp="1"/>
          </p:cNvSpPr>
          <p:nvPr>
            <p:ph idx="1"/>
          </p:nvPr>
        </p:nvSpPr>
        <p:spPr>
          <a:xfrm>
            <a:off x="1144748" y="1869662"/>
            <a:ext cx="10802610" cy="4398791"/>
          </a:xfrm>
        </p:spPr>
        <p:txBody>
          <a:bodyPr>
            <a:normAutofit fontScale="70000" lnSpcReduction="20000"/>
          </a:bodyPr>
          <a:lstStyle/>
          <a:p>
            <a:r>
              <a:rPr lang="es-ES" sz="2300" b="1" dirty="0"/>
              <a:t>TCP/IP.  </a:t>
            </a:r>
            <a:r>
              <a:rPr lang="es-ES" sz="2300" b="1" dirty="0" err="1"/>
              <a:t>Subnetting</a:t>
            </a:r>
            <a:endParaRPr lang="es-ES" sz="2300" b="1" dirty="0"/>
          </a:p>
          <a:p>
            <a:r>
              <a:rPr lang="es-ES" sz="2000" dirty="0"/>
              <a:t> Para calcular la máscara de subred, primero debe determinar cuántas máquinas quiere integrar en ella. Una red de clase C permite integrar 254 máquinas (0 y 255 están reservados). Desea crear redes que contienen 60 máquinas. Añada 2 a este valor para las direcciones reservadas (dirección de la subred y dirección de broadcast), lo que da </a:t>
            </a:r>
            <a:r>
              <a:rPr lang="es-ES" sz="2000" b="1" dirty="0"/>
              <a:t>62</a:t>
            </a:r>
            <a:r>
              <a:rPr lang="es-ES" sz="2000" dirty="0"/>
              <a:t>.</a:t>
            </a:r>
            <a:endParaRPr lang="es-ES" sz="2000" dirty="0"/>
          </a:p>
          <a:p>
            <a:r>
              <a:rPr lang="es-ES" sz="2000" dirty="0"/>
              <a:t> Una vez determinado el número de máquinas, encuentre la potencia de dos, exacta o superior al número encontrado. 2 elevado a 6 da </a:t>
            </a:r>
            <a:r>
              <a:rPr lang="es-ES" sz="2000" b="1" dirty="0"/>
              <a:t>64</a:t>
            </a:r>
            <a:r>
              <a:rPr lang="es-ES" sz="2000" dirty="0"/>
              <a:t>.</a:t>
            </a:r>
            <a:endParaRPr lang="es-ES" sz="2000" dirty="0"/>
          </a:p>
          <a:p>
            <a:r>
              <a:rPr lang="es-ES" sz="2000" dirty="0"/>
              <a:t> Escriba la máscara en binario, coloque todos los bits de la máscara de red de clase C a 1, y coloque a 0 los 6 primeros bits de la máscara correspondiente a la parte máquina: </a:t>
            </a:r>
            <a:r>
              <a:rPr lang="es-ES" sz="2000" b="1" dirty="0"/>
              <a:t>11111111 11111111 11111111 11000000</a:t>
            </a:r>
            <a:endParaRPr lang="es-ES" sz="2000" dirty="0"/>
          </a:p>
          <a:p>
            <a:pPr>
              <a:spcAft>
                <a:spcPts val="600"/>
              </a:spcAft>
            </a:pPr>
            <a:r>
              <a:rPr lang="es-ES" sz="2000" dirty="0"/>
              <a:t> Convierta esta máscara en decimal: </a:t>
            </a:r>
            <a:r>
              <a:rPr lang="es-ES" sz="2000" b="1" dirty="0"/>
              <a:t>255.255.255.192</a:t>
            </a:r>
            <a:r>
              <a:rPr lang="es-ES" sz="2000" dirty="0"/>
              <a:t>, y calcule el conjunto de las subredes posibles. Como está en una red de clase C, todavía puede hacer variar los dos últimos bits de la parte máquina:</a:t>
            </a:r>
            <a:endParaRPr lang="es-ES" sz="2000" dirty="0"/>
          </a:p>
          <a:p>
            <a:pPr lvl="1"/>
            <a:r>
              <a:rPr lang="es-ES" sz="2000" dirty="0"/>
              <a:t>00xxxxxx: 255.255.255.0</a:t>
            </a:r>
            <a:endParaRPr lang="es-ES" sz="2000" dirty="0"/>
          </a:p>
          <a:p>
            <a:pPr lvl="1"/>
            <a:r>
              <a:rPr lang="es-ES" sz="2000" dirty="0"/>
              <a:t>01xxxxxx: 255.255.255.64</a:t>
            </a:r>
            <a:endParaRPr lang="es-ES" sz="2000" dirty="0"/>
          </a:p>
          <a:p>
            <a:pPr lvl="1"/>
            <a:r>
              <a:rPr lang="es-ES" sz="2000" dirty="0"/>
              <a:t>10xxxxxx: 255.255.255.128</a:t>
            </a:r>
            <a:endParaRPr lang="es-ES" sz="2000" dirty="0"/>
          </a:p>
          <a:p>
            <a:pPr lvl="1"/>
            <a:r>
              <a:rPr lang="es-ES" sz="2000" dirty="0"/>
              <a:t>11xxxxxx: 255.255.255.192</a:t>
            </a:r>
            <a:endParaRPr lang="es-ES" sz="2000" dirty="0"/>
          </a:p>
          <a:p>
            <a:endParaRPr lang="es-ES" b="1" dirty="0"/>
          </a:p>
          <a:p>
            <a:endParaRPr lang="es-ES" b="1"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854765"/>
            <a:ext cx="10058400" cy="882595"/>
          </a:xfrm>
        </p:spPr>
        <p:txBody>
          <a:bodyPr/>
          <a:lstStyle/>
          <a:p>
            <a:r>
              <a:rPr lang="es-ES" dirty="0"/>
              <a:t>LA RED</a:t>
            </a:r>
            <a:endParaRPr lang="es-ES" dirty="0"/>
          </a:p>
        </p:txBody>
      </p:sp>
      <p:sp>
        <p:nvSpPr>
          <p:cNvPr id="3" name="Marcador de contenido 2"/>
          <p:cNvSpPr>
            <a:spLocks noGrp="1"/>
          </p:cNvSpPr>
          <p:nvPr>
            <p:ph idx="1"/>
          </p:nvPr>
        </p:nvSpPr>
        <p:spPr>
          <a:xfrm>
            <a:off x="1144748" y="1869662"/>
            <a:ext cx="10802610" cy="4398791"/>
          </a:xfrm>
        </p:spPr>
        <p:txBody>
          <a:bodyPr>
            <a:normAutofit fontScale="85000" lnSpcReduction="10000"/>
          </a:bodyPr>
          <a:lstStyle/>
          <a:p>
            <a:r>
              <a:rPr lang="es-ES" b="1" dirty="0"/>
              <a:t>TCP/IP.  </a:t>
            </a:r>
            <a:r>
              <a:rPr lang="es-ES" b="1" dirty="0" err="1"/>
              <a:t>Subnetting</a:t>
            </a:r>
            <a:endParaRPr lang="es-ES" b="1" dirty="0"/>
          </a:p>
          <a:p>
            <a:r>
              <a:rPr lang="es-ES" dirty="0"/>
              <a:t>Las direcciones </a:t>
            </a:r>
            <a:r>
              <a:rPr lang="es-ES" i="1" dirty="0"/>
              <a:t>IP</a:t>
            </a:r>
            <a:r>
              <a:rPr lang="es-ES" dirty="0"/>
              <a:t> están divididas en dos bloques, definidos por su máscara de red. El primer bloque define la dirección de la red a la que esta pertenece y  es representada con valores 1 binarios en su máscara de red, mientras que la segunda parte, porción de host, identifica a un host específico dentro de la red y es determinada en función de los valores 0 binarios de la máscara de red, esta porción determina el número máximo de host que podremos anidar a la red. Vamos a seguir un ejemplo a modo de explicación. Supongamos que tenemos la siguiente </a:t>
            </a:r>
            <a:r>
              <a:rPr lang="es-ES" i="1" dirty="0"/>
              <a:t>IP</a:t>
            </a:r>
            <a:r>
              <a:rPr lang="es-ES" dirty="0"/>
              <a:t> y </a:t>
            </a:r>
            <a:r>
              <a:rPr lang="es-ES" i="1" dirty="0" err="1"/>
              <a:t>netmask</a:t>
            </a:r>
            <a:r>
              <a:rPr lang="es-ES" dirty="0"/>
              <a:t>.</a:t>
            </a:r>
            <a:endParaRPr lang="es-ES" dirty="0"/>
          </a:p>
          <a:p>
            <a:r>
              <a:rPr lang="es-ES" b="1" dirty="0"/>
              <a:t>Nota</a:t>
            </a:r>
            <a:r>
              <a:rPr lang="es-ES" dirty="0"/>
              <a:t>: Hemos añadido una segunda </a:t>
            </a:r>
            <a:r>
              <a:rPr lang="es-ES" i="1" dirty="0" err="1"/>
              <a:t>netmask</a:t>
            </a:r>
            <a:r>
              <a:rPr lang="es-ES" dirty="0"/>
              <a:t> (</a:t>
            </a:r>
            <a:r>
              <a:rPr lang="es-ES" i="1" dirty="0"/>
              <a:t>B</a:t>
            </a:r>
            <a:r>
              <a:rPr lang="es-ES" dirty="0"/>
              <a:t>) de tipo CIDR para duplicar el ejemplo y afianzar los conocimientos.</a:t>
            </a:r>
            <a:endParaRPr lang="es-ES" dirty="0"/>
          </a:p>
          <a:p>
            <a:pPr lvl="1"/>
            <a:r>
              <a:rPr lang="es-ES" dirty="0"/>
              <a:t>Dirección IP: </a:t>
            </a:r>
            <a:r>
              <a:rPr lang="es-ES" i="1" dirty="0"/>
              <a:t>172.30.9.102</a:t>
            </a:r>
            <a:endParaRPr lang="es-ES" dirty="0"/>
          </a:p>
          <a:p>
            <a:pPr lvl="1"/>
            <a:r>
              <a:rPr lang="es-ES" dirty="0"/>
              <a:t>Máscara de red: </a:t>
            </a:r>
            <a:r>
              <a:rPr lang="es-ES" i="1" dirty="0"/>
              <a:t>255.255.0.0</a:t>
            </a:r>
            <a:endParaRPr lang="es-ES" dirty="0"/>
          </a:p>
          <a:p>
            <a:pPr lvl="1"/>
            <a:r>
              <a:rPr lang="es-ES" dirty="0"/>
              <a:t>Una máscara de red </a:t>
            </a:r>
            <a:r>
              <a:rPr lang="es-ES" i="1" dirty="0"/>
              <a:t>CIDR</a:t>
            </a:r>
            <a:r>
              <a:rPr lang="es-ES" dirty="0"/>
              <a:t> (B): </a:t>
            </a:r>
            <a:r>
              <a:rPr lang="es-ES" i="1" dirty="0"/>
              <a:t>255.255.255.224</a:t>
            </a:r>
            <a:endParaRPr lang="es-ES" dirty="0"/>
          </a:p>
          <a:p>
            <a:r>
              <a:rPr lang="es-ES" b="1" dirty="0"/>
              <a:t>Importante</a:t>
            </a:r>
            <a:r>
              <a:rPr lang="es-ES" dirty="0"/>
              <a:t>: Las máscara de red pueden representarse igualmente de la siguiente manera:</a:t>
            </a:r>
            <a:endParaRPr lang="es-ES" dirty="0"/>
          </a:p>
          <a:p>
            <a:pPr lvl="1"/>
            <a:r>
              <a:rPr lang="es-ES" dirty="0"/>
              <a:t>Dirección IP y </a:t>
            </a:r>
            <a:r>
              <a:rPr lang="es-ES" dirty="0" err="1"/>
              <a:t>netmask</a:t>
            </a:r>
            <a:r>
              <a:rPr lang="es-ES" dirty="0"/>
              <a:t>: 172.30.9.102</a:t>
            </a:r>
            <a:r>
              <a:rPr lang="es-ES" b="1" dirty="0"/>
              <a:t>/16</a:t>
            </a:r>
            <a:endParaRPr lang="es-ES" dirty="0"/>
          </a:p>
          <a:p>
            <a:pPr lvl="1"/>
            <a:r>
              <a:rPr lang="es-ES" dirty="0"/>
              <a:t>Dirección IP y </a:t>
            </a:r>
            <a:r>
              <a:rPr lang="es-ES" dirty="0" err="1"/>
              <a:t>netmask</a:t>
            </a:r>
            <a:r>
              <a:rPr lang="es-ES" dirty="0"/>
              <a:t> </a:t>
            </a:r>
            <a:r>
              <a:rPr lang="es-ES" i="1" dirty="0"/>
              <a:t>CIDR</a:t>
            </a:r>
            <a:r>
              <a:rPr lang="es-ES" dirty="0"/>
              <a:t> (B): 172.30.9.102</a:t>
            </a:r>
            <a:r>
              <a:rPr lang="es-ES" b="1" dirty="0"/>
              <a:t>/27</a:t>
            </a:r>
            <a:endParaRPr lang="es-ES" dirty="0"/>
          </a:p>
          <a:p>
            <a:endParaRPr lang="es-ES" b="1" dirty="0"/>
          </a:p>
          <a:p>
            <a:endParaRPr lang="es-ES" b="1" dirty="0"/>
          </a:p>
          <a:p>
            <a:endParaRPr lang="es-ES" b="1"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854765"/>
            <a:ext cx="10058400" cy="882595"/>
          </a:xfrm>
        </p:spPr>
        <p:txBody>
          <a:bodyPr/>
          <a:lstStyle/>
          <a:p>
            <a:r>
              <a:rPr lang="es-ES" dirty="0"/>
              <a:t>LA RED</a:t>
            </a:r>
            <a:endParaRPr lang="es-ES" dirty="0"/>
          </a:p>
        </p:txBody>
      </p:sp>
      <p:sp>
        <p:nvSpPr>
          <p:cNvPr id="3" name="Marcador de contenido 2"/>
          <p:cNvSpPr>
            <a:spLocks noGrp="1"/>
          </p:cNvSpPr>
          <p:nvPr>
            <p:ph idx="1"/>
          </p:nvPr>
        </p:nvSpPr>
        <p:spPr>
          <a:xfrm>
            <a:off x="1144748" y="1869662"/>
            <a:ext cx="10802610" cy="4398791"/>
          </a:xfrm>
        </p:spPr>
        <p:txBody>
          <a:bodyPr>
            <a:normAutofit fontScale="77500" lnSpcReduction="20000"/>
          </a:bodyPr>
          <a:lstStyle/>
          <a:p>
            <a:r>
              <a:rPr lang="es-ES" b="1" dirty="0"/>
              <a:t>TCP/IP.  </a:t>
            </a:r>
            <a:r>
              <a:rPr lang="es-ES" b="1" dirty="0" err="1"/>
              <a:t>Subnetting</a:t>
            </a:r>
            <a:endParaRPr lang="es-ES" b="1" dirty="0"/>
          </a:p>
          <a:p>
            <a:pPr marL="292735" lvl="1" indent="0" eaLnBrk="0" fontAlgn="base" hangingPunct="0">
              <a:buNone/>
            </a:pPr>
            <a:r>
              <a:rPr lang="es-ES" altLang="es-ES" sz="1800" dirty="0">
                <a:solidFill>
                  <a:srgbClr val="333333"/>
                </a:solidFill>
              </a:rPr>
              <a:t>Lo primero que deberemos de hacer será pasar a binario estos números.</a:t>
            </a:r>
            <a:endParaRPr lang="es-ES" altLang="es-ES" sz="1800" dirty="0">
              <a:solidFill>
                <a:schemeClr val="tx1"/>
              </a:solidFill>
            </a:endParaRPr>
          </a:p>
          <a:p>
            <a:pPr marL="292735" lvl="1" indent="0" eaLnBrk="0" fontAlgn="base" hangingPunct="0">
              <a:buFontTx/>
              <a:buChar char="•"/>
            </a:pPr>
            <a:r>
              <a:rPr lang="es-ES" altLang="es-ES" sz="1800" b="1" dirty="0">
                <a:solidFill>
                  <a:srgbClr val="333333"/>
                </a:solidFill>
              </a:rPr>
              <a:t>Dirección IP</a:t>
            </a:r>
            <a:r>
              <a:rPr lang="es-ES" altLang="es-ES" sz="1800" dirty="0">
                <a:solidFill>
                  <a:srgbClr val="333333"/>
                </a:solidFill>
              </a:rPr>
              <a:t>: </a:t>
            </a:r>
            <a:r>
              <a:rPr lang="es-ES" altLang="es-ES" sz="1800" i="1" dirty="0">
                <a:solidFill>
                  <a:srgbClr val="333333"/>
                </a:solidFill>
              </a:rPr>
              <a:t>10101100</a:t>
            </a:r>
            <a:r>
              <a:rPr lang="es-ES" altLang="es-ES" sz="1800" b="1" i="1" dirty="0">
                <a:solidFill>
                  <a:srgbClr val="333333"/>
                </a:solidFill>
              </a:rPr>
              <a:t>.</a:t>
            </a:r>
            <a:r>
              <a:rPr lang="es-ES" altLang="es-ES" sz="1800" i="1" dirty="0">
                <a:solidFill>
                  <a:srgbClr val="333333"/>
                </a:solidFill>
              </a:rPr>
              <a:t>00011110</a:t>
            </a:r>
            <a:r>
              <a:rPr lang="es-ES" altLang="es-ES" sz="1800" b="1" i="1" dirty="0">
                <a:solidFill>
                  <a:srgbClr val="333333"/>
                </a:solidFill>
              </a:rPr>
              <a:t>.</a:t>
            </a:r>
            <a:r>
              <a:rPr lang="es-ES" altLang="es-ES" sz="1800" i="1" dirty="0">
                <a:solidFill>
                  <a:srgbClr val="333333"/>
                </a:solidFill>
              </a:rPr>
              <a:t>00001001</a:t>
            </a:r>
            <a:r>
              <a:rPr lang="es-ES" altLang="es-ES" sz="1800" b="1" i="1" dirty="0">
                <a:solidFill>
                  <a:srgbClr val="333333"/>
                </a:solidFill>
              </a:rPr>
              <a:t>.</a:t>
            </a:r>
            <a:r>
              <a:rPr lang="es-ES" altLang="es-ES" sz="1800" i="1" dirty="0">
                <a:solidFill>
                  <a:srgbClr val="333333"/>
                </a:solidFill>
              </a:rPr>
              <a:t>01100110</a:t>
            </a:r>
            <a:endParaRPr lang="es-ES" altLang="es-ES" sz="1800" dirty="0">
              <a:solidFill>
                <a:srgbClr val="333333"/>
              </a:solidFill>
            </a:endParaRPr>
          </a:p>
          <a:p>
            <a:pPr marL="292735" lvl="1" indent="0" eaLnBrk="0" fontAlgn="base" hangingPunct="0">
              <a:buFontTx/>
              <a:buChar char="•"/>
            </a:pPr>
            <a:r>
              <a:rPr lang="es-ES" altLang="es-ES" sz="1800" b="1" dirty="0">
                <a:solidFill>
                  <a:srgbClr val="333333"/>
                </a:solidFill>
              </a:rPr>
              <a:t>Máscara de red</a:t>
            </a:r>
            <a:r>
              <a:rPr lang="es-ES" altLang="es-ES" sz="1800" dirty="0">
                <a:solidFill>
                  <a:srgbClr val="333333"/>
                </a:solidFill>
              </a:rPr>
              <a:t>:</a:t>
            </a:r>
            <a:r>
              <a:rPr lang="es-ES" altLang="es-ES" sz="1800" i="1" dirty="0">
                <a:solidFill>
                  <a:srgbClr val="0000FF"/>
                </a:solidFill>
              </a:rPr>
              <a:t> 11111111</a:t>
            </a:r>
            <a:r>
              <a:rPr lang="es-ES" altLang="es-ES" sz="1800" b="1" i="1" dirty="0">
                <a:solidFill>
                  <a:srgbClr val="0000FF"/>
                </a:solidFill>
              </a:rPr>
              <a:t>.</a:t>
            </a:r>
            <a:r>
              <a:rPr lang="es-ES" altLang="es-ES" sz="1800" i="1" dirty="0">
                <a:solidFill>
                  <a:srgbClr val="0000FF"/>
                </a:solidFill>
              </a:rPr>
              <a:t>11111111</a:t>
            </a:r>
            <a:r>
              <a:rPr lang="es-ES" altLang="es-ES" sz="1800" b="1" i="1" dirty="0">
                <a:solidFill>
                  <a:srgbClr val="333333"/>
                </a:solidFill>
              </a:rPr>
              <a:t>.</a:t>
            </a:r>
            <a:r>
              <a:rPr lang="es-ES" altLang="es-ES" sz="1800" i="1" dirty="0">
                <a:solidFill>
                  <a:srgbClr val="993300"/>
                </a:solidFill>
              </a:rPr>
              <a:t>00000000</a:t>
            </a:r>
            <a:r>
              <a:rPr lang="es-ES" altLang="es-ES" sz="1800" b="1" i="1" dirty="0">
                <a:solidFill>
                  <a:srgbClr val="993300"/>
                </a:solidFill>
              </a:rPr>
              <a:t>.</a:t>
            </a:r>
            <a:r>
              <a:rPr lang="es-ES" altLang="es-ES" sz="1800" i="1" dirty="0">
                <a:solidFill>
                  <a:srgbClr val="993300"/>
                </a:solidFill>
              </a:rPr>
              <a:t>00000000</a:t>
            </a:r>
            <a:endParaRPr lang="es-ES" altLang="es-ES" sz="1800" dirty="0">
              <a:solidFill>
                <a:srgbClr val="333333"/>
              </a:solidFill>
            </a:endParaRPr>
          </a:p>
          <a:p>
            <a:pPr marL="292735" lvl="1" indent="0" eaLnBrk="0" fontAlgn="base" hangingPunct="0">
              <a:buFontTx/>
              <a:buChar char="•"/>
            </a:pPr>
            <a:r>
              <a:rPr lang="es-ES" altLang="es-ES" sz="1800" b="1" dirty="0">
                <a:solidFill>
                  <a:srgbClr val="333333"/>
                </a:solidFill>
              </a:rPr>
              <a:t>Máscara de red CIDR </a:t>
            </a:r>
            <a:r>
              <a:rPr lang="es-ES" altLang="es-ES" sz="1800" dirty="0">
                <a:solidFill>
                  <a:srgbClr val="333333"/>
                </a:solidFill>
              </a:rPr>
              <a:t>(B): </a:t>
            </a:r>
            <a:r>
              <a:rPr lang="es-ES" altLang="es-ES" sz="1800" i="1" dirty="0">
                <a:solidFill>
                  <a:srgbClr val="0000FF"/>
                </a:solidFill>
              </a:rPr>
              <a:t>11111111</a:t>
            </a:r>
            <a:r>
              <a:rPr lang="es-ES" altLang="es-ES" sz="1800" b="1" i="1" dirty="0">
                <a:solidFill>
                  <a:srgbClr val="0000FF"/>
                </a:solidFill>
              </a:rPr>
              <a:t>.</a:t>
            </a:r>
            <a:r>
              <a:rPr lang="es-ES" altLang="es-ES" sz="1800" i="1" dirty="0">
                <a:solidFill>
                  <a:srgbClr val="0000FF"/>
                </a:solidFill>
              </a:rPr>
              <a:t>11111111</a:t>
            </a:r>
            <a:r>
              <a:rPr lang="es-ES" altLang="es-ES" sz="1800" b="1" i="1" dirty="0">
                <a:solidFill>
                  <a:srgbClr val="0000FF"/>
                </a:solidFill>
              </a:rPr>
              <a:t>.</a:t>
            </a:r>
            <a:r>
              <a:rPr lang="es-ES" altLang="es-ES" sz="1800" i="1" dirty="0">
                <a:solidFill>
                  <a:srgbClr val="0000FF"/>
                </a:solidFill>
              </a:rPr>
              <a:t>11111111</a:t>
            </a:r>
            <a:r>
              <a:rPr lang="es-ES" altLang="es-ES" sz="1800" b="1" i="1" dirty="0">
                <a:solidFill>
                  <a:srgbClr val="0000FF"/>
                </a:solidFill>
              </a:rPr>
              <a:t>.</a:t>
            </a:r>
            <a:r>
              <a:rPr lang="es-ES" altLang="es-ES" sz="1800" i="1" dirty="0">
                <a:solidFill>
                  <a:srgbClr val="0000FF"/>
                </a:solidFill>
              </a:rPr>
              <a:t>111</a:t>
            </a:r>
            <a:r>
              <a:rPr lang="es-ES" altLang="es-ES" sz="1800" i="1" dirty="0">
                <a:solidFill>
                  <a:srgbClr val="993300"/>
                </a:solidFill>
              </a:rPr>
              <a:t>00000</a:t>
            </a:r>
            <a:endParaRPr lang="es-ES" altLang="es-ES" sz="1800" i="1" dirty="0">
              <a:solidFill>
                <a:srgbClr val="333333"/>
              </a:solidFill>
            </a:endParaRPr>
          </a:p>
          <a:p>
            <a:pPr marL="292735" lvl="1" indent="0" eaLnBrk="0" fontAlgn="base" hangingPunct="0">
              <a:buNone/>
            </a:pPr>
            <a:r>
              <a:rPr lang="es-ES" altLang="es-ES" sz="1800" b="1" dirty="0">
                <a:solidFill>
                  <a:srgbClr val="333333"/>
                </a:solidFill>
              </a:rPr>
              <a:t>Nota</a:t>
            </a:r>
            <a:r>
              <a:rPr lang="es-ES" altLang="es-ES" sz="1800" dirty="0">
                <a:solidFill>
                  <a:srgbClr val="333333"/>
                </a:solidFill>
              </a:rPr>
              <a:t>: La parte </a:t>
            </a:r>
            <a:r>
              <a:rPr lang="es-ES" altLang="es-ES" sz="1800" dirty="0">
                <a:solidFill>
                  <a:srgbClr val="0000FF"/>
                </a:solidFill>
              </a:rPr>
              <a:t>Azul</a:t>
            </a:r>
            <a:r>
              <a:rPr lang="es-ES" altLang="es-ES" sz="1800" dirty="0">
                <a:solidFill>
                  <a:srgbClr val="333333"/>
                </a:solidFill>
              </a:rPr>
              <a:t> representa la porción de red mientras que la parte </a:t>
            </a:r>
            <a:r>
              <a:rPr lang="es-ES" altLang="es-ES" sz="1800" dirty="0">
                <a:solidFill>
                  <a:srgbClr val="993300"/>
                </a:solidFill>
              </a:rPr>
              <a:t>roja</a:t>
            </a:r>
            <a:r>
              <a:rPr lang="es-ES" altLang="es-ES" sz="1800" dirty="0">
                <a:solidFill>
                  <a:srgbClr val="333333"/>
                </a:solidFill>
              </a:rPr>
              <a:t> indica la porción de host.</a:t>
            </a:r>
            <a:endParaRPr lang="es-ES" altLang="es-ES" sz="1800" dirty="0">
              <a:solidFill>
                <a:schemeClr val="tx1"/>
              </a:solidFill>
            </a:endParaRPr>
          </a:p>
          <a:p>
            <a:pPr marL="292735" lvl="1" indent="0" eaLnBrk="0" fontAlgn="base" hangingPunct="0">
              <a:buNone/>
            </a:pPr>
            <a:r>
              <a:rPr lang="es-ES" altLang="es-ES" sz="1800" dirty="0">
                <a:solidFill>
                  <a:srgbClr val="333333"/>
                </a:solidFill>
              </a:rPr>
              <a:t>De momento se ve claro el porque del</a:t>
            </a:r>
            <a:r>
              <a:rPr lang="es-ES" altLang="es-ES" sz="1800" b="1" dirty="0">
                <a:solidFill>
                  <a:srgbClr val="333333"/>
                </a:solidFill>
              </a:rPr>
              <a:t> /16</a:t>
            </a:r>
            <a:r>
              <a:rPr lang="es-ES" altLang="es-ES" sz="1800" dirty="0">
                <a:solidFill>
                  <a:srgbClr val="333333"/>
                </a:solidFill>
              </a:rPr>
              <a:t> o </a:t>
            </a:r>
            <a:r>
              <a:rPr lang="es-ES" altLang="es-ES" sz="1800" b="1" dirty="0">
                <a:solidFill>
                  <a:srgbClr val="333333"/>
                </a:solidFill>
              </a:rPr>
              <a:t>/27</a:t>
            </a:r>
            <a:r>
              <a:rPr lang="es-ES" altLang="es-ES" sz="1800" dirty="0">
                <a:solidFill>
                  <a:srgbClr val="333333"/>
                </a:solidFill>
              </a:rPr>
              <a:t>, solo hay que contar los números 1 de las máscara de red anteriores. Ahora para conocer la IP de red y el número máximo de host deberemos de igualar de la siguiente manera estos números binarios:</a:t>
            </a:r>
            <a:endParaRPr lang="es-ES" altLang="es-ES" sz="1800" dirty="0">
              <a:solidFill>
                <a:schemeClr val="tx1"/>
              </a:solidFill>
            </a:endParaRPr>
          </a:p>
          <a:p>
            <a:pPr marL="292735" lvl="1" indent="0" eaLnBrk="0" fontAlgn="base" hangingPunct="0">
              <a:spcBef>
                <a:spcPts val="400"/>
              </a:spcBef>
              <a:buNone/>
            </a:pPr>
            <a:r>
              <a:rPr lang="es-ES" altLang="es-ES" sz="1800" dirty="0">
                <a:solidFill>
                  <a:srgbClr val="0000FF"/>
                </a:solidFill>
              </a:rPr>
              <a:t>11111111</a:t>
            </a:r>
            <a:r>
              <a:rPr lang="es-ES" altLang="es-ES" sz="1800" b="1" dirty="0">
                <a:solidFill>
                  <a:srgbClr val="000000"/>
                </a:solidFill>
              </a:rPr>
              <a:t>.</a:t>
            </a:r>
            <a:r>
              <a:rPr lang="es-ES" altLang="es-ES" sz="1800" dirty="0">
                <a:solidFill>
                  <a:srgbClr val="0000FF"/>
                </a:solidFill>
              </a:rPr>
              <a:t>11111111</a:t>
            </a:r>
            <a:r>
              <a:rPr lang="es-ES" altLang="es-ES" sz="1800" b="1" dirty="0">
                <a:solidFill>
                  <a:srgbClr val="333333"/>
                </a:solidFill>
              </a:rPr>
              <a:t>.</a:t>
            </a:r>
            <a:r>
              <a:rPr lang="es-ES" altLang="es-ES" sz="1800" dirty="0">
                <a:solidFill>
                  <a:srgbClr val="993300"/>
                </a:solidFill>
              </a:rPr>
              <a:t>00000000</a:t>
            </a:r>
            <a:r>
              <a:rPr lang="es-ES" altLang="es-ES" sz="1800" b="1" dirty="0">
                <a:solidFill>
                  <a:srgbClr val="993300"/>
                </a:solidFill>
              </a:rPr>
              <a:t>.</a:t>
            </a:r>
            <a:r>
              <a:rPr lang="es-ES" altLang="es-ES" sz="1800" dirty="0">
                <a:solidFill>
                  <a:srgbClr val="993300"/>
                </a:solidFill>
              </a:rPr>
              <a:t>00000000</a:t>
            </a:r>
            <a:r>
              <a:rPr lang="es-ES" altLang="es-ES" sz="1800" dirty="0">
                <a:solidFill>
                  <a:srgbClr val="333333"/>
                </a:solidFill>
              </a:rPr>
              <a:t> -&gt; </a:t>
            </a:r>
            <a:r>
              <a:rPr lang="es-ES" altLang="es-ES" sz="1800" dirty="0" err="1">
                <a:solidFill>
                  <a:srgbClr val="333333"/>
                </a:solidFill>
              </a:rPr>
              <a:t>Netmask</a:t>
            </a:r>
            <a:r>
              <a:rPr lang="es-ES" altLang="es-ES" sz="1800" dirty="0">
                <a:solidFill>
                  <a:srgbClr val="333333"/>
                </a:solidFill>
              </a:rPr>
              <a:t>: </a:t>
            </a:r>
            <a:r>
              <a:rPr lang="es-ES" altLang="es-ES" sz="1800" dirty="0">
                <a:solidFill>
                  <a:srgbClr val="0000FF"/>
                </a:solidFill>
              </a:rPr>
              <a:t>255</a:t>
            </a:r>
            <a:r>
              <a:rPr lang="es-ES" altLang="es-ES" sz="1800" b="1" dirty="0">
                <a:solidFill>
                  <a:srgbClr val="333333"/>
                </a:solidFill>
              </a:rPr>
              <a:t>.</a:t>
            </a:r>
            <a:r>
              <a:rPr lang="es-ES" altLang="es-ES" sz="1800" dirty="0">
                <a:solidFill>
                  <a:srgbClr val="0000FF"/>
                </a:solidFill>
              </a:rPr>
              <a:t>255</a:t>
            </a:r>
            <a:r>
              <a:rPr lang="es-ES" altLang="es-ES" sz="1800" b="1" dirty="0">
                <a:solidFill>
                  <a:srgbClr val="333333"/>
                </a:solidFill>
              </a:rPr>
              <a:t>.</a:t>
            </a:r>
            <a:r>
              <a:rPr lang="es-ES" altLang="es-ES" sz="1800" dirty="0">
                <a:solidFill>
                  <a:srgbClr val="993300"/>
                </a:solidFill>
              </a:rPr>
              <a:t>0</a:t>
            </a:r>
            <a:r>
              <a:rPr lang="es-ES" altLang="es-ES" sz="1800" b="1" dirty="0">
                <a:solidFill>
                  <a:srgbClr val="993300"/>
                </a:solidFill>
              </a:rPr>
              <a:t>.</a:t>
            </a:r>
            <a:r>
              <a:rPr lang="es-ES" altLang="es-ES" sz="1800" dirty="0">
                <a:solidFill>
                  <a:srgbClr val="993300"/>
                </a:solidFill>
              </a:rPr>
              <a:t>0</a:t>
            </a:r>
            <a:endParaRPr lang="es-ES" altLang="es-ES" sz="1800" dirty="0">
              <a:solidFill>
                <a:srgbClr val="333333"/>
              </a:solidFill>
            </a:endParaRPr>
          </a:p>
          <a:p>
            <a:pPr marL="292735" lvl="1" indent="0" eaLnBrk="0" fontAlgn="base" hangingPunct="0">
              <a:spcBef>
                <a:spcPts val="400"/>
              </a:spcBef>
              <a:buNone/>
            </a:pPr>
            <a:r>
              <a:rPr lang="es-ES" altLang="es-ES" sz="1800" dirty="0">
                <a:solidFill>
                  <a:srgbClr val="0000FF"/>
                </a:solidFill>
              </a:rPr>
              <a:t>011010101100.00011110</a:t>
            </a:r>
            <a:r>
              <a:rPr lang="es-ES" altLang="es-ES" sz="1800" dirty="0">
                <a:solidFill>
                  <a:srgbClr val="333333"/>
                </a:solidFill>
              </a:rPr>
              <a:t>.00001001.01100110 -&gt; Red: </a:t>
            </a:r>
            <a:r>
              <a:rPr lang="es-ES" altLang="es-ES" sz="1800" dirty="0">
                <a:solidFill>
                  <a:srgbClr val="0000FF"/>
                </a:solidFill>
              </a:rPr>
              <a:t>172.30</a:t>
            </a:r>
            <a:r>
              <a:rPr lang="es-ES" altLang="es-ES" sz="1800" dirty="0">
                <a:solidFill>
                  <a:srgbClr val="333333"/>
                </a:solidFill>
              </a:rPr>
              <a:t>.0.0</a:t>
            </a:r>
            <a:endParaRPr lang="es-ES" altLang="es-ES" sz="1800" dirty="0">
              <a:solidFill>
                <a:schemeClr val="tx1"/>
              </a:solidFill>
            </a:endParaRPr>
          </a:p>
          <a:p>
            <a:pPr marL="292735" lvl="1" indent="0" eaLnBrk="0" fontAlgn="base" hangingPunct="0">
              <a:spcBef>
                <a:spcPts val="300"/>
              </a:spcBef>
              <a:spcAft>
                <a:spcPts val="300"/>
              </a:spcAft>
              <a:buNone/>
            </a:pPr>
            <a:r>
              <a:rPr lang="es-ES" altLang="es-ES" sz="1800" dirty="0">
                <a:solidFill>
                  <a:srgbClr val="333333"/>
                </a:solidFill>
              </a:rPr>
              <a:t>El número de hosts será de </a:t>
            </a:r>
            <a:r>
              <a:rPr lang="es-ES" altLang="es-ES" sz="1800" b="1" dirty="0">
                <a:solidFill>
                  <a:srgbClr val="333333"/>
                </a:solidFill>
              </a:rPr>
              <a:t>2^16-2</a:t>
            </a:r>
            <a:r>
              <a:rPr lang="es-ES" altLang="es-ES" sz="1800" dirty="0">
                <a:solidFill>
                  <a:srgbClr val="333333"/>
                </a:solidFill>
              </a:rPr>
              <a:t> , pues existen 16 bits con valor 0 que indican la porción de host menos dos que se usan: una para la dirección de red (la primera) y otra para </a:t>
            </a:r>
            <a:r>
              <a:rPr lang="es-ES" altLang="es-ES" sz="1800" i="1" dirty="0">
                <a:solidFill>
                  <a:srgbClr val="333333"/>
                </a:solidFill>
              </a:rPr>
              <a:t>broadcast</a:t>
            </a:r>
            <a:r>
              <a:rPr lang="es-ES" altLang="es-ES" sz="1800" dirty="0">
                <a:solidFill>
                  <a:srgbClr val="333333"/>
                </a:solidFill>
              </a:rPr>
              <a:t> (la última). Un total de 65534 dispositivos podrán ser anidados a la red </a:t>
            </a:r>
            <a:r>
              <a:rPr lang="es-ES" altLang="es-ES" sz="1800" i="1" dirty="0">
                <a:solidFill>
                  <a:srgbClr val="333333"/>
                </a:solidFill>
              </a:rPr>
              <a:t>172.30.0.0</a:t>
            </a:r>
            <a:endParaRPr lang="es-ES" altLang="es-ES" sz="1800" dirty="0">
              <a:solidFill>
                <a:schemeClr val="tx1"/>
              </a:solidFill>
            </a:endParaRPr>
          </a:p>
          <a:p>
            <a:pPr marL="292735" lvl="1" indent="0" eaLnBrk="0" fontAlgn="base" hangingPunct="0">
              <a:buNone/>
            </a:pPr>
            <a:r>
              <a:rPr lang="es-ES" altLang="es-ES" sz="1800" dirty="0">
                <a:solidFill>
                  <a:srgbClr val="333333"/>
                </a:solidFill>
              </a:rPr>
              <a:t>El ejemplo B sería algo mas complicado pero captaremos pronto el concepto. Quedaría algo así:</a:t>
            </a:r>
            <a:endParaRPr lang="es-ES" altLang="es-ES" sz="1800" dirty="0">
              <a:solidFill>
                <a:schemeClr val="tx1"/>
              </a:solidFill>
            </a:endParaRPr>
          </a:p>
          <a:p>
            <a:pPr marL="292735" lvl="1" indent="0" eaLnBrk="0" fontAlgn="base" hangingPunct="0">
              <a:buNone/>
            </a:pPr>
            <a:r>
              <a:rPr lang="es-ES" altLang="es-ES" sz="1800" dirty="0">
                <a:solidFill>
                  <a:srgbClr val="0000FF"/>
                </a:solidFill>
              </a:rPr>
              <a:t>11111111.11111111.11111111.11100000 -&gt; </a:t>
            </a:r>
            <a:r>
              <a:rPr lang="es-ES" altLang="es-ES" sz="1800" b="1" dirty="0" err="1">
                <a:solidFill>
                  <a:srgbClr val="0000FF"/>
                </a:solidFill>
              </a:rPr>
              <a:t>Netmask</a:t>
            </a:r>
            <a:r>
              <a:rPr lang="es-ES" altLang="es-ES" sz="1800" dirty="0">
                <a:solidFill>
                  <a:srgbClr val="0000FF"/>
                </a:solidFill>
              </a:rPr>
              <a:t>: 255.255.255.224</a:t>
            </a:r>
            <a:endParaRPr lang="es-ES" altLang="es-ES" sz="1800" dirty="0">
              <a:solidFill>
                <a:srgbClr val="0000FF"/>
              </a:solidFill>
            </a:endParaRPr>
          </a:p>
          <a:p>
            <a:pPr marL="292735" lvl="1" indent="0" eaLnBrk="0" fontAlgn="base" hangingPunct="0">
              <a:buNone/>
            </a:pPr>
            <a:r>
              <a:rPr lang="es-ES" altLang="es-ES" sz="1800" dirty="0">
                <a:solidFill>
                  <a:srgbClr val="0000FF"/>
                </a:solidFill>
              </a:rPr>
              <a:t>10101100.00011110.00001001.01100110 -&gt; </a:t>
            </a:r>
            <a:r>
              <a:rPr lang="es-ES" altLang="es-ES" sz="1800" b="1" dirty="0">
                <a:solidFill>
                  <a:srgbClr val="0000FF"/>
                </a:solidFill>
              </a:rPr>
              <a:t>Red</a:t>
            </a:r>
            <a:r>
              <a:rPr lang="es-ES" altLang="es-ES" sz="1800" dirty="0">
                <a:solidFill>
                  <a:srgbClr val="0000FF"/>
                </a:solidFill>
              </a:rPr>
              <a:t>: 172.30.9.96</a:t>
            </a:r>
            <a:br>
              <a:rPr lang="es-ES" altLang="es-ES" sz="1800" dirty="0">
                <a:solidFill>
                  <a:srgbClr val="993300"/>
                </a:solidFill>
              </a:rPr>
            </a:br>
            <a:endParaRPr lang="es-ES" altLang="es-ES" sz="1800" dirty="0">
              <a:solidFill>
                <a:schemeClr val="tx1"/>
              </a:solidFill>
            </a:endParaRPr>
          </a:p>
          <a:p>
            <a:pPr marL="292735" lvl="1" indent="0" eaLnBrk="0" fontAlgn="base" hangingPunct="0">
              <a:spcBef>
                <a:spcPct val="0"/>
              </a:spcBef>
              <a:spcAft>
                <a:spcPct val="0"/>
              </a:spcAft>
              <a:buNone/>
            </a:pPr>
            <a:r>
              <a:rPr lang="es-ES" altLang="es-ES" sz="1800" dirty="0">
                <a:solidFill>
                  <a:srgbClr val="333333"/>
                </a:solidFill>
              </a:rPr>
              <a:t>El número de hosts en este caso será de </a:t>
            </a:r>
            <a:r>
              <a:rPr lang="es-ES" altLang="es-ES" sz="1800" b="1" dirty="0">
                <a:solidFill>
                  <a:srgbClr val="333333"/>
                </a:solidFill>
              </a:rPr>
              <a:t>2^5-2</a:t>
            </a:r>
            <a:r>
              <a:rPr lang="es-ES" altLang="es-ES" sz="1800" dirty="0">
                <a:solidFill>
                  <a:srgbClr val="333333"/>
                </a:solidFill>
              </a:rPr>
              <a:t>. Esto define una red mas reducida, útil si queremos mantener el control de redes pequeñas para evitar así el acceso a un gran número de dispositivos para los que realmente no necesitamos acceso.</a:t>
            </a:r>
            <a:endParaRPr lang="es-ES" altLang="es-ES" sz="1800" dirty="0">
              <a:solidFill>
                <a:schemeClr val="tx1"/>
              </a:solidFill>
            </a:endParaRPr>
          </a:p>
          <a:p>
            <a:endParaRPr lang="es-ES" b="1" dirty="0"/>
          </a:p>
          <a:p>
            <a:endParaRPr lang="es-ES" b="1" dirty="0"/>
          </a:p>
          <a:p>
            <a:endParaRPr lang="es-ES" b="1" dirty="0"/>
          </a:p>
        </p:txBody>
      </p:sp>
      <p:sp>
        <p:nvSpPr>
          <p:cNvPr id="4" name="Rectangle 1"/>
          <p:cNvSpPr>
            <a:spLocks noChangeArrowheads="1"/>
          </p:cNvSpPr>
          <p:nvPr/>
        </p:nvSpPr>
        <p:spPr bwMode="auto">
          <a:xfrm>
            <a:off x="0" y="26802"/>
            <a:ext cx="323769" cy="40359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LA RED</a:t>
            </a:r>
            <a:endParaRPr lang="es-ES" dirty="0"/>
          </a:p>
        </p:txBody>
      </p:sp>
      <p:sp>
        <p:nvSpPr>
          <p:cNvPr id="3" name="Marcador de contenido 2"/>
          <p:cNvSpPr>
            <a:spLocks noGrp="1"/>
          </p:cNvSpPr>
          <p:nvPr>
            <p:ph idx="1"/>
          </p:nvPr>
        </p:nvSpPr>
        <p:spPr/>
        <p:txBody>
          <a:bodyPr>
            <a:normAutofit/>
          </a:bodyPr>
          <a:lstStyle/>
          <a:p>
            <a:r>
              <a:rPr lang="es-ES" b="1" dirty="0" err="1"/>
              <a:t>NetworkManager</a:t>
            </a:r>
            <a:endParaRPr lang="es-ES" b="1" dirty="0"/>
          </a:p>
          <a:p>
            <a:r>
              <a:rPr lang="es-ES" dirty="0" err="1"/>
              <a:t>NetworkManager</a:t>
            </a:r>
            <a:r>
              <a:rPr lang="es-ES" dirty="0"/>
              <a:t> es un servicio que permite la configuración y administración dinámica de interfaces de red y de los protocolos asociados. Se acompaña en particular de un conjunto de comandos (</a:t>
            </a:r>
            <a:r>
              <a:rPr lang="es-ES" dirty="0" err="1"/>
              <a:t>nmcli</a:t>
            </a:r>
            <a:r>
              <a:rPr lang="es-ES" dirty="0"/>
              <a:t>, </a:t>
            </a:r>
            <a:r>
              <a:rPr lang="es-ES" dirty="0" err="1"/>
              <a:t>nmtui</a:t>
            </a:r>
            <a:r>
              <a:rPr lang="es-ES" dirty="0"/>
              <a:t>…) que permiten gestionar de forma centralizada la red de su equipo.</a:t>
            </a:r>
            <a:endParaRPr lang="es-ES" dirty="0"/>
          </a:p>
          <a:p>
            <a:r>
              <a:rPr lang="es-ES" dirty="0"/>
              <a:t>Se trata de un desarrollo orientado al servidor; una de las primeras cosas que realizan tanto los administradores como algunas soluciones es la eliminación de </a:t>
            </a:r>
            <a:r>
              <a:rPr lang="es-ES" dirty="0" err="1"/>
              <a:t>NetworkManager</a:t>
            </a:r>
            <a:r>
              <a:rPr lang="es-ES" dirty="0"/>
              <a:t> (o por lo menos su desactivación) y volver a un funcionamiento basado en archivos de configuración estáticos. Después de todo, una vez instalada, la configuración de la pila de red de un servidor raramente evoluciona.</a:t>
            </a:r>
            <a:endParaRPr lang="es-ES" dirty="0"/>
          </a:p>
          <a:p>
            <a:endParaRPr lang="es-E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LA RED</a:t>
            </a:r>
            <a:endParaRPr lang="es-ES" dirty="0"/>
          </a:p>
        </p:txBody>
      </p:sp>
      <p:sp>
        <p:nvSpPr>
          <p:cNvPr id="3" name="Marcador de contenido 2"/>
          <p:cNvSpPr>
            <a:spLocks noGrp="1"/>
          </p:cNvSpPr>
          <p:nvPr>
            <p:ph idx="1"/>
          </p:nvPr>
        </p:nvSpPr>
        <p:spPr/>
        <p:txBody>
          <a:bodyPr>
            <a:normAutofit fontScale="92500" lnSpcReduction="20000"/>
          </a:bodyPr>
          <a:lstStyle/>
          <a:p>
            <a:r>
              <a:rPr lang="es-ES" b="1" dirty="0" err="1"/>
              <a:t>NetworkManager</a:t>
            </a:r>
            <a:endParaRPr lang="es-ES" b="1" dirty="0"/>
          </a:p>
          <a:p>
            <a:pPr marL="0" indent="0">
              <a:buNone/>
            </a:pPr>
            <a:r>
              <a:rPr lang="es-ES" dirty="0"/>
              <a:t>En una distribución Red </a:t>
            </a:r>
            <a:r>
              <a:rPr lang="es-ES" dirty="0" err="1"/>
              <a:t>Hat</a:t>
            </a:r>
            <a:r>
              <a:rPr lang="es-ES" dirty="0"/>
              <a:t>, para pasar de </a:t>
            </a:r>
            <a:r>
              <a:rPr lang="es-ES" dirty="0" err="1"/>
              <a:t>NetworkManager</a:t>
            </a:r>
            <a:r>
              <a:rPr lang="es-ES" dirty="0"/>
              <a:t> al servicio de red clásico, siga los pasos a continuación:</a:t>
            </a:r>
            <a:endParaRPr lang="es-ES" dirty="0"/>
          </a:p>
          <a:p>
            <a:pPr marL="342900" indent="-342900">
              <a:spcBef>
                <a:spcPts val="600"/>
              </a:spcBef>
              <a:buFont typeface="+mj-lt"/>
              <a:buAutoNum type="arabicPeriod"/>
            </a:pPr>
            <a:r>
              <a:rPr lang="es-ES" dirty="0" err="1"/>
              <a:t>systemctl</a:t>
            </a:r>
            <a:r>
              <a:rPr lang="es-ES" dirty="0"/>
              <a:t> stop </a:t>
            </a:r>
            <a:r>
              <a:rPr lang="es-ES" dirty="0" err="1"/>
              <a:t>NetworkManager</a:t>
            </a:r>
            <a:r>
              <a:rPr lang="es-ES" dirty="0"/>
              <a:t>  </a:t>
            </a:r>
            <a:endParaRPr lang="es-ES" dirty="0"/>
          </a:p>
          <a:p>
            <a:pPr marL="342900" indent="-342900">
              <a:spcBef>
                <a:spcPts val="600"/>
              </a:spcBef>
              <a:buFont typeface="+mj-lt"/>
              <a:buAutoNum type="arabicPeriod"/>
            </a:pPr>
            <a:r>
              <a:rPr lang="es-ES" dirty="0" err="1"/>
              <a:t>systemctl</a:t>
            </a:r>
            <a:r>
              <a:rPr lang="es-ES" dirty="0"/>
              <a:t> </a:t>
            </a:r>
            <a:r>
              <a:rPr lang="es-ES" dirty="0" err="1"/>
              <a:t>mask</a:t>
            </a:r>
            <a:r>
              <a:rPr lang="es-ES" dirty="0"/>
              <a:t> </a:t>
            </a:r>
            <a:r>
              <a:rPr lang="es-ES" dirty="0" err="1"/>
              <a:t>NetworkManager</a:t>
            </a:r>
            <a:r>
              <a:rPr lang="es-ES" dirty="0"/>
              <a:t>  </a:t>
            </a:r>
            <a:endParaRPr lang="es-ES" dirty="0"/>
          </a:p>
          <a:p>
            <a:pPr marL="342900" indent="-342900">
              <a:spcBef>
                <a:spcPts val="600"/>
              </a:spcBef>
              <a:buFont typeface="+mj-lt"/>
              <a:buAutoNum type="arabicPeriod"/>
            </a:pPr>
            <a:r>
              <a:rPr lang="es-ES" dirty="0" err="1"/>
              <a:t>systemctl</a:t>
            </a:r>
            <a:r>
              <a:rPr lang="es-ES" dirty="0"/>
              <a:t> </a:t>
            </a:r>
            <a:r>
              <a:rPr lang="es-ES" dirty="0" err="1"/>
              <a:t>disable</a:t>
            </a:r>
            <a:r>
              <a:rPr lang="es-ES" dirty="0"/>
              <a:t> </a:t>
            </a:r>
            <a:r>
              <a:rPr lang="es-ES" dirty="0" err="1"/>
              <a:t>NetworkManager</a:t>
            </a:r>
            <a:r>
              <a:rPr lang="es-ES" dirty="0"/>
              <a:t>  </a:t>
            </a:r>
            <a:endParaRPr lang="es-ES" dirty="0"/>
          </a:p>
          <a:p>
            <a:pPr marL="342900" indent="-342900">
              <a:spcBef>
                <a:spcPts val="600"/>
              </a:spcBef>
              <a:buFont typeface="+mj-lt"/>
              <a:buAutoNum type="arabicPeriod"/>
            </a:pPr>
            <a:r>
              <a:rPr lang="es-ES" dirty="0" err="1"/>
              <a:t>systemctl</a:t>
            </a:r>
            <a:r>
              <a:rPr lang="es-ES" dirty="0"/>
              <a:t> </a:t>
            </a:r>
            <a:r>
              <a:rPr lang="es-ES" dirty="0" err="1"/>
              <a:t>enable</a:t>
            </a:r>
            <a:r>
              <a:rPr lang="es-ES" dirty="0"/>
              <a:t> </a:t>
            </a:r>
            <a:r>
              <a:rPr lang="es-ES" dirty="0" err="1"/>
              <a:t>network</a:t>
            </a:r>
            <a:r>
              <a:rPr lang="es-ES" dirty="0"/>
              <a:t>  </a:t>
            </a:r>
            <a:endParaRPr lang="es-ES" dirty="0"/>
          </a:p>
          <a:p>
            <a:pPr marL="342900" indent="-342900">
              <a:spcBef>
                <a:spcPts val="600"/>
              </a:spcBef>
              <a:buFont typeface="+mj-lt"/>
              <a:buAutoNum type="arabicPeriod"/>
            </a:pPr>
            <a:r>
              <a:rPr lang="es-ES" dirty="0" err="1"/>
              <a:t>systemctl</a:t>
            </a:r>
            <a:r>
              <a:rPr lang="es-ES" dirty="0"/>
              <a:t> </a:t>
            </a:r>
            <a:r>
              <a:rPr lang="es-ES" dirty="0" err="1"/>
              <a:t>unmask</a:t>
            </a:r>
            <a:r>
              <a:rPr lang="es-ES" dirty="0"/>
              <a:t> </a:t>
            </a:r>
            <a:r>
              <a:rPr lang="es-ES" dirty="0" err="1"/>
              <a:t>network</a:t>
            </a:r>
            <a:r>
              <a:rPr lang="es-ES" dirty="0"/>
              <a:t>  </a:t>
            </a:r>
            <a:endParaRPr lang="es-ES" dirty="0"/>
          </a:p>
          <a:p>
            <a:pPr marL="342900" indent="-342900">
              <a:spcBef>
                <a:spcPts val="600"/>
              </a:spcBef>
              <a:buFont typeface="+mj-lt"/>
              <a:buAutoNum type="arabicPeriod"/>
            </a:pPr>
            <a:r>
              <a:rPr lang="es-ES" dirty="0" err="1"/>
              <a:t>systemctl</a:t>
            </a:r>
            <a:r>
              <a:rPr lang="es-ES" dirty="0"/>
              <a:t> </a:t>
            </a:r>
            <a:r>
              <a:rPr lang="es-ES" dirty="0" err="1"/>
              <a:t>start</a:t>
            </a:r>
            <a:r>
              <a:rPr lang="es-ES" dirty="0"/>
              <a:t> </a:t>
            </a:r>
            <a:r>
              <a:rPr lang="es-ES" dirty="0" err="1"/>
              <a:t>network</a:t>
            </a:r>
            <a:endParaRPr lang="es-ES" dirty="0"/>
          </a:p>
          <a:p>
            <a:r>
              <a:rPr lang="es-ES" dirty="0"/>
              <a:t>Para Ubuntu y Debian, sustituya </a:t>
            </a:r>
            <a:r>
              <a:rPr lang="es-ES" dirty="0" err="1"/>
              <a:t>network</a:t>
            </a:r>
            <a:r>
              <a:rPr lang="es-ES" dirty="0"/>
              <a:t> por </a:t>
            </a:r>
            <a:r>
              <a:rPr lang="es-ES" dirty="0" err="1"/>
              <a:t>networking</a:t>
            </a:r>
            <a:r>
              <a:rPr lang="es-ES" dirty="0"/>
              <a:t>.</a:t>
            </a:r>
            <a:endParaRPr lang="es-E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854765"/>
            <a:ext cx="10058400" cy="882595"/>
          </a:xfrm>
        </p:spPr>
        <p:txBody>
          <a:bodyPr/>
          <a:lstStyle/>
          <a:p>
            <a:r>
              <a:rPr lang="es-ES" dirty="0"/>
              <a:t>LA RED</a:t>
            </a:r>
            <a:endParaRPr lang="es-ES" dirty="0"/>
          </a:p>
        </p:txBody>
      </p:sp>
      <p:sp>
        <p:nvSpPr>
          <p:cNvPr id="3" name="Marcador de contenido 2"/>
          <p:cNvSpPr>
            <a:spLocks noGrp="1"/>
          </p:cNvSpPr>
          <p:nvPr>
            <p:ph idx="1"/>
          </p:nvPr>
        </p:nvSpPr>
        <p:spPr>
          <a:xfrm>
            <a:off x="1144748" y="1869662"/>
            <a:ext cx="10802610" cy="4398791"/>
          </a:xfrm>
        </p:spPr>
        <p:txBody>
          <a:bodyPr>
            <a:normAutofit lnSpcReduction="10000"/>
          </a:bodyPr>
          <a:lstStyle/>
          <a:p>
            <a:r>
              <a:rPr lang="es-ES" b="1" dirty="0"/>
              <a:t> Resolución de nombres de hosts</a:t>
            </a:r>
            <a:endParaRPr lang="es-ES" b="1" dirty="0"/>
          </a:p>
          <a:p>
            <a:r>
              <a:rPr lang="es-ES" dirty="0"/>
              <a:t>Los nombres de host se componen de dos partes: nombre del equipo y el nombre del dominio, separados por un punto ‘</a:t>
            </a:r>
            <a:r>
              <a:rPr lang="es-ES" b="1" dirty="0"/>
              <a:t>.</a:t>
            </a:r>
            <a:r>
              <a:rPr lang="es-ES" dirty="0"/>
              <a:t>‘. El primer campo hace referencia al nombre del propio ordenador mientras que el segundo a una colección de ordenadores. Por ejemplo vamos a suponer que tenemos una red local doméstica o empresarial que recibe el nombre de </a:t>
            </a:r>
            <a:r>
              <a:rPr lang="es-ES" b="1" i="1" dirty="0" err="1"/>
              <a:t>sysadmins</a:t>
            </a:r>
            <a:r>
              <a:rPr lang="es-ES" dirty="0"/>
              <a:t> y que nuestro equipo de trabajo y un servidor web que gestionamos y que se encuentra dentro de la red de la oficina se llaman </a:t>
            </a:r>
            <a:r>
              <a:rPr lang="es-ES" b="1" i="1" dirty="0"/>
              <a:t>intranet</a:t>
            </a:r>
            <a:r>
              <a:rPr lang="es-ES" dirty="0"/>
              <a:t> y </a:t>
            </a:r>
            <a:r>
              <a:rPr lang="es-ES" b="1" i="1" dirty="0" err="1"/>
              <a:t>freeser</a:t>
            </a:r>
            <a:r>
              <a:rPr lang="es-ES" dirty="0"/>
              <a:t>, respectivamente. El nombre de host de estos equipos serán </a:t>
            </a:r>
            <a:r>
              <a:rPr lang="es-ES" b="1" i="1" dirty="0" err="1"/>
              <a:t>intranet.sysadmins</a:t>
            </a:r>
            <a:r>
              <a:rPr lang="es-ES" b="1" dirty="0"/>
              <a:t> </a:t>
            </a:r>
            <a:r>
              <a:rPr lang="es-ES" dirty="0"/>
              <a:t>para nuestro equipo de trabajo y </a:t>
            </a:r>
            <a:r>
              <a:rPr lang="es-ES" b="1" i="1" dirty="0" err="1"/>
              <a:t>freeser.sysadmins</a:t>
            </a:r>
            <a:r>
              <a:rPr lang="es-ES" b="1" dirty="0"/>
              <a:t> </a:t>
            </a:r>
            <a:r>
              <a:rPr lang="es-ES" dirty="0"/>
              <a:t>para el servidor.</a:t>
            </a:r>
            <a:endParaRPr lang="es-ES" dirty="0"/>
          </a:p>
          <a:p>
            <a:r>
              <a:rPr lang="es-ES" dirty="0"/>
              <a:t>Los dominios se estructuran jerárquicamente.  Para los dominios de Internet de nivel superior o </a:t>
            </a:r>
            <a:r>
              <a:rPr lang="es-ES" b="1" dirty="0"/>
              <a:t>TLD</a:t>
            </a:r>
            <a:r>
              <a:rPr lang="es-ES" dirty="0"/>
              <a:t> (</a:t>
            </a:r>
            <a:r>
              <a:rPr lang="es-ES" i="1" dirty="0"/>
              <a:t>Top-</a:t>
            </a:r>
            <a:r>
              <a:rPr lang="es-ES" i="1" dirty="0" err="1"/>
              <a:t>Level</a:t>
            </a:r>
            <a:r>
              <a:rPr lang="es-ES" i="1" dirty="0"/>
              <a:t> </a:t>
            </a:r>
            <a:r>
              <a:rPr lang="es-ES" i="1" dirty="0" err="1"/>
              <a:t>Domain</a:t>
            </a:r>
            <a:r>
              <a:rPr lang="es-ES" dirty="0"/>
              <a:t>) encontramos los </a:t>
            </a:r>
            <a:r>
              <a:rPr lang="es-ES" i="1" dirty="0"/>
              <a:t>.</a:t>
            </a:r>
            <a:r>
              <a:rPr lang="es-ES" i="1" dirty="0" err="1"/>
              <a:t>com</a:t>
            </a:r>
            <a:r>
              <a:rPr lang="es-ES" dirty="0"/>
              <a:t>, </a:t>
            </a:r>
            <a:r>
              <a:rPr lang="es-ES" i="1" dirty="0"/>
              <a:t>.</a:t>
            </a:r>
            <a:r>
              <a:rPr lang="es-ES" i="1" dirty="0" err="1"/>
              <a:t>edu</a:t>
            </a:r>
            <a:r>
              <a:rPr lang="es-ES" dirty="0"/>
              <a:t>, </a:t>
            </a:r>
            <a:r>
              <a:rPr lang="es-ES" i="1" dirty="0"/>
              <a:t>.</a:t>
            </a:r>
            <a:r>
              <a:rPr lang="es-ES" i="1" dirty="0" err="1"/>
              <a:t>org</a:t>
            </a:r>
            <a:r>
              <a:rPr lang="es-ES" dirty="0"/>
              <a:t>, etc.. que normalmente corresponden a países o grandes corporaciones. Dentro de cada </a:t>
            </a:r>
            <a:r>
              <a:rPr lang="es-ES" i="1" dirty="0"/>
              <a:t>TLD</a:t>
            </a:r>
            <a:r>
              <a:rPr lang="es-ES" dirty="0"/>
              <a:t> hay dominios que identifican a otras organizaciones mas específicas como empresas, negocios y en definitiva a casi cualquier cosa para la que se haya registrado dicho dominio. Por ejemplo para un banco (</a:t>
            </a:r>
            <a:r>
              <a:rPr lang="es-ES" i="1" dirty="0"/>
              <a:t>mibanca.es</a:t>
            </a:r>
            <a:r>
              <a:rPr lang="es-ES" dirty="0"/>
              <a:t>).  Estos dominios aún pueden dividirse en subdominios.</a:t>
            </a:r>
            <a:endParaRPr lang="es-ES" b="1" dirty="0"/>
          </a:p>
          <a:p>
            <a:endParaRPr lang="es-ES" b="1" dirty="0"/>
          </a:p>
          <a:p>
            <a:endParaRPr lang="es-ES" b="1" dirty="0"/>
          </a:p>
        </p:txBody>
      </p:sp>
      <p:sp>
        <p:nvSpPr>
          <p:cNvPr id="4" name="Rectangle 1"/>
          <p:cNvSpPr>
            <a:spLocks noChangeArrowheads="1"/>
          </p:cNvSpPr>
          <p:nvPr/>
        </p:nvSpPr>
        <p:spPr bwMode="auto">
          <a:xfrm>
            <a:off x="0" y="26802"/>
            <a:ext cx="323769" cy="40359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854765"/>
            <a:ext cx="10058400" cy="882595"/>
          </a:xfrm>
        </p:spPr>
        <p:txBody>
          <a:bodyPr/>
          <a:lstStyle/>
          <a:p>
            <a:r>
              <a:rPr lang="es-ES" dirty="0"/>
              <a:t>LA RED</a:t>
            </a:r>
            <a:endParaRPr lang="es-ES" dirty="0"/>
          </a:p>
        </p:txBody>
      </p:sp>
      <p:sp>
        <p:nvSpPr>
          <p:cNvPr id="3" name="Marcador de contenido 2"/>
          <p:cNvSpPr>
            <a:spLocks noGrp="1"/>
          </p:cNvSpPr>
          <p:nvPr>
            <p:ph idx="1"/>
          </p:nvPr>
        </p:nvSpPr>
        <p:spPr>
          <a:xfrm>
            <a:off x="1144748" y="1869662"/>
            <a:ext cx="6329940" cy="4398791"/>
          </a:xfrm>
        </p:spPr>
        <p:txBody>
          <a:bodyPr>
            <a:normAutofit fontScale="85000" lnSpcReduction="10000"/>
          </a:bodyPr>
          <a:lstStyle/>
          <a:p>
            <a:r>
              <a:rPr lang="es-ES" b="1" dirty="0"/>
              <a:t> Resolución de nombres de hosts</a:t>
            </a:r>
            <a:endParaRPr lang="es-ES" b="1" dirty="0"/>
          </a:p>
          <a:p>
            <a:r>
              <a:rPr lang="es-ES" dirty="0"/>
              <a:t>Cuando accedemos por ejemplo a </a:t>
            </a:r>
            <a:r>
              <a:rPr lang="es-ES" i="1" dirty="0"/>
              <a:t>google.es</a:t>
            </a:r>
            <a:r>
              <a:rPr lang="es-ES" dirty="0"/>
              <a:t> no escribimos la dirección </a:t>
            </a:r>
            <a:r>
              <a:rPr lang="es-ES" i="1" dirty="0"/>
              <a:t>IP</a:t>
            </a:r>
            <a:r>
              <a:rPr lang="es-ES" dirty="0"/>
              <a:t> del servidor con el que está enlazado el nombre, si no directamente el nombre (</a:t>
            </a:r>
            <a:r>
              <a:rPr lang="es-ES" i="1" dirty="0"/>
              <a:t>google.es</a:t>
            </a:r>
            <a:r>
              <a:rPr lang="es-ES" dirty="0"/>
              <a:t>). Esto es posible gracias a los </a:t>
            </a:r>
            <a:r>
              <a:rPr lang="es-ES" b="1" dirty="0"/>
              <a:t>DNS</a:t>
            </a:r>
            <a:r>
              <a:rPr lang="es-ES" dirty="0"/>
              <a:t> (</a:t>
            </a:r>
            <a:r>
              <a:rPr lang="es-ES" i="1" dirty="0" err="1"/>
              <a:t>Domain</a:t>
            </a:r>
            <a:r>
              <a:rPr lang="es-ES" i="1" dirty="0"/>
              <a:t> </a:t>
            </a:r>
            <a:r>
              <a:rPr lang="es-ES" i="1" dirty="0" err="1"/>
              <a:t>Name</a:t>
            </a:r>
            <a:r>
              <a:rPr lang="es-ES" i="1" dirty="0"/>
              <a:t> Server</a:t>
            </a:r>
            <a:r>
              <a:rPr lang="es-ES" dirty="0"/>
              <a:t>) que no es mas que una base de datos distribuida la cual realiza las conversiones oportunas entre direcciones </a:t>
            </a:r>
            <a:r>
              <a:rPr lang="es-ES" i="1" dirty="0"/>
              <a:t>IP</a:t>
            </a:r>
            <a:r>
              <a:rPr lang="es-ES" dirty="0"/>
              <a:t> y nombres de hosts.</a:t>
            </a:r>
            <a:endParaRPr lang="es-ES" b="1" dirty="0"/>
          </a:p>
          <a:p>
            <a:r>
              <a:rPr lang="es-ES" dirty="0"/>
              <a:t>Para que nuestro equipo o dominio pueda trabajar de esta manera es necesario incluir como mínimo un servidor </a:t>
            </a:r>
            <a:r>
              <a:rPr lang="es-ES" i="1" dirty="0"/>
              <a:t>DNS.</a:t>
            </a:r>
            <a:r>
              <a:rPr lang="es-ES" dirty="0"/>
              <a:t> </a:t>
            </a:r>
            <a:endParaRPr lang="es-ES" dirty="0"/>
          </a:p>
          <a:p>
            <a:r>
              <a:rPr lang="es-ES" dirty="0"/>
              <a:t>Existen otros métodos para trabajar con nombres dentro de nuestro dominio (que abarca tanto a equipos en local como en remoto, siempre y cuando pertenezcan a nuestra red) que no necesariamente implica un despliegue como el de los servidores </a:t>
            </a:r>
            <a:r>
              <a:rPr lang="es-ES" i="1" dirty="0"/>
              <a:t>DNS</a:t>
            </a:r>
            <a:r>
              <a:rPr lang="es-ES" dirty="0"/>
              <a:t>. Por ejemplo a través del archivo</a:t>
            </a:r>
            <a:r>
              <a:rPr lang="es-ES" b="1" dirty="0"/>
              <a:t> </a:t>
            </a:r>
            <a:r>
              <a:rPr lang="es-ES" b="1" i="1" dirty="0"/>
              <a:t>/</a:t>
            </a:r>
            <a:r>
              <a:rPr lang="es-ES" b="1" i="1" dirty="0" err="1"/>
              <a:t>etc</a:t>
            </a:r>
            <a:r>
              <a:rPr lang="es-ES" b="1" i="1" dirty="0"/>
              <a:t>/hosts</a:t>
            </a:r>
            <a:r>
              <a:rPr lang="es-ES" b="1" dirty="0"/>
              <a:t> </a:t>
            </a:r>
            <a:r>
              <a:rPr lang="es-ES" dirty="0"/>
              <a:t>podremos crear asociaciones entre direcciones </a:t>
            </a:r>
            <a:r>
              <a:rPr lang="es-ES" i="1" dirty="0"/>
              <a:t>IP</a:t>
            </a:r>
            <a:r>
              <a:rPr lang="es-ES" dirty="0"/>
              <a:t> y nombres. </a:t>
            </a:r>
            <a:endParaRPr lang="es-ES" b="1" dirty="0"/>
          </a:p>
        </p:txBody>
      </p:sp>
      <p:sp>
        <p:nvSpPr>
          <p:cNvPr id="4" name="Rectangle 1"/>
          <p:cNvSpPr>
            <a:spLocks noChangeArrowheads="1"/>
          </p:cNvSpPr>
          <p:nvPr/>
        </p:nvSpPr>
        <p:spPr bwMode="auto">
          <a:xfrm>
            <a:off x="0" y="26802"/>
            <a:ext cx="323769" cy="40359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pic>
        <p:nvPicPr>
          <p:cNvPr id="5" name="Imagen 4"/>
          <p:cNvPicPr>
            <a:picLocks noChangeAspect="1"/>
          </p:cNvPicPr>
          <p:nvPr/>
        </p:nvPicPr>
        <p:blipFill>
          <a:blip r:embed="rId1"/>
          <a:stretch>
            <a:fillRect/>
          </a:stretch>
        </p:blipFill>
        <p:spPr>
          <a:xfrm>
            <a:off x="7636724" y="2737280"/>
            <a:ext cx="3914775" cy="24384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854765"/>
            <a:ext cx="10058400" cy="882595"/>
          </a:xfrm>
        </p:spPr>
        <p:txBody>
          <a:bodyPr/>
          <a:lstStyle/>
          <a:p>
            <a:r>
              <a:rPr lang="es-ES" dirty="0"/>
              <a:t>LA RED</a:t>
            </a:r>
            <a:endParaRPr lang="es-ES" dirty="0"/>
          </a:p>
        </p:txBody>
      </p:sp>
      <p:sp>
        <p:nvSpPr>
          <p:cNvPr id="3" name="Marcador de contenido 2"/>
          <p:cNvSpPr>
            <a:spLocks noGrp="1"/>
          </p:cNvSpPr>
          <p:nvPr>
            <p:ph idx="1"/>
          </p:nvPr>
        </p:nvSpPr>
        <p:spPr>
          <a:xfrm>
            <a:off x="1144748" y="1869662"/>
            <a:ext cx="10058400" cy="4398791"/>
          </a:xfrm>
        </p:spPr>
        <p:txBody>
          <a:bodyPr>
            <a:normAutofit/>
          </a:bodyPr>
          <a:lstStyle/>
          <a:p>
            <a:r>
              <a:rPr lang="es-ES" b="1" dirty="0"/>
              <a:t> Resolución de nombres de hosts</a:t>
            </a:r>
            <a:endParaRPr lang="es-ES" b="1" dirty="0"/>
          </a:p>
          <a:p>
            <a:pPr marL="0" lvl="0" indent="0" eaLnBrk="0" fontAlgn="base" hangingPunct="0">
              <a:lnSpc>
                <a:spcPct val="100000"/>
              </a:lnSpc>
              <a:spcBef>
                <a:spcPct val="0"/>
              </a:spcBef>
              <a:spcAft>
                <a:spcPct val="0"/>
              </a:spcAft>
              <a:buClrTx/>
              <a:buSzTx/>
              <a:buNone/>
            </a:pPr>
            <a:r>
              <a:rPr lang="es-ES" altLang="es-ES" sz="1600" dirty="0">
                <a:solidFill>
                  <a:srgbClr val="333333"/>
                </a:solidFill>
              </a:rPr>
              <a:t>Antes de emplear el servicio </a:t>
            </a:r>
            <a:r>
              <a:rPr lang="es-ES" altLang="es-ES" sz="1600" i="1" dirty="0">
                <a:solidFill>
                  <a:srgbClr val="333333"/>
                </a:solidFill>
              </a:rPr>
              <a:t>DNS</a:t>
            </a:r>
            <a:r>
              <a:rPr lang="es-ES" altLang="es-ES" sz="1600" dirty="0">
                <a:solidFill>
                  <a:srgbClr val="333333"/>
                </a:solidFill>
              </a:rPr>
              <a:t>, </a:t>
            </a:r>
            <a:r>
              <a:rPr lang="es-ES" altLang="es-ES" sz="1600" i="1" dirty="0">
                <a:solidFill>
                  <a:srgbClr val="333333"/>
                </a:solidFill>
              </a:rPr>
              <a:t>Linux</a:t>
            </a:r>
            <a:r>
              <a:rPr lang="es-ES" altLang="es-ES" sz="1600" dirty="0">
                <a:solidFill>
                  <a:srgbClr val="333333"/>
                </a:solidFill>
              </a:rPr>
              <a:t> busca en el archivo </a:t>
            </a:r>
            <a:r>
              <a:rPr lang="es-ES" altLang="es-ES" sz="1600" i="1" dirty="0">
                <a:solidFill>
                  <a:srgbClr val="333333"/>
                </a:solidFill>
              </a:rPr>
              <a:t>/</a:t>
            </a:r>
            <a:r>
              <a:rPr lang="es-ES" altLang="es-ES" sz="1600" i="1" dirty="0" err="1">
                <a:solidFill>
                  <a:srgbClr val="333333"/>
                </a:solidFill>
              </a:rPr>
              <a:t>etc</a:t>
            </a:r>
            <a:r>
              <a:rPr lang="es-ES" altLang="es-ES" sz="1600" i="1" dirty="0">
                <a:solidFill>
                  <a:srgbClr val="333333"/>
                </a:solidFill>
              </a:rPr>
              <a:t>/hosts</a:t>
            </a:r>
            <a:r>
              <a:rPr lang="es-ES" altLang="es-ES" sz="1600" dirty="0">
                <a:solidFill>
                  <a:srgbClr val="333333"/>
                </a:solidFill>
              </a:rPr>
              <a:t>, comportamiento que se puede modificar desde la configuración del archivo</a:t>
            </a:r>
            <a:r>
              <a:rPr lang="es-ES" altLang="es-ES" sz="1600" b="1" dirty="0">
                <a:solidFill>
                  <a:srgbClr val="333333"/>
                </a:solidFill>
              </a:rPr>
              <a:t> </a:t>
            </a:r>
            <a:r>
              <a:rPr lang="es-ES" altLang="es-ES" sz="1600" b="1" i="1" dirty="0">
                <a:solidFill>
                  <a:srgbClr val="333333"/>
                </a:solidFill>
              </a:rPr>
              <a:t>/</a:t>
            </a:r>
            <a:r>
              <a:rPr lang="es-ES" altLang="es-ES" sz="1600" b="1" i="1" dirty="0" err="1">
                <a:solidFill>
                  <a:srgbClr val="333333"/>
                </a:solidFill>
              </a:rPr>
              <a:t>etc</a:t>
            </a:r>
            <a:r>
              <a:rPr lang="es-ES" altLang="es-ES" sz="1600" b="1" i="1" dirty="0">
                <a:solidFill>
                  <a:srgbClr val="333333"/>
                </a:solidFill>
              </a:rPr>
              <a:t>/</a:t>
            </a:r>
            <a:r>
              <a:rPr lang="es-ES" altLang="es-ES" sz="1600" b="1" i="1" dirty="0" err="1">
                <a:solidFill>
                  <a:srgbClr val="333333"/>
                </a:solidFill>
              </a:rPr>
              <a:t>nsswitch.conf</a:t>
            </a:r>
            <a:r>
              <a:rPr lang="es-ES" altLang="es-ES" sz="1600" dirty="0">
                <a:solidFill>
                  <a:srgbClr val="333333"/>
                </a:solidFill>
              </a:rPr>
              <a:t>. Este archivo configura el servicio </a:t>
            </a:r>
            <a:r>
              <a:rPr lang="es-ES" altLang="es-ES" sz="1600" b="1" dirty="0">
                <a:solidFill>
                  <a:srgbClr val="333333"/>
                </a:solidFill>
              </a:rPr>
              <a:t>NSS</a:t>
            </a:r>
            <a:r>
              <a:rPr lang="es-ES" altLang="es-ES" sz="1600" dirty="0">
                <a:solidFill>
                  <a:srgbClr val="333333"/>
                </a:solidFill>
              </a:rPr>
              <a:t> (</a:t>
            </a:r>
            <a:r>
              <a:rPr lang="es-ES" altLang="es-ES" sz="1600" i="1" dirty="0">
                <a:solidFill>
                  <a:srgbClr val="333333"/>
                </a:solidFill>
              </a:rPr>
              <a:t>Network </a:t>
            </a:r>
            <a:r>
              <a:rPr lang="es-ES" altLang="es-ES" sz="1600" i="1" dirty="0" err="1">
                <a:solidFill>
                  <a:srgbClr val="333333"/>
                </a:solidFill>
              </a:rPr>
              <a:t>Switching</a:t>
            </a:r>
            <a:r>
              <a:rPr lang="es-ES" altLang="es-ES" sz="1600" i="1" dirty="0">
                <a:solidFill>
                  <a:srgbClr val="333333"/>
                </a:solidFill>
              </a:rPr>
              <a:t> </a:t>
            </a:r>
            <a:r>
              <a:rPr lang="es-ES" altLang="es-ES" sz="1600" i="1" dirty="0" err="1">
                <a:solidFill>
                  <a:srgbClr val="333333"/>
                </a:solidFill>
              </a:rPr>
              <a:t>Subsystem</a:t>
            </a:r>
            <a:r>
              <a:rPr lang="es-ES" altLang="es-ES" sz="1600" i="1" dirty="0">
                <a:solidFill>
                  <a:srgbClr val="333333"/>
                </a:solidFill>
              </a:rPr>
              <a:t>, Subsistema de conmutación de red</a:t>
            </a:r>
            <a:r>
              <a:rPr lang="es-ES" altLang="es-ES" sz="1600" dirty="0">
                <a:solidFill>
                  <a:srgbClr val="333333"/>
                </a:solidFill>
              </a:rPr>
              <a:t>). Para modificar el comportamiento de orden de búsqueda de relaciones IP-nombre deberemos de modificar la línea ‘</a:t>
            </a:r>
            <a:r>
              <a:rPr lang="es-ES" altLang="es-ES" sz="1600" i="1" dirty="0">
                <a:solidFill>
                  <a:srgbClr val="333333"/>
                </a:solidFill>
              </a:rPr>
              <a:t>hosts:</a:t>
            </a:r>
            <a:r>
              <a:rPr lang="es-ES" altLang="es-ES" sz="1600" dirty="0">
                <a:solidFill>
                  <a:srgbClr val="333333"/>
                </a:solidFill>
              </a:rPr>
              <a:t>‘. Por defecto la línea hace que prevalezcan los archivos (</a:t>
            </a:r>
            <a:r>
              <a:rPr lang="es-ES" altLang="es-ES" sz="1600" i="1" dirty="0">
                <a:solidFill>
                  <a:srgbClr val="333333"/>
                </a:solidFill>
              </a:rPr>
              <a:t>files</a:t>
            </a:r>
            <a:r>
              <a:rPr lang="es-ES" altLang="es-ES" sz="1600" dirty="0">
                <a:solidFill>
                  <a:srgbClr val="333333"/>
                </a:solidFill>
              </a:rPr>
              <a:t>) sobre el servicio </a:t>
            </a:r>
            <a:r>
              <a:rPr lang="es-ES" altLang="es-ES" sz="1600" i="1" dirty="0">
                <a:solidFill>
                  <a:srgbClr val="333333"/>
                </a:solidFill>
              </a:rPr>
              <a:t>DNS</a:t>
            </a:r>
            <a:r>
              <a:rPr lang="es-ES" altLang="es-ES" sz="1600" dirty="0">
                <a:solidFill>
                  <a:srgbClr val="333333"/>
                </a:solidFill>
              </a:rPr>
              <a:t> (</a:t>
            </a:r>
            <a:r>
              <a:rPr lang="es-ES" altLang="es-ES" sz="1600" i="1" dirty="0" err="1">
                <a:solidFill>
                  <a:srgbClr val="333333"/>
                </a:solidFill>
              </a:rPr>
              <a:t>dns</a:t>
            </a:r>
            <a:r>
              <a:rPr lang="es-ES" altLang="es-ES" sz="1600" dirty="0">
                <a:solidFill>
                  <a:srgbClr val="333333"/>
                </a:solidFill>
              </a:rPr>
              <a:t>)</a:t>
            </a:r>
            <a:endParaRPr lang="es-ES" altLang="es-ES" sz="1600" dirty="0">
              <a:solidFill>
                <a:srgbClr val="333333"/>
              </a:solidFill>
            </a:endParaRPr>
          </a:p>
          <a:p>
            <a:pPr marL="0" lvl="0" indent="0" eaLnBrk="0" fontAlgn="base" hangingPunct="0">
              <a:lnSpc>
                <a:spcPct val="100000"/>
              </a:lnSpc>
              <a:spcBef>
                <a:spcPct val="0"/>
              </a:spcBef>
              <a:spcAft>
                <a:spcPct val="0"/>
              </a:spcAft>
              <a:buClrTx/>
              <a:buSzTx/>
              <a:buNone/>
            </a:pPr>
            <a:endParaRPr lang="es-ES" altLang="es-ES" sz="1600" dirty="0">
              <a:solidFill>
                <a:srgbClr val="333333"/>
              </a:solidFill>
              <a:cs typeface="Courier New" panose="02070309020205020404" pitchFamily="49" charset="0"/>
            </a:endParaRPr>
          </a:p>
          <a:p>
            <a:pPr marL="0" lvl="0" indent="0" algn="ctr" eaLnBrk="0" fontAlgn="base" hangingPunct="0">
              <a:lnSpc>
                <a:spcPct val="100000"/>
              </a:lnSpc>
              <a:spcBef>
                <a:spcPct val="0"/>
              </a:spcBef>
              <a:spcAft>
                <a:spcPct val="0"/>
              </a:spcAft>
              <a:buClrTx/>
              <a:buSzTx/>
              <a:buNone/>
            </a:pPr>
            <a:r>
              <a:rPr lang="es-ES" altLang="es-ES" sz="1600" b="1" dirty="0">
                <a:solidFill>
                  <a:srgbClr val="333333"/>
                </a:solidFill>
                <a:cs typeface="Courier New" panose="02070309020205020404" pitchFamily="49" charset="0"/>
              </a:rPr>
              <a:t>hosts:        files </a:t>
            </a:r>
            <a:r>
              <a:rPr lang="es-ES" altLang="es-ES" sz="1600" b="1" dirty="0" err="1">
                <a:solidFill>
                  <a:srgbClr val="333333"/>
                </a:solidFill>
                <a:cs typeface="Courier New" panose="02070309020205020404" pitchFamily="49" charset="0"/>
              </a:rPr>
              <a:t>dns</a:t>
            </a:r>
            <a:endParaRPr lang="es-ES" altLang="es-ES" sz="1600" b="1" dirty="0">
              <a:solidFill>
                <a:srgbClr val="333333"/>
              </a:solidFill>
              <a:cs typeface="Courier New" panose="02070309020205020404" pitchFamily="49" charset="0"/>
            </a:endParaRPr>
          </a:p>
          <a:p>
            <a:pPr marL="0" lvl="0" indent="0" algn="ctr" eaLnBrk="0" fontAlgn="base" hangingPunct="0">
              <a:lnSpc>
                <a:spcPct val="100000"/>
              </a:lnSpc>
              <a:spcBef>
                <a:spcPct val="0"/>
              </a:spcBef>
              <a:spcAft>
                <a:spcPct val="0"/>
              </a:spcAft>
              <a:buClrTx/>
              <a:buSzTx/>
              <a:buNone/>
            </a:pPr>
            <a:endParaRPr lang="es-ES" altLang="es-ES" sz="1600" b="1" dirty="0">
              <a:solidFill>
                <a:schemeClr val="tx1"/>
              </a:solidFill>
            </a:endParaRPr>
          </a:p>
          <a:p>
            <a:pPr marL="0" lvl="0" indent="0" eaLnBrk="0" fontAlgn="base" hangingPunct="0">
              <a:lnSpc>
                <a:spcPct val="100000"/>
              </a:lnSpc>
              <a:spcBef>
                <a:spcPct val="0"/>
              </a:spcBef>
              <a:spcAft>
                <a:spcPct val="0"/>
              </a:spcAft>
              <a:buClrTx/>
              <a:buSzTx/>
              <a:buNone/>
            </a:pPr>
            <a:r>
              <a:rPr lang="es-ES" altLang="es-ES" sz="1600" dirty="0">
                <a:solidFill>
                  <a:srgbClr val="333333"/>
                </a:solidFill>
              </a:rPr>
              <a:t>Linux además del archivo </a:t>
            </a:r>
            <a:r>
              <a:rPr lang="es-ES" altLang="es-ES" sz="1600" i="1" dirty="0">
                <a:solidFill>
                  <a:srgbClr val="333333"/>
                </a:solidFill>
              </a:rPr>
              <a:t>/</a:t>
            </a:r>
            <a:r>
              <a:rPr lang="es-ES" altLang="es-ES" sz="1600" i="1" dirty="0" err="1">
                <a:solidFill>
                  <a:srgbClr val="333333"/>
                </a:solidFill>
              </a:rPr>
              <a:t>etc</a:t>
            </a:r>
            <a:r>
              <a:rPr lang="es-ES" altLang="es-ES" sz="1600" i="1" dirty="0">
                <a:solidFill>
                  <a:srgbClr val="333333"/>
                </a:solidFill>
              </a:rPr>
              <a:t>/hosts</a:t>
            </a:r>
            <a:r>
              <a:rPr lang="es-ES" altLang="es-ES" sz="1600" dirty="0">
                <a:solidFill>
                  <a:srgbClr val="333333"/>
                </a:solidFill>
              </a:rPr>
              <a:t> incluye un archivo llamado </a:t>
            </a:r>
            <a:r>
              <a:rPr lang="es-ES" altLang="es-ES" sz="1600" i="1" dirty="0">
                <a:solidFill>
                  <a:srgbClr val="333333"/>
                </a:solidFill>
              </a:rPr>
              <a:t>/</a:t>
            </a:r>
            <a:r>
              <a:rPr lang="es-ES" altLang="es-ES" sz="1600" i="1" dirty="0" err="1">
                <a:solidFill>
                  <a:srgbClr val="333333"/>
                </a:solidFill>
              </a:rPr>
              <a:t>etc</a:t>
            </a:r>
            <a:r>
              <a:rPr lang="es-ES" altLang="es-ES" sz="1600" i="1" dirty="0">
                <a:solidFill>
                  <a:srgbClr val="333333"/>
                </a:solidFill>
              </a:rPr>
              <a:t>/</a:t>
            </a:r>
            <a:r>
              <a:rPr lang="es-ES" altLang="es-ES" sz="1600" i="1" dirty="0" err="1">
                <a:solidFill>
                  <a:srgbClr val="333333"/>
                </a:solidFill>
              </a:rPr>
              <a:t>networks</a:t>
            </a:r>
            <a:r>
              <a:rPr lang="es-ES" altLang="es-ES" sz="1600" dirty="0">
                <a:solidFill>
                  <a:srgbClr val="333333"/>
                </a:solidFill>
              </a:rPr>
              <a:t> que funciona de un modo similar pero que aplica solo a direcciones de red. Además invierte la línea de formato, que pasan a ser:</a:t>
            </a:r>
            <a:endParaRPr lang="es-ES" altLang="es-ES" sz="1600" dirty="0">
              <a:solidFill>
                <a:srgbClr val="333333"/>
              </a:solidFill>
            </a:endParaRPr>
          </a:p>
          <a:p>
            <a:pPr marL="0" lvl="0" indent="0" eaLnBrk="0" fontAlgn="base" hangingPunct="0">
              <a:lnSpc>
                <a:spcPct val="100000"/>
              </a:lnSpc>
              <a:spcBef>
                <a:spcPct val="0"/>
              </a:spcBef>
              <a:spcAft>
                <a:spcPct val="0"/>
              </a:spcAft>
              <a:buClrTx/>
              <a:buSzTx/>
              <a:buNone/>
            </a:pPr>
            <a:endParaRPr lang="es-ES" altLang="es-ES" sz="1600" dirty="0">
              <a:solidFill>
                <a:srgbClr val="333333"/>
              </a:solidFill>
              <a:cs typeface="Courier New" panose="02070309020205020404" pitchFamily="49" charset="0"/>
            </a:endParaRPr>
          </a:p>
          <a:p>
            <a:pPr marL="0" lvl="0" indent="0" algn="ctr" eaLnBrk="0" fontAlgn="base" hangingPunct="0">
              <a:lnSpc>
                <a:spcPct val="100000"/>
              </a:lnSpc>
              <a:spcBef>
                <a:spcPct val="0"/>
              </a:spcBef>
              <a:spcAft>
                <a:spcPct val="0"/>
              </a:spcAft>
              <a:buClrTx/>
              <a:buSzTx/>
              <a:buNone/>
            </a:pPr>
            <a:r>
              <a:rPr lang="es-ES" altLang="es-ES" sz="1600" b="1" dirty="0">
                <a:solidFill>
                  <a:srgbClr val="333333"/>
                </a:solidFill>
                <a:cs typeface="Courier New" panose="02070309020205020404" pitchFamily="49" charset="0"/>
              </a:rPr>
              <a:t>nombre        </a:t>
            </a:r>
            <a:r>
              <a:rPr lang="es-ES" altLang="es-ES" sz="1600" b="1" dirty="0" err="1">
                <a:solidFill>
                  <a:srgbClr val="333333"/>
                </a:solidFill>
                <a:cs typeface="Courier New" panose="02070309020205020404" pitchFamily="49" charset="0"/>
              </a:rPr>
              <a:t>ip</a:t>
            </a:r>
            <a:endParaRPr lang="es-ES" altLang="es-ES" sz="1600" b="1" dirty="0">
              <a:solidFill>
                <a:srgbClr val="333333"/>
              </a:solidFill>
              <a:cs typeface="Courier New" panose="02070309020205020404" pitchFamily="49" charset="0"/>
            </a:endParaRPr>
          </a:p>
          <a:p>
            <a:pPr marL="0" lvl="0" indent="0" algn="ctr" eaLnBrk="0" fontAlgn="base" hangingPunct="0">
              <a:lnSpc>
                <a:spcPct val="100000"/>
              </a:lnSpc>
              <a:spcBef>
                <a:spcPct val="0"/>
              </a:spcBef>
              <a:spcAft>
                <a:spcPct val="0"/>
              </a:spcAft>
              <a:buClrTx/>
              <a:buSzTx/>
              <a:buNone/>
            </a:pPr>
            <a:endParaRPr lang="es-ES" altLang="es-ES" sz="1600" b="1" dirty="0">
              <a:solidFill>
                <a:schemeClr val="tx1"/>
              </a:solidFill>
            </a:endParaRPr>
          </a:p>
          <a:p>
            <a:pPr marL="0" lvl="0" indent="0" eaLnBrk="0" fontAlgn="base" hangingPunct="0">
              <a:lnSpc>
                <a:spcPct val="100000"/>
              </a:lnSpc>
              <a:spcBef>
                <a:spcPct val="0"/>
              </a:spcBef>
              <a:spcAft>
                <a:spcPct val="0"/>
              </a:spcAft>
              <a:buClrTx/>
              <a:buSzTx/>
              <a:buNone/>
            </a:pPr>
            <a:r>
              <a:rPr lang="es-ES" altLang="es-ES" sz="1600" dirty="0">
                <a:solidFill>
                  <a:srgbClr val="333333"/>
                </a:solidFill>
              </a:rPr>
              <a:t>Otros tipos de configuraciones existentes para resolución de nombres pueden ser los del servicio </a:t>
            </a:r>
            <a:r>
              <a:rPr lang="es-ES" altLang="es-ES" sz="1600" b="1" dirty="0">
                <a:solidFill>
                  <a:srgbClr val="333333"/>
                </a:solidFill>
              </a:rPr>
              <a:t>LDAP</a:t>
            </a:r>
            <a:r>
              <a:rPr lang="es-ES" altLang="es-ES" sz="1600" dirty="0">
                <a:solidFill>
                  <a:srgbClr val="333333"/>
                </a:solidFill>
              </a:rPr>
              <a:t> (</a:t>
            </a:r>
            <a:r>
              <a:rPr lang="es-ES" altLang="es-ES" sz="1600" i="1" dirty="0" err="1">
                <a:solidFill>
                  <a:srgbClr val="333333"/>
                </a:solidFill>
              </a:rPr>
              <a:t>Lightweight</a:t>
            </a:r>
            <a:r>
              <a:rPr lang="es-ES" altLang="es-ES" sz="1600" i="1" dirty="0">
                <a:solidFill>
                  <a:srgbClr val="333333"/>
                </a:solidFill>
              </a:rPr>
              <a:t> </a:t>
            </a:r>
            <a:r>
              <a:rPr lang="es-ES" altLang="es-ES" sz="1600" i="1" dirty="0" err="1">
                <a:solidFill>
                  <a:srgbClr val="333333"/>
                </a:solidFill>
              </a:rPr>
              <a:t>Directory</a:t>
            </a:r>
            <a:r>
              <a:rPr lang="es-ES" altLang="es-ES" sz="1600" i="1" dirty="0">
                <a:solidFill>
                  <a:srgbClr val="333333"/>
                </a:solidFill>
              </a:rPr>
              <a:t> Access </a:t>
            </a:r>
            <a:r>
              <a:rPr lang="es-ES" altLang="es-ES" sz="1600" i="1" dirty="0" err="1">
                <a:solidFill>
                  <a:srgbClr val="333333"/>
                </a:solidFill>
              </a:rPr>
              <a:t>Protocol</a:t>
            </a:r>
            <a:r>
              <a:rPr lang="es-ES" altLang="es-ES" sz="1600" i="1" dirty="0">
                <a:solidFill>
                  <a:srgbClr val="333333"/>
                </a:solidFill>
              </a:rPr>
              <a:t>, Protocolo ligero de acceso a directorios</a:t>
            </a:r>
            <a:r>
              <a:rPr lang="es-ES" altLang="es-ES" sz="1600" dirty="0">
                <a:solidFill>
                  <a:srgbClr val="333333"/>
                </a:solidFill>
              </a:rPr>
              <a:t>) o utilizando invocaciones NetBIOS de </a:t>
            </a:r>
            <a:r>
              <a:rPr lang="es-ES" altLang="es-ES" sz="1600" i="1" dirty="0">
                <a:solidFill>
                  <a:srgbClr val="333333"/>
                </a:solidFill>
              </a:rPr>
              <a:t>Windows</a:t>
            </a:r>
            <a:r>
              <a:rPr lang="es-ES" altLang="es-ES" sz="1600" dirty="0">
                <a:solidFill>
                  <a:srgbClr val="333333"/>
                </a:solidFill>
              </a:rPr>
              <a:t>.</a:t>
            </a:r>
            <a:endParaRPr lang="es-ES" altLang="es-ES" sz="1600" dirty="0">
              <a:solidFill>
                <a:schemeClr val="tx1"/>
              </a:solidFill>
            </a:endParaRPr>
          </a:p>
        </p:txBody>
      </p:sp>
      <p:sp>
        <p:nvSpPr>
          <p:cNvPr id="4" name="Rectangle 1"/>
          <p:cNvSpPr>
            <a:spLocks noChangeArrowheads="1"/>
          </p:cNvSpPr>
          <p:nvPr/>
        </p:nvSpPr>
        <p:spPr bwMode="auto">
          <a:xfrm>
            <a:off x="0" y="26802"/>
            <a:ext cx="323769" cy="40359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854765"/>
            <a:ext cx="10058400" cy="882595"/>
          </a:xfrm>
        </p:spPr>
        <p:txBody>
          <a:bodyPr/>
          <a:lstStyle/>
          <a:p>
            <a:r>
              <a:rPr lang="es-ES" dirty="0"/>
              <a:t>LA RED</a:t>
            </a:r>
            <a:endParaRPr lang="es-ES" dirty="0"/>
          </a:p>
        </p:txBody>
      </p:sp>
      <p:sp>
        <p:nvSpPr>
          <p:cNvPr id="3" name="Marcador de contenido 2"/>
          <p:cNvSpPr>
            <a:spLocks noGrp="1"/>
          </p:cNvSpPr>
          <p:nvPr>
            <p:ph idx="1"/>
          </p:nvPr>
        </p:nvSpPr>
        <p:spPr>
          <a:xfrm>
            <a:off x="1144748" y="1869662"/>
            <a:ext cx="10058400" cy="4398791"/>
          </a:xfrm>
        </p:spPr>
        <p:txBody>
          <a:bodyPr>
            <a:normAutofit/>
          </a:bodyPr>
          <a:lstStyle/>
          <a:p>
            <a:r>
              <a:rPr lang="es-ES" b="1" dirty="0"/>
              <a:t> Resolución de nombres de hosts. Herramientas para buscar manualmente información DNS</a:t>
            </a:r>
            <a:endParaRPr lang="es-ES" b="1" dirty="0"/>
          </a:p>
          <a:p>
            <a:r>
              <a:rPr lang="es-ES" dirty="0"/>
              <a:t>A veces, necesitaremos buscar la información proporcionada por </a:t>
            </a:r>
            <a:r>
              <a:rPr lang="es-ES" i="1" dirty="0"/>
              <a:t>DNS</a:t>
            </a:r>
            <a:r>
              <a:rPr lang="es-ES" dirty="0"/>
              <a:t> de manera manual. Existen varios programas para realizar esta tarea:</a:t>
            </a:r>
            <a:endParaRPr lang="es-ES" dirty="0"/>
          </a:p>
          <a:p>
            <a:pPr lvl="1"/>
            <a:r>
              <a:rPr lang="es-ES" b="1" dirty="0"/>
              <a:t>nslookup</a:t>
            </a:r>
            <a:r>
              <a:rPr lang="es-ES" dirty="0"/>
              <a:t>: Realiza búsquedas </a:t>
            </a:r>
            <a:r>
              <a:rPr lang="es-ES" i="1" dirty="0"/>
              <a:t>DNS</a:t>
            </a:r>
            <a:r>
              <a:rPr lang="es-ES" dirty="0"/>
              <a:t>, por defecto en ordenadores concretos y devuelve los resultados. Este programa está oficialmente obsoleto.</a:t>
            </a:r>
            <a:endParaRPr lang="es-ES" dirty="0"/>
          </a:p>
          <a:p>
            <a:pPr lvl="1"/>
            <a:r>
              <a:rPr lang="es-ES" b="1" dirty="0"/>
              <a:t>host</a:t>
            </a:r>
            <a:r>
              <a:rPr lang="es-ES" dirty="0"/>
              <a:t>: Sustituto para las funciones más sencillas de </a:t>
            </a:r>
            <a:r>
              <a:rPr lang="es-ES" i="1" dirty="0"/>
              <a:t>nslookup</a:t>
            </a:r>
            <a:r>
              <a:rPr lang="es-ES" dirty="0"/>
              <a:t>. Carece de un modo interactivo. En el caso más simple podemos escribir host </a:t>
            </a:r>
            <a:r>
              <a:rPr lang="es-ES" dirty="0" err="1"/>
              <a:t>nombre.dominio</a:t>
            </a:r>
            <a:r>
              <a:rPr lang="es-ES" dirty="0"/>
              <a:t> o la dirección </a:t>
            </a:r>
            <a:r>
              <a:rPr lang="es-ES" i="1" dirty="0"/>
              <a:t>IP</a:t>
            </a:r>
            <a:r>
              <a:rPr lang="es-ES" dirty="0"/>
              <a:t> que deseamos consultar.</a:t>
            </a:r>
            <a:endParaRPr lang="es-ES" dirty="0"/>
          </a:p>
          <a:p>
            <a:pPr lvl="1"/>
            <a:r>
              <a:rPr lang="es-ES" b="1" dirty="0" err="1"/>
              <a:t>dig</a:t>
            </a:r>
            <a:r>
              <a:rPr lang="es-ES" dirty="0"/>
              <a:t>: Realiza búsquedas </a:t>
            </a:r>
            <a:r>
              <a:rPr lang="es-ES" i="1" dirty="0"/>
              <a:t>DNS</a:t>
            </a:r>
            <a:r>
              <a:rPr lang="es-ES" dirty="0"/>
              <a:t> mas complejas que host. Podemos utilizar para localizar la dirección </a:t>
            </a:r>
            <a:r>
              <a:rPr lang="es-ES" i="1" dirty="0"/>
              <a:t>IP</a:t>
            </a:r>
            <a:r>
              <a:rPr lang="es-ES" dirty="0"/>
              <a:t> de un único nombre de </a:t>
            </a:r>
            <a:r>
              <a:rPr lang="es-ES" i="1" dirty="0"/>
              <a:t>host</a:t>
            </a:r>
            <a:r>
              <a:rPr lang="es-ES" dirty="0"/>
              <a:t> o viceversa. Es más flexible que host.</a:t>
            </a:r>
            <a:endParaRPr lang="es-ES" dirty="0"/>
          </a:p>
          <a:p>
            <a:pPr lvl="1"/>
            <a:r>
              <a:rPr lang="es-ES" b="1" dirty="0"/>
              <a:t>whois</a:t>
            </a:r>
            <a:r>
              <a:rPr lang="es-ES" dirty="0"/>
              <a:t>: Puede buscar la información de un dominio en conjunto. Su uso pasa por invocar el nombre del comando seguido del nombre del dominio (</a:t>
            </a:r>
            <a:r>
              <a:rPr lang="es-ES" i="1" dirty="0"/>
              <a:t>4sysadmins.com</a:t>
            </a:r>
            <a:r>
              <a:rPr lang="es-ES" dirty="0"/>
              <a:t>, por ejemplo) y mostrará información como el propietario del dominio, a nombre de quién se ha contratado, en que empresa de dominio se ha registrado, personas de contacto, </a:t>
            </a:r>
            <a:r>
              <a:rPr lang="es-ES" dirty="0" err="1"/>
              <a:t>etc</a:t>
            </a:r>
            <a:r>
              <a:rPr lang="es-ES" dirty="0"/>
              <a:t>… Muchos dominios no ofrecen esta información.</a:t>
            </a:r>
            <a:endParaRPr lang="es-ES" dirty="0"/>
          </a:p>
        </p:txBody>
      </p:sp>
      <p:sp>
        <p:nvSpPr>
          <p:cNvPr id="4" name="Rectangle 1"/>
          <p:cNvSpPr>
            <a:spLocks noChangeArrowheads="1"/>
          </p:cNvSpPr>
          <p:nvPr/>
        </p:nvSpPr>
        <p:spPr bwMode="auto">
          <a:xfrm>
            <a:off x="0" y="26802"/>
            <a:ext cx="323769" cy="40359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854765"/>
            <a:ext cx="10058400" cy="882595"/>
          </a:xfrm>
        </p:spPr>
        <p:txBody>
          <a:bodyPr/>
          <a:lstStyle/>
          <a:p>
            <a:r>
              <a:rPr lang="es-ES" dirty="0"/>
              <a:t>LA RED</a:t>
            </a:r>
            <a:endParaRPr lang="es-ES" dirty="0"/>
          </a:p>
        </p:txBody>
      </p:sp>
      <p:sp>
        <p:nvSpPr>
          <p:cNvPr id="3" name="Marcador de contenido 2"/>
          <p:cNvSpPr>
            <a:spLocks noGrp="1"/>
          </p:cNvSpPr>
          <p:nvPr>
            <p:ph idx="1"/>
          </p:nvPr>
        </p:nvSpPr>
        <p:spPr>
          <a:xfrm>
            <a:off x="1144748" y="1869662"/>
            <a:ext cx="5543131" cy="4398791"/>
          </a:xfrm>
        </p:spPr>
        <p:txBody>
          <a:bodyPr>
            <a:normAutofit/>
          </a:bodyPr>
          <a:lstStyle/>
          <a:p>
            <a:r>
              <a:rPr lang="es-ES" b="1" dirty="0"/>
              <a:t>Puertos de red</a:t>
            </a:r>
            <a:endParaRPr lang="es-ES" b="1" dirty="0"/>
          </a:p>
          <a:p>
            <a:r>
              <a:rPr lang="es-ES" dirty="0"/>
              <a:t>Cuando un cliente envía una petición a un servicio concreto de un servidor debe de especificar un número de puerto, pues no solo bastará con la dirección </a:t>
            </a:r>
            <a:r>
              <a:rPr lang="es-ES" i="1" dirty="0"/>
              <a:t>IP</a:t>
            </a:r>
            <a:r>
              <a:rPr lang="es-ES" dirty="0"/>
              <a:t> del servidor. Es por esto por lo que se agrega un número (</a:t>
            </a:r>
            <a:r>
              <a:rPr lang="es-ES" i="1" dirty="0"/>
              <a:t>número de puerto</a:t>
            </a:r>
            <a:r>
              <a:rPr lang="es-ES" dirty="0"/>
              <a:t>) a la dirección </a:t>
            </a:r>
            <a:r>
              <a:rPr lang="es-ES" i="1" dirty="0"/>
              <a:t>IP</a:t>
            </a:r>
            <a:r>
              <a:rPr lang="es-ES" dirty="0"/>
              <a:t>, de manera que el sistema pueda redirigir el tráfico a un programa/servicio específico dentro del servidor. </a:t>
            </a:r>
            <a:endParaRPr lang="es-ES" dirty="0"/>
          </a:p>
        </p:txBody>
      </p:sp>
      <p:sp>
        <p:nvSpPr>
          <p:cNvPr id="4" name="Rectangle 1"/>
          <p:cNvSpPr>
            <a:spLocks noChangeArrowheads="1"/>
          </p:cNvSpPr>
          <p:nvPr/>
        </p:nvSpPr>
        <p:spPr bwMode="auto">
          <a:xfrm>
            <a:off x="0" y="26802"/>
            <a:ext cx="323769" cy="40359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pic>
        <p:nvPicPr>
          <p:cNvPr id="19458" name="Picture 2" descr="puertos"/>
          <p:cNvPicPr>
            <a:picLocks noChangeAspect="1" noChangeArrowheads="1"/>
          </p:cNvPicPr>
          <p:nvPr/>
        </p:nvPicPr>
        <p:blipFill rotWithShape="1">
          <a:blip r:embed="rId1">
            <a:extLst>
              <a:ext uri="{28A0092B-C50C-407E-A947-70E740481C1C}">
                <a14:useLocalDpi xmlns:a14="http://schemas.microsoft.com/office/drawing/2010/main" val="0"/>
              </a:ext>
            </a:extLst>
          </a:blip>
          <a:srcRect t="-1" b="72607"/>
          <a:stretch>
            <a:fillRect/>
          </a:stretch>
        </p:blipFill>
        <p:spPr bwMode="auto">
          <a:xfrm>
            <a:off x="6687879" y="2245093"/>
            <a:ext cx="4868294" cy="266714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854765"/>
            <a:ext cx="10058400" cy="882595"/>
          </a:xfrm>
        </p:spPr>
        <p:txBody>
          <a:bodyPr/>
          <a:lstStyle/>
          <a:p>
            <a:r>
              <a:rPr lang="es-ES" dirty="0"/>
              <a:t>LA RED</a:t>
            </a:r>
            <a:endParaRPr lang="es-ES" dirty="0"/>
          </a:p>
        </p:txBody>
      </p:sp>
      <p:sp>
        <p:nvSpPr>
          <p:cNvPr id="3" name="Marcador de contenido 2"/>
          <p:cNvSpPr>
            <a:spLocks noGrp="1"/>
          </p:cNvSpPr>
          <p:nvPr>
            <p:ph idx="1"/>
          </p:nvPr>
        </p:nvSpPr>
        <p:spPr>
          <a:xfrm>
            <a:off x="1144748" y="1869662"/>
            <a:ext cx="10010932" cy="4398791"/>
          </a:xfrm>
        </p:spPr>
        <p:txBody>
          <a:bodyPr>
            <a:normAutofit lnSpcReduction="10000"/>
          </a:bodyPr>
          <a:lstStyle/>
          <a:p>
            <a:r>
              <a:rPr lang="es-ES" b="1" dirty="0"/>
              <a:t>Configurar la red en Linux</a:t>
            </a:r>
            <a:endParaRPr lang="es-ES" b="1" dirty="0"/>
          </a:p>
          <a:p>
            <a:r>
              <a:rPr lang="es-ES" dirty="0"/>
              <a:t>Durante la instalación de una distribución de </a:t>
            </a:r>
            <a:r>
              <a:rPr lang="es-ES" i="1" dirty="0"/>
              <a:t>Linux</a:t>
            </a:r>
            <a:r>
              <a:rPr lang="es-ES" dirty="0"/>
              <a:t>, lo mas normal es que se pida que realicemos la configuración de la tarjeta de red de forma casi automática, con una serie de parámetros que nos permitan conectarnos a Internet o bien mantener comunicación con los dispositivos de nuestra red local. Normalmente basta con marcar que queremos recibir unos parámetros de forma automática vía DHCP. No obstante podremos introducir de forma manual y personalizada esos valores si indicamos que queremos conservar una configuración estática.</a:t>
            </a:r>
            <a:endParaRPr lang="es-ES" dirty="0"/>
          </a:p>
          <a:p>
            <a:r>
              <a:rPr lang="es-ES" dirty="0"/>
              <a:t>Los parámetros mínimos para que una red pueda tener comunicación con el resto de dispositivos son: la dirección </a:t>
            </a:r>
            <a:r>
              <a:rPr lang="es-ES" i="1" dirty="0"/>
              <a:t>IP</a:t>
            </a:r>
            <a:r>
              <a:rPr lang="es-ES" dirty="0"/>
              <a:t> del host, la máscara de red, la puerta de acceso y un servidor </a:t>
            </a:r>
            <a:r>
              <a:rPr lang="es-ES" i="1" dirty="0"/>
              <a:t>DNS</a:t>
            </a:r>
            <a:r>
              <a:rPr lang="es-ES" dirty="0"/>
              <a:t>. </a:t>
            </a:r>
            <a:endParaRPr lang="es-ES" dirty="0"/>
          </a:p>
          <a:p>
            <a:r>
              <a:rPr lang="es-ES" dirty="0"/>
              <a:t>Para aprender a configurar la red desde 0 vamos a suponer que no la hemos configurado ya durante la instalación y que además no vamos a usar las herramientas </a:t>
            </a:r>
            <a:r>
              <a:rPr lang="es-ES" i="1" dirty="0"/>
              <a:t>GUI</a:t>
            </a:r>
            <a:r>
              <a:rPr lang="es-ES" dirty="0"/>
              <a:t> que se nos ofrecen para tal fin. </a:t>
            </a:r>
            <a:endParaRPr lang="es-ES" dirty="0"/>
          </a:p>
        </p:txBody>
      </p:sp>
      <p:sp>
        <p:nvSpPr>
          <p:cNvPr id="4" name="Rectangle 1"/>
          <p:cNvSpPr>
            <a:spLocks noChangeArrowheads="1"/>
          </p:cNvSpPr>
          <p:nvPr/>
        </p:nvSpPr>
        <p:spPr bwMode="auto">
          <a:xfrm>
            <a:off x="0" y="26802"/>
            <a:ext cx="323769" cy="40359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854765"/>
            <a:ext cx="10058400" cy="882595"/>
          </a:xfrm>
        </p:spPr>
        <p:txBody>
          <a:bodyPr/>
          <a:lstStyle/>
          <a:p>
            <a:r>
              <a:rPr lang="es-ES" dirty="0"/>
              <a:t>LA RED</a:t>
            </a:r>
            <a:endParaRPr lang="es-ES" dirty="0"/>
          </a:p>
        </p:txBody>
      </p:sp>
      <p:sp>
        <p:nvSpPr>
          <p:cNvPr id="3" name="Marcador de contenido 2"/>
          <p:cNvSpPr>
            <a:spLocks noGrp="1"/>
          </p:cNvSpPr>
          <p:nvPr>
            <p:ph idx="1"/>
          </p:nvPr>
        </p:nvSpPr>
        <p:spPr>
          <a:xfrm>
            <a:off x="1144748" y="1869662"/>
            <a:ext cx="10010932" cy="4398791"/>
          </a:xfrm>
        </p:spPr>
        <p:txBody>
          <a:bodyPr>
            <a:normAutofit/>
          </a:bodyPr>
          <a:lstStyle/>
          <a:p>
            <a:r>
              <a:rPr lang="es-ES" b="1" dirty="0"/>
              <a:t>Configurar la red en Linux. </a:t>
            </a:r>
            <a:r>
              <a:rPr lang="es-ES" altLang="es-ES" b="1" dirty="0"/>
              <a:t>Instalando el hardware de red</a:t>
            </a:r>
            <a:endParaRPr lang="es-ES" altLang="es-ES" b="1" dirty="0"/>
          </a:p>
          <a:p>
            <a:pPr marL="0" lvl="0" indent="0" eaLnBrk="0" fontAlgn="base" hangingPunct="0">
              <a:lnSpc>
                <a:spcPct val="100000"/>
              </a:lnSpc>
              <a:spcBef>
                <a:spcPts val="200"/>
              </a:spcBef>
              <a:buClrTx/>
              <a:buSzTx/>
              <a:buNone/>
            </a:pPr>
            <a:r>
              <a:rPr lang="es-ES" altLang="es-ES" sz="1600" dirty="0">
                <a:solidFill>
                  <a:srgbClr val="333333"/>
                </a:solidFill>
              </a:rPr>
              <a:t>Lo primero que deberemos de hacer en caso de que nuestro equipo no cuente con un hardware de red interno, será instalar una tarjeta de red en la placa base o vía USB. Una vez tengamos la tarjeta instalada y el sistema en funcionamiento, deberemos de asegurarnos de que el módulo de la tarjeta está cargado. Esta operación de carga normalmente la lleva a cabo el propio sistema mediante scripts de inicio, pero si nuestro sistema no ha detectado nuestro hardware, podremos cargar nosotros mimos el controlador. Para cargar el módulo de la tarjeta será necesario contar con dicho módulo y conocer su nombre. A continuación pasaremos a cargarlo con el comando </a:t>
            </a:r>
            <a:r>
              <a:rPr lang="es-ES" altLang="es-ES" sz="1600" b="1" dirty="0" err="1">
                <a:solidFill>
                  <a:srgbClr val="333333"/>
                </a:solidFill>
              </a:rPr>
              <a:t>modprobe</a:t>
            </a:r>
            <a:r>
              <a:rPr lang="es-ES" altLang="es-ES" sz="1600" dirty="0">
                <a:solidFill>
                  <a:srgbClr val="333333"/>
                </a:solidFill>
              </a:rPr>
              <a:t>:</a:t>
            </a:r>
            <a:endParaRPr lang="es-ES" altLang="es-ES" sz="1600" dirty="0">
              <a:solidFill>
                <a:srgbClr val="333333"/>
              </a:solidFill>
              <a:cs typeface="Courier New" panose="02070309020205020404" pitchFamily="49" charset="0"/>
            </a:endParaRPr>
          </a:p>
          <a:p>
            <a:pPr marL="0" lvl="0" indent="0" algn="ctr" eaLnBrk="0" fontAlgn="base" hangingPunct="0">
              <a:lnSpc>
                <a:spcPct val="100000"/>
              </a:lnSpc>
              <a:spcBef>
                <a:spcPts val="200"/>
              </a:spcBef>
              <a:buClrTx/>
              <a:buSzTx/>
              <a:buNone/>
            </a:pPr>
            <a:r>
              <a:rPr lang="es-ES" altLang="es-ES" sz="1600" b="1" dirty="0">
                <a:solidFill>
                  <a:srgbClr val="333333"/>
                </a:solidFill>
                <a:cs typeface="Courier New" panose="02070309020205020404" pitchFamily="49" charset="0"/>
              </a:rPr>
              <a:t># </a:t>
            </a:r>
            <a:r>
              <a:rPr lang="es-ES" altLang="es-ES" sz="1600" b="1" dirty="0" err="1">
                <a:solidFill>
                  <a:srgbClr val="333333"/>
                </a:solidFill>
                <a:cs typeface="Courier New" panose="02070309020205020404" pitchFamily="49" charset="0"/>
              </a:rPr>
              <a:t>modprobe</a:t>
            </a:r>
            <a:r>
              <a:rPr lang="es-ES" altLang="es-ES" sz="1600" b="1" dirty="0">
                <a:solidFill>
                  <a:srgbClr val="333333"/>
                </a:solidFill>
                <a:cs typeface="Courier New" panose="02070309020205020404" pitchFamily="49" charset="0"/>
              </a:rPr>
              <a:t> &lt;módulo&gt;</a:t>
            </a:r>
            <a:endParaRPr lang="es-ES" altLang="es-ES" sz="1600" b="1" dirty="0">
              <a:solidFill>
                <a:schemeClr val="tx1"/>
              </a:solidFill>
            </a:endParaRPr>
          </a:p>
          <a:p>
            <a:pPr marL="0" lvl="0" indent="0" eaLnBrk="0" fontAlgn="base" hangingPunct="0">
              <a:lnSpc>
                <a:spcPct val="100000"/>
              </a:lnSpc>
              <a:spcBef>
                <a:spcPts val="200"/>
              </a:spcBef>
              <a:buClrTx/>
              <a:buSzTx/>
              <a:buNone/>
            </a:pPr>
            <a:r>
              <a:rPr lang="es-ES" altLang="es-ES" sz="1600" dirty="0">
                <a:solidFill>
                  <a:srgbClr val="333333"/>
                </a:solidFill>
              </a:rPr>
              <a:t>Con la tarjeta ya instalada y cargado so módulo e incluso configurado para ser cargado al inicio pasaremos a configurarla.</a:t>
            </a:r>
            <a:endParaRPr lang="es-ES" altLang="es-ES" sz="1600" dirty="0">
              <a:solidFill>
                <a:schemeClr val="tx1"/>
              </a:solidFill>
            </a:endParaRPr>
          </a:p>
        </p:txBody>
      </p:sp>
      <p:sp>
        <p:nvSpPr>
          <p:cNvPr id="4" name="Rectangle 1"/>
          <p:cNvSpPr>
            <a:spLocks noChangeArrowheads="1"/>
          </p:cNvSpPr>
          <p:nvPr/>
        </p:nvSpPr>
        <p:spPr bwMode="auto">
          <a:xfrm>
            <a:off x="0" y="26802"/>
            <a:ext cx="323769" cy="40359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5" name="Rectangle 1"/>
          <p:cNvSpPr>
            <a:spLocks noChangeArrowheads="1"/>
          </p:cNvSpPr>
          <p:nvPr/>
        </p:nvSpPr>
        <p:spPr bwMode="auto">
          <a:xfrm>
            <a:off x="-1148316" y="309340"/>
            <a:ext cx="65" cy="501349"/>
          </a:xfrm>
          <a:prstGeom prst="rect">
            <a:avLst/>
          </a:prstGeom>
          <a:solidFill>
            <a:srgbClr val="F1F1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33308" rIns="0" bIns="88872"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854765"/>
            <a:ext cx="10058400" cy="882595"/>
          </a:xfrm>
        </p:spPr>
        <p:txBody>
          <a:bodyPr/>
          <a:lstStyle/>
          <a:p>
            <a:r>
              <a:rPr lang="es-ES" dirty="0"/>
              <a:t>LA RED</a:t>
            </a:r>
            <a:endParaRPr lang="es-ES" dirty="0"/>
          </a:p>
        </p:txBody>
      </p:sp>
      <p:sp>
        <p:nvSpPr>
          <p:cNvPr id="3" name="Marcador de contenido 2"/>
          <p:cNvSpPr>
            <a:spLocks noGrp="1"/>
          </p:cNvSpPr>
          <p:nvPr>
            <p:ph idx="1"/>
          </p:nvPr>
        </p:nvSpPr>
        <p:spPr>
          <a:xfrm>
            <a:off x="1144748" y="1869662"/>
            <a:ext cx="10010932" cy="4398791"/>
          </a:xfrm>
        </p:spPr>
        <p:txBody>
          <a:bodyPr>
            <a:normAutofit/>
          </a:bodyPr>
          <a:lstStyle/>
          <a:p>
            <a:r>
              <a:rPr lang="es-ES" b="1" dirty="0"/>
              <a:t>Configurar la red en Linux. </a:t>
            </a:r>
            <a:r>
              <a:rPr lang="es-ES" altLang="es-ES" b="1" dirty="0"/>
              <a:t>Instalando el hardware de red</a:t>
            </a:r>
            <a:endParaRPr lang="es-ES" altLang="es-ES" b="1" dirty="0"/>
          </a:p>
        </p:txBody>
      </p:sp>
      <p:sp>
        <p:nvSpPr>
          <p:cNvPr id="4" name="Rectangle 1"/>
          <p:cNvSpPr>
            <a:spLocks noChangeArrowheads="1"/>
          </p:cNvSpPr>
          <p:nvPr/>
        </p:nvSpPr>
        <p:spPr bwMode="auto">
          <a:xfrm>
            <a:off x="0" y="26802"/>
            <a:ext cx="323769" cy="40359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5" name="Rectangle 1"/>
          <p:cNvSpPr>
            <a:spLocks noChangeArrowheads="1"/>
          </p:cNvSpPr>
          <p:nvPr/>
        </p:nvSpPr>
        <p:spPr bwMode="auto">
          <a:xfrm>
            <a:off x="-1148316" y="309340"/>
            <a:ext cx="65" cy="501349"/>
          </a:xfrm>
          <a:prstGeom prst="rect">
            <a:avLst/>
          </a:prstGeom>
          <a:solidFill>
            <a:srgbClr val="F1F1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33308" rIns="0" bIns="88872"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pic>
        <p:nvPicPr>
          <p:cNvPr id="6" name="Imagen 5"/>
          <p:cNvPicPr>
            <a:picLocks noChangeAspect="1"/>
          </p:cNvPicPr>
          <p:nvPr/>
        </p:nvPicPr>
        <p:blipFill>
          <a:blip r:embed="rId1"/>
          <a:stretch>
            <a:fillRect/>
          </a:stretch>
        </p:blipFill>
        <p:spPr>
          <a:xfrm>
            <a:off x="868601" y="2287003"/>
            <a:ext cx="10563225" cy="398145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854765"/>
            <a:ext cx="10058400" cy="882595"/>
          </a:xfrm>
        </p:spPr>
        <p:txBody>
          <a:bodyPr/>
          <a:lstStyle/>
          <a:p>
            <a:r>
              <a:rPr lang="es-ES" dirty="0"/>
              <a:t>LA RED</a:t>
            </a:r>
            <a:endParaRPr lang="es-ES" dirty="0"/>
          </a:p>
        </p:txBody>
      </p:sp>
      <p:sp>
        <p:nvSpPr>
          <p:cNvPr id="3" name="Marcador de contenido 2"/>
          <p:cNvSpPr>
            <a:spLocks noGrp="1"/>
          </p:cNvSpPr>
          <p:nvPr>
            <p:ph idx="1"/>
          </p:nvPr>
        </p:nvSpPr>
        <p:spPr>
          <a:xfrm>
            <a:off x="1144748" y="1869662"/>
            <a:ext cx="10010932" cy="4398791"/>
          </a:xfrm>
        </p:spPr>
        <p:txBody>
          <a:bodyPr>
            <a:normAutofit/>
          </a:bodyPr>
          <a:lstStyle/>
          <a:p>
            <a:r>
              <a:rPr lang="es-ES" b="1" dirty="0"/>
              <a:t>Configurar la red en Linux. </a:t>
            </a:r>
            <a:r>
              <a:rPr lang="es-ES" altLang="es-ES" b="1" dirty="0"/>
              <a:t>Instalando el hardware de red</a:t>
            </a:r>
            <a:endParaRPr lang="es-ES" altLang="es-ES" b="1" dirty="0"/>
          </a:p>
        </p:txBody>
      </p:sp>
      <p:sp>
        <p:nvSpPr>
          <p:cNvPr id="4" name="Rectangle 1"/>
          <p:cNvSpPr>
            <a:spLocks noChangeArrowheads="1"/>
          </p:cNvSpPr>
          <p:nvPr/>
        </p:nvSpPr>
        <p:spPr bwMode="auto">
          <a:xfrm>
            <a:off x="0" y="26802"/>
            <a:ext cx="323769" cy="40359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5" name="Rectangle 1"/>
          <p:cNvSpPr>
            <a:spLocks noChangeArrowheads="1"/>
          </p:cNvSpPr>
          <p:nvPr/>
        </p:nvSpPr>
        <p:spPr bwMode="auto">
          <a:xfrm>
            <a:off x="-1148316" y="309340"/>
            <a:ext cx="65" cy="501349"/>
          </a:xfrm>
          <a:prstGeom prst="rect">
            <a:avLst/>
          </a:prstGeom>
          <a:solidFill>
            <a:srgbClr val="F1F1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33308" rIns="0" bIns="88872"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pic>
        <p:nvPicPr>
          <p:cNvPr id="7" name="Imagen 6"/>
          <p:cNvPicPr>
            <a:picLocks noChangeAspect="1"/>
          </p:cNvPicPr>
          <p:nvPr/>
        </p:nvPicPr>
        <p:blipFill>
          <a:blip r:embed="rId1"/>
          <a:stretch>
            <a:fillRect/>
          </a:stretch>
        </p:blipFill>
        <p:spPr>
          <a:xfrm>
            <a:off x="1144748" y="2306053"/>
            <a:ext cx="10467975" cy="39624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854765"/>
            <a:ext cx="10058400" cy="882595"/>
          </a:xfrm>
        </p:spPr>
        <p:txBody>
          <a:bodyPr/>
          <a:lstStyle/>
          <a:p>
            <a:r>
              <a:rPr lang="es-ES" dirty="0"/>
              <a:t>LA RED</a:t>
            </a:r>
            <a:endParaRPr lang="es-ES" dirty="0"/>
          </a:p>
        </p:txBody>
      </p:sp>
      <p:sp>
        <p:nvSpPr>
          <p:cNvPr id="4" name="Rectangle 1"/>
          <p:cNvSpPr>
            <a:spLocks noChangeArrowheads="1"/>
          </p:cNvSpPr>
          <p:nvPr/>
        </p:nvSpPr>
        <p:spPr bwMode="auto">
          <a:xfrm>
            <a:off x="0" y="26802"/>
            <a:ext cx="323769" cy="40359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5" name="Rectangle 1"/>
          <p:cNvSpPr>
            <a:spLocks noChangeArrowheads="1"/>
          </p:cNvSpPr>
          <p:nvPr/>
        </p:nvSpPr>
        <p:spPr bwMode="auto">
          <a:xfrm>
            <a:off x="-1148316" y="309340"/>
            <a:ext cx="65" cy="501349"/>
          </a:xfrm>
          <a:prstGeom prst="rect">
            <a:avLst/>
          </a:prstGeom>
          <a:solidFill>
            <a:srgbClr val="F1F1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33308" rIns="0" bIns="88872"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pic>
        <p:nvPicPr>
          <p:cNvPr id="6" name="Imagen 5"/>
          <p:cNvPicPr>
            <a:picLocks noChangeAspect="1"/>
          </p:cNvPicPr>
          <p:nvPr/>
        </p:nvPicPr>
        <p:blipFill rotWithShape="1">
          <a:blip r:embed="rId1"/>
          <a:srcRect b="24862"/>
          <a:stretch>
            <a:fillRect/>
          </a:stretch>
        </p:blipFill>
        <p:spPr>
          <a:xfrm>
            <a:off x="988495" y="1974998"/>
            <a:ext cx="10448925" cy="3607095"/>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854765"/>
            <a:ext cx="10058400" cy="882595"/>
          </a:xfrm>
        </p:spPr>
        <p:txBody>
          <a:bodyPr/>
          <a:lstStyle/>
          <a:p>
            <a:r>
              <a:rPr lang="es-ES" dirty="0"/>
              <a:t>LA RED</a:t>
            </a:r>
            <a:endParaRPr lang="es-ES" dirty="0"/>
          </a:p>
        </p:txBody>
      </p:sp>
      <p:sp>
        <p:nvSpPr>
          <p:cNvPr id="3" name="Marcador de contenido 2"/>
          <p:cNvSpPr>
            <a:spLocks noGrp="1"/>
          </p:cNvSpPr>
          <p:nvPr>
            <p:ph idx="1"/>
          </p:nvPr>
        </p:nvSpPr>
        <p:spPr>
          <a:xfrm>
            <a:off x="1144748" y="1869662"/>
            <a:ext cx="10010932" cy="4398791"/>
          </a:xfrm>
        </p:spPr>
        <p:txBody>
          <a:bodyPr>
            <a:normAutofit/>
          </a:bodyPr>
          <a:lstStyle/>
          <a:p>
            <a:r>
              <a:rPr lang="es-ES" b="1" dirty="0"/>
              <a:t>Configurar la red en Linux.</a:t>
            </a:r>
            <a:endParaRPr lang="es-ES" altLang="es-ES" b="1" dirty="0"/>
          </a:p>
        </p:txBody>
      </p:sp>
      <p:sp>
        <p:nvSpPr>
          <p:cNvPr id="4" name="Rectangle 1"/>
          <p:cNvSpPr>
            <a:spLocks noChangeArrowheads="1"/>
          </p:cNvSpPr>
          <p:nvPr/>
        </p:nvSpPr>
        <p:spPr bwMode="auto">
          <a:xfrm>
            <a:off x="0" y="26802"/>
            <a:ext cx="323769" cy="40359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5" name="Rectangle 1"/>
          <p:cNvSpPr>
            <a:spLocks noChangeArrowheads="1"/>
          </p:cNvSpPr>
          <p:nvPr/>
        </p:nvSpPr>
        <p:spPr bwMode="auto">
          <a:xfrm>
            <a:off x="-1148316" y="309340"/>
            <a:ext cx="65" cy="501349"/>
          </a:xfrm>
          <a:prstGeom prst="rect">
            <a:avLst/>
          </a:prstGeom>
          <a:solidFill>
            <a:srgbClr val="F1F1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33308" rIns="0" bIns="88872"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pic>
        <p:nvPicPr>
          <p:cNvPr id="7" name="Imagen 6"/>
          <p:cNvPicPr>
            <a:picLocks noChangeAspect="1"/>
          </p:cNvPicPr>
          <p:nvPr/>
        </p:nvPicPr>
        <p:blipFill>
          <a:blip r:embed="rId1"/>
          <a:stretch>
            <a:fillRect/>
          </a:stretch>
        </p:blipFill>
        <p:spPr>
          <a:xfrm>
            <a:off x="1097280" y="2294084"/>
            <a:ext cx="10325100" cy="324802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854765"/>
            <a:ext cx="10058400" cy="882595"/>
          </a:xfrm>
        </p:spPr>
        <p:txBody>
          <a:bodyPr/>
          <a:lstStyle/>
          <a:p>
            <a:r>
              <a:rPr lang="es-ES" dirty="0"/>
              <a:t>LA RED</a:t>
            </a:r>
            <a:endParaRPr lang="es-ES" dirty="0"/>
          </a:p>
        </p:txBody>
      </p:sp>
      <p:sp>
        <p:nvSpPr>
          <p:cNvPr id="3" name="Marcador de contenido 2"/>
          <p:cNvSpPr>
            <a:spLocks noGrp="1"/>
          </p:cNvSpPr>
          <p:nvPr>
            <p:ph idx="1"/>
          </p:nvPr>
        </p:nvSpPr>
        <p:spPr>
          <a:xfrm>
            <a:off x="1144748" y="1869662"/>
            <a:ext cx="10010932" cy="4398791"/>
          </a:xfrm>
        </p:spPr>
        <p:txBody>
          <a:bodyPr>
            <a:normAutofit fontScale="25000" lnSpcReduction="20000"/>
          </a:bodyPr>
          <a:lstStyle/>
          <a:p>
            <a:r>
              <a:rPr lang="es-ES" sz="6400" b="1" dirty="0"/>
              <a:t>Configurar la red en Linux. El archivo /</a:t>
            </a:r>
            <a:r>
              <a:rPr lang="es-ES" sz="6400" b="1" dirty="0" err="1"/>
              <a:t>etc</a:t>
            </a:r>
            <a:r>
              <a:rPr lang="es-ES" sz="6400" b="1" dirty="0"/>
              <a:t>/</a:t>
            </a:r>
            <a:r>
              <a:rPr lang="es-ES" sz="6400" b="1" dirty="0" err="1"/>
              <a:t>sysctl.conf</a:t>
            </a:r>
            <a:r>
              <a:rPr lang="es-ES" sz="6400" b="1" dirty="0"/>
              <a:t> y el comando </a:t>
            </a:r>
            <a:r>
              <a:rPr lang="es-ES" sz="6400" b="1" dirty="0" err="1"/>
              <a:t>sysctl</a:t>
            </a:r>
            <a:endParaRPr lang="es-ES" sz="6400" b="1" dirty="0"/>
          </a:p>
          <a:p>
            <a:r>
              <a:rPr lang="es-ES" sz="4800" dirty="0"/>
              <a:t>El archivo </a:t>
            </a:r>
            <a:r>
              <a:rPr lang="es-ES" sz="4800" i="1" dirty="0"/>
              <a:t>/</a:t>
            </a:r>
            <a:r>
              <a:rPr lang="es-ES" sz="4800" i="1" dirty="0" err="1"/>
              <a:t>etc</a:t>
            </a:r>
            <a:r>
              <a:rPr lang="es-ES" sz="4800" i="1" dirty="0"/>
              <a:t>/</a:t>
            </a:r>
            <a:r>
              <a:rPr lang="es-ES" sz="4800" i="1" dirty="0" err="1"/>
              <a:t>sysctl.conf</a:t>
            </a:r>
            <a:r>
              <a:rPr lang="es-ES" sz="4800" dirty="0"/>
              <a:t> es usado para pasarle parámetros de configuración al </a:t>
            </a:r>
            <a:r>
              <a:rPr lang="es-ES" sz="4800" i="1" dirty="0" err="1"/>
              <a:t>kernel</a:t>
            </a:r>
            <a:r>
              <a:rPr lang="es-ES" sz="4800" dirty="0"/>
              <a:t> en tiempo de ejecución, es decir, se utiliza para configurar o cambiar el comportamiento del </a:t>
            </a:r>
            <a:r>
              <a:rPr lang="es-ES" sz="4800" i="1" dirty="0" err="1"/>
              <a:t>kernel</a:t>
            </a:r>
            <a:r>
              <a:rPr lang="es-ES" sz="4800" dirty="0"/>
              <a:t> que se está ejecutando. Equivale a modificar los valores de los archivos del sistema de archivos virtual</a:t>
            </a:r>
            <a:r>
              <a:rPr lang="es-ES" sz="4800" i="1" dirty="0"/>
              <a:t> /</a:t>
            </a:r>
            <a:r>
              <a:rPr lang="es-ES" sz="4800" i="1" dirty="0" err="1"/>
              <a:t>proc</a:t>
            </a:r>
            <a:r>
              <a:rPr lang="es-ES" sz="4800" dirty="0"/>
              <a:t> y mas concretamente a los del directorio </a:t>
            </a:r>
            <a:r>
              <a:rPr lang="es-ES" sz="4800" i="1" dirty="0"/>
              <a:t>/</a:t>
            </a:r>
            <a:r>
              <a:rPr lang="es-ES" sz="4800" i="1" dirty="0" err="1"/>
              <a:t>proc</a:t>
            </a:r>
            <a:r>
              <a:rPr lang="es-ES" sz="4800" i="1" dirty="0"/>
              <a:t>/</a:t>
            </a:r>
            <a:r>
              <a:rPr lang="es-ES" sz="4800" i="1" dirty="0" err="1"/>
              <a:t>sys</a:t>
            </a:r>
            <a:r>
              <a:rPr lang="es-ES" sz="4800" dirty="0"/>
              <a:t> solo que de hacerlo a través de los archivos, al reiniciar estos cambios no serán conservados, mientras que si modificamos los parámetros directamente desde</a:t>
            </a:r>
            <a:r>
              <a:rPr lang="es-ES" sz="4800" i="1" dirty="0"/>
              <a:t> /</a:t>
            </a:r>
            <a:r>
              <a:rPr lang="es-ES" sz="4800" i="1" dirty="0" err="1"/>
              <a:t>etc</a:t>
            </a:r>
            <a:r>
              <a:rPr lang="es-ES" sz="4800" i="1" dirty="0"/>
              <a:t>/sysctl.sys</a:t>
            </a:r>
            <a:r>
              <a:rPr lang="es-ES" sz="4800" dirty="0"/>
              <a:t> los cambios permanecerán. Para cambiar los valores de este archivo una vez que el sistema se encuentra arrancado usaremos el comando </a:t>
            </a:r>
            <a:r>
              <a:rPr lang="es-ES" sz="4800" b="1" dirty="0" err="1"/>
              <a:t>sysctl</a:t>
            </a:r>
            <a:r>
              <a:rPr lang="es-ES" sz="4800" dirty="0"/>
              <a:t>, el cual sirve tanto para visualizar parámetros como para modificarlos. Los parámetros a modificar se encuentran como ya hemos comentado en </a:t>
            </a:r>
            <a:r>
              <a:rPr lang="es-ES" sz="4800" i="1" dirty="0"/>
              <a:t>/</a:t>
            </a:r>
            <a:r>
              <a:rPr lang="es-ES" sz="4800" i="1" dirty="0" err="1"/>
              <a:t>proc</a:t>
            </a:r>
            <a:r>
              <a:rPr lang="es-ES" sz="4800" i="1" dirty="0"/>
              <a:t>/</a:t>
            </a:r>
            <a:r>
              <a:rPr lang="es-ES" sz="4800" i="1" dirty="0" err="1"/>
              <a:t>sys</a:t>
            </a:r>
            <a:r>
              <a:rPr lang="es-ES" sz="4800" dirty="0"/>
              <a:t> y los mas significativos suelen ser:</a:t>
            </a:r>
            <a:endParaRPr lang="es-ES" sz="4800" dirty="0"/>
          </a:p>
          <a:p>
            <a:pPr lvl="1"/>
            <a:r>
              <a:rPr lang="es-ES" sz="4600" b="1" dirty="0" err="1"/>
              <a:t>dev</a:t>
            </a:r>
            <a:r>
              <a:rPr lang="es-ES" sz="4600" dirty="0"/>
              <a:t> : Establece los parámetros de configuración de los dispositivos conectados.</a:t>
            </a:r>
            <a:endParaRPr lang="es-ES" sz="4600" dirty="0"/>
          </a:p>
          <a:p>
            <a:pPr lvl="1"/>
            <a:r>
              <a:rPr lang="es-ES" sz="4600" b="1" dirty="0" err="1"/>
              <a:t>fs</a:t>
            </a:r>
            <a:r>
              <a:rPr lang="es-ES" sz="4600" dirty="0"/>
              <a:t> : Parámetros relacionados con los sistemas de ficheros como los </a:t>
            </a:r>
            <a:r>
              <a:rPr lang="es-ES" sz="4600" i="1" dirty="0" err="1"/>
              <a:t>inodes</a:t>
            </a:r>
            <a:r>
              <a:rPr lang="es-ES" sz="4600" dirty="0"/>
              <a:t>, </a:t>
            </a:r>
            <a:r>
              <a:rPr lang="es-ES" sz="4600" i="1" dirty="0" err="1"/>
              <a:t>quotas</a:t>
            </a:r>
            <a:r>
              <a:rPr lang="es-ES" sz="4600" dirty="0"/>
              <a:t>, etc..</a:t>
            </a:r>
            <a:endParaRPr lang="es-ES" sz="4600" dirty="0"/>
          </a:p>
          <a:p>
            <a:pPr lvl="1"/>
            <a:r>
              <a:rPr lang="es-ES" sz="4600" b="1" dirty="0" err="1"/>
              <a:t>kernel</a:t>
            </a:r>
            <a:r>
              <a:rPr lang="es-ES" sz="4600" dirty="0"/>
              <a:t> : Comportamiento general del </a:t>
            </a:r>
            <a:r>
              <a:rPr lang="es-ES" sz="4600" dirty="0" err="1"/>
              <a:t>kernel</a:t>
            </a:r>
            <a:endParaRPr lang="es-ES" sz="4600" dirty="0"/>
          </a:p>
          <a:p>
            <a:pPr lvl="1"/>
            <a:r>
              <a:rPr lang="es-ES" sz="4600" b="1" dirty="0"/>
              <a:t>net</a:t>
            </a:r>
            <a:r>
              <a:rPr lang="es-ES" sz="4600" dirty="0"/>
              <a:t> : Los relacionados con la configuración de la red.</a:t>
            </a:r>
            <a:endParaRPr lang="es-ES" sz="4600" dirty="0"/>
          </a:p>
          <a:p>
            <a:pPr lvl="1"/>
            <a:r>
              <a:rPr lang="es-ES" sz="4600" b="1" dirty="0" err="1"/>
              <a:t>vm</a:t>
            </a:r>
            <a:r>
              <a:rPr lang="es-ES" sz="4600" dirty="0"/>
              <a:t> : Utilizados para configurar la memoria virtual</a:t>
            </a:r>
            <a:endParaRPr lang="es-ES" sz="4600" dirty="0"/>
          </a:p>
          <a:p>
            <a:r>
              <a:rPr lang="es-ES" sz="4800" dirty="0"/>
              <a:t>La sintaxis de </a:t>
            </a:r>
            <a:r>
              <a:rPr lang="es-ES" sz="4800" i="1" dirty="0" err="1"/>
              <a:t>sysctl</a:t>
            </a:r>
            <a:r>
              <a:rPr lang="es-ES" sz="4800" dirty="0"/>
              <a:t> es sencilla</a:t>
            </a:r>
            <a:endParaRPr lang="es-ES" sz="4800" dirty="0"/>
          </a:p>
          <a:p>
            <a:pPr algn="ctr"/>
            <a:r>
              <a:rPr lang="es-ES" sz="4800" b="1" dirty="0" err="1"/>
              <a:t>sysctl</a:t>
            </a:r>
            <a:r>
              <a:rPr lang="es-ES" sz="4800" b="1" dirty="0"/>
              <a:t> [opciones] variable=valor</a:t>
            </a:r>
            <a:endParaRPr lang="es-ES" sz="4800" dirty="0"/>
          </a:p>
          <a:p>
            <a:r>
              <a:rPr lang="es-ES" sz="4800" dirty="0"/>
              <a:t>Alguna de las opciones mas habituales para </a:t>
            </a:r>
            <a:r>
              <a:rPr lang="es-ES" sz="4800" i="1" dirty="0" err="1"/>
              <a:t>sysctl</a:t>
            </a:r>
            <a:r>
              <a:rPr lang="es-ES" sz="4800" dirty="0"/>
              <a:t> son: </a:t>
            </a:r>
            <a:r>
              <a:rPr lang="es-ES" sz="4800" b="1" dirty="0"/>
              <a:t>-a</a:t>
            </a:r>
            <a:r>
              <a:rPr lang="es-ES" sz="4800" dirty="0"/>
              <a:t> (muestra todos los parámetros y sus valores asignados que se encuentran configurados en el sistema), </a:t>
            </a:r>
            <a:r>
              <a:rPr lang="es-ES" sz="4800" b="1" dirty="0"/>
              <a:t>-w</a:t>
            </a:r>
            <a:r>
              <a:rPr lang="es-ES" sz="4800" dirty="0"/>
              <a:t> (establece un valor indicado, no será permanente pero nos ayudará a comprobar sus resultados. En caso de ser favorables podremos hacer posteriormente los cambios permanentes modificando </a:t>
            </a:r>
            <a:r>
              <a:rPr lang="es-ES" sz="4800" i="1" dirty="0" err="1"/>
              <a:t>sysctl.conf</a:t>
            </a:r>
            <a:r>
              <a:rPr lang="es-ES" sz="4800" dirty="0"/>
              <a:t>) y </a:t>
            </a:r>
            <a:r>
              <a:rPr lang="es-ES" sz="4800" b="1" dirty="0"/>
              <a:t>-p</a:t>
            </a:r>
            <a:r>
              <a:rPr lang="es-ES" sz="4800" dirty="0"/>
              <a:t> (carga los valores de </a:t>
            </a:r>
            <a:r>
              <a:rPr lang="es-ES" sz="4800" i="1" dirty="0" err="1"/>
              <a:t>sysctl.conf</a:t>
            </a:r>
            <a:endParaRPr lang="es-ES" sz="4800" dirty="0"/>
          </a:p>
        </p:txBody>
      </p:sp>
      <p:sp>
        <p:nvSpPr>
          <p:cNvPr id="4" name="Rectangle 1"/>
          <p:cNvSpPr>
            <a:spLocks noChangeArrowheads="1"/>
          </p:cNvSpPr>
          <p:nvPr/>
        </p:nvSpPr>
        <p:spPr bwMode="auto">
          <a:xfrm>
            <a:off x="0" y="26802"/>
            <a:ext cx="323769" cy="40359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5" name="Rectangle 1"/>
          <p:cNvSpPr>
            <a:spLocks noChangeArrowheads="1"/>
          </p:cNvSpPr>
          <p:nvPr/>
        </p:nvSpPr>
        <p:spPr bwMode="auto">
          <a:xfrm>
            <a:off x="-1148316" y="309340"/>
            <a:ext cx="65" cy="501349"/>
          </a:xfrm>
          <a:prstGeom prst="rect">
            <a:avLst/>
          </a:prstGeom>
          <a:solidFill>
            <a:srgbClr val="F1F1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33308" rIns="0" bIns="88872"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854765"/>
            <a:ext cx="10058400" cy="882595"/>
          </a:xfrm>
        </p:spPr>
        <p:txBody>
          <a:bodyPr/>
          <a:lstStyle/>
          <a:p>
            <a:r>
              <a:rPr lang="es-ES" dirty="0"/>
              <a:t>LA RED</a:t>
            </a:r>
            <a:endParaRPr lang="es-ES" dirty="0"/>
          </a:p>
        </p:txBody>
      </p:sp>
      <p:sp>
        <p:nvSpPr>
          <p:cNvPr id="3" name="Marcador de contenido 2"/>
          <p:cNvSpPr>
            <a:spLocks noGrp="1"/>
          </p:cNvSpPr>
          <p:nvPr>
            <p:ph idx="1"/>
          </p:nvPr>
        </p:nvSpPr>
        <p:spPr>
          <a:xfrm>
            <a:off x="1144748" y="1869662"/>
            <a:ext cx="3501680" cy="4398791"/>
          </a:xfrm>
        </p:spPr>
        <p:txBody>
          <a:bodyPr>
            <a:normAutofit/>
          </a:bodyPr>
          <a:lstStyle/>
          <a:p>
            <a:r>
              <a:rPr lang="es-ES" sz="1600" b="1" dirty="0"/>
              <a:t>El comando IP</a:t>
            </a:r>
            <a:endParaRPr lang="es-ES" sz="1600" b="1" dirty="0"/>
          </a:p>
          <a:p>
            <a:r>
              <a:rPr lang="es-ES" dirty="0"/>
              <a:t>El comando </a:t>
            </a:r>
            <a:r>
              <a:rPr lang="es-ES" i="1" dirty="0" err="1"/>
              <a:t>ip</a:t>
            </a:r>
            <a:r>
              <a:rPr lang="es-ES" dirty="0"/>
              <a:t> es el comando que pretende sustituir a </a:t>
            </a:r>
            <a:r>
              <a:rPr lang="es-ES" i="1" dirty="0" err="1"/>
              <a:t>ifconfig</a:t>
            </a:r>
            <a:r>
              <a:rPr lang="es-ES" dirty="0"/>
              <a:t> y </a:t>
            </a:r>
            <a:r>
              <a:rPr lang="es-ES" i="1" dirty="0" err="1"/>
              <a:t>route</a:t>
            </a:r>
            <a:r>
              <a:rPr lang="es-ES" dirty="0"/>
              <a:t>, y por supuesto a </a:t>
            </a:r>
            <a:r>
              <a:rPr lang="es-ES" i="1" dirty="0" err="1"/>
              <a:t>ifup</a:t>
            </a:r>
            <a:r>
              <a:rPr lang="es-ES" dirty="0"/>
              <a:t> y </a:t>
            </a:r>
            <a:r>
              <a:rPr lang="es-ES" i="1" dirty="0" err="1"/>
              <a:t>ifdown</a:t>
            </a:r>
            <a:r>
              <a:rPr lang="es-ES" dirty="0"/>
              <a:t>, vamos que es la navaja suiza con respecto a la configuración de la red. </a:t>
            </a:r>
            <a:endParaRPr lang="es-ES" dirty="0"/>
          </a:p>
          <a:p>
            <a:endParaRPr lang="es-ES" sz="1600" b="1" dirty="0"/>
          </a:p>
        </p:txBody>
      </p:sp>
      <p:sp>
        <p:nvSpPr>
          <p:cNvPr id="4" name="Rectangle 1"/>
          <p:cNvSpPr>
            <a:spLocks noChangeArrowheads="1"/>
          </p:cNvSpPr>
          <p:nvPr/>
        </p:nvSpPr>
        <p:spPr bwMode="auto">
          <a:xfrm>
            <a:off x="0" y="26802"/>
            <a:ext cx="323769" cy="40359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5" name="Rectangle 1"/>
          <p:cNvSpPr>
            <a:spLocks noChangeArrowheads="1"/>
          </p:cNvSpPr>
          <p:nvPr/>
        </p:nvSpPr>
        <p:spPr bwMode="auto">
          <a:xfrm>
            <a:off x="-1148316" y="309340"/>
            <a:ext cx="65" cy="501349"/>
          </a:xfrm>
          <a:prstGeom prst="rect">
            <a:avLst/>
          </a:prstGeom>
          <a:solidFill>
            <a:srgbClr val="F1F1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33308" rIns="0" bIns="88872"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pic>
        <p:nvPicPr>
          <p:cNvPr id="6" name="Imagen 5"/>
          <p:cNvPicPr>
            <a:picLocks noChangeAspect="1"/>
          </p:cNvPicPr>
          <p:nvPr/>
        </p:nvPicPr>
        <p:blipFill>
          <a:blip r:embed="rId1"/>
          <a:stretch>
            <a:fillRect/>
          </a:stretch>
        </p:blipFill>
        <p:spPr>
          <a:xfrm>
            <a:off x="5466439" y="1980539"/>
            <a:ext cx="5689241" cy="4022696"/>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854765"/>
            <a:ext cx="10058400" cy="882595"/>
          </a:xfrm>
        </p:spPr>
        <p:txBody>
          <a:bodyPr/>
          <a:lstStyle/>
          <a:p>
            <a:r>
              <a:rPr lang="es-ES" dirty="0"/>
              <a:t>LA RED</a:t>
            </a:r>
            <a:endParaRPr lang="es-ES" dirty="0"/>
          </a:p>
        </p:txBody>
      </p:sp>
      <p:sp>
        <p:nvSpPr>
          <p:cNvPr id="3" name="Marcador de contenido 2"/>
          <p:cNvSpPr>
            <a:spLocks noGrp="1"/>
          </p:cNvSpPr>
          <p:nvPr>
            <p:ph idx="1"/>
          </p:nvPr>
        </p:nvSpPr>
        <p:spPr>
          <a:xfrm>
            <a:off x="1144747" y="1869662"/>
            <a:ext cx="9817419" cy="4398791"/>
          </a:xfrm>
        </p:spPr>
        <p:txBody>
          <a:bodyPr>
            <a:normAutofit/>
          </a:bodyPr>
          <a:lstStyle/>
          <a:p>
            <a:endParaRPr lang="es-ES" sz="1600" b="1" dirty="0"/>
          </a:p>
        </p:txBody>
      </p:sp>
      <p:sp>
        <p:nvSpPr>
          <p:cNvPr id="4" name="Rectangle 1"/>
          <p:cNvSpPr>
            <a:spLocks noChangeArrowheads="1"/>
          </p:cNvSpPr>
          <p:nvPr/>
        </p:nvSpPr>
        <p:spPr bwMode="auto">
          <a:xfrm>
            <a:off x="0" y="26802"/>
            <a:ext cx="323769" cy="40359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5" name="Rectangle 1"/>
          <p:cNvSpPr>
            <a:spLocks noChangeArrowheads="1"/>
          </p:cNvSpPr>
          <p:nvPr/>
        </p:nvSpPr>
        <p:spPr bwMode="auto">
          <a:xfrm>
            <a:off x="-1148316" y="309340"/>
            <a:ext cx="65" cy="501349"/>
          </a:xfrm>
          <a:prstGeom prst="rect">
            <a:avLst/>
          </a:prstGeom>
          <a:solidFill>
            <a:srgbClr val="F1F1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33308" rIns="0" bIns="88872"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pic>
        <p:nvPicPr>
          <p:cNvPr id="7" name="Imagen 6"/>
          <p:cNvPicPr>
            <a:picLocks noChangeAspect="1"/>
          </p:cNvPicPr>
          <p:nvPr/>
        </p:nvPicPr>
        <p:blipFill>
          <a:blip r:embed="rId1"/>
          <a:stretch>
            <a:fillRect/>
          </a:stretch>
        </p:blipFill>
        <p:spPr>
          <a:xfrm>
            <a:off x="1156578" y="1970515"/>
            <a:ext cx="9939803" cy="3150126"/>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854765"/>
            <a:ext cx="10058400" cy="882595"/>
          </a:xfrm>
        </p:spPr>
        <p:txBody>
          <a:bodyPr/>
          <a:lstStyle/>
          <a:p>
            <a:r>
              <a:rPr lang="es-ES" dirty="0"/>
              <a:t>LA RED</a:t>
            </a:r>
            <a:endParaRPr lang="es-ES" dirty="0"/>
          </a:p>
        </p:txBody>
      </p:sp>
      <p:sp>
        <p:nvSpPr>
          <p:cNvPr id="3" name="Marcador de contenido 2"/>
          <p:cNvSpPr>
            <a:spLocks noGrp="1"/>
          </p:cNvSpPr>
          <p:nvPr>
            <p:ph idx="1"/>
          </p:nvPr>
        </p:nvSpPr>
        <p:spPr>
          <a:xfrm>
            <a:off x="1144748" y="1869662"/>
            <a:ext cx="10010932" cy="4398791"/>
          </a:xfrm>
        </p:spPr>
        <p:txBody>
          <a:bodyPr>
            <a:normAutofit fontScale="85000" lnSpcReduction="20000"/>
          </a:bodyPr>
          <a:lstStyle/>
          <a:p>
            <a:r>
              <a:rPr lang="es-ES" b="1" dirty="0"/>
              <a:t>Configurar la red en Linux.</a:t>
            </a:r>
            <a:endParaRPr lang="es-ES" b="1" dirty="0"/>
          </a:p>
          <a:p>
            <a:r>
              <a:rPr lang="es-ES" b="1" dirty="0"/>
              <a:t>ping</a:t>
            </a:r>
            <a:r>
              <a:rPr lang="es-ES" dirty="0"/>
              <a:t>/</a:t>
            </a:r>
            <a:r>
              <a:rPr lang="es-ES" b="1" dirty="0"/>
              <a:t>ping6</a:t>
            </a:r>
            <a:r>
              <a:rPr lang="es-ES" dirty="0"/>
              <a:t>: Verificar la conectividad con un host remoto</a:t>
            </a:r>
            <a:endParaRPr lang="es-ES" dirty="0"/>
          </a:p>
          <a:p>
            <a:r>
              <a:rPr lang="es-ES" b="1" dirty="0"/>
              <a:t>ping [opciones] host</a:t>
            </a:r>
            <a:endParaRPr lang="es-ES" dirty="0"/>
          </a:p>
          <a:p>
            <a:r>
              <a:rPr lang="es-ES" dirty="0"/>
              <a:t>Opciones</a:t>
            </a:r>
            <a:endParaRPr lang="es-ES" dirty="0"/>
          </a:p>
          <a:p>
            <a:r>
              <a:rPr lang="es-ES" dirty="0"/>
              <a:t>Limitar el número de envíos de paquetes ICMP: </a:t>
            </a:r>
            <a:r>
              <a:rPr lang="es-ES" b="1" dirty="0"/>
              <a:t>-c</a:t>
            </a:r>
            <a:r>
              <a:rPr lang="es-ES" dirty="0"/>
              <a:t> </a:t>
            </a:r>
            <a:r>
              <a:rPr lang="es-ES" i="1" dirty="0"/>
              <a:t>&lt;</a:t>
            </a:r>
            <a:r>
              <a:rPr lang="es-ES" i="1" dirty="0" err="1"/>
              <a:t>num</a:t>
            </a:r>
            <a:r>
              <a:rPr lang="es-ES" i="1" dirty="0"/>
              <a:t>&gt;</a:t>
            </a:r>
            <a:endParaRPr lang="es-ES" dirty="0"/>
          </a:p>
          <a:p>
            <a:r>
              <a:rPr lang="es-ES" dirty="0"/>
              <a:t>Indicar un intervalo de tiempo entre el envío de cada paquete </a:t>
            </a:r>
            <a:r>
              <a:rPr lang="es-ES" i="1" dirty="0"/>
              <a:t>ICMP</a:t>
            </a:r>
            <a:r>
              <a:rPr lang="es-ES" dirty="0"/>
              <a:t> al host remoto: </a:t>
            </a:r>
            <a:r>
              <a:rPr lang="es-ES" b="1" dirty="0"/>
              <a:t>-i</a:t>
            </a:r>
            <a:r>
              <a:rPr lang="es-ES" dirty="0"/>
              <a:t> </a:t>
            </a:r>
            <a:r>
              <a:rPr lang="es-ES" i="1" dirty="0"/>
              <a:t>&lt;tiempo&gt;</a:t>
            </a:r>
            <a:endParaRPr lang="es-ES" dirty="0"/>
          </a:p>
          <a:p>
            <a:r>
              <a:rPr lang="es-ES" dirty="0"/>
              <a:t>Hacer un envío masivo de ping. Envía los paquetes con la misma velocidad que los recibe o cien veces por segundo: </a:t>
            </a:r>
            <a:r>
              <a:rPr lang="es-ES" b="1" dirty="0"/>
              <a:t>-f</a:t>
            </a:r>
            <a:endParaRPr lang="es-ES" dirty="0"/>
          </a:p>
          <a:p>
            <a:r>
              <a:rPr lang="es-ES" dirty="0"/>
              <a:t>Muestra solo salidas numéricas:</a:t>
            </a:r>
            <a:r>
              <a:rPr lang="es-ES" b="1" dirty="0"/>
              <a:t> -n</a:t>
            </a:r>
            <a:endParaRPr lang="es-ES" dirty="0"/>
          </a:p>
          <a:p>
            <a:r>
              <a:rPr lang="es-ES" dirty="0"/>
              <a:t>Intenta enviar tantos paquetes tan rápido como le sea posible antes de volver a su comportamiento normal: </a:t>
            </a:r>
            <a:r>
              <a:rPr lang="es-ES" b="1" dirty="0"/>
              <a:t>-l</a:t>
            </a:r>
            <a:endParaRPr lang="es-ES" dirty="0"/>
          </a:p>
          <a:p>
            <a:r>
              <a:rPr lang="es-ES" dirty="0"/>
              <a:t>Especifica el número de bytes que se van a enviar. La cantidad por defecto es </a:t>
            </a:r>
            <a:r>
              <a:rPr lang="es-ES" i="1" dirty="0"/>
              <a:t>56 + 8 de la cabecera ICMP: </a:t>
            </a:r>
            <a:r>
              <a:rPr lang="es-ES" b="1" i="1" dirty="0"/>
              <a:t>-s</a:t>
            </a:r>
            <a:endParaRPr lang="es-ES" dirty="0"/>
          </a:p>
          <a:p>
            <a:endParaRPr lang="es-ES" altLang="es-ES" b="1" dirty="0"/>
          </a:p>
        </p:txBody>
      </p:sp>
      <p:sp>
        <p:nvSpPr>
          <p:cNvPr id="4" name="Rectangle 1"/>
          <p:cNvSpPr>
            <a:spLocks noChangeArrowheads="1"/>
          </p:cNvSpPr>
          <p:nvPr/>
        </p:nvSpPr>
        <p:spPr bwMode="auto">
          <a:xfrm>
            <a:off x="0" y="26802"/>
            <a:ext cx="323769" cy="40359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5" name="Rectangle 1"/>
          <p:cNvSpPr>
            <a:spLocks noChangeArrowheads="1"/>
          </p:cNvSpPr>
          <p:nvPr/>
        </p:nvSpPr>
        <p:spPr bwMode="auto">
          <a:xfrm>
            <a:off x="-1148316" y="309340"/>
            <a:ext cx="65" cy="501349"/>
          </a:xfrm>
          <a:prstGeom prst="rect">
            <a:avLst/>
          </a:prstGeom>
          <a:solidFill>
            <a:srgbClr val="F1F1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33308" rIns="0" bIns="88872"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854765"/>
            <a:ext cx="10058400" cy="882595"/>
          </a:xfrm>
        </p:spPr>
        <p:txBody>
          <a:bodyPr/>
          <a:lstStyle/>
          <a:p>
            <a:r>
              <a:rPr lang="es-ES" dirty="0"/>
              <a:t>LA RED</a:t>
            </a:r>
            <a:endParaRPr lang="es-ES" dirty="0"/>
          </a:p>
        </p:txBody>
      </p:sp>
      <p:sp>
        <p:nvSpPr>
          <p:cNvPr id="3" name="Marcador de contenido 2"/>
          <p:cNvSpPr>
            <a:spLocks noGrp="1"/>
          </p:cNvSpPr>
          <p:nvPr>
            <p:ph idx="1"/>
          </p:nvPr>
        </p:nvSpPr>
        <p:spPr>
          <a:xfrm>
            <a:off x="1144748" y="1869662"/>
            <a:ext cx="10010932" cy="4398791"/>
          </a:xfrm>
        </p:spPr>
        <p:txBody>
          <a:bodyPr>
            <a:normAutofit fontScale="70000" lnSpcReduction="20000"/>
          </a:bodyPr>
          <a:lstStyle/>
          <a:p>
            <a:r>
              <a:rPr lang="es-ES" b="1" dirty="0"/>
              <a:t>Configurar la red en Linux.</a:t>
            </a:r>
            <a:endParaRPr lang="es-ES" b="1" dirty="0"/>
          </a:p>
          <a:p>
            <a:r>
              <a:rPr lang="es-ES" b="1" dirty="0" err="1"/>
              <a:t>traceroute</a:t>
            </a:r>
            <a:r>
              <a:rPr lang="es-ES" dirty="0"/>
              <a:t>/</a:t>
            </a:r>
            <a:r>
              <a:rPr lang="es-ES" b="1" dirty="0"/>
              <a:t>traceroute6</a:t>
            </a:r>
            <a:r>
              <a:rPr lang="es-ES" dirty="0"/>
              <a:t>: Envía una serie de tres paquetes de prueba a cada ordenador entre nuestro sistema y el host remoto especificado, mostrando todos los </a:t>
            </a:r>
            <a:r>
              <a:rPr lang="es-ES" i="1" dirty="0" err="1"/>
              <a:t>routers</a:t>
            </a:r>
            <a:r>
              <a:rPr lang="es-ES" dirty="0"/>
              <a:t> que existen de por medio y los tiempos de respuesta.</a:t>
            </a:r>
            <a:endParaRPr lang="es-ES" dirty="0"/>
          </a:p>
          <a:p>
            <a:r>
              <a:rPr lang="es-ES" b="1" dirty="0" err="1"/>
              <a:t>traceroute</a:t>
            </a:r>
            <a:r>
              <a:rPr lang="es-ES" b="1" dirty="0"/>
              <a:t> [-6] [opciones] destino</a:t>
            </a:r>
            <a:endParaRPr lang="es-ES" dirty="0"/>
          </a:p>
          <a:p>
            <a:r>
              <a:rPr lang="es-ES" dirty="0"/>
              <a:t>Opciones:</a:t>
            </a:r>
            <a:endParaRPr lang="es-ES" dirty="0"/>
          </a:p>
          <a:p>
            <a:r>
              <a:rPr lang="es-ES" dirty="0"/>
              <a:t>Mostrar solo salidas numéricas: </a:t>
            </a:r>
            <a:r>
              <a:rPr lang="es-ES" b="1" dirty="0"/>
              <a:t>-n</a:t>
            </a:r>
            <a:endParaRPr lang="es-ES" dirty="0"/>
          </a:p>
          <a:p>
            <a:r>
              <a:rPr lang="es-ES" dirty="0"/>
              <a:t>Especificar por cual interfaz de red queremos enviar los paquetes: </a:t>
            </a:r>
            <a:r>
              <a:rPr lang="es-ES" b="1" dirty="0"/>
              <a:t>-i</a:t>
            </a:r>
            <a:r>
              <a:rPr lang="es-ES" dirty="0"/>
              <a:t> </a:t>
            </a:r>
            <a:r>
              <a:rPr lang="es-ES" i="1" dirty="0"/>
              <a:t>&lt;interfaz&gt;</a:t>
            </a:r>
            <a:endParaRPr lang="es-ES" dirty="0"/>
          </a:p>
          <a:p>
            <a:r>
              <a:rPr lang="es-ES" dirty="0"/>
              <a:t>Especificar el número máximo de saltos: </a:t>
            </a:r>
            <a:r>
              <a:rPr lang="es-ES" b="1" dirty="0"/>
              <a:t>-m</a:t>
            </a:r>
            <a:r>
              <a:rPr lang="es-ES" dirty="0"/>
              <a:t> </a:t>
            </a:r>
            <a:r>
              <a:rPr lang="es-ES" i="1" dirty="0"/>
              <a:t>&lt;saltos&gt;</a:t>
            </a:r>
            <a:endParaRPr lang="es-ES" dirty="0"/>
          </a:p>
          <a:p>
            <a:r>
              <a:rPr lang="es-ES" dirty="0"/>
              <a:t>Indicar una </a:t>
            </a:r>
            <a:r>
              <a:rPr lang="es-ES" i="1" dirty="0" err="1"/>
              <a:t>gateway</a:t>
            </a:r>
            <a:r>
              <a:rPr lang="es-ES" dirty="0"/>
              <a:t> alternativa: </a:t>
            </a:r>
            <a:r>
              <a:rPr lang="es-ES" b="1" dirty="0"/>
              <a:t>-g</a:t>
            </a:r>
            <a:r>
              <a:rPr lang="es-ES" dirty="0"/>
              <a:t> </a:t>
            </a:r>
            <a:r>
              <a:rPr lang="es-ES" i="1" dirty="0"/>
              <a:t>&lt;</a:t>
            </a:r>
            <a:r>
              <a:rPr lang="es-ES" i="1" dirty="0" err="1"/>
              <a:t>gateway</a:t>
            </a:r>
            <a:r>
              <a:rPr lang="es-ES" i="1" dirty="0"/>
              <a:t>&gt;</a:t>
            </a:r>
            <a:endParaRPr lang="es-ES" dirty="0"/>
          </a:p>
          <a:p>
            <a:r>
              <a:rPr lang="es-ES" dirty="0"/>
              <a:t>Indicar el tiempo límite de espera para una respuesta:</a:t>
            </a:r>
            <a:r>
              <a:rPr lang="es-ES" b="1" dirty="0"/>
              <a:t> -w</a:t>
            </a:r>
            <a:endParaRPr lang="es-ES" dirty="0"/>
          </a:p>
          <a:p>
            <a:r>
              <a:rPr lang="es-ES" dirty="0"/>
              <a:t>Intenta enviar tantos paquetes tan rápido como le sea posible antes de volver a su comportamiento normal: </a:t>
            </a:r>
            <a:r>
              <a:rPr lang="es-ES" b="1" dirty="0"/>
              <a:t>-l</a:t>
            </a:r>
            <a:endParaRPr lang="es-ES" dirty="0"/>
          </a:p>
          <a:p>
            <a:r>
              <a:rPr lang="es-ES" dirty="0"/>
              <a:t>Especifica el número de bytes que se van a enviar. La cantidad por defecto es </a:t>
            </a:r>
            <a:r>
              <a:rPr lang="es-ES" i="1" dirty="0"/>
              <a:t>56 + 8 de la cabecera ICMP: </a:t>
            </a:r>
            <a:r>
              <a:rPr lang="es-ES" b="1" i="1" dirty="0"/>
              <a:t>-s</a:t>
            </a:r>
            <a:endParaRPr lang="es-ES" dirty="0"/>
          </a:p>
          <a:p>
            <a:endParaRPr lang="es-ES" altLang="es-ES" b="1" dirty="0"/>
          </a:p>
        </p:txBody>
      </p:sp>
      <p:sp>
        <p:nvSpPr>
          <p:cNvPr id="4" name="Rectangle 1"/>
          <p:cNvSpPr>
            <a:spLocks noChangeArrowheads="1"/>
          </p:cNvSpPr>
          <p:nvPr/>
        </p:nvSpPr>
        <p:spPr bwMode="auto">
          <a:xfrm>
            <a:off x="0" y="26802"/>
            <a:ext cx="323769" cy="40359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5" name="Rectangle 1"/>
          <p:cNvSpPr>
            <a:spLocks noChangeArrowheads="1"/>
          </p:cNvSpPr>
          <p:nvPr/>
        </p:nvSpPr>
        <p:spPr bwMode="auto">
          <a:xfrm>
            <a:off x="-1148316" y="309340"/>
            <a:ext cx="65" cy="501349"/>
          </a:xfrm>
          <a:prstGeom prst="rect">
            <a:avLst/>
          </a:prstGeom>
          <a:solidFill>
            <a:srgbClr val="F1F1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33308" rIns="0" bIns="88872"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854765"/>
            <a:ext cx="10058400" cy="882595"/>
          </a:xfrm>
        </p:spPr>
        <p:txBody>
          <a:bodyPr/>
          <a:lstStyle/>
          <a:p>
            <a:r>
              <a:rPr lang="es-ES" dirty="0"/>
              <a:t>LA RED</a:t>
            </a:r>
            <a:endParaRPr lang="es-ES" dirty="0"/>
          </a:p>
        </p:txBody>
      </p:sp>
      <p:sp>
        <p:nvSpPr>
          <p:cNvPr id="3" name="Marcador de contenido 2"/>
          <p:cNvSpPr>
            <a:spLocks noGrp="1"/>
          </p:cNvSpPr>
          <p:nvPr>
            <p:ph idx="1"/>
          </p:nvPr>
        </p:nvSpPr>
        <p:spPr>
          <a:xfrm>
            <a:off x="1144748" y="1869662"/>
            <a:ext cx="10010932" cy="4398791"/>
          </a:xfrm>
        </p:spPr>
        <p:txBody>
          <a:bodyPr>
            <a:normAutofit fontScale="92500" lnSpcReduction="10000"/>
          </a:bodyPr>
          <a:lstStyle/>
          <a:p>
            <a:r>
              <a:rPr lang="es-ES" b="1" dirty="0"/>
              <a:t>Configurar la red en Linux.</a:t>
            </a:r>
            <a:endParaRPr lang="es-ES" b="1" dirty="0"/>
          </a:p>
          <a:p>
            <a:r>
              <a:rPr lang="es-ES" b="1" dirty="0" err="1"/>
              <a:t>tracepath</a:t>
            </a:r>
            <a:r>
              <a:rPr lang="es-ES" dirty="0"/>
              <a:t>/</a:t>
            </a:r>
            <a:r>
              <a:rPr lang="es-ES" b="1" dirty="0"/>
              <a:t>tracepath6</a:t>
            </a:r>
            <a:r>
              <a:rPr lang="es-ES" dirty="0"/>
              <a:t>: Una alternativa a </a:t>
            </a:r>
            <a:r>
              <a:rPr lang="es-ES" i="1" dirty="0" err="1"/>
              <a:t>traceroute</a:t>
            </a:r>
            <a:r>
              <a:rPr lang="es-ES" dirty="0"/>
              <a:t>. Genera una línea de salida por cada paquete de prueba, por lo que su salida es más extensa.</a:t>
            </a:r>
            <a:endParaRPr lang="es-ES" dirty="0"/>
          </a:p>
          <a:p>
            <a:r>
              <a:rPr lang="es-ES" b="1" dirty="0" err="1"/>
              <a:t>tracepath</a:t>
            </a:r>
            <a:r>
              <a:rPr lang="es-ES" b="1" dirty="0"/>
              <a:t> [opciones] destino</a:t>
            </a:r>
            <a:endParaRPr lang="es-ES" dirty="0"/>
          </a:p>
          <a:p>
            <a:r>
              <a:rPr lang="es-ES" dirty="0"/>
              <a:t>Opciones:</a:t>
            </a:r>
            <a:endParaRPr lang="es-ES" dirty="0"/>
          </a:p>
          <a:p>
            <a:r>
              <a:rPr lang="es-ES" dirty="0"/>
              <a:t>Mostrar solo salidas numéricas: </a:t>
            </a:r>
            <a:r>
              <a:rPr lang="es-ES" b="1" dirty="0"/>
              <a:t>-n</a:t>
            </a:r>
            <a:endParaRPr lang="es-ES" dirty="0"/>
          </a:p>
          <a:p>
            <a:r>
              <a:rPr lang="es-ES" dirty="0"/>
              <a:t>Mostrar tanto la dirección </a:t>
            </a:r>
            <a:r>
              <a:rPr lang="es-ES" i="1" dirty="0"/>
              <a:t>IP</a:t>
            </a:r>
            <a:r>
              <a:rPr lang="es-ES" dirty="0"/>
              <a:t> como el nombre de host: </a:t>
            </a:r>
            <a:r>
              <a:rPr lang="es-ES" b="1" dirty="0"/>
              <a:t>-b</a:t>
            </a:r>
            <a:endParaRPr lang="es-ES" dirty="0"/>
          </a:p>
          <a:p>
            <a:r>
              <a:rPr lang="es-ES" dirty="0"/>
              <a:t>Especificar el número máximo de saltos: </a:t>
            </a:r>
            <a:r>
              <a:rPr lang="es-ES" b="1" dirty="0"/>
              <a:t>-m</a:t>
            </a:r>
            <a:r>
              <a:rPr lang="es-ES" dirty="0"/>
              <a:t> </a:t>
            </a:r>
            <a:r>
              <a:rPr lang="es-ES" i="1" dirty="0"/>
              <a:t>&lt;saltos&gt;</a:t>
            </a:r>
            <a:endParaRPr lang="es-ES" dirty="0"/>
          </a:p>
          <a:p>
            <a:r>
              <a:rPr lang="es-ES" dirty="0"/>
              <a:t>Indicar el puerto inicial de destino. Esto también es posible hacerlo con </a:t>
            </a:r>
            <a:r>
              <a:rPr lang="es-ES" i="1" dirty="0" err="1"/>
              <a:t>traceroute</a:t>
            </a:r>
            <a:r>
              <a:rPr lang="es-ES" dirty="0"/>
              <a:t>. El puerto de destino se va incrementando en uno a medida que se envían paquetes de pruebas: </a:t>
            </a:r>
            <a:r>
              <a:rPr lang="es-ES" b="1" dirty="0"/>
              <a:t>-p</a:t>
            </a:r>
            <a:r>
              <a:rPr lang="es-ES" dirty="0"/>
              <a:t> </a:t>
            </a:r>
            <a:r>
              <a:rPr lang="es-ES" i="1" dirty="0"/>
              <a:t>&lt;puerto&gt;</a:t>
            </a:r>
            <a:endParaRPr lang="es-ES" dirty="0"/>
          </a:p>
          <a:p>
            <a:endParaRPr lang="es-ES" altLang="es-ES" b="1" dirty="0"/>
          </a:p>
        </p:txBody>
      </p:sp>
      <p:sp>
        <p:nvSpPr>
          <p:cNvPr id="4" name="Rectangle 1"/>
          <p:cNvSpPr>
            <a:spLocks noChangeArrowheads="1"/>
          </p:cNvSpPr>
          <p:nvPr/>
        </p:nvSpPr>
        <p:spPr bwMode="auto">
          <a:xfrm>
            <a:off x="0" y="26802"/>
            <a:ext cx="323769" cy="40359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5" name="Rectangle 1"/>
          <p:cNvSpPr>
            <a:spLocks noChangeArrowheads="1"/>
          </p:cNvSpPr>
          <p:nvPr/>
        </p:nvSpPr>
        <p:spPr bwMode="auto">
          <a:xfrm>
            <a:off x="-1148316" y="309340"/>
            <a:ext cx="65" cy="501349"/>
          </a:xfrm>
          <a:prstGeom prst="rect">
            <a:avLst/>
          </a:prstGeom>
          <a:solidFill>
            <a:srgbClr val="F1F1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33308" rIns="0" bIns="88872"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854765"/>
            <a:ext cx="10058400" cy="882595"/>
          </a:xfrm>
        </p:spPr>
        <p:txBody>
          <a:bodyPr/>
          <a:lstStyle/>
          <a:p>
            <a:r>
              <a:rPr lang="es-ES" dirty="0"/>
              <a:t>LA RED</a:t>
            </a:r>
            <a:endParaRPr lang="es-ES" dirty="0"/>
          </a:p>
        </p:txBody>
      </p:sp>
      <p:sp>
        <p:nvSpPr>
          <p:cNvPr id="3" name="Marcador de contenido 2"/>
          <p:cNvSpPr>
            <a:spLocks noGrp="1"/>
          </p:cNvSpPr>
          <p:nvPr>
            <p:ph idx="1"/>
          </p:nvPr>
        </p:nvSpPr>
        <p:spPr>
          <a:xfrm>
            <a:off x="1144748" y="1869662"/>
            <a:ext cx="10010932" cy="4398791"/>
          </a:xfrm>
        </p:spPr>
        <p:txBody>
          <a:bodyPr>
            <a:normAutofit/>
          </a:bodyPr>
          <a:lstStyle/>
          <a:p>
            <a:r>
              <a:rPr lang="es-ES" b="1" dirty="0"/>
              <a:t>Configurar la red en Linux.</a:t>
            </a:r>
            <a:endParaRPr lang="es-ES" b="1" dirty="0"/>
          </a:p>
          <a:p>
            <a:r>
              <a:rPr lang="es-ES" sz="1400" b="1" dirty="0"/>
              <a:t>netcat</a:t>
            </a:r>
            <a:r>
              <a:rPr lang="es-ES" sz="1400" dirty="0"/>
              <a:t> (</a:t>
            </a:r>
            <a:r>
              <a:rPr lang="es-ES" sz="1400" b="1" dirty="0" err="1"/>
              <a:t>nc</a:t>
            </a:r>
            <a:r>
              <a:rPr lang="es-ES" sz="1400" dirty="0"/>
              <a:t>): Es una de las herramientas de diagnostico y seguridad mas populares dentro de la comunidad </a:t>
            </a:r>
            <a:r>
              <a:rPr lang="es-ES" sz="1400" i="1" dirty="0"/>
              <a:t>GNU/Linux</a:t>
            </a:r>
            <a:r>
              <a:rPr lang="es-ES" sz="1400" dirty="0"/>
              <a:t>. Trabaja tanto con conexiones </a:t>
            </a:r>
            <a:r>
              <a:rPr lang="es-ES" sz="1400" i="1" dirty="0"/>
              <a:t>TCP</a:t>
            </a:r>
            <a:r>
              <a:rPr lang="es-ES" sz="1400" dirty="0"/>
              <a:t> como </a:t>
            </a:r>
            <a:r>
              <a:rPr lang="es-ES" sz="1400" i="1" dirty="0"/>
              <a:t>UDP</a:t>
            </a:r>
            <a:r>
              <a:rPr lang="es-ES" sz="1400" dirty="0"/>
              <a:t> y permite hacer cosas como por ejemplo abrir puertos en host remoto quedándose a la escucha de posibles conexiones, rastrear puertos abiertos o realizar transferencias de archivos bit a bit entre dos equipos. Funciona tanto para </a:t>
            </a:r>
            <a:r>
              <a:rPr lang="es-ES" sz="1400" i="1" dirty="0"/>
              <a:t>IPv4</a:t>
            </a:r>
            <a:r>
              <a:rPr lang="es-ES" sz="1400" dirty="0"/>
              <a:t> como para </a:t>
            </a:r>
            <a:r>
              <a:rPr lang="es-ES" sz="1400" i="1" dirty="0"/>
              <a:t>IPv6</a:t>
            </a:r>
            <a:r>
              <a:rPr lang="es-ES" sz="1400" dirty="0"/>
              <a:t>.</a:t>
            </a:r>
            <a:endParaRPr lang="es-ES" sz="1400" dirty="0"/>
          </a:p>
          <a:p>
            <a:r>
              <a:rPr lang="es-ES" sz="1400" dirty="0"/>
              <a:t>Para dejar a </a:t>
            </a:r>
            <a:r>
              <a:rPr lang="es-ES" sz="1400" i="1" dirty="0" err="1"/>
              <a:t>nc</a:t>
            </a:r>
            <a:r>
              <a:rPr lang="es-ES" sz="1400" dirty="0"/>
              <a:t> como servidor a la escucha (</a:t>
            </a:r>
            <a:r>
              <a:rPr lang="es-ES" sz="1400" i="1" dirty="0"/>
              <a:t>-l, listen</a:t>
            </a:r>
            <a:r>
              <a:rPr lang="es-ES" sz="1400" dirty="0"/>
              <a:t>) en un determinado puerto. </a:t>
            </a:r>
            <a:r>
              <a:rPr lang="es-ES" sz="1400" i="1" dirty="0" err="1"/>
              <a:t>nc</a:t>
            </a:r>
            <a:r>
              <a:rPr lang="es-ES" sz="1400" dirty="0"/>
              <a:t> aceptará la conexión de un único cliente y se cerrará:</a:t>
            </a:r>
            <a:endParaRPr lang="es-ES" sz="1400" dirty="0"/>
          </a:p>
          <a:p>
            <a:pPr marL="0" indent="0">
              <a:buNone/>
            </a:pPr>
            <a:endParaRPr lang="es-ES" sz="1400" dirty="0"/>
          </a:p>
          <a:p>
            <a:pPr marL="0" indent="0">
              <a:buNone/>
            </a:pPr>
            <a:r>
              <a:rPr lang="es-ES" sz="1400" dirty="0"/>
              <a:t>Para abrir una conexión como cliente del servidor del ejemplo anterior:</a:t>
            </a:r>
            <a:endParaRPr lang="es-ES" sz="1400" dirty="0"/>
          </a:p>
          <a:p>
            <a:pPr marL="0" indent="0">
              <a:buNone/>
            </a:pPr>
            <a:endParaRPr lang="es-ES" dirty="0"/>
          </a:p>
          <a:p>
            <a:pPr marL="0" indent="0">
              <a:spcBef>
                <a:spcPts val="600"/>
              </a:spcBef>
              <a:buNone/>
            </a:pPr>
            <a:r>
              <a:rPr lang="es-ES" sz="1400" dirty="0"/>
              <a:t>Abrir una conexión en el servidor para recibir datos desde un cliente:</a:t>
            </a:r>
            <a:endParaRPr lang="es-ES" sz="1400" dirty="0"/>
          </a:p>
          <a:p>
            <a:pPr marL="0" indent="0">
              <a:buNone/>
            </a:pPr>
            <a:endParaRPr lang="es-ES" altLang="es-ES" b="1" dirty="0"/>
          </a:p>
        </p:txBody>
      </p:sp>
      <p:sp>
        <p:nvSpPr>
          <p:cNvPr id="4" name="Rectangle 1"/>
          <p:cNvSpPr>
            <a:spLocks noChangeArrowheads="1"/>
          </p:cNvSpPr>
          <p:nvPr/>
        </p:nvSpPr>
        <p:spPr bwMode="auto">
          <a:xfrm>
            <a:off x="0" y="26802"/>
            <a:ext cx="323769" cy="40359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5" name="Rectangle 1"/>
          <p:cNvSpPr>
            <a:spLocks noChangeArrowheads="1"/>
          </p:cNvSpPr>
          <p:nvPr/>
        </p:nvSpPr>
        <p:spPr bwMode="auto">
          <a:xfrm>
            <a:off x="-1148316" y="309340"/>
            <a:ext cx="65" cy="501349"/>
          </a:xfrm>
          <a:prstGeom prst="rect">
            <a:avLst/>
          </a:prstGeom>
          <a:solidFill>
            <a:srgbClr val="F1F1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33308" rIns="0" bIns="88872"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pic>
        <p:nvPicPr>
          <p:cNvPr id="6" name="Imagen 5"/>
          <p:cNvPicPr>
            <a:picLocks noChangeAspect="1"/>
          </p:cNvPicPr>
          <p:nvPr/>
        </p:nvPicPr>
        <p:blipFill>
          <a:blip r:embed="rId1"/>
          <a:stretch>
            <a:fillRect/>
          </a:stretch>
        </p:blipFill>
        <p:spPr>
          <a:xfrm>
            <a:off x="4831943" y="4200192"/>
            <a:ext cx="1866900" cy="371475"/>
          </a:xfrm>
          <a:prstGeom prst="rect">
            <a:avLst/>
          </a:prstGeom>
        </p:spPr>
      </p:pic>
      <p:pic>
        <p:nvPicPr>
          <p:cNvPr id="7" name="Imagen 6"/>
          <p:cNvPicPr>
            <a:picLocks noChangeAspect="1"/>
          </p:cNvPicPr>
          <p:nvPr/>
        </p:nvPicPr>
        <p:blipFill>
          <a:blip r:embed="rId2"/>
          <a:stretch>
            <a:fillRect/>
          </a:stretch>
        </p:blipFill>
        <p:spPr>
          <a:xfrm>
            <a:off x="4630976" y="5105734"/>
            <a:ext cx="3038475" cy="314325"/>
          </a:xfrm>
          <a:prstGeom prst="rect">
            <a:avLst/>
          </a:prstGeom>
        </p:spPr>
      </p:pic>
      <p:pic>
        <p:nvPicPr>
          <p:cNvPr id="8" name="Imagen 7"/>
          <p:cNvPicPr>
            <a:picLocks noChangeAspect="1"/>
          </p:cNvPicPr>
          <p:nvPr/>
        </p:nvPicPr>
        <p:blipFill>
          <a:blip r:embed="rId3"/>
          <a:stretch>
            <a:fillRect/>
          </a:stretch>
        </p:blipFill>
        <p:spPr>
          <a:xfrm>
            <a:off x="3801028" y="5975885"/>
            <a:ext cx="5057775" cy="3429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854765"/>
            <a:ext cx="10058400" cy="882595"/>
          </a:xfrm>
        </p:spPr>
        <p:txBody>
          <a:bodyPr/>
          <a:lstStyle/>
          <a:p>
            <a:r>
              <a:rPr lang="es-ES" dirty="0"/>
              <a:t>LA RED</a:t>
            </a:r>
            <a:endParaRPr lang="es-ES" dirty="0"/>
          </a:p>
        </p:txBody>
      </p:sp>
      <p:sp>
        <p:nvSpPr>
          <p:cNvPr id="3" name="Marcador de contenido 2"/>
          <p:cNvSpPr>
            <a:spLocks noGrp="1"/>
          </p:cNvSpPr>
          <p:nvPr>
            <p:ph idx="1"/>
          </p:nvPr>
        </p:nvSpPr>
        <p:spPr>
          <a:xfrm>
            <a:off x="1144748" y="1869662"/>
            <a:ext cx="10010932" cy="4398791"/>
          </a:xfrm>
        </p:spPr>
        <p:txBody>
          <a:bodyPr>
            <a:normAutofit fontScale="62500" lnSpcReduction="20000"/>
          </a:bodyPr>
          <a:lstStyle/>
          <a:p>
            <a:r>
              <a:rPr lang="es-ES" sz="2600" b="1" dirty="0"/>
              <a:t>Configurar la red en Linux.</a:t>
            </a:r>
            <a:endParaRPr lang="es-ES" sz="2600" b="1" dirty="0"/>
          </a:p>
          <a:p>
            <a:r>
              <a:rPr lang="es-ES" b="1" dirty="0" err="1"/>
              <a:t>netstat</a:t>
            </a:r>
            <a:r>
              <a:rPr lang="es-ES" b="1" dirty="0"/>
              <a:t> [opciones] host</a:t>
            </a:r>
            <a:endParaRPr lang="es-ES" dirty="0"/>
          </a:p>
          <a:p>
            <a:r>
              <a:rPr lang="es-ES" dirty="0"/>
              <a:t>Opciones:</a:t>
            </a:r>
            <a:endParaRPr lang="es-ES" dirty="0"/>
          </a:p>
          <a:p>
            <a:pPr>
              <a:spcBef>
                <a:spcPts val="600"/>
              </a:spcBef>
            </a:pPr>
            <a:r>
              <a:rPr lang="es-ES" dirty="0"/>
              <a:t>Recibir información sobre nuestras interfaces de red (similar a </a:t>
            </a:r>
            <a:r>
              <a:rPr lang="es-ES" i="1" dirty="0" err="1"/>
              <a:t>ifconfig</a:t>
            </a:r>
            <a:r>
              <a:rPr lang="es-ES" dirty="0"/>
              <a:t>): </a:t>
            </a:r>
            <a:r>
              <a:rPr lang="es-ES" b="1" dirty="0"/>
              <a:t>-i</a:t>
            </a:r>
            <a:r>
              <a:rPr lang="es-ES" dirty="0"/>
              <a:t>, </a:t>
            </a:r>
            <a:r>
              <a:rPr lang="es-ES" i="1" dirty="0"/>
              <a:t>–interface</a:t>
            </a:r>
            <a:r>
              <a:rPr lang="es-ES" dirty="0"/>
              <a:t>.</a:t>
            </a:r>
            <a:endParaRPr lang="es-ES" dirty="0"/>
          </a:p>
          <a:p>
            <a:pPr>
              <a:spcBef>
                <a:spcPts val="600"/>
              </a:spcBef>
            </a:pPr>
            <a:r>
              <a:rPr lang="es-ES" dirty="0"/>
              <a:t>Para obtener un listado de la tabla de enrutamiento (similar a </a:t>
            </a:r>
            <a:r>
              <a:rPr lang="es-ES" dirty="0" err="1"/>
              <a:t>route</a:t>
            </a:r>
            <a:r>
              <a:rPr lang="es-ES" dirty="0"/>
              <a:t>): </a:t>
            </a:r>
            <a:r>
              <a:rPr lang="es-ES" b="1" dirty="0"/>
              <a:t>-r</a:t>
            </a:r>
            <a:r>
              <a:rPr lang="es-ES" dirty="0"/>
              <a:t>, </a:t>
            </a:r>
            <a:r>
              <a:rPr lang="es-ES" i="1" dirty="0"/>
              <a:t>–</a:t>
            </a:r>
            <a:r>
              <a:rPr lang="es-ES" i="1" dirty="0" err="1"/>
              <a:t>route</a:t>
            </a:r>
            <a:r>
              <a:rPr lang="es-ES" dirty="0"/>
              <a:t>.</a:t>
            </a:r>
            <a:endParaRPr lang="es-ES" dirty="0"/>
          </a:p>
          <a:p>
            <a:pPr>
              <a:spcBef>
                <a:spcPts val="600"/>
              </a:spcBef>
            </a:pPr>
            <a:r>
              <a:rPr lang="es-ES" dirty="0"/>
              <a:t>Informar sobre las conexiones en las que intervenga las funciones de </a:t>
            </a:r>
            <a:r>
              <a:rPr lang="es-ES" i="1" dirty="0"/>
              <a:t>NAT: </a:t>
            </a:r>
            <a:r>
              <a:rPr lang="es-ES" b="1" dirty="0"/>
              <a:t>-N</a:t>
            </a:r>
            <a:r>
              <a:rPr lang="es-ES" dirty="0"/>
              <a:t>,</a:t>
            </a:r>
            <a:r>
              <a:rPr lang="es-ES" i="1" dirty="0"/>
              <a:t> –</a:t>
            </a:r>
            <a:r>
              <a:rPr lang="es-ES" i="1" dirty="0" err="1"/>
              <a:t>masquerade</a:t>
            </a:r>
            <a:r>
              <a:rPr lang="es-ES" dirty="0"/>
              <a:t>.</a:t>
            </a:r>
            <a:endParaRPr lang="es-ES" dirty="0"/>
          </a:p>
          <a:p>
            <a:pPr>
              <a:spcBef>
                <a:spcPts val="600"/>
              </a:spcBef>
            </a:pPr>
            <a:r>
              <a:rPr lang="es-ES" dirty="0"/>
              <a:t>Podremos usar la siguiente línea para indicar valores específicos:</a:t>
            </a:r>
            <a:endParaRPr lang="es-ES" dirty="0"/>
          </a:p>
          <a:p>
            <a:endParaRPr lang="es-ES" dirty="0"/>
          </a:p>
          <a:p>
            <a:r>
              <a:rPr lang="es-ES" dirty="0"/>
              <a:t>Donde:</a:t>
            </a:r>
            <a:endParaRPr lang="es-ES" dirty="0"/>
          </a:p>
          <a:p>
            <a:r>
              <a:rPr lang="es-ES" b="1" dirty="0"/>
              <a:t>-p</a:t>
            </a:r>
            <a:r>
              <a:rPr lang="es-ES" dirty="0"/>
              <a:t> muestra el </a:t>
            </a:r>
            <a:r>
              <a:rPr lang="es-ES" i="1" dirty="0"/>
              <a:t>PID</a:t>
            </a:r>
            <a:r>
              <a:rPr lang="es-ES" dirty="0"/>
              <a:t> y el servicio que hace uso del puerto</a:t>
            </a:r>
            <a:br>
              <a:rPr lang="es-ES" dirty="0"/>
            </a:br>
            <a:r>
              <a:rPr lang="es-ES" b="1" dirty="0"/>
              <a:t>-u</a:t>
            </a:r>
            <a:r>
              <a:rPr lang="es-ES" dirty="0"/>
              <a:t> informa de los puertos </a:t>
            </a:r>
            <a:r>
              <a:rPr lang="es-ES" i="1" dirty="0"/>
              <a:t>UDP</a:t>
            </a:r>
            <a:r>
              <a:rPr lang="es-ES" dirty="0"/>
              <a:t> (además de los </a:t>
            </a:r>
            <a:r>
              <a:rPr lang="es-ES" i="1" dirty="0"/>
              <a:t>TCP</a:t>
            </a:r>
            <a:r>
              <a:rPr lang="es-ES" dirty="0"/>
              <a:t>, opción por defecto)</a:t>
            </a:r>
            <a:br>
              <a:rPr lang="es-ES" dirty="0"/>
            </a:br>
            <a:r>
              <a:rPr lang="es-ES" b="1" dirty="0"/>
              <a:t>-n</a:t>
            </a:r>
            <a:r>
              <a:rPr lang="es-ES" dirty="0"/>
              <a:t> expresa los host y puertos mediante números (útil si queremos redireccionar la salida con una pipe para buscar un puerto específico con </a:t>
            </a:r>
            <a:r>
              <a:rPr lang="es-ES" i="1" dirty="0"/>
              <a:t>grep</a:t>
            </a:r>
            <a:r>
              <a:rPr lang="es-ES" dirty="0"/>
              <a:t>),</a:t>
            </a:r>
            <a:br>
              <a:rPr lang="es-ES" dirty="0"/>
            </a:br>
            <a:r>
              <a:rPr lang="es-ES" b="1" dirty="0"/>
              <a:t>-t</a:t>
            </a:r>
            <a:r>
              <a:rPr lang="es-ES" dirty="0"/>
              <a:t> muestra el estado de la conexión (</a:t>
            </a:r>
            <a:r>
              <a:rPr lang="es-ES" i="1" dirty="0"/>
              <a:t>LISTEN</a:t>
            </a:r>
            <a:r>
              <a:rPr lang="es-ES" dirty="0"/>
              <a:t>, </a:t>
            </a:r>
            <a:r>
              <a:rPr lang="es-ES" i="1" dirty="0"/>
              <a:t>ESTABLISHED</a:t>
            </a:r>
            <a:r>
              <a:rPr lang="es-ES" dirty="0"/>
              <a:t>, </a:t>
            </a:r>
            <a:r>
              <a:rPr lang="es-ES" i="1" dirty="0"/>
              <a:t>CLOSE</a:t>
            </a:r>
            <a:r>
              <a:rPr lang="es-ES" dirty="0"/>
              <a:t>, </a:t>
            </a:r>
            <a:r>
              <a:rPr lang="es-ES" i="1" dirty="0"/>
              <a:t>CLOSE_WAIT</a:t>
            </a:r>
            <a:r>
              <a:rPr lang="es-ES" dirty="0"/>
              <a:t>, etc..)</a:t>
            </a:r>
            <a:br>
              <a:rPr lang="es-ES" dirty="0"/>
            </a:br>
            <a:r>
              <a:rPr lang="es-ES" b="1" dirty="0"/>
              <a:t>-a</a:t>
            </a:r>
            <a:r>
              <a:rPr lang="es-ES" dirty="0"/>
              <a:t> muestra todas las conexiones y puertos de escucha.</a:t>
            </a:r>
            <a:br>
              <a:rPr lang="es-ES" dirty="0"/>
            </a:br>
            <a:r>
              <a:rPr lang="es-ES" dirty="0"/>
              <a:t>Si queremos encontrar directamente servidores que escuchan conexiones podemos agregar </a:t>
            </a:r>
            <a:r>
              <a:rPr lang="es-ES" b="1" dirty="0"/>
              <a:t>-l</a:t>
            </a:r>
            <a:r>
              <a:rPr lang="es-ES" dirty="0"/>
              <a:t> a</a:t>
            </a:r>
            <a:r>
              <a:rPr lang="es-ES" i="1" dirty="0"/>
              <a:t> -p</a:t>
            </a:r>
            <a:endParaRPr lang="es-ES" dirty="0"/>
          </a:p>
          <a:p>
            <a:endParaRPr lang="es-ES" dirty="0"/>
          </a:p>
          <a:p>
            <a:pPr marL="0" indent="0">
              <a:buNone/>
            </a:pPr>
            <a:endParaRPr lang="es-ES" altLang="es-ES" b="1" dirty="0"/>
          </a:p>
        </p:txBody>
      </p:sp>
      <p:sp>
        <p:nvSpPr>
          <p:cNvPr id="4" name="Rectangle 1"/>
          <p:cNvSpPr>
            <a:spLocks noChangeArrowheads="1"/>
          </p:cNvSpPr>
          <p:nvPr/>
        </p:nvSpPr>
        <p:spPr bwMode="auto">
          <a:xfrm>
            <a:off x="0" y="26802"/>
            <a:ext cx="323769" cy="40359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5" name="Rectangle 1"/>
          <p:cNvSpPr>
            <a:spLocks noChangeArrowheads="1"/>
          </p:cNvSpPr>
          <p:nvPr/>
        </p:nvSpPr>
        <p:spPr bwMode="auto">
          <a:xfrm>
            <a:off x="-1148316" y="309340"/>
            <a:ext cx="65" cy="501349"/>
          </a:xfrm>
          <a:prstGeom prst="rect">
            <a:avLst/>
          </a:prstGeom>
          <a:solidFill>
            <a:srgbClr val="F1F1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33308" rIns="0" bIns="88872"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pic>
        <p:nvPicPr>
          <p:cNvPr id="10" name="Imagen 9"/>
          <p:cNvPicPr>
            <a:picLocks noChangeAspect="1"/>
          </p:cNvPicPr>
          <p:nvPr/>
        </p:nvPicPr>
        <p:blipFill>
          <a:blip r:embed="rId1"/>
          <a:stretch>
            <a:fillRect/>
          </a:stretch>
        </p:blipFill>
        <p:spPr>
          <a:xfrm>
            <a:off x="4700642" y="3984994"/>
            <a:ext cx="2133600" cy="4191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854765"/>
            <a:ext cx="10058400" cy="882595"/>
          </a:xfrm>
        </p:spPr>
        <p:txBody>
          <a:bodyPr/>
          <a:lstStyle/>
          <a:p>
            <a:r>
              <a:rPr lang="es-ES" dirty="0"/>
              <a:t>LA RED</a:t>
            </a:r>
            <a:endParaRPr lang="es-ES" dirty="0"/>
          </a:p>
        </p:txBody>
      </p:sp>
      <p:sp>
        <p:nvSpPr>
          <p:cNvPr id="3" name="Marcador de contenido 2"/>
          <p:cNvSpPr>
            <a:spLocks noGrp="1"/>
          </p:cNvSpPr>
          <p:nvPr>
            <p:ph idx="1"/>
          </p:nvPr>
        </p:nvSpPr>
        <p:spPr>
          <a:xfrm>
            <a:off x="1144748" y="1869662"/>
            <a:ext cx="10010932" cy="4398791"/>
          </a:xfrm>
        </p:spPr>
        <p:txBody>
          <a:bodyPr>
            <a:normAutofit fontScale="85000" lnSpcReduction="20000"/>
          </a:bodyPr>
          <a:lstStyle/>
          <a:p>
            <a:r>
              <a:rPr lang="es-ES" sz="2600" b="1" dirty="0"/>
              <a:t>Configurar la red en Linux.</a:t>
            </a:r>
            <a:endParaRPr lang="es-ES" sz="2600" b="1" dirty="0"/>
          </a:p>
          <a:p>
            <a:r>
              <a:rPr lang="es-ES" sz="1700" b="1" dirty="0" err="1"/>
              <a:t>lsof</a:t>
            </a:r>
            <a:r>
              <a:rPr lang="es-ES" sz="1700" dirty="0"/>
              <a:t>: Identifica que archivos están abiertos en el sistema: archivos regulares, directorios, tuberías, librerías o socket de red entre otros, quién accede a ellos, nombre e </a:t>
            </a:r>
            <a:r>
              <a:rPr lang="es-ES" sz="1700" i="1" dirty="0"/>
              <a:t>ID</a:t>
            </a:r>
            <a:r>
              <a:rPr lang="es-ES" sz="1700" dirty="0"/>
              <a:t> del proceso, la ruta absoluta del archivo, su descriptor, </a:t>
            </a:r>
            <a:r>
              <a:rPr lang="es-ES" sz="1700" dirty="0" err="1"/>
              <a:t>etc</a:t>
            </a:r>
            <a:r>
              <a:rPr lang="es-ES" sz="1700" dirty="0"/>
              <a:t>… útil por ejemplo si queremos desmontar un sistemas de archivos (incluso los de red) pero existen conexiones abiertas a determinados archivos y queremos tener información al respecto.</a:t>
            </a:r>
            <a:endParaRPr lang="es-ES" sz="1700" dirty="0"/>
          </a:p>
          <a:p>
            <a:r>
              <a:rPr lang="es-ES" sz="1700" b="1" dirty="0" err="1"/>
              <a:t>lsof</a:t>
            </a:r>
            <a:r>
              <a:rPr lang="es-ES" sz="1700" b="1" dirty="0"/>
              <a:t> [opciones] archivo</a:t>
            </a:r>
            <a:endParaRPr lang="es-ES" sz="1700" dirty="0"/>
          </a:p>
          <a:p>
            <a:r>
              <a:rPr lang="es-ES" sz="1700" dirty="0"/>
              <a:t>Opciones</a:t>
            </a:r>
            <a:endParaRPr lang="es-ES" sz="1700" dirty="0"/>
          </a:p>
          <a:p>
            <a:r>
              <a:rPr lang="es-ES" sz="1700" dirty="0"/>
              <a:t>Listar los ficheros abiertos por un proceso: </a:t>
            </a:r>
            <a:r>
              <a:rPr lang="es-ES" sz="1700" b="1" dirty="0"/>
              <a:t>-c</a:t>
            </a:r>
            <a:r>
              <a:rPr lang="es-ES" sz="1700" dirty="0"/>
              <a:t> </a:t>
            </a:r>
            <a:r>
              <a:rPr lang="es-ES" sz="1700" i="1" dirty="0"/>
              <a:t>&lt;proceso&gt;</a:t>
            </a:r>
            <a:endParaRPr lang="es-ES" sz="1700" dirty="0"/>
          </a:p>
          <a:p>
            <a:r>
              <a:rPr lang="es-ES" sz="1700" dirty="0"/>
              <a:t>Listar los procesos que están usando un directorio: </a:t>
            </a:r>
            <a:r>
              <a:rPr lang="es-ES" sz="1700" b="1" dirty="0"/>
              <a:t>+D</a:t>
            </a:r>
            <a:r>
              <a:rPr lang="es-ES" sz="1700" dirty="0"/>
              <a:t> </a:t>
            </a:r>
            <a:r>
              <a:rPr lang="es-ES" sz="1700" i="1" dirty="0"/>
              <a:t>&lt;directorio&gt;</a:t>
            </a:r>
            <a:endParaRPr lang="es-ES" sz="1700" dirty="0"/>
          </a:p>
          <a:p>
            <a:r>
              <a:rPr lang="es-ES" sz="1700" dirty="0"/>
              <a:t>Mostrar todos los ficheros de red utilizados por procesos de red: </a:t>
            </a:r>
            <a:r>
              <a:rPr lang="es-ES" sz="1700" b="1" dirty="0"/>
              <a:t>-i</a:t>
            </a:r>
            <a:endParaRPr lang="es-ES" sz="1700" b="1" dirty="0"/>
          </a:p>
          <a:p>
            <a:r>
              <a:rPr lang="es-ES" sz="1700" dirty="0"/>
              <a:t>Con </a:t>
            </a:r>
            <a:r>
              <a:rPr lang="es-ES" sz="1700" b="1" dirty="0" err="1"/>
              <a:t>awk</a:t>
            </a:r>
            <a:r>
              <a:rPr lang="es-ES" sz="1700" dirty="0"/>
              <a:t> cortamos la primera columna (la de los servicios), la ordenamos con </a:t>
            </a:r>
            <a:r>
              <a:rPr lang="es-ES" sz="1700" b="1" dirty="0" err="1"/>
              <a:t>sort</a:t>
            </a:r>
            <a:r>
              <a:rPr lang="es-ES" sz="1700" dirty="0"/>
              <a:t> para tenerlos todos agrupados. Con </a:t>
            </a:r>
            <a:r>
              <a:rPr lang="es-ES" sz="1700" b="1" dirty="0" err="1"/>
              <a:t>uniq</a:t>
            </a:r>
            <a:r>
              <a:rPr lang="es-ES" sz="1700" b="1" dirty="0"/>
              <a:t> -c</a:t>
            </a:r>
            <a:r>
              <a:rPr lang="es-ES" sz="1700" dirty="0"/>
              <a:t> añadimos el prefijo a la línea con el número de ocurrencias y por último ordenamos por número de ocurrencias. Podemos terminar con </a:t>
            </a:r>
            <a:r>
              <a:rPr lang="es-ES" sz="1700" i="1" dirty="0"/>
              <a:t>|grep &lt;servicio o programa&gt;</a:t>
            </a:r>
            <a:r>
              <a:rPr lang="es-ES" sz="1700" dirty="0"/>
              <a:t> para concretar:</a:t>
            </a:r>
            <a:endParaRPr lang="es-ES" sz="1700" dirty="0"/>
          </a:p>
          <a:p>
            <a:endParaRPr lang="es-ES" dirty="0"/>
          </a:p>
          <a:p>
            <a:endParaRPr lang="es-ES" dirty="0"/>
          </a:p>
          <a:p>
            <a:endParaRPr lang="es-ES" dirty="0"/>
          </a:p>
          <a:p>
            <a:endParaRPr lang="es-ES" dirty="0"/>
          </a:p>
          <a:p>
            <a:endParaRPr lang="es-ES" dirty="0"/>
          </a:p>
          <a:p>
            <a:endParaRPr lang="es-ES" dirty="0"/>
          </a:p>
          <a:p>
            <a:pPr marL="0" indent="0">
              <a:buNone/>
            </a:pPr>
            <a:endParaRPr lang="es-ES" altLang="es-ES" b="1" dirty="0"/>
          </a:p>
        </p:txBody>
      </p:sp>
      <p:sp>
        <p:nvSpPr>
          <p:cNvPr id="4" name="Rectangle 1"/>
          <p:cNvSpPr>
            <a:spLocks noChangeArrowheads="1"/>
          </p:cNvSpPr>
          <p:nvPr/>
        </p:nvSpPr>
        <p:spPr bwMode="auto">
          <a:xfrm>
            <a:off x="0" y="26802"/>
            <a:ext cx="323769" cy="40359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5" name="Rectangle 1"/>
          <p:cNvSpPr>
            <a:spLocks noChangeArrowheads="1"/>
          </p:cNvSpPr>
          <p:nvPr/>
        </p:nvSpPr>
        <p:spPr bwMode="auto">
          <a:xfrm>
            <a:off x="-1148316" y="309340"/>
            <a:ext cx="65" cy="501349"/>
          </a:xfrm>
          <a:prstGeom prst="rect">
            <a:avLst/>
          </a:prstGeom>
          <a:solidFill>
            <a:srgbClr val="F1F1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33308" rIns="0" bIns="88872"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pic>
        <p:nvPicPr>
          <p:cNvPr id="6" name="Imagen 5"/>
          <p:cNvPicPr>
            <a:picLocks noChangeAspect="1"/>
          </p:cNvPicPr>
          <p:nvPr/>
        </p:nvPicPr>
        <p:blipFill>
          <a:blip r:embed="rId1"/>
          <a:stretch>
            <a:fillRect/>
          </a:stretch>
        </p:blipFill>
        <p:spPr>
          <a:xfrm>
            <a:off x="6490539" y="5956499"/>
            <a:ext cx="4665141" cy="392854"/>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854765"/>
            <a:ext cx="10058400" cy="882595"/>
          </a:xfrm>
        </p:spPr>
        <p:txBody>
          <a:bodyPr/>
          <a:lstStyle/>
          <a:p>
            <a:r>
              <a:rPr lang="es-ES" dirty="0"/>
              <a:t>SERVICIOS BÁSICOS</a:t>
            </a:r>
            <a:endParaRPr lang="es-ES" dirty="0"/>
          </a:p>
        </p:txBody>
      </p:sp>
      <p:sp>
        <p:nvSpPr>
          <p:cNvPr id="3" name="Marcador de contenido 2"/>
          <p:cNvSpPr>
            <a:spLocks noGrp="1"/>
          </p:cNvSpPr>
          <p:nvPr>
            <p:ph idx="1"/>
          </p:nvPr>
        </p:nvSpPr>
        <p:spPr>
          <a:xfrm>
            <a:off x="1144748" y="1869662"/>
            <a:ext cx="10010932" cy="4398791"/>
          </a:xfrm>
        </p:spPr>
        <p:txBody>
          <a:bodyPr>
            <a:normAutofit fontScale="25000" lnSpcReduction="20000"/>
          </a:bodyPr>
          <a:lstStyle/>
          <a:p>
            <a:pPr marL="0" lvl="0" indent="0" algn="just" eaLnBrk="0" fontAlgn="base" hangingPunct="0">
              <a:lnSpc>
                <a:spcPct val="100000"/>
              </a:lnSpc>
              <a:spcBef>
                <a:spcPts val="600"/>
              </a:spcBef>
              <a:spcAft>
                <a:spcPct val="0"/>
              </a:spcAft>
              <a:buClrTx/>
              <a:buSzTx/>
              <a:buNone/>
            </a:pPr>
            <a:r>
              <a:rPr lang="es-ES" altLang="es-ES" sz="7200" b="1" dirty="0" err="1">
                <a:solidFill>
                  <a:schemeClr val="tx1"/>
                </a:solidFill>
              </a:rPr>
              <a:t>OpenSSH</a:t>
            </a:r>
            <a:endParaRPr lang="es-ES" altLang="es-ES" sz="7200" b="1" dirty="0">
              <a:solidFill>
                <a:schemeClr val="tx1"/>
              </a:solidFill>
            </a:endParaRPr>
          </a:p>
          <a:p>
            <a:pPr marL="0" lvl="0" indent="0" algn="just" eaLnBrk="0" fontAlgn="base" hangingPunct="0">
              <a:lnSpc>
                <a:spcPct val="100000"/>
              </a:lnSpc>
              <a:spcBef>
                <a:spcPts val="600"/>
              </a:spcBef>
              <a:spcAft>
                <a:spcPct val="0"/>
              </a:spcAft>
              <a:buClrTx/>
              <a:buSzTx/>
              <a:buNone/>
            </a:pPr>
            <a:endParaRPr lang="es-ES" altLang="es-ES" sz="5600" dirty="0">
              <a:solidFill>
                <a:srgbClr val="800000"/>
              </a:solidFill>
            </a:endParaRPr>
          </a:p>
          <a:p>
            <a:pPr marL="0" lvl="0" indent="0" algn="just" eaLnBrk="0" fontAlgn="base" hangingPunct="0">
              <a:spcBef>
                <a:spcPts val="200"/>
              </a:spcBef>
              <a:buClrTx/>
              <a:buSzTx/>
              <a:buNone/>
            </a:pPr>
            <a:r>
              <a:rPr lang="es-ES" altLang="es-ES" sz="6000" dirty="0" err="1">
                <a:solidFill>
                  <a:srgbClr val="000000"/>
                </a:solidFill>
              </a:rPr>
              <a:t>OpenSSH</a:t>
            </a:r>
            <a:r>
              <a:rPr lang="es-ES" altLang="es-ES" sz="6000" dirty="0">
                <a:solidFill>
                  <a:srgbClr val="000000"/>
                </a:solidFill>
              </a:rPr>
              <a:t> es un protocolo de </a:t>
            </a:r>
            <a:r>
              <a:rPr lang="es-ES" altLang="es-ES" sz="6000" dirty="0" err="1">
                <a:solidFill>
                  <a:srgbClr val="000000"/>
                </a:solidFill>
              </a:rPr>
              <a:t>shell</a:t>
            </a:r>
            <a:r>
              <a:rPr lang="es-ES" altLang="es-ES" sz="6000" dirty="0">
                <a:solidFill>
                  <a:srgbClr val="000000"/>
                </a:solidFill>
              </a:rPr>
              <a:t> con prestaciones de seguridad, un mecanismo que permite la autenticación segura, la ejecución remota y la conexión a distancia..</a:t>
            </a:r>
            <a:endParaRPr lang="es-ES" altLang="es-ES" sz="6000" dirty="0">
              <a:solidFill>
                <a:srgbClr val="000000"/>
              </a:solidFill>
            </a:endParaRPr>
          </a:p>
          <a:p>
            <a:pPr marL="0" lvl="0" indent="0" algn="just" eaLnBrk="0" fontAlgn="base" hangingPunct="0">
              <a:spcBef>
                <a:spcPts val="200"/>
              </a:spcBef>
              <a:buClrTx/>
              <a:buSzTx/>
              <a:buNone/>
            </a:pPr>
            <a:r>
              <a:rPr lang="es-ES" altLang="es-ES" sz="6000" dirty="0">
                <a:solidFill>
                  <a:srgbClr val="000000"/>
                </a:solidFill>
              </a:rPr>
              <a:t>Los paquetes que se deben utilizar para un servidor son </a:t>
            </a:r>
            <a:r>
              <a:rPr lang="es-ES" altLang="es-ES" sz="6000" b="1" dirty="0" err="1">
                <a:solidFill>
                  <a:srgbClr val="000000"/>
                </a:solidFill>
              </a:rPr>
              <a:t>openssh</a:t>
            </a:r>
            <a:r>
              <a:rPr lang="es-ES" altLang="es-ES" sz="6000" dirty="0">
                <a:solidFill>
                  <a:srgbClr val="000000"/>
                </a:solidFill>
              </a:rPr>
              <a:t>, </a:t>
            </a:r>
            <a:r>
              <a:rPr lang="es-ES" altLang="es-ES" sz="6000" b="1" dirty="0" err="1">
                <a:solidFill>
                  <a:srgbClr val="000000"/>
                </a:solidFill>
              </a:rPr>
              <a:t>openssl</a:t>
            </a:r>
            <a:r>
              <a:rPr lang="es-ES" altLang="es-ES" sz="6000" dirty="0">
                <a:solidFill>
                  <a:srgbClr val="000000"/>
                </a:solidFill>
              </a:rPr>
              <a:t> y </a:t>
            </a:r>
            <a:r>
              <a:rPr lang="es-ES" altLang="es-ES" sz="6000" b="1" dirty="0" err="1">
                <a:solidFill>
                  <a:srgbClr val="000000"/>
                </a:solidFill>
              </a:rPr>
              <a:t>openssh-clients</a:t>
            </a:r>
            <a:r>
              <a:rPr lang="es-ES" altLang="es-ES" sz="6000" dirty="0">
                <a:solidFill>
                  <a:srgbClr val="000000"/>
                </a:solidFill>
              </a:rPr>
              <a:t>. Para X se añaden los paquetes </a:t>
            </a:r>
            <a:r>
              <a:rPr lang="es-ES" altLang="es-ES" sz="6000" b="1" dirty="0" err="1">
                <a:solidFill>
                  <a:srgbClr val="000000"/>
                </a:solidFill>
              </a:rPr>
              <a:t>openssh-askpass</a:t>
            </a:r>
            <a:r>
              <a:rPr lang="es-ES" altLang="es-ES" sz="6000" b="1" dirty="0">
                <a:solidFill>
                  <a:srgbClr val="000000"/>
                </a:solidFill>
              </a:rPr>
              <a:t>*.</a:t>
            </a:r>
            <a:endParaRPr lang="es-ES" altLang="es-ES" sz="6000" dirty="0">
              <a:solidFill>
                <a:srgbClr val="000000"/>
              </a:solidFill>
            </a:endParaRPr>
          </a:p>
          <a:p>
            <a:pPr marL="0" lvl="0" indent="0" algn="just" eaLnBrk="0" fontAlgn="base" hangingPunct="0">
              <a:spcBef>
                <a:spcPts val="200"/>
              </a:spcBef>
              <a:buClrTx/>
              <a:buSzTx/>
              <a:buNone/>
            </a:pPr>
            <a:r>
              <a:rPr lang="es-ES" altLang="es-ES" sz="6000" dirty="0">
                <a:solidFill>
                  <a:srgbClr val="000000"/>
                </a:solidFill>
              </a:rPr>
              <a:t>La configuración es /</a:t>
            </a:r>
            <a:r>
              <a:rPr lang="es-ES" altLang="es-ES" sz="6000" dirty="0" err="1">
                <a:solidFill>
                  <a:srgbClr val="000000"/>
                </a:solidFill>
              </a:rPr>
              <a:t>etc</a:t>
            </a:r>
            <a:r>
              <a:rPr lang="es-ES" altLang="es-ES" sz="6000" dirty="0">
                <a:solidFill>
                  <a:srgbClr val="000000"/>
                </a:solidFill>
              </a:rPr>
              <a:t>/</a:t>
            </a:r>
            <a:r>
              <a:rPr lang="es-ES" altLang="es-ES" sz="6000" dirty="0" err="1">
                <a:solidFill>
                  <a:srgbClr val="000000"/>
                </a:solidFill>
              </a:rPr>
              <a:t>ssh</a:t>
            </a:r>
            <a:r>
              <a:rPr lang="es-ES" altLang="es-ES" sz="6000" dirty="0">
                <a:solidFill>
                  <a:srgbClr val="000000"/>
                </a:solidFill>
              </a:rPr>
              <a:t>/</a:t>
            </a:r>
            <a:r>
              <a:rPr lang="es-ES" altLang="es-ES" sz="6000" dirty="0" err="1">
                <a:solidFill>
                  <a:srgbClr val="000000"/>
                </a:solidFill>
              </a:rPr>
              <a:t>sshd_config</a:t>
            </a:r>
            <a:r>
              <a:rPr lang="es-ES" altLang="es-ES" sz="6000" dirty="0">
                <a:solidFill>
                  <a:srgbClr val="000000"/>
                </a:solidFill>
              </a:rPr>
              <a:t>. Si es preciso, se pueden modificar algunas opciones:</a:t>
            </a:r>
            <a:endParaRPr lang="es-ES" altLang="es-ES" sz="6000" dirty="0">
              <a:solidFill>
                <a:srgbClr val="000000"/>
              </a:solidFill>
            </a:endParaRPr>
          </a:p>
          <a:p>
            <a:pPr lvl="1" algn="just" eaLnBrk="0" fontAlgn="base" hangingPunct="0">
              <a:lnSpc>
                <a:spcPct val="120000"/>
              </a:lnSpc>
            </a:pPr>
            <a:r>
              <a:rPr lang="es-ES" altLang="es-ES" sz="5800" b="1" dirty="0">
                <a:solidFill>
                  <a:srgbClr val="000000"/>
                </a:solidFill>
              </a:rPr>
              <a:t>Port</a:t>
            </a:r>
            <a:r>
              <a:rPr lang="es-ES" altLang="es-ES" sz="5800" dirty="0">
                <a:solidFill>
                  <a:srgbClr val="000000"/>
                </a:solidFill>
              </a:rPr>
              <a:t>: el número de puerto por defecto es 22;</a:t>
            </a:r>
            <a:endParaRPr lang="es-ES" altLang="es-ES" sz="5800" dirty="0">
              <a:solidFill>
                <a:srgbClr val="000000"/>
              </a:solidFill>
            </a:endParaRPr>
          </a:p>
          <a:p>
            <a:pPr lvl="1" algn="just" eaLnBrk="0" fontAlgn="base" hangingPunct="0">
              <a:lnSpc>
                <a:spcPct val="120000"/>
              </a:lnSpc>
            </a:pPr>
            <a:r>
              <a:rPr lang="es-ES" altLang="es-ES" sz="5800" b="1" dirty="0" err="1">
                <a:solidFill>
                  <a:srgbClr val="000000"/>
                </a:solidFill>
              </a:rPr>
              <a:t>Protocol</a:t>
            </a:r>
            <a:r>
              <a:rPr lang="es-ES" altLang="es-ES" sz="5800" dirty="0">
                <a:solidFill>
                  <a:srgbClr val="000000"/>
                </a:solidFill>
              </a:rPr>
              <a:t>: fijado en 2,1, autoriza SSH1 y SSH2. Se preferirá SSH2 y así se dejará el valor 2;</a:t>
            </a:r>
            <a:endParaRPr lang="es-ES" altLang="es-ES" sz="5800" dirty="0">
              <a:solidFill>
                <a:srgbClr val="000000"/>
              </a:solidFill>
            </a:endParaRPr>
          </a:p>
          <a:p>
            <a:pPr lvl="1" algn="just" eaLnBrk="0" fontAlgn="base" hangingPunct="0">
              <a:lnSpc>
                <a:spcPct val="120000"/>
              </a:lnSpc>
            </a:pPr>
            <a:r>
              <a:rPr lang="es-ES" altLang="es-ES" sz="5800" b="1" dirty="0" err="1">
                <a:solidFill>
                  <a:srgbClr val="000000"/>
                </a:solidFill>
              </a:rPr>
              <a:t>ListenAddress</a:t>
            </a:r>
            <a:r>
              <a:rPr lang="es-ES" altLang="es-ES" sz="5800" dirty="0">
                <a:solidFill>
                  <a:srgbClr val="000000"/>
                </a:solidFill>
              </a:rPr>
              <a:t>: por defecto </a:t>
            </a:r>
            <a:r>
              <a:rPr lang="es-ES" altLang="es-ES" sz="5800" dirty="0" err="1">
                <a:solidFill>
                  <a:srgbClr val="000000"/>
                </a:solidFill>
              </a:rPr>
              <a:t>ssh</a:t>
            </a:r>
            <a:r>
              <a:rPr lang="es-ES" altLang="es-ES" sz="5800" dirty="0">
                <a:solidFill>
                  <a:srgbClr val="000000"/>
                </a:solidFill>
              </a:rPr>
              <a:t> escucha en todos los IP del servidor. Se puede autorizar únicamente la escucha en una interfaz dada;</a:t>
            </a:r>
            <a:endParaRPr lang="es-ES" altLang="es-ES" sz="5800" dirty="0">
              <a:solidFill>
                <a:srgbClr val="000000"/>
              </a:solidFill>
            </a:endParaRPr>
          </a:p>
          <a:p>
            <a:pPr lvl="1" algn="just" eaLnBrk="0" fontAlgn="base" hangingPunct="0">
              <a:lnSpc>
                <a:spcPct val="120000"/>
              </a:lnSpc>
            </a:pPr>
            <a:r>
              <a:rPr lang="es-ES" altLang="es-ES" sz="5800" b="1" dirty="0" err="1">
                <a:solidFill>
                  <a:srgbClr val="000000"/>
                </a:solidFill>
              </a:rPr>
              <a:t>PermitRootLogin</a:t>
            </a:r>
            <a:r>
              <a:rPr lang="es-ES" altLang="es-ES" sz="5800" dirty="0">
                <a:solidFill>
                  <a:srgbClr val="000000"/>
                </a:solidFill>
              </a:rPr>
              <a:t>: </a:t>
            </a:r>
            <a:r>
              <a:rPr lang="es-ES" altLang="es-ES" sz="5800" dirty="0" err="1">
                <a:solidFill>
                  <a:srgbClr val="000000"/>
                </a:solidFill>
              </a:rPr>
              <a:t>ssh</a:t>
            </a:r>
            <a:r>
              <a:rPr lang="es-ES" altLang="es-ES" sz="5800" dirty="0">
                <a:solidFill>
                  <a:srgbClr val="000000"/>
                </a:solidFill>
              </a:rPr>
              <a:t> autoriza las conexiones de </a:t>
            </a:r>
            <a:r>
              <a:rPr lang="es-ES" altLang="es-ES" sz="5800" dirty="0" err="1">
                <a:solidFill>
                  <a:srgbClr val="000000"/>
                </a:solidFill>
              </a:rPr>
              <a:t>root</a:t>
            </a:r>
            <a:r>
              <a:rPr lang="es-ES" altLang="es-ES" sz="5800" dirty="0">
                <a:solidFill>
                  <a:srgbClr val="000000"/>
                </a:solidFill>
              </a:rPr>
              <a:t>. Se puede poner el valor a ”no”. En este caso, habrá que conectarse como simple usuario y pasar por su o sudo;</a:t>
            </a:r>
            <a:endParaRPr lang="es-ES" altLang="es-ES" sz="5800" dirty="0">
              <a:solidFill>
                <a:srgbClr val="000000"/>
              </a:solidFill>
            </a:endParaRPr>
          </a:p>
          <a:p>
            <a:pPr lvl="1" algn="just" eaLnBrk="0" fontAlgn="base" hangingPunct="0">
              <a:lnSpc>
                <a:spcPct val="120000"/>
              </a:lnSpc>
            </a:pPr>
            <a:r>
              <a:rPr lang="es-ES" altLang="es-ES" sz="5800" b="1" dirty="0">
                <a:solidFill>
                  <a:srgbClr val="000000"/>
                </a:solidFill>
              </a:rPr>
              <a:t>Banner</a:t>
            </a:r>
            <a:r>
              <a:rPr lang="es-ES" altLang="es-ES" sz="5800" dirty="0">
                <a:solidFill>
                  <a:srgbClr val="000000"/>
                </a:solidFill>
              </a:rPr>
              <a:t>: ruta de un archivo cuyo contenido se mostrará a los usuarios durante la conexión.</a:t>
            </a:r>
            <a:endParaRPr lang="es-ES" altLang="es-ES" sz="5800" dirty="0">
              <a:solidFill>
                <a:srgbClr val="000000"/>
              </a:solidFill>
            </a:endParaRPr>
          </a:p>
          <a:p>
            <a:pPr marL="0" lvl="0" indent="0" algn="just" eaLnBrk="0" fontAlgn="base" hangingPunct="0">
              <a:spcBef>
                <a:spcPts val="200"/>
              </a:spcBef>
              <a:buClrTx/>
              <a:buSzTx/>
              <a:buNone/>
            </a:pPr>
            <a:r>
              <a:rPr lang="es-ES" altLang="es-ES" sz="6000" dirty="0" err="1">
                <a:solidFill>
                  <a:srgbClr val="000000"/>
                </a:solidFill>
              </a:rPr>
              <a:t>Ssh</a:t>
            </a:r>
            <a:r>
              <a:rPr lang="es-ES" altLang="es-ES" sz="6000" dirty="0">
                <a:solidFill>
                  <a:srgbClr val="000000"/>
                </a:solidFill>
              </a:rPr>
              <a:t> es un servicio </a:t>
            </a:r>
            <a:r>
              <a:rPr lang="es-ES" altLang="es-ES" sz="6000" dirty="0" err="1">
                <a:solidFill>
                  <a:srgbClr val="000000"/>
                </a:solidFill>
              </a:rPr>
              <a:t>System</a:t>
            </a:r>
            <a:r>
              <a:rPr lang="es-ES" altLang="es-ES" sz="6000" dirty="0">
                <a:solidFill>
                  <a:srgbClr val="000000"/>
                </a:solidFill>
              </a:rPr>
              <a:t> V que puede iniciarse con </a:t>
            </a:r>
            <a:r>
              <a:rPr lang="es-ES" altLang="es-ES" sz="6000" dirty="0" err="1">
                <a:solidFill>
                  <a:srgbClr val="000000"/>
                </a:solidFill>
              </a:rPr>
              <a:t>service</a:t>
            </a:r>
            <a:r>
              <a:rPr lang="es-ES" altLang="es-ES" sz="6000" dirty="0">
                <a:solidFill>
                  <a:srgbClr val="000000"/>
                </a:solidFill>
              </a:rPr>
              <a:t> o directamente por /</a:t>
            </a:r>
            <a:r>
              <a:rPr lang="es-ES" altLang="es-ES" sz="6000" dirty="0" err="1">
                <a:solidFill>
                  <a:srgbClr val="000000"/>
                </a:solidFill>
              </a:rPr>
              <a:t>etc</a:t>
            </a:r>
            <a:r>
              <a:rPr lang="es-ES" altLang="es-ES" sz="6000" dirty="0">
                <a:solidFill>
                  <a:srgbClr val="000000"/>
                </a:solidFill>
              </a:rPr>
              <a:t>/</a:t>
            </a:r>
            <a:r>
              <a:rPr lang="es-ES" altLang="es-ES" sz="6000" dirty="0" err="1">
                <a:solidFill>
                  <a:srgbClr val="000000"/>
                </a:solidFill>
              </a:rPr>
              <a:t>init.d</a:t>
            </a:r>
            <a:r>
              <a:rPr lang="es-ES" altLang="es-ES" sz="6000" dirty="0">
                <a:solidFill>
                  <a:srgbClr val="000000"/>
                </a:solidFill>
              </a:rPr>
              <a:t>/</a:t>
            </a:r>
            <a:r>
              <a:rPr lang="es-ES" altLang="es-ES" sz="6000" dirty="0" err="1">
                <a:solidFill>
                  <a:srgbClr val="000000"/>
                </a:solidFill>
              </a:rPr>
              <a:t>sshd</a:t>
            </a:r>
            <a:r>
              <a:rPr lang="es-ES" altLang="es-ES" sz="6000" dirty="0">
                <a:solidFill>
                  <a:srgbClr val="000000"/>
                </a:solidFill>
              </a:rPr>
              <a:t>, o una unidad </a:t>
            </a:r>
            <a:r>
              <a:rPr lang="es-ES" altLang="es-ES" sz="6000" dirty="0" err="1">
                <a:solidFill>
                  <a:srgbClr val="000000"/>
                </a:solidFill>
              </a:rPr>
              <a:t>systemd</a:t>
            </a:r>
            <a:r>
              <a:rPr lang="es-ES" altLang="es-ES" sz="6000" dirty="0">
                <a:solidFill>
                  <a:srgbClr val="000000"/>
                </a:solidFill>
              </a:rPr>
              <a:t>. 				</a:t>
            </a:r>
            <a:r>
              <a:rPr lang="es-ES" altLang="es-ES" sz="6400" b="1" dirty="0">
                <a:solidFill>
                  <a:srgbClr val="000000"/>
                </a:solidFill>
              </a:rPr>
              <a:t># </a:t>
            </a:r>
            <a:r>
              <a:rPr lang="es-ES" altLang="es-ES" sz="6400" b="1" dirty="0" err="1">
                <a:solidFill>
                  <a:srgbClr val="000000"/>
                </a:solidFill>
              </a:rPr>
              <a:t>service</a:t>
            </a:r>
            <a:r>
              <a:rPr lang="es-ES" altLang="es-ES" sz="6400" b="1" dirty="0">
                <a:solidFill>
                  <a:srgbClr val="000000"/>
                </a:solidFill>
              </a:rPr>
              <a:t> </a:t>
            </a:r>
            <a:r>
              <a:rPr lang="es-ES" altLang="es-ES" sz="6400" b="1" dirty="0" err="1">
                <a:solidFill>
                  <a:srgbClr val="000000"/>
                </a:solidFill>
              </a:rPr>
              <a:t>sshd</a:t>
            </a:r>
            <a:r>
              <a:rPr lang="es-ES" altLang="es-ES" sz="6400" b="1" dirty="0">
                <a:solidFill>
                  <a:srgbClr val="000000"/>
                </a:solidFill>
              </a:rPr>
              <a:t> </a:t>
            </a:r>
            <a:r>
              <a:rPr lang="es-ES" altLang="es-ES" sz="6400" b="1" dirty="0" err="1">
                <a:solidFill>
                  <a:srgbClr val="000000"/>
                </a:solidFill>
              </a:rPr>
              <a:t>start</a:t>
            </a:r>
            <a:endParaRPr lang="es-ES" sz="6400" b="1" dirty="0"/>
          </a:p>
          <a:p>
            <a:endParaRPr lang="es-ES" dirty="0"/>
          </a:p>
          <a:p>
            <a:endParaRPr lang="es-ES" dirty="0"/>
          </a:p>
          <a:p>
            <a:pPr marL="0" indent="0">
              <a:buNone/>
            </a:pPr>
            <a:endParaRPr lang="es-ES" altLang="es-ES" b="1" dirty="0"/>
          </a:p>
        </p:txBody>
      </p:sp>
      <p:sp>
        <p:nvSpPr>
          <p:cNvPr id="4" name="Rectangle 1"/>
          <p:cNvSpPr>
            <a:spLocks noChangeArrowheads="1"/>
          </p:cNvSpPr>
          <p:nvPr/>
        </p:nvSpPr>
        <p:spPr bwMode="auto">
          <a:xfrm>
            <a:off x="0" y="26802"/>
            <a:ext cx="323769" cy="40359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5" name="Rectangle 1"/>
          <p:cNvSpPr>
            <a:spLocks noChangeArrowheads="1"/>
          </p:cNvSpPr>
          <p:nvPr/>
        </p:nvSpPr>
        <p:spPr bwMode="auto">
          <a:xfrm>
            <a:off x="-1148316" y="309340"/>
            <a:ext cx="65" cy="501349"/>
          </a:xfrm>
          <a:prstGeom prst="rect">
            <a:avLst/>
          </a:prstGeom>
          <a:solidFill>
            <a:srgbClr val="F1F1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33308" rIns="0" bIns="88872"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SERVICIOS BÁSICOS</a:t>
            </a:r>
            <a:endParaRPr lang="es-ES" dirty="0"/>
          </a:p>
        </p:txBody>
      </p:sp>
      <p:sp>
        <p:nvSpPr>
          <p:cNvPr id="4" name="Rectangle 1"/>
          <p:cNvSpPr>
            <a:spLocks noGrp="1" noChangeArrowheads="1"/>
          </p:cNvSpPr>
          <p:nvPr>
            <p:ph idx="1"/>
          </p:nvPr>
        </p:nvSpPr>
        <p:spPr bwMode="auto">
          <a:xfrm>
            <a:off x="1097280" y="1969520"/>
            <a:ext cx="10058400" cy="372916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88872" rIns="0" bIns="88872"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pPr>
            <a:r>
              <a:rPr kumimoji="0" lang="es-ES" altLang="es-ES" sz="1400" b="0" i="0" u="none" strike="noStrike" cap="none" normalizeH="0" baseline="0" dirty="0">
                <a:ln>
                  <a:noFill/>
                </a:ln>
                <a:effectLst/>
                <a:latin typeface="+mn-lt"/>
              </a:rPr>
              <a:t>El comando </a:t>
            </a:r>
            <a:r>
              <a:rPr kumimoji="0" lang="es-ES" altLang="es-ES" sz="1400" b="1" i="0" u="none" strike="noStrike" cap="none" normalizeH="0" baseline="0" dirty="0" err="1">
                <a:ln>
                  <a:noFill/>
                </a:ln>
                <a:effectLst/>
                <a:latin typeface="+mn-lt"/>
              </a:rPr>
              <a:t>ssh</a:t>
            </a:r>
            <a:r>
              <a:rPr kumimoji="0" lang="es-ES" altLang="es-ES" sz="1400" b="0" i="0" u="none" strike="noStrike" cap="none" normalizeH="0" baseline="0" dirty="0">
                <a:ln>
                  <a:noFill/>
                </a:ln>
                <a:effectLst/>
                <a:latin typeface="+mn-lt"/>
              </a:rPr>
              <a:t> permite establecer una conexión.</a:t>
            </a:r>
            <a:endParaRPr kumimoji="0" lang="es-ES" altLang="es-ES" sz="1400" b="0" i="0" u="none" strike="noStrike" cap="none" normalizeH="0" baseline="0" dirty="0">
              <a:ln>
                <a:noFill/>
              </a:ln>
              <a:effectLst/>
              <a:latin typeface="+mn-lt"/>
            </a:endParaRPr>
          </a:p>
          <a:p>
            <a:pPr marL="0" marR="0" lvl="0" indent="0" algn="just" defTabSz="914400" rtl="0" eaLnBrk="0" fontAlgn="base" latinLnBrk="0" hangingPunct="0">
              <a:lnSpc>
                <a:spcPct val="100000"/>
              </a:lnSpc>
              <a:spcBef>
                <a:spcPct val="0"/>
              </a:spcBef>
              <a:spcAft>
                <a:spcPct val="0"/>
              </a:spcAft>
              <a:buClrTx/>
              <a:buSzTx/>
              <a:buFontTx/>
              <a:buNone/>
            </a:pPr>
            <a:endParaRPr kumimoji="0" lang="es-ES" altLang="es-ES" sz="1400" b="0" i="0" u="none" strike="noStrike" cap="none" normalizeH="0" baseline="0" dirty="0">
              <a:ln>
                <a:noFill/>
              </a:ln>
              <a:effectLst/>
              <a:latin typeface="+mn-lt"/>
            </a:endParaRPr>
          </a:p>
          <a:p>
            <a:pPr marL="475615" lvl="2" indent="0" algn="just">
              <a:buNone/>
            </a:pPr>
            <a:r>
              <a:rPr kumimoji="0" lang="es-ES" altLang="es-ES" sz="1400" b="1" i="0" u="none" strike="noStrike" cap="none" normalizeH="0" baseline="0" dirty="0">
                <a:ln>
                  <a:noFill/>
                </a:ln>
                <a:effectLst/>
                <a:latin typeface="+mn-lt"/>
              </a:rPr>
              <a:t>$ </a:t>
            </a:r>
            <a:r>
              <a:rPr kumimoji="0" lang="es-ES" altLang="es-ES" sz="1400" b="1" i="0" u="none" strike="noStrike" cap="none" normalizeH="0" baseline="0" dirty="0" err="1">
                <a:ln>
                  <a:noFill/>
                </a:ln>
                <a:effectLst/>
                <a:latin typeface="+mn-lt"/>
              </a:rPr>
              <a:t>ssh</a:t>
            </a:r>
            <a:r>
              <a:rPr kumimoji="0" lang="es-ES" altLang="es-ES" sz="1400" b="1" i="0" u="none" strike="noStrike" cap="none" normalizeH="0" baseline="0" dirty="0">
                <a:ln>
                  <a:noFill/>
                </a:ln>
                <a:effectLst/>
                <a:latin typeface="+mn-lt"/>
              </a:rPr>
              <a:t> -l </a:t>
            </a:r>
            <a:r>
              <a:rPr kumimoji="0" lang="es-ES" altLang="es-ES" sz="1400" b="1" i="0" u="none" strike="noStrike" cap="none" normalizeH="0" baseline="0" dirty="0" err="1">
                <a:ln>
                  <a:noFill/>
                </a:ln>
                <a:effectLst/>
                <a:latin typeface="+mn-lt"/>
              </a:rPr>
              <a:t>login</a:t>
            </a:r>
            <a:r>
              <a:rPr kumimoji="0" lang="es-ES" altLang="es-ES" sz="1400" b="1" i="0" u="none" strike="noStrike" cap="none" normalizeH="0" baseline="0" dirty="0">
                <a:ln>
                  <a:noFill/>
                </a:ln>
                <a:effectLst/>
                <a:latin typeface="+mn-lt"/>
              </a:rPr>
              <a:t> host  </a:t>
            </a:r>
            <a:endParaRPr kumimoji="0" lang="es-ES" altLang="es-ES" sz="1400" b="1" i="0" u="none" strike="noStrike" cap="none" normalizeH="0" baseline="0" dirty="0">
              <a:ln>
                <a:noFill/>
              </a:ln>
              <a:effectLst/>
              <a:latin typeface="+mn-lt"/>
            </a:endParaRPr>
          </a:p>
          <a:p>
            <a:pPr marL="475615" lvl="2" indent="0" algn="just">
              <a:buNone/>
            </a:pPr>
            <a:r>
              <a:rPr kumimoji="0" lang="es-ES" altLang="es-ES" sz="1400" b="1" i="0" u="none" strike="noStrike" cap="none" normalizeH="0" baseline="0" dirty="0">
                <a:ln>
                  <a:noFill/>
                </a:ln>
                <a:effectLst/>
                <a:latin typeface="+mn-lt"/>
              </a:rPr>
              <a:t>$ </a:t>
            </a:r>
            <a:r>
              <a:rPr kumimoji="0" lang="es-ES" altLang="es-ES" sz="1400" b="1" i="0" u="none" strike="noStrike" cap="none" normalizeH="0" baseline="0" dirty="0" err="1">
                <a:ln>
                  <a:noFill/>
                </a:ln>
                <a:effectLst/>
                <a:latin typeface="+mn-lt"/>
              </a:rPr>
              <a:t>ssh</a:t>
            </a:r>
            <a:r>
              <a:rPr kumimoji="0" lang="es-ES" altLang="es-ES" sz="1400" b="1" i="0" u="none" strike="noStrike" cap="none" normalizeH="0" baseline="0" dirty="0">
                <a:ln>
                  <a:noFill/>
                </a:ln>
                <a:effectLst/>
                <a:latin typeface="+mn-lt"/>
              </a:rPr>
              <a:t> </a:t>
            </a:r>
            <a:r>
              <a:rPr kumimoji="0" lang="es-ES" altLang="es-ES" sz="1400" b="1" i="0" u="none" strike="noStrike" cap="none" normalizeH="0" baseline="0" dirty="0" err="1">
                <a:ln>
                  <a:noFill/>
                </a:ln>
                <a:effectLst/>
                <a:latin typeface="+mn-lt"/>
              </a:rPr>
              <a:t>login@host</a:t>
            </a:r>
            <a:r>
              <a:rPr kumimoji="0" lang="es-ES" altLang="es-ES" sz="1400" b="1" i="0" u="none" strike="noStrike" cap="none" normalizeH="0" baseline="0" dirty="0">
                <a:ln>
                  <a:noFill/>
                </a:ln>
                <a:effectLst/>
                <a:latin typeface="+mn-lt"/>
              </a:rPr>
              <a:t> </a:t>
            </a:r>
            <a:endParaRPr kumimoji="0" lang="es-ES" altLang="es-ES" sz="1400" b="1" i="0" u="none" strike="noStrike" cap="none" normalizeH="0" baseline="0" dirty="0">
              <a:ln>
                <a:noFill/>
              </a:ln>
              <a:effectLst/>
              <a:latin typeface="+mn-lt"/>
            </a:endParaRPr>
          </a:p>
          <a:p>
            <a:pPr marL="475615" lvl="2" indent="0" algn="just">
              <a:buNone/>
            </a:pPr>
            <a:endParaRPr kumimoji="0" lang="es-ES" altLang="es-ES" sz="1400" b="1" i="0" u="none" strike="noStrike" cap="none" normalizeH="0" baseline="0" dirty="0">
              <a:ln>
                <a:noFill/>
              </a:ln>
              <a:effectLst/>
              <a:latin typeface="+mn-lt"/>
            </a:endParaRPr>
          </a:p>
          <a:p>
            <a:pPr marL="0" marR="0" lvl="0" indent="0" algn="just" defTabSz="914400" rtl="0" eaLnBrk="0" fontAlgn="base" latinLnBrk="0" hangingPunct="0">
              <a:lnSpc>
                <a:spcPct val="100000"/>
              </a:lnSpc>
              <a:spcBef>
                <a:spcPct val="0"/>
              </a:spcBef>
              <a:spcAft>
                <a:spcPct val="0"/>
              </a:spcAft>
              <a:buClrTx/>
              <a:buSzTx/>
              <a:buFontTx/>
              <a:buNone/>
            </a:pPr>
            <a:r>
              <a:rPr kumimoji="0" lang="es-ES" altLang="es-ES" sz="1400" b="0" i="0" u="none" strike="noStrike" cap="none" normalizeH="0" baseline="0" dirty="0">
                <a:ln>
                  <a:noFill/>
                </a:ln>
                <a:effectLst/>
                <a:latin typeface="+mn-lt"/>
              </a:rPr>
              <a:t>La opción </a:t>
            </a:r>
            <a:r>
              <a:rPr kumimoji="0" lang="es-ES" altLang="es-ES" sz="1400" b="0" i="0" u="none" strike="noStrike" cap="none" normalizeH="0" baseline="0" dirty="0">
                <a:ln>
                  <a:noFill/>
                </a:ln>
                <a:effectLst/>
                <a:latin typeface="+mn-lt"/>
                <a:cs typeface="Courier New" panose="02070309020205020404" pitchFamily="49" charset="0"/>
              </a:rPr>
              <a:t>-X</a:t>
            </a:r>
            <a:r>
              <a:rPr kumimoji="0" lang="es-ES" altLang="es-ES" sz="1400" b="0" i="0" u="none" strike="noStrike" cap="none" normalizeH="0" baseline="0" dirty="0">
                <a:ln>
                  <a:noFill/>
                </a:ln>
                <a:effectLst/>
                <a:latin typeface="+mn-lt"/>
              </a:rPr>
              <a:t> permite activar la redirección (</a:t>
            </a:r>
            <a:r>
              <a:rPr kumimoji="0" lang="es-ES" altLang="es-ES" sz="1400" b="0" i="0" u="none" strike="noStrike" cap="none" normalizeH="0" baseline="0" dirty="0" err="1">
                <a:ln>
                  <a:noFill/>
                </a:ln>
                <a:effectLst/>
                <a:latin typeface="+mn-lt"/>
              </a:rPr>
              <a:t>forwarding</a:t>
            </a:r>
            <a:r>
              <a:rPr kumimoji="0" lang="es-ES" altLang="es-ES" sz="1400" b="0" i="0" u="none" strike="noStrike" cap="none" normalizeH="0" baseline="0" dirty="0">
                <a:ln>
                  <a:noFill/>
                </a:ln>
                <a:effectLst/>
                <a:latin typeface="+mn-lt"/>
              </a:rPr>
              <a:t>) del protocolo X </a:t>
            </a:r>
            <a:r>
              <a:rPr kumimoji="0" lang="es-ES" altLang="es-ES" sz="1400" b="0" i="0" u="none" strike="noStrike" cap="none" normalizeH="0" baseline="0" dirty="0" err="1">
                <a:ln>
                  <a:noFill/>
                </a:ln>
                <a:effectLst/>
                <a:latin typeface="+mn-lt"/>
              </a:rPr>
              <a:t>Window</a:t>
            </a:r>
            <a:r>
              <a:rPr kumimoji="0" lang="es-ES" altLang="es-ES" sz="1400" b="0" i="0" u="none" strike="noStrike" cap="none" normalizeH="0" baseline="0" dirty="0">
                <a:ln>
                  <a:noFill/>
                </a:ln>
                <a:effectLst/>
                <a:latin typeface="+mn-lt"/>
              </a:rPr>
              <a:t>.</a:t>
            </a:r>
            <a:endParaRPr kumimoji="0" lang="es-ES" altLang="es-ES" sz="1400" b="0" i="0" u="none" strike="noStrike" cap="none" normalizeH="0" baseline="0" dirty="0">
              <a:ln>
                <a:noFill/>
              </a:ln>
              <a:effectLst/>
              <a:latin typeface="+mn-lt"/>
            </a:endParaRPr>
          </a:p>
          <a:p>
            <a:pPr marL="0" marR="0" lvl="0" indent="0" algn="just" defTabSz="914400" rtl="0" eaLnBrk="0" fontAlgn="base" latinLnBrk="0" hangingPunct="0">
              <a:lnSpc>
                <a:spcPct val="100000"/>
              </a:lnSpc>
              <a:spcBef>
                <a:spcPct val="0"/>
              </a:spcBef>
              <a:spcAft>
                <a:spcPct val="0"/>
              </a:spcAft>
              <a:buClrTx/>
              <a:buSzTx/>
              <a:buFontTx/>
              <a:buNone/>
            </a:pPr>
            <a:endParaRPr kumimoji="0" lang="es-ES" altLang="es-ES" sz="1400" b="0" i="0" u="none" strike="noStrike" cap="none" normalizeH="0" baseline="0" dirty="0">
              <a:ln>
                <a:noFill/>
              </a:ln>
              <a:effectLst/>
              <a:latin typeface="+mn-lt"/>
            </a:endParaRPr>
          </a:p>
          <a:p>
            <a:pPr marL="475615" lvl="2" indent="0" algn="just">
              <a:buNone/>
            </a:pPr>
            <a:r>
              <a:rPr kumimoji="0" lang="es-ES" altLang="es-ES" sz="1400" b="1" i="0" u="none" strike="noStrike" cap="none" normalizeH="0" baseline="0" dirty="0">
                <a:ln>
                  <a:noFill/>
                </a:ln>
                <a:effectLst/>
                <a:latin typeface="+mn-lt"/>
              </a:rPr>
              <a:t>$ </a:t>
            </a:r>
            <a:r>
              <a:rPr kumimoji="0" lang="es-ES" altLang="es-ES" sz="1400" b="1" i="0" u="none" strike="noStrike" cap="none" normalizeH="0" baseline="0" dirty="0" err="1">
                <a:ln>
                  <a:noFill/>
                </a:ln>
                <a:effectLst/>
                <a:latin typeface="+mn-lt"/>
              </a:rPr>
              <a:t>ssh</a:t>
            </a:r>
            <a:r>
              <a:rPr kumimoji="0" lang="es-ES" altLang="es-ES" sz="1400" b="1" i="0" u="none" strike="noStrike" cap="none" normalizeH="0" baseline="0" dirty="0">
                <a:ln>
                  <a:noFill/>
                </a:ln>
                <a:effectLst/>
                <a:latin typeface="+mn-lt"/>
              </a:rPr>
              <a:t> -X </a:t>
            </a:r>
            <a:r>
              <a:rPr kumimoji="0" lang="es-ES" altLang="es-ES" sz="1400" b="1" i="0" u="none" strike="noStrike" cap="none" normalizeH="0" baseline="0" dirty="0" err="1">
                <a:ln>
                  <a:noFill/>
                </a:ln>
                <a:effectLst/>
                <a:latin typeface="+mn-lt"/>
              </a:rPr>
              <a:t>login@host</a:t>
            </a:r>
            <a:r>
              <a:rPr kumimoji="0" lang="es-ES" altLang="es-ES" sz="1400" b="1" i="0" u="none" strike="noStrike" cap="none" normalizeH="0" baseline="0" dirty="0">
                <a:ln>
                  <a:noFill/>
                </a:ln>
                <a:effectLst/>
                <a:latin typeface="+mn-lt"/>
              </a:rPr>
              <a:t> </a:t>
            </a:r>
            <a:endParaRPr kumimoji="0" lang="es-ES" altLang="es-ES" sz="1400" b="1" i="0" u="none" strike="noStrike" cap="none" normalizeH="0" baseline="0" dirty="0">
              <a:ln>
                <a:noFill/>
              </a:ln>
              <a:effectLst/>
              <a:latin typeface="+mn-lt"/>
            </a:endParaRPr>
          </a:p>
          <a:p>
            <a:pPr marL="0" marR="0" lvl="0" indent="0" algn="just" defTabSz="914400" rtl="0" eaLnBrk="0" fontAlgn="base" latinLnBrk="0" hangingPunct="0">
              <a:lnSpc>
                <a:spcPct val="100000"/>
              </a:lnSpc>
              <a:spcBef>
                <a:spcPct val="0"/>
              </a:spcBef>
              <a:spcAft>
                <a:spcPct val="0"/>
              </a:spcAft>
              <a:buClrTx/>
              <a:buSzTx/>
              <a:buFontTx/>
              <a:buNone/>
            </a:pPr>
            <a:endParaRPr kumimoji="0" lang="es-ES" altLang="es-ES" sz="1400" b="0" i="0" u="none" strike="noStrike" cap="none" normalizeH="0" baseline="0" dirty="0">
              <a:ln>
                <a:noFill/>
              </a:ln>
              <a:effectLst/>
              <a:latin typeface="+mn-lt"/>
            </a:endParaRPr>
          </a:p>
          <a:p>
            <a:pPr marL="0" marR="0" lvl="0" indent="0" algn="just" defTabSz="914400" rtl="0" eaLnBrk="0" fontAlgn="base" latinLnBrk="0" hangingPunct="0">
              <a:lnSpc>
                <a:spcPct val="100000"/>
              </a:lnSpc>
              <a:spcBef>
                <a:spcPct val="0"/>
              </a:spcBef>
              <a:spcAft>
                <a:spcPct val="0"/>
              </a:spcAft>
              <a:buClrTx/>
              <a:buSzTx/>
              <a:buFontTx/>
              <a:buNone/>
            </a:pPr>
            <a:r>
              <a:rPr kumimoji="0" lang="es-ES" altLang="es-ES" sz="1400" b="1" i="0" u="none" strike="noStrike" cap="none" normalizeH="0" baseline="0" dirty="0">
                <a:ln>
                  <a:noFill/>
                </a:ln>
                <a:effectLst/>
                <a:latin typeface="+mn-lt"/>
              </a:rPr>
              <a:t>Claves y conexión automática</a:t>
            </a:r>
            <a:endParaRPr kumimoji="0" lang="es-ES" altLang="es-ES" sz="1400" b="1" i="0" u="none" strike="noStrike" cap="none" normalizeH="0" baseline="0" dirty="0">
              <a:ln>
                <a:noFill/>
              </a:ln>
              <a:effectLst/>
              <a:latin typeface="+mn-lt"/>
            </a:endParaRPr>
          </a:p>
          <a:p>
            <a:pPr marL="0" marR="0" lvl="0" indent="0" algn="just" defTabSz="914400" rtl="0" eaLnBrk="0" fontAlgn="base" latinLnBrk="0" hangingPunct="0">
              <a:lnSpc>
                <a:spcPct val="100000"/>
              </a:lnSpc>
              <a:spcBef>
                <a:spcPts val="200"/>
              </a:spcBef>
              <a:spcAft>
                <a:spcPts val="200"/>
              </a:spcAft>
              <a:buClrTx/>
              <a:buSzTx/>
              <a:buFontTx/>
              <a:buNone/>
            </a:pPr>
            <a:r>
              <a:rPr kumimoji="0" lang="es-ES" altLang="es-ES" sz="1400" b="0" i="0" u="none" strike="noStrike" cap="none" normalizeH="0" baseline="0" dirty="0">
                <a:ln>
                  <a:noFill/>
                </a:ln>
                <a:effectLst/>
                <a:latin typeface="+mn-lt"/>
              </a:rPr>
              <a:t>Es posible establecer una conexión automática hacia otra máquina sin introducir una contraseña. Para ello, es necesario generar un par de claves, privada y pública, desde la cuenta de usuario del cliente (la máquina que se va a conectar). No se debe introducir ninguna frase de contraseña.</a:t>
            </a:r>
            <a:endParaRPr kumimoji="0" lang="es-ES" altLang="es-ES" sz="1400" b="0" i="0" u="none" strike="noStrike" cap="none" normalizeH="0" baseline="0" dirty="0">
              <a:ln>
                <a:noFill/>
              </a:ln>
              <a:effectLst/>
              <a:latin typeface="+mn-lt"/>
            </a:endParaRPr>
          </a:p>
          <a:p>
            <a:pPr marL="0" marR="0" lvl="0" indent="0" algn="just" defTabSz="914400" rtl="0" eaLnBrk="0" fontAlgn="base" latinLnBrk="0" hangingPunct="0">
              <a:lnSpc>
                <a:spcPct val="100000"/>
              </a:lnSpc>
              <a:spcBef>
                <a:spcPts val="200"/>
              </a:spcBef>
              <a:spcAft>
                <a:spcPts val="200"/>
              </a:spcAft>
              <a:buClrTx/>
              <a:buSzTx/>
              <a:buFontTx/>
              <a:buNone/>
            </a:pPr>
            <a:r>
              <a:rPr kumimoji="0" lang="es-ES" altLang="es-ES" sz="1400" b="0" i="0" u="none" strike="noStrike" cap="none" normalizeH="0" baseline="0" dirty="0">
                <a:ln>
                  <a:noFill/>
                </a:ln>
                <a:effectLst/>
                <a:latin typeface="+mn-lt"/>
              </a:rPr>
              <a:t>Por parte del servidor </a:t>
            </a:r>
            <a:r>
              <a:rPr kumimoji="0" lang="es-ES" altLang="es-ES" sz="1400" b="0" i="0" u="none" strike="noStrike" cap="none" normalizeH="0" baseline="0" dirty="0" err="1">
                <a:ln>
                  <a:noFill/>
                </a:ln>
                <a:effectLst/>
                <a:latin typeface="+mn-lt"/>
              </a:rPr>
              <a:t>ssh</a:t>
            </a:r>
            <a:r>
              <a:rPr kumimoji="0" lang="es-ES" altLang="es-ES" sz="1400" b="0" i="0" u="none" strike="noStrike" cap="none" normalizeH="0" baseline="0" dirty="0">
                <a:ln>
                  <a:noFill/>
                </a:ln>
                <a:effectLst/>
                <a:latin typeface="+mn-lt"/>
              </a:rPr>
              <a:t>, se debe colocar la clave pública del cliente en un archivo que contiene las claves autorizadas para conectarse en la cuenta de destino.</a:t>
            </a:r>
            <a:endParaRPr kumimoji="0" lang="es-ES" altLang="es-ES" sz="1400" b="0" i="0" u="none" strike="noStrike" cap="none" normalizeH="0" baseline="0" dirty="0">
              <a:ln>
                <a:noFill/>
              </a:ln>
              <a:effectLst/>
              <a:latin typeface="+mn-lt"/>
            </a:endParaRPr>
          </a:p>
          <a:p>
            <a:pPr marL="0" marR="0" lvl="0" indent="0" algn="just" defTabSz="914400" rtl="0" eaLnBrk="0" fontAlgn="base" latinLnBrk="0" hangingPunct="0">
              <a:lnSpc>
                <a:spcPct val="100000"/>
              </a:lnSpc>
              <a:spcBef>
                <a:spcPct val="0"/>
              </a:spcBef>
              <a:spcAft>
                <a:spcPct val="0"/>
              </a:spcAft>
              <a:buClrTx/>
              <a:buSzTx/>
              <a:buFontTx/>
              <a:buNone/>
            </a:pPr>
            <a:endParaRPr kumimoji="0" lang="es-ES" altLang="es-ES" sz="1400" b="1" i="0" u="none" strike="noStrike" cap="none" normalizeH="0" baseline="0" dirty="0">
              <a:ln>
                <a:noFill/>
              </a:ln>
              <a:effectLst/>
              <a:latin typeface="+mn-lt"/>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SERVICIOS BÁSICOS</a:t>
            </a:r>
            <a:endParaRPr lang="es-ES" dirty="0"/>
          </a:p>
        </p:txBody>
      </p:sp>
      <p:sp>
        <p:nvSpPr>
          <p:cNvPr id="4" name="Rectangle 1"/>
          <p:cNvSpPr>
            <a:spLocks noGrp="1" noChangeArrowheads="1"/>
          </p:cNvSpPr>
          <p:nvPr>
            <p:ph idx="1"/>
          </p:nvPr>
        </p:nvSpPr>
        <p:spPr bwMode="auto">
          <a:xfrm>
            <a:off x="1192973" y="1933713"/>
            <a:ext cx="10058400" cy="405746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88872" rIns="0" bIns="88872"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pPr>
            <a:r>
              <a:rPr kumimoji="0" lang="es-ES" altLang="es-ES" sz="1400" b="1" i="0" u="none" strike="noStrike" cap="none" normalizeH="0" baseline="0" dirty="0">
                <a:ln>
                  <a:noFill/>
                </a:ln>
                <a:effectLst/>
                <a:latin typeface="+mn-lt"/>
              </a:rPr>
              <a:t>Lado cliente</a:t>
            </a:r>
            <a:endParaRPr kumimoji="0" lang="es-ES" altLang="es-ES" sz="1400" b="1" i="0" u="none" strike="noStrike" cap="none" normalizeH="0" baseline="0" dirty="0">
              <a:ln>
                <a:noFill/>
              </a:ln>
              <a:effectLst/>
              <a:latin typeface="+mn-lt"/>
            </a:endParaRPr>
          </a:p>
          <a:p>
            <a:pPr marL="0" marR="0" lvl="0" indent="0" algn="just" defTabSz="914400" rtl="0" eaLnBrk="0" fontAlgn="base" latinLnBrk="0" hangingPunct="0">
              <a:lnSpc>
                <a:spcPct val="100000"/>
              </a:lnSpc>
              <a:spcBef>
                <a:spcPct val="0"/>
              </a:spcBef>
              <a:spcAft>
                <a:spcPct val="0"/>
              </a:spcAft>
              <a:buClrTx/>
              <a:buSzTx/>
              <a:buFontTx/>
              <a:buNone/>
            </a:pPr>
            <a:r>
              <a:rPr kumimoji="0" lang="es-ES" altLang="es-ES" sz="1400" b="0" i="0" u="none" strike="noStrike" cap="none" normalizeH="0" baseline="0" dirty="0">
                <a:ln>
                  <a:noFill/>
                </a:ln>
                <a:effectLst/>
                <a:latin typeface="+mn-lt"/>
              </a:rPr>
              <a:t> Genere una clave en formato RSA con el comando </a:t>
            </a:r>
            <a:r>
              <a:rPr kumimoji="0" lang="es-ES" altLang="es-ES" sz="1400" b="1" i="0" u="none" strike="noStrike" cap="none" normalizeH="0" baseline="0" dirty="0" err="1">
                <a:ln>
                  <a:noFill/>
                </a:ln>
                <a:effectLst/>
                <a:latin typeface="+mn-lt"/>
              </a:rPr>
              <a:t>ssh-keygen</a:t>
            </a:r>
            <a:r>
              <a:rPr kumimoji="0" lang="es-ES" altLang="es-ES" sz="1400" b="0" i="0" u="none" strike="noStrike" cap="none" normalizeH="0" baseline="0" dirty="0">
                <a:ln>
                  <a:noFill/>
                </a:ln>
                <a:effectLst/>
                <a:latin typeface="+mn-lt"/>
              </a:rPr>
              <a:t>:</a:t>
            </a:r>
            <a:endParaRPr kumimoji="0" lang="es-ES" altLang="es-ES" sz="1400" b="0" i="0" u="none" strike="noStrike" cap="none" normalizeH="0" baseline="0" dirty="0">
              <a:ln>
                <a:noFill/>
              </a:ln>
              <a:effectLst/>
              <a:latin typeface="+mn-lt"/>
            </a:endParaRPr>
          </a:p>
          <a:p>
            <a:pPr marL="0" marR="0" lvl="0" indent="0" algn="just" defTabSz="914400" rtl="0" eaLnBrk="0" fontAlgn="base" latinLnBrk="0" hangingPunct="0">
              <a:lnSpc>
                <a:spcPct val="100000"/>
              </a:lnSpc>
              <a:spcBef>
                <a:spcPct val="0"/>
              </a:spcBef>
              <a:spcAft>
                <a:spcPct val="0"/>
              </a:spcAft>
              <a:buClrTx/>
              <a:buSzTx/>
              <a:buFontTx/>
              <a:buNone/>
            </a:pPr>
            <a:r>
              <a:rPr kumimoji="0" lang="es-ES" altLang="es-ES" sz="1400" b="0" i="0" u="none" strike="noStrike" cap="none" normalizeH="0" baseline="0" dirty="0">
                <a:ln>
                  <a:noFill/>
                </a:ln>
                <a:effectLst/>
                <a:latin typeface="+mn-lt"/>
              </a:rPr>
              <a:t>$ </a:t>
            </a:r>
            <a:r>
              <a:rPr kumimoji="0" lang="es-ES" altLang="es-ES" sz="1400" b="0" i="0" u="none" strike="noStrike" cap="none" normalizeH="0" baseline="0" dirty="0" err="1">
                <a:ln>
                  <a:noFill/>
                </a:ln>
                <a:effectLst/>
                <a:latin typeface="+mn-lt"/>
              </a:rPr>
              <a:t>ssh-keygen</a:t>
            </a:r>
            <a:r>
              <a:rPr kumimoji="0" lang="es-ES" altLang="es-ES" sz="1400" b="0" i="0" u="none" strike="noStrike" cap="none" normalizeH="0" baseline="0" dirty="0">
                <a:ln>
                  <a:noFill/>
                </a:ln>
                <a:effectLst/>
                <a:latin typeface="+mn-lt"/>
              </a:rPr>
              <a:t> -t </a:t>
            </a:r>
            <a:r>
              <a:rPr kumimoji="0" lang="es-ES" altLang="es-ES" sz="1400" b="0" i="0" u="none" strike="noStrike" cap="none" normalizeH="0" baseline="0" dirty="0" err="1">
                <a:ln>
                  <a:noFill/>
                </a:ln>
                <a:effectLst/>
                <a:latin typeface="+mn-lt"/>
              </a:rPr>
              <a:t>rsa</a:t>
            </a:r>
            <a:r>
              <a:rPr kumimoji="0" lang="es-ES" altLang="es-ES" sz="1400" b="0" i="0" u="none" strike="noStrike" cap="none" normalizeH="0" baseline="0" dirty="0">
                <a:ln>
                  <a:noFill/>
                </a:ln>
                <a:effectLst/>
                <a:latin typeface="+mn-lt"/>
              </a:rPr>
              <a:t>  </a:t>
            </a:r>
            <a:endParaRPr kumimoji="0" lang="es-ES" altLang="es-ES" sz="1400" b="0" i="0" u="none" strike="noStrike" cap="none" normalizeH="0" baseline="0" dirty="0">
              <a:ln>
                <a:noFill/>
              </a:ln>
              <a:effectLst/>
              <a:latin typeface="+mn-lt"/>
            </a:endParaRPr>
          </a:p>
          <a:p>
            <a:pPr marL="0" marR="0" lvl="0" indent="0" algn="just" defTabSz="914400" rtl="0" eaLnBrk="0" fontAlgn="base" latinLnBrk="0" hangingPunct="0">
              <a:lnSpc>
                <a:spcPct val="100000"/>
              </a:lnSpc>
              <a:spcBef>
                <a:spcPct val="0"/>
              </a:spcBef>
              <a:spcAft>
                <a:spcPct val="0"/>
              </a:spcAft>
              <a:buClrTx/>
              <a:buSzTx/>
              <a:buFontTx/>
              <a:buNone/>
            </a:pPr>
            <a:r>
              <a:rPr kumimoji="0" lang="es-ES" altLang="es-ES" sz="1400" b="0" i="0" u="none" strike="noStrike" cap="none" normalizeH="0" baseline="0" dirty="0" err="1">
                <a:ln>
                  <a:noFill/>
                </a:ln>
                <a:effectLst/>
                <a:latin typeface="+mn-lt"/>
              </a:rPr>
              <a:t>Generating</a:t>
            </a:r>
            <a:r>
              <a:rPr kumimoji="0" lang="es-ES" altLang="es-ES" sz="1400" b="0" i="0" u="none" strike="noStrike" cap="none" normalizeH="0" baseline="0" dirty="0">
                <a:ln>
                  <a:noFill/>
                </a:ln>
                <a:effectLst/>
                <a:latin typeface="+mn-lt"/>
              </a:rPr>
              <a:t> </a:t>
            </a:r>
            <a:r>
              <a:rPr kumimoji="0" lang="es-ES" altLang="es-ES" sz="1400" b="0" i="0" u="none" strike="noStrike" cap="none" normalizeH="0" baseline="0" dirty="0" err="1">
                <a:ln>
                  <a:noFill/>
                </a:ln>
                <a:effectLst/>
                <a:latin typeface="+mn-lt"/>
              </a:rPr>
              <a:t>public</a:t>
            </a:r>
            <a:r>
              <a:rPr kumimoji="0" lang="es-ES" altLang="es-ES" sz="1400" b="0" i="0" u="none" strike="noStrike" cap="none" normalizeH="0" baseline="0" dirty="0">
                <a:ln>
                  <a:noFill/>
                </a:ln>
                <a:effectLst/>
                <a:latin typeface="+mn-lt"/>
              </a:rPr>
              <a:t>/</a:t>
            </a:r>
            <a:r>
              <a:rPr kumimoji="0" lang="es-ES" altLang="es-ES" sz="1400" b="0" i="0" u="none" strike="noStrike" cap="none" normalizeH="0" baseline="0" dirty="0" err="1">
                <a:ln>
                  <a:noFill/>
                </a:ln>
                <a:effectLst/>
                <a:latin typeface="+mn-lt"/>
              </a:rPr>
              <a:t>private</a:t>
            </a:r>
            <a:r>
              <a:rPr kumimoji="0" lang="es-ES" altLang="es-ES" sz="1400" b="0" i="0" u="none" strike="noStrike" cap="none" normalizeH="0" baseline="0" dirty="0">
                <a:ln>
                  <a:noFill/>
                </a:ln>
                <a:effectLst/>
                <a:latin typeface="+mn-lt"/>
              </a:rPr>
              <a:t> </a:t>
            </a:r>
            <a:r>
              <a:rPr kumimoji="0" lang="es-ES" altLang="es-ES" sz="1400" b="0" i="0" u="none" strike="noStrike" cap="none" normalizeH="0" baseline="0" dirty="0" err="1">
                <a:ln>
                  <a:noFill/>
                </a:ln>
                <a:effectLst/>
                <a:latin typeface="+mn-lt"/>
              </a:rPr>
              <a:t>rsa</a:t>
            </a:r>
            <a:r>
              <a:rPr kumimoji="0" lang="es-ES" altLang="es-ES" sz="1400" b="0" i="0" u="none" strike="noStrike" cap="none" normalizeH="0" baseline="0" dirty="0">
                <a:ln>
                  <a:noFill/>
                </a:ln>
                <a:effectLst/>
                <a:latin typeface="+mn-lt"/>
              </a:rPr>
              <a:t> </a:t>
            </a:r>
            <a:r>
              <a:rPr kumimoji="0" lang="es-ES" altLang="es-ES" sz="1400" b="0" i="0" u="none" strike="noStrike" cap="none" normalizeH="0" baseline="0" dirty="0" err="1">
                <a:ln>
                  <a:noFill/>
                </a:ln>
                <a:effectLst/>
                <a:latin typeface="+mn-lt"/>
              </a:rPr>
              <a:t>key</a:t>
            </a:r>
            <a:r>
              <a:rPr kumimoji="0" lang="es-ES" altLang="es-ES" sz="1400" b="0" i="0" u="none" strike="noStrike" cap="none" normalizeH="0" baseline="0" dirty="0">
                <a:ln>
                  <a:noFill/>
                </a:ln>
                <a:effectLst/>
                <a:latin typeface="+mn-lt"/>
              </a:rPr>
              <a:t> </a:t>
            </a:r>
            <a:r>
              <a:rPr kumimoji="0" lang="es-ES" altLang="es-ES" sz="1400" b="0" i="0" u="none" strike="noStrike" cap="none" normalizeH="0" baseline="0" dirty="0" err="1">
                <a:ln>
                  <a:noFill/>
                </a:ln>
                <a:effectLst/>
                <a:latin typeface="+mn-lt"/>
              </a:rPr>
              <a:t>pair</a:t>
            </a:r>
            <a:r>
              <a:rPr kumimoji="0" lang="es-ES" altLang="es-ES" sz="1400" b="0" i="0" u="none" strike="noStrike" cap="none" normalizeH="0" baseline="0" dirty="0">
                <a:ln>
                  <a:noFill/>
                </a:ln>
                <a:effectLst/>
                <a:latin typeface="+mn-lt"/>
              </a:rPr>
              <a:t>.  </a:t>
            </a:r>
            <a:endParaRPr kumimoji="0" lang="es-ES" altLang="es-ES" sz="1400" b="0" i="0" u="none" strike="noStrike" cap="none" normalizeH="0" baseline="0" dirty="0">
              <a:ln>
                <a:noFill/>
              </a:ln>
              <a:effectLst/>
              <a:latin typeface="+mn-lt"/>
            </a:endParaRPr>
          </a:p>
          <a:p>
            <a:pPr marL="0" marR="0" lvl="0" indent="0" algn="just" defTabSz="914400" rtl="0" eaLnBrk="0" fontAlgn="base" latinLnBrk="0" hangingPunct="0">
              <a:lnSpc>
                <a:spcPct val="100000"/>
              </a:lnSpc>
              <a:spcBef>
                <a:spcPct val="0"/>
              </a:spcBef>
              <a:spcAft>
                <a:spcPct val="0"/>
              </a:spcAft>
              <a:buClrTx/>
              <a:buSzTx/>
              <a:buFontTx/>
              <a:buNone/>
            </a:pPr>
            <a:r>
              <a:rPr kumimoji="0" lang="es-ES" altLang="es-ES" sz="1400" b="0" i="0" u="none" strike="noStrike" cap="none" normalizeH="0" baseline="0" dirty="0" err="1">
                <a:ln>
                  <a:noFill/>
                </a:ln>
                <a:effectLst/>
                <a:latin typeface="+mn-lt"/>
              </a:rPr>
              <a:t>Enter</a:t>
            </a:r>
            <a:r>
              <a:rPr kumimoji="0" lang="es-ES" altLang="es-ES" sz="1400" b="0" i="0" u="none" strike="noStrike" cap="none" normalizeH="0" baseline="0" dirty="0">
                <a:ln>
                  <a:noFill/>
                </a:ln>
                <a:effectLst/>
                <a:latin typeface="+mn-lt"/>
              </a:rPr>
              <a:t> file in </a:t>
            </a:r>
            <a:r>
              <a:rPr kumimoji="0" lang="es-ES" altLang="es-ES" sz="1400" b="0" i="0" u="none" strike="noStrike" cap="none" normalizeH="0" baseline="0" dirty="0" err="1">
                <a:ln>
                  <a:noFill/>
                </a:ln>
                <a:effectLst/>
                <a:latin typeface="+mn-lt"/>
              </a:rPr>
              <a:t>which</a:t>
            </a:r>
            <a:r>
              <a:rPr kumimoji="0" lang="es-ES" altLang="es-ES" sz="1400" b="0" i="0" u="none" strike="noStrike" cap="none" normalizeH="0" baseline="0" dirty="0">
                <a:ln>
                  <a:noFill/>
                </a:ln>
                <a:effectLst/>
                <a:latin typeface="+mn-lt"/>
              </a:rPr>
              <a:t> </a:t>
            </a:r>
            <a:r>
              <a:rPr kumimoji="0" lang="es-ES" altLang="es-ES" sz="1400" b="0" i="0" u="none" strike="noStrike" cap="none" normalizeH="0" baseline="0" dirty="0" err="1">
                <a:ln>
                  <a:noFill/>
                </a:ln>
                <a:effectLst/>
                <a:latin typeface="+mn-lt"/>
              </a:rPr>
              <a:t>to</a:t>
            </a:r>
            <a:r>
              <a:rPr kumimoji="0" lang="es-ES" altLang="es-ES" sz="1400" b="0" i="0" u="none" strike="noStrike" cap="none" normalizeH="0" baseline="0" dirty="0">
                <a:ln>
                  <a:noFill/>
                </a:ln>
                <a:effectLst/>
                <a:latin typeface="+mn-lt"/>
              </a:rPr>
              <a:t> </a:t>
            </a:r>
            <a:r>
              <a:rPr kumimoji="0" lang="es-ES" altLang="es-ES" sz="1400" b="0" i="0" u="none" strike="noStrike" cap="none" normalizeH="0" baseline="0" dirty="0" err="1">
                <a:ln>
                  <a:noFill/>
                </a:ln>
                <a:effectLst/>
                <a:latin typeface="+mn-lt"/>
              </a:rPr>
              <a:t>save</a:t>
            </a:r>
            <a:r>
              <a:rPr kumimoji="0" lang="es-ES" altLang="es-ES" sz="1400" b="0" i="0" u="none" strike="noStrike" cap="none" normalizeH="0" baseline="0" dirty="0">
                <a:ln>
                  <a:noFill/>
                </a:ln>
                <a:effectLst/>
                <a:latin typeface="+mn-lt"/>
              </a:rPr>
              <a:t> </a:t>
            </a:r>
            <a:r>
              <a:rPr kumimoji="0" lang="es-ES" altLang="es-ES" sz="1400" b="0" i="0" u="none" strike="noStrike" cap="none" normalizeH="0" baseline="0" dirty="0" err="1">
                <a:ln>
                  <a:noFill/>
                </a:ln>
                <a:effectLst/>
                <a:latin typeface="+mn-lt"/>
              </a:rPr>
              <a:t>the</a:t>
            </a:r>
            <a:r>
              <a:rPr kumimoji="0" lang="es-ES" altLang="es-ES" sz="1400" b="0" i="0" u="none" strike="noStrike" cap="none" normalizeH="0" baseline="0" dirty="0">
                <a:ln>
                  <a:noFill/>
                </a:ln>
                <a:effectLst/>
                <a:latin typeface="+mn-lt"/>
              </a:rPr>
              <a:t> </a:t>
            </a:r>
            <a:r>
              <a:rPr kumimoji="0" lang="es-ES" altLang="es-ES" sz="1400" b="0" i="0" u="none" strike="noStrike" cap="none" normalizeH="0" baseline="0" dirty="0" err="1">
                <a:ln>
                  <a:noFill/>
                </a:ln>
                <a:effectLst/>
                <a:latin typeface="+mn-lt"/>
              </a:rPr>
              <a:t>key</a:t>
            </a:r>
            <a:r>
              <a:rPr kumimoji="0" lang="es-ES" altLang="es-ES" sz="1400" b="0" i="0" u="none" strike="noStrike" cap="none" normalizeH="0" baseline="0" dirty="0">
                <a:ln>
                  <a:noFill/>
                </a:ln>
                <a:effectLst/>
                <a:latin typeface="+mn-lt"/>
              </a:rPr>
              <a:t> (/home/</a:t>
            </a:r>
            <a:r>
              <a:rPr kumimoji="0" lang="es-ES" altLang="es-ES" sz="1400" b="0" i="0" u="none" strike="noStrike" cap="none" normalizeH="0" baseline="0" dirty="0" err="1">
                <a:ln>
                  <a:noFill/>
                </a:ln>
                <a:effectLst/>
                <a:latin typeface="+mn-lt"/>
              </a:rPr>
              <a:t>bean</a:t>
            </a:r>
            <a:r>
              <a:rPr kumimoji="0" lang="es-ES" altLang="es-ES" sz="1400" b="0" i="0" u="none" strike="noStrike" cap="none" normalizeH="0" baseline="0" dirty="0">
                <a:ln>
                  <a:noFill/>
                </a:ln>
                <a:effectLst/>
                <a:latin typeface="+mn-lt"/>
              </a:rPr>
              <a:t>/.</a:t>
            </a:r>
            <a:r>
              <a:rPr kumimoji="0" lang="es-ES" altLang="es-ES" sz="1400" b="0" i="0" u="none" strike="noStrike" cap="none" normalizeH="0" baseline="0" dirty="0" err="1">
                <a:ln>
                  <a:noFill/>
                </a:ln>
                <a:effectLst/>
                <a:latin typeface="+mn-lt"/>
              </a:rPr>
              <a:t>ssh</a:t>
            </a:r>
            <a:r>
              <a:rPr kumimoji="0" lang="es-ES" altLang="es-ES" sz="1400" b="0" i="0" u="none" strike="noStrike" cap="none" normalizeH="0" baseline="0" dirty="0">
                <a:ln>
                  <a:noFill/>
                </a:ln>
                <a:effectLst/>
                <a:latin typeface="+mn-lt"/>
              </a:rPr>
              <a:t>/</a:t>
            </a:r>
            <a:r>
              <a:rPr kumimoji="0" lang="es-ES" altLang="es-ES" sz="1400" b="0" i="0" u="none" strike="noStrike" cap="none" normalizeH="0" baseline="0" dirty="0" err="1">
                <a:ln>
                  <a:noFill/>
                </a:ln>
                <a:effectLst/>
                <a:latin typeface="+mn-lt"/>
              </a:rPr>
              <a:t>id_rsa</a:t>
            </a:r>
            <a:r>
              <a:rPr kumimoji="0" lang="es-ES" altLang="es-ES" sz="1400" b="0" i="0" u="none" strike="noStrike" cap="none" normalizeH="0" baseline="0" dirty="0">
                <a:ln>
                  <a:noFill/>
                </a:ln>
                <a:effectLst/>
                <a:latin typeface="+mn-lt"/>
              </a:rPr>
              <a:t>):  </a:t>
            </a:r>
            <a:endParaRPr kumimoji="0" lang="es-ES" altLang="es-ES" sz="1400" b="0" i="0" u="none" strike="noStrike" cap="none" normalizeH="0" baseline="0" dirty="0">
              <a:ln>
                <a:noFill/>
              </a:ln>
              <a:effectLst/>
              <a:latin typeface="+mn-lt"/>
            </a:endParaRPr>
          </a:p>
          <a:p>
            <a:pPr marL="0" marR="0" lvl="0" indent="0" algn="just" defTabSz="914400" rtl="0" eaLnBrk="0" fontAlgn="base" latinLnBrk="0" hangingPunct="0">
              <a:lnSpc>
                <a:spcPct val="100000"/>
              </a:lnSpc>
              <a:spcBef>
                <a:spcPct val="0"/>
              </a:spcBef>
              <a:spcAft>
                <a:spcPct val="0"/>
              </a:spcAft>
              <a:buClrTx/>
              <a:buSzTx/>
              <a:buFontTx/>
              <a:buNone/>
            </a:pPr>
            <a:r>
              <a:rPr kumimoji="0" lang="es-ES" altLang="es-ES" sz="1400" b="0" i="0" u="none" strike="noStrike" cap="none" normalizeH="0" baseline="0" dirty="0" err="1">
                <a:ln>
                  <a:noFill/>
                </a:ln>
                <a:effectLst/>
                <a:latin typeface="+mn-lt"/>
              </a:rPr>
              <a:t>Created</a:t>
            </a:r>
            <a:r>
              <a:rPr kumimoji="0" lang="es-ES" altLang="es-ES" sz="1400" b="0" i="0" u="none" strike="noStrike" cap="none" normalizeH="0" baseline="0" dirty="0">
                <a:ln>
                  <a:noFill/>
                </a:ln>
                <a:effectLst/>
                <a:latin typeface="+mn-lt"/>
              </a:rPr>
              <a:t> </a:t>
            </a:r>
            <a:r>
              <a:rPr kumimoji="0" lang="es-ES" altLang="es-ES" sz="1400" b="0" i="0" u="none" strike="noStrike" cap="none" normalizeH="0" baseline="0" dirty="0" err="1">
                <a:ln>
                  <a:noFill/>
                </a:ln>
                <a:effectLst/>
                <a:latin typeface="+mn-lt"/>
              </a:rPr>
              <a:t>directory</a:t>
            </a:r>
            <a:r>
              <a:rPr kumimoji="0" lang="es-ES" altLang="es-ES" sz="1400" b="0" i="0" u="none" strike="noStrike" cap="none" normalizeH="0" baseline="0" dirty="0">
                <a:ln>
                  <a:noFill/>
                </a:ln>
                <a:effectLst/>
                <a:latin typeface="+mn-lt"/>
              </a:rPr>
              <a:t> ’/home/</a:t>
            </a:r>
            <a:r>
              <a:rPr kumimoji="0" lang="es-ES" altLang="es-ES" sz="1400" b="0" i="0" u="none" strike="noStrike" cap="none" normalizeH="0" baseline="0" dirty="0" err="1">
                <a:ln>
                  <a:noFill/>
                </a:ln>
                <a:effectLst/>
                <a:latin typeface="+mn-lt"/>
              </a:rPr>
              <a:t>bean</a:t>
            </a:r>
            <a:r>
              <a:rPr kumimoji="0" lang="es-ES" altLang="es-ES" sz="1400" b="0" i="0" u="none" strike="noStrike" cap="none" normalizeH="0" baseline="0" dirty="0">
                <a:ln>
                  <a:noFill/>
                </a:ln>
                <a:effectLst/>
                <a:latin typeface="+mn-lt"/>
              </a:rPr>
              <a:t>/.</a:t>
            </a:r>
            <a:r>
              <a:rPr kumimoji="0" lang="es-ES" altLang="es-ES" sz="1400" b="0" i="0" u="none" strike="noStrike" cap="none" normalizeH="0" baseline="0" dirty="0" err="1">
                <a:ln>
                  <a:noFill/>
                </a:ln>
                <a:effectLst/>
                <a:latin typeface="+mn-lt"/>
              </a:rPr>
              <a:t>ssh</a:t>
            </a:r>
            <a:r>
              <a:rPr kumimoji="0" lang="es-ES" altLang="es-ES" sz="1400" b="0" i="0" u="none" strike="noStrike" cap="none" normalizeH="0" baseline="0" dirty="0">
                <a:ln>
                  <a:noFill/>
                </a:ln>
                <a:effectLst/>
                <a:latin typeface="+mn-lt"/>
              </a:rPr>
              <a:t>’.  </a:t>
            </a:r>
            <a:endParaRPr kumimoji="0" lang="es-ES" altLang="es-ES" sz="1400" b="0" i="0" u="none" strike="noStrike" cap="none" normalizeH="0" baseline="0" dirty="0">
              <a:ln>
                <a:noFill/>
              </a:ln>
              <a:effectLst/>
              <a:latin typeface="+mn-lt"/>
            </a:endParaRPr>
          </a:p>
          <a:p>
            <a:pPr marL="0" marR="0" lvl="0" indent="0" algn="just" defTabSz="914400" rtl="0" eaLnBrk="0" fontAlgn="base" latinLnBrk="0" hangingPunct="0">
              <a:lnSpc>
                <a:spcPct val="100000"/>
              </a:lnSpc>
              <a:spcBef>
                <a:spcPct val="0"/>
              </a:spcBef>
              <a:spcAft>
                <a:spcPct val="0"/>
              </a:spcAft>
              <a:buClrTx/>
              <a:buSzTx/>
              <a:buFontTx/>
              <a:buNone/>
            </a:pPr>
            <a:r>
              <a:rPr kumimoji="0" lang="es-ES" altLang="es-ES" sz="1400" b="0" i="0" u="none" strike="noStrike" cap="none" normalizeH="0" baseline="0" dirty="0" err="1">
                <a:ln>
                  <a:noFill/>
                </a:ln>
                <a:effectLst/>
                <a:latin typeface="+mn-lt"/>
              </a:rPr>
              <a:t>Enter</a:t>
            </a:r>
            <a:r>
              <a:rPr kumimoji="0" lang="es-ES" altLang="es-ES" sz="1400" b="0" i="0" u="none" strike="noStrike" cap="none" normalizeH="0" baseline="0" dirty="0">
                <a:ln>
                  <a:noFill/>
                </a:ln>
                <a:effectLst/>
                <a:latin typeface="+mn-lt"/>
              </a:rPr>
              <a:t> </a:t>
            </a:r>
            <a:r>
              <a:rPr kumimoji="0" lang="es-ES" altLang="es-ES" sz="1400" b="0" i="0" u="none" strike="noStrike" cap="none" normalizeH="0" baseline="0" dirty="0" err="1">
                <a:ln>
                  <a:noFill/>
                </a:ln>
                <a:effectLst/>
                <a:latin typeface="+mn-lt"/>
              </a:rPr>
              <a:t>passphrase</a:t>
            </a:r>
            <a:r>
              <a:rPr kumimoji="0" lang="es-ES" altLang="es-ES" sz="1400" b="0" i="0" u="none" strike="noStrike" cap="none" normalizeH="0" baseline="0" dirty="0">
                <a:ln>
                  <a:noFill/>
                </a:ln>
                <a:effectLst/>
                <a:latin typeface="+mn-lt"/>
              </a:rPr>
              <a:t> (</a:t>
            </a:r>
            <a:r>
              <a:rPr kumimoji="0" lang="es-ES" altLang="es-ES" sz="1400" b="0" i="0" u="none" strike="noStrike" cap="none" normalizeH="0" baseline="0" dirty="0" err="1">
                <a:ln>
                  <a:noFill/>
                </a:ln>
                <a:effectLst/>
                <a:latin typeface="+mn-lt"/>
              </a:rPr>
              <a:t>empty</a:t>
            </a:r>
            <a:r>
              <a:rPr kumimoji="0" lang="es-ES" altLang="es-ES" sz="1400" b="0" i="0" u="none" strike="noStrike" cap="none" normalizeH="0" baseline="0" dirty="0">
                <a:ln>
                  <a:noFill/>
                </a:ln>
                <a:effectLst/>
                <a:latin typeface="+mn-lt"/>
              </a:rPr>
              <a:t> </a:t>
            </a:r>
            <a:r>
              <a:rPr kumimoji="0" lang="es-ES" altLang="es-ES" sz="1400" b="0" i="0" u="none" strike="noStrike" cap="none" normalizeH="0" baseline="0" dirty="0" err="1">
                <a:ln>
                  <a:noFill/>
                </a:ln>
                <a:effectLst/>
                <a:latin typeface="+mn-lt"/>
              </a:rPr>
              <a:t>for</a:t>
            </a:r>
            <a:r>
              <a:rPr kumimoji="0" lang="es-ES" altLang="es-ES" sz="1400" b="0" i="0" u="none" strike="noStrike" cap="none" normalizeH="0" baseline="0" dirty="0">
                <a:ln>
                  <a:noFill/>
                </a:ln>
                <a:effectLst/>
                <a:latin typeface="+mn-lt"/>
              </a:rPr>
              <a:t> no </a:t>
            </a:r>
            <a:r>
              <a:rPr kumimoji="0" lang="es-ES" altLang="es-ES" sz="1400" b="0" i="0" u="none" strike="noStrike" cap="none" normalizeH="0" baseline="0" dirty="0" err="1">
                <a:ln>
                  <a:noFill/>
                </a:ln>
                <a:effectLst/>
                <a:latin typeface="+mn-lt"/>
              </a:rPr>
              <a:t>passphrase</a:t>
            </a:r>
            <a:r>
              <a:rPr kumimoji="0" lang="es-ES" altLang="es-ES" sz="1400" b="0" i="0" u="none" strike="noStrike" cap="none" normalizeH="0" baseline="0" dirty="0">
                <a:ln>
                  <a:noFill/>
                </a:ln>
                <a:effectLst/>
                <a:latin typeface="+mn-lt"/>
              </a:rPr>
              <a:t>):  </a:t>
            </a:r>
            <a:endParaRPr kumimoji="0" lang="es-ES" altLang="es-ES" sz="1400" b="0" i="0" u="none" strike="noStrike" cap="none" normalizeH="0" baseline="0" dirty="0">
              <a:ln>
                <a:noFill/>
              </a:ln>
              <a:effectLst/>
              <a:latin typeface="+mn-lt"/>
            </a:endParaRPr>
          </a:p>
          <a:p>
            <a:pPr marL="0" marR="0" lvl="0" indent="0" algn="just" defTabSz="914400" rtl="0" eaLnBrk="0" fontAlgn="base" latinLnBrk="0" hangingPunct="0">
              <a:lnSpc>
                <a:spcPct val="100000"/>
              </a:lnSpc>
              <a:spcBef>
                <a:spcPct val="0"/>
              </a:spcBef>
              <a:spcAft>
                <a:spcPct val="0"/>
              </a:spcAft>
              <a:buClrTx/>
              <a:buSzTx/>
              <a:buFontTx/>
              <a:buNone/>
            </a:pPr>
            <a:r>
              <a:rPr kumimoji="0" lang="es-ES" altLang="es-ES" sz="1400" b="0" i="0" u="none" strike="noStrike" cap="none" normalizeH="0" baseline="0" dirty="0" err="1">
                <a:ln>
                  <a:noFill/>
                </a:ln>
                <a:effectLst/>
                <a:latin typeface="+mn-lt"/>
              </a:rPr>
              <a:t>Enter</a:t>
            </a:r>
            <a:r>
              <a:rPr kumimoji="0" lang="es-ES" altLang="es-ES" sz="1400" b="0" i="0" u="none" strike="noStrike" cap="none" normalizeH="0" baseline="0" dirty="0">
                <a:ln>
                  <a:noFill/>
                </a:ln>
                <a:effectLst/>
                <a:latin typeface="+mn-lt"/>
              </a:rPr>
              <a:t> </a:t>
            </a:r>
            <a:r>
              <a:rPr kumimoji="0" lang="es-ES" altLang="es-ES" sz="1400" b="0" i="0" u="none" strike="noStrike" cap="none" normalizeH="0" baseline="0" dirty="0" err="1">
                <a:ln>
                  <a:noFill/>
                </a:ln>
                <a:effectLst/>
                <a:latin typeface="+mn-lt"/>
              </a:rPr>
              <a:t>same</a:t>
            </a:r>
            <a:r>
              <a:rPr kumimoji="0" lang="es-ES" altLang="es-ES" sz="1400" b="0" i="0" u="none" strike="noStrike" cap="none" normalizeH="0" baseline="0" dirty="0">
                <a:ln>
                  <a:noFill/>
                </a:ln>
                <a:effectLst/>
                <a:latin typeface="+mn-lt"/>
              </a:rPr>
              <a:t> </a:t>
            </a:r>
            <a:r>
              <a:rPr kumimoji="0" lang="es-ES" altLang="es-ES" sz="1400" b="0" i="0" u="none" strike="noStrike" cap="none" normalizeH="0" baseline="0" dirty="0" err="1">
                <a:ln>
                  <a:noFill/>
                </a:ln>
                <a:effectLst/>
                <a:latin typeface="+mn-lt"/>
              </a:rPr>
              <a:t>passphrase</a:t>
            </a:r>
            <a:r>
              <a:rPr kumimoji="0" lang="es-ES" altLang="es-ES" sz="1400" b="0" i="0" u="none" strike="noStrike" cap="none" normalizeH="0" baseline="0" dirty="0">
                <a:ln>
                  <a:noFill/>
                </a:ln>
                <a:effectLst/>
                <a:latin typeface="+mn-lt"/>
              </a:rPr>
              <a:t> </a:t>
            </a:r>
            <a:r>
              <a:rPr kumimoji="0" lang="es-ES" altLang="es-ES" sz="1400" b="0" i="0" u="none" strike="noStrike" cap="none" normalizeH="0" baseline="0" dirty="0" err="1">
                <a:ln>
                  <a:noFill/>
                </a:ln>
                <a:effectLst/>
                <a:latin typeface="+mn-lt"/>
              </a:rPr>
              <a:t>again</a:t>
            </a:r>
            <a:r>
              <a:rPr kumimoji="0" lang="es-ES" altLang="es-ES" sz="1400" b="0" i="0" u="none" strike="noStrike" cap="none" normalizeH="0" baseline="0" dirty="0">
                <a:ln>
                  <a:noFill/>
                </a:ln>
                <a:effectLst/>
                <a:latin typeface="+mn-lt"/>
              </a:rPr>
              <a:t>:  </a:t>
            </a:r>
            <a:endParaRPr kumimoji="0" lang="es-ES" altLang="es-ES" sz="1400" b="0" i="0" u="none" strike="noStrike" cap="none" normalizeH="0" baseline="0" dirty="0">
              <a:ln>
                <a:noFill/>
              </a:ln>
              <a:effectLst/>
              <a:latin typeface="+mn-lt"/>
            </a:endParaRPr>
          </a:p>
          <a:p>
            <a:pPr marL="0" marR="0" lvl="0" indent="0" algn="just" defTabSz="914400" rtl="0" eaLnBrk="0" fontAlgn="base" latinLnBrk="0" hangingPunct="0">
              <a:lnSpc>
                <a:spcPct val="100000"/>
              </a:lnSpc>
              <a:spcBef>
                <a:spcPct val="0"/>
              </a:spcBef>
              <a:spcAft>
                <a:spcPct val="0"/>
              </a:spcAft>
              <a:buClrTx/>
              <a:buSzTx/>
              <a:buFontTx/>
              <a:buNone/>
            </a:pPr>
            <a:r>
              <a:rPr kumimoji="0" lang="es-ES" altLang="es-ES" sz="1400" b="0" i="0" u="none" strike="noStrike" cap="none" normalizeH="0" baseline="0" dirty="0" err="1">
                <a:ln>
                  <a:noFill/>
                </a:ln>
                <a:effectLst/>
                <a:latin typeface="+mn-lt"/>
              </a:rPr>
              <a:t>Your</a:t>
            </a:r>
            <a:r>
              <a:rPr kumimoji="0" lang="es-ES" altLang="es-ES" sz="1400" b="0" i="0" u="none" strike="noStrike" cap="none" normalizeH="0" baseline="0" dirty="0">
                <a:ln>
                  <a:noFill/>
                </a:ln>
                <a:effectLst/>
                <a:latin typeface="+mn-lt"/>
              </a:rPr>
              <a:t> </a:t>
            </a:r>
            <a:r>
              <a:rPr kumimoji="0" lang="es-ES" altLang="es-ES" sz="1400" b="0" i="0" u="none" strike="noStrike" cap="none" normalizeH="0" baseline="0" dirty="0" err="1">
                <a:ln>
                  <a:noFill/>
                </a:ln>
                <a:effectLst/>
                <a:latin typeface="+mn-lt"/>
              </a:rPr>
              <a:t>identification</a:t>
            </a:r>
            <a:r>
              <a:rPr kumimoji="0" lang="es-ES" altLang="es-ES" sz="1400" b="0" i="0" u="none" strike="noStrike" cap="none" normalizeH="0" baseline="0" dirty="0">
                <a:ln>
                  <a:noFill/>
                </a:ln>
                <a:effectLst/>
                <a:latin typeface="+mn-lt"/>
              </a:rPr>
              <a:t> has </a:t>
            </a:r>
            <a:r>
              <a:rPr kumimoji="0" lang="es-ES" altLang="es-ES" sz="1400" b="0" i="0" u="none" strike="noStrike" cap="none" normalizeH="0" baseline="0" dirty="0" err="1">
                <a:ln>
                  <a:noFill/>
                </a:ln>
                <a:effectLst/>
                <a:latin typeface="+mn-lt"/>
              </a:rPr>
              <a:t>been</a:t>
            </a:r>
            <a:r>
              <a:rPr kumimoji="0" lang="es-ES" altLang="es-ES" sz="1400" b="0" i="0" u="none" strike="noStrike" cap="none" normalizeH="0" baseline="0" dirty="0">
                <a:ln>
                  <a:noFill/>
                </a:ln>
                <a:effectLst/>
                <a:latin typeface="+mn-lt"/>
              </a:rPr>
              <a:t> </a:t>
            </a:r>
            <a:r>
              <a:rPr kumimoji="0" lang="es-ES" altLang="es-ES" sz="1400" b="0" i="0" u="none" strike="noStrike" cap="none" normalizeH="0" baseline="0" dirty="0" err="1">
                <a:ln>
                  <a:noFill/>
                </a:ln>
                <a:effectLst/>
                <a:latin typeface="+mn-lt"/>
              </a:rPr>
              <a:t>saved</a:t>
            </a:r>
            <a:r>
              <a:rPr kumimoji="0" lang="es-ES" altLang="es-ES" sz="1400" b="0" i="0" u="none" strike="noStrike" cap="none" normalizeH="0" baseline="0" dirty="0">
                <a:ln>
                  <a:noFill/>
                </a:ln>
                <a:effectLst/>
                <a:latin typeface="+mn-lt"/>
              </a:rPr>
              <a:t> in</a:t>
            </a:r>
            <a:r>
              <a:rPr kumimoji="0" lang="es-ES" altLang="es-ES" sz="1400" b="1" i="0" u="none" strike="noStrike" cap="none" normalizeH="0" baseline="0" dirty="0">
                <a:ln>
                  <a:noFill/>
                </a:ln>
                <a:effectLst/>
                <a:latin typeface="+mn-lt"/>
              </a:rPr>
              <a:t> /home/</a:t>
            </a:r>
            <a:r>
              <a:rPr kumimoji="0" lang="es-ES" altLang="es-ES" sz="1400" b="1" i="0" u="none" strike="noStrike" cap="none" normalizeH="0" baseline="0" dirty="0" err="1">
                <a:ln>
                  <a:noFill/>
                </a:ln>
                <a:effectLst/>
                <a:latin typeface="+mn-lt"/>
              </a:rPr>
              <a:t>bean</a:t>
            </a:r>
            <a:r>
              <a:rPr kumimoji="0" lang="es-ES" altLang="es-ES" sz="1400" b="1" i="0" u="none" strike="noStrike" cap="none" normalizeH="0" baseline="0" dirty="0">
                <a:ln>
                  <a:noFill/>
                </a:ln>
                <a:effectLst/>
                <a:latin typeface="+mn-lt"/>
              </a:rPr>
              <a:t>/.</a:t>
            </a:r>
            <a:r>
              <a:rPr kumimoji="0" lang="es-ES" altLang="es-ES" sz="1400" b="1" i="0" u="none" strike="noStrike" cap="none" normalizeH="0" baseline="0" dirty="0" err="1">
                <a:ln>
                  <a:noFill/>
                </a:ln>
                <a:effectLst/>
                <a:latin typeface="+mn-lt"/>
              </a:rPr>
              <a:t>ssh</a:t>
            </a:r>
            <a:r>
              <a:rPr kumimoji="0" lang="es-ES" altLang="es-ES" sz="1400" b="1" i="0" u="none" strike="noStrike" cap="none" normalizeH="0" baseline="0" dirty="0">
                <a:ln>
                  <a:noFill/>
                </a:ln>
                <a:effectLst/>
                <a:latin typeface="+mn-lt"/>
              </a:rPr>
              <a:t>/</a:t>
            </a:r>
            <a:r>
              <a:rPr kumimoji="0" lang="es-ES" altLang="es-ES" sz="1400" b="1" i="0" u="none" strike="noStrike" cap="none" normalizeH="0" baseline="0" dirty="0" err="1">
                <a:ln>
                  <a:noFill/>
                </a:ln>
                <a:effectLst/>
                <a:latin typeface="+mn-lt"/>
              </a:rPr>
              <a:t>id_rsa</a:t>
            </a:r>
            <a:r>
              <a:rPr kumimoji="0" lang="es-ES" altLang="es-ES" sz="1400" b="0" i="0" u="none" strike="noStrike" cap="none" normalizeH="0" baseline="0" dirty="0">
                <a:ln>
                  <a:noFill/>
                </a:ln>
                <a:effectLst/>
                <a:latin typeface="+mn-lt"/>
              </a:rPr>
              <a:t>.  </a:t>
            </a:r>
            <a:endParaRPr kumimoji="0" lang="es-ES" altLang="es-ES" sz="1400" b="0" i="0" u="none" strike="noStrike" cap="none" normalizeH="0" baseline="0" dirty="0">
              <a:ln>
                <a:noFill/>
              </a:ln>
              <a:effectLst/>
              <a:latin typeface="+mn-lt"/>
            </a:endParaRPr>
          </a:p>
          <a:p>
            <a:pPr marL="0" marR="0" lvl="0" indent="0" algn="just" defTabSz="914400" rtl="0" eaLnBrk="0" fontAlgn="base" latinLnBrk="0" hangingPunct="0">
              <a:lnSpc>
                <a:spcPct val="100000"/>
              </a:lnSpc>
              <a:spcBef>
                <a:spcPct val="0"/>
              </a:spcBef>
              <a:spcAft>
                <a:spcPct val="0"/>
              </a:spcAft>
              <a:buClrTx/>
              <a:buSzTx/>
              <a:buFontTx/>
              <a:buNone/>
            </a:pPr>
            <a:r>
              <a:rPr kumimoji="0" lang="es-ES" altLang="es-ES" sz="1400" b="0" i="0" u="none" strike="noStrike" cap="none" normalizeH="0" baseline="0" dirty="0" err="1">
                <a:ln>
                  <a:noFill/>
                </a:ln>
                <a:effectLst/>
                <a:latin typeface="+mn-lt"/>
              </a:rPr>
              <a:t>Your</a:t>
            </a:r>
            <a:r>
              <a:rPr kumimoji="0" lang="es-ES" altLang="es-ES" sz="1400" b="0" i="0" u="none" strike="noStrike" cap="none" normalizeH="0" baseline="0" dirty="0">
                <a:ln>
                  <a:noFill/>
                </a:ln>
                <a:effectLst/>
                <a:latin typeface="+mn-lt"/>
              </a:rPr>
              <a:t> </a:t>
            </a:r>
            <a:r>
              <a:rPr kumimoji="0" lang="es-ES" altLang="es-ES" sz="1400" b="0" i="0" u="none" strike="noStrike" cap="none" normalizeH="0" baseline="0" dirty="0" err="1">
                <a:ln>
                  <a:noFill/>
                </a:ln>
                <a:effectLst/>
                <a:latin typeface="+mn-lt"/>
              </a:rPr>
              <a:t>public</a:t>
            </a:r>
            <a:r>
              <a:rPr kumimoji="0" lang="es-ES" altLang="es-ES" sz="1400" b="0" i="0" u="none" strike="noStrike" cap="none" normalizeH="0" baseline="0" dirty="0">
                <a:ln>
                  <a:noFill/>
                </a:ln>
                <a:effectLst/>
                <a:latin typeface="+mn-lt"/>
              </a:rPr>
              <a:t> </a:t>
            </a:r>
            <a:r>
              <a:rPr kumimoji="0" lang="es-ES" altLang="es-ES" sz="1400" b="0" i="0" u="none" strike="noStrike" cap="none" normalizeH="0" baseline="0" dirty="0" err="1">
                <a:ln>
                  <a:noFill/>
                </a:ln>
                <a:effectLst/>
                <a:latin typeface="+mn-lt"/>
              </a:rPr>
              <a:t>key</a:t>
            </a:r>
            <a:r>
              <a:rPr kumimoji="0" lang="es-ES" altLang="es-ES" sz="1400" b="0" i="0" u="none" strike="noStrike" cap="none" normalizeH="0" baseline="0" dirty="0">
                <a:ln>
                  <a:noFill/>
                </a:ln>
                <a:effectLst/>
                <a:latin typeface="+mn-lt"/>
              </a:rPr>
              <a:t> has </a:t>
            </a:r>
            <a:r>
              <a:rPr kumimoji="0" lang="es-ES" altLang="es-ES" sz="1400" b="0" i="0" u="none" strike="noStrike" cap="none" normalizeH="0" baseline="0" dirty="0" err="1">
                <a:ln>
                  <a:noFill/>
                </a:ln>
                <a:effectLst/>
                <a:latin typeface="+mn-lt"/>
              </a:rPr>
              <a:t>been</a:t>
            </a:r>
            <a:r>
              <a:rPr kumimoji="0" lang="es-ES" altLang="es-ES" sz="1400" b="0" i="0" u="none" strike="noStrike" cap="none" normalizeH="0" baseline="0" dirty="0">
                <a:ln>
                  <a:noFill/>
                </a:ln>
                <a:effectLst/>
                <a:latin typeface="+mn-lt"/>
              </a:rPr>
              <a:t> </a:t>
            </a:r>
            <a:r>
              <a:rPr kumimoji="0" lang="es-ES" altLang="es-ES" sz="1400" b="0" i="0" u="none" strike="noStrike" cap="none" normalizeH="0" baseline="0" dirty="0" err="1">
                <a:ln>
                  <a:noFill/>
                </a:ln>
                <a:effectLst/>
                <a:latin typeface="+mn-lt"/>
              </a:rPr>
              <a:t>saved</a:t>
            </a:r>
            <a:r>
              <a:rPr kumimoji="0" lang="es-ES" altLang="es-ES" sz="1400" b="0" i="0" u="none" strike="noStrike" cap="none" normalizeH="0" baseline="0" dirty="0">
                <a:ln>
                  <a:noFill/>
                </a:ln>
                <a:effectLst/>
                <a:latin typeface="+mn-lt"/>
              </a:rPr>
              <a:t> in</a:t>
            </a:r>
            <a:r>
              <a:rPr kumimoji="0" lang="es-ES" altLang="es-ES" sz="1400" b="1" i="0" u="none" strike="noStrike" cap="none" normalizeH="0" baseline="0" dirty="0">
                <a:ln>
                  <a:noFill/>
                </a:ln>
                <a:effectLst/>
                <a:latin typeface="+mn-lt"/>
              </a:rPr>
              <a:t> /home/</a:t>
            </a:r>
            <a:r>
              <a:rPr kumimoji="0" lang="es-ES" altLang="es-ES" sz="1400" b="1" i="0" u="none" strike="noStrike" cap="none" normalizeH="0" baseline="0" dirty="0" err="1">
                <a:ln>
                  <a:noFill/>
                </a:ln>
                <a:effectLst/>
                <a:latin typeface="+mn-lt"/>
              </a:rPr>
              <a:t>bean</a:t>
            </a:r>
            <a:r>
              <a:rPr kumimoji="0" lang="es-ES" altLang="es-ES" sz="1400" b="1" i="0" u="none" strike="noStrike" cap="none" normalizeH="0" baseline="0" dirty="0">
                <a:ln>
                  <a:noFill/>
                </a:ln>
                <a:effectLst/>
                <a:latin typeface="+mn-lt"/>
              </a:rPr>
              <a:t>/.</a:t>
            </a:r>
            <a:r>
              <a:rPr kumimoji="0" lang="es-ES" altLang="es-ES" sz="1400" b="1" i="0" u="none" strike="noStrike" cap="none" normalizeH="0" baseline="0" dirty="0" err="1">
                <a:ln>
                  <a:noFill/>
                </a:ln>
                <a:effectLst/>
                <a:latin typeface="+mn-lt"/>
              </a:rPr>
              <a:t>ssh</a:t>
            </a:r>
            <a:r>
              <a:rPr kumimoji="0" lang="es-ES" altLang="es-ES" sz="1400" b="1" i="0" u="none" strike="noStrike" cap="none" normalizeH="0" baseline="0" dirty="0">
                <a:ln>
                  <a:noFill/>
                </a:ln>
                <a:effectLst/>
                <a:latin typeface="+mn-lt"/>
              </a:rPr>
              <a:t>/id_rsa.pub</a:t>
            </a:r>
            <a:r>
              <a:rPr kumimoji="0" lang="es-ES" altLang="es-ES" sz="1400" b="0" i="0" u="none" strike="noStrike" cap="none" normalizeH="0" baseline="0" dirty="0">
                <a:ln>
                  <a:noFill/>
                </a:ln>
                <a:effectLst/>
                <a:latin typeface="+mn-lt"/>
              </a:rPr>
              <a:t>.  </a:t>
            </a:r>
            <a:endParaRPr kumimoji="0" lang="es-ES" altLang="es-ES" sz="1400" b="0" i="0" u="none" strike="noStrike" cap="none" normalizeH="0" baseline="0" dirty="0">
              <a:ln>
                <a:noFill/>
              </a:ln>
              <a:effectLst/>
              <a:latin typeface="+mn-lt"/>
            </a:endParaRPr>
          </a:p>
          <a:p>
            <a:pPr marL="0" marR="0" lvl="0" indent="0" algn="just" defTabSz="914400" rtl="0" eaLnBrk="0" fontAlgn="base" latinLnBrk="0" hangingPunct="0">
              <a:lnSpc>
                <a:spcPct val="100000"/>
              </a:lnSpc>
              <a:spcBef>
                <a:spcPct val="0"/>
              </a:spcBef>
              <a:spcAft>
                <a:spcPct val="0"/>
              </a:spcAft>
              <a:buClrTx/>
              <a:buSzTx/>
              <a:buFontTx/>
              <a:buNone/>
            </a:pPr>
            <a:r>
              <a:rPr kumimoji="0" lang="es-ES" altLang="es-ES" sz="1400" b="0" i="0" u="none" strike="noStrike" cap="none" normalizeH="0" baseline="0" dirty="0" err="1">
                <a:ln>
                  <a:noFill/>
                </a:ln>
                <a:effectLst/>
                <a:latin typeface="+mn-lt"/>
              </a:rPr>
              <a:t>The</a:t>
            </a:r>
            <a:r>
              <a:rPr kumimoji="0" lang="es-ES" altLang="es-ES" sz="1400" b="0" i="0" u="none" strike="noStrike" cap="none" normalizeH="0" baseline="0" dirty="0">
                <a:ln>
                  <a:noFill/>
                </a:ln>
                <a:effectLst/>
                <a:latin typeface="+mn-lt"/>
              </a:rPr>
              <a:t> </a:t>
            </a:r>
            <a:r>
              <a:rPr kumimoji="0" lang="es-ES" altLang="es-ES" sz="1400" b="0" i="0" u="none" strike="noStrike" cap="none" normalizeH="0" baseline="0" dirty="0" err="1">
                <a:ln>
                  <a:noFill/>
                </a:ln>
                <a:effectLst/>
                <a:latin typeface="+mn-lt"/>
              </a:rPr>
              <a:t>key</a:t>
            </a:r>
            <a:r>
              <a:rPr kumimoji="0" lang="es-ES" altLang="es-ES" sz="1400" b="0" i="0" u="none" strike="noStrike" cap="none" normalizeH="0" baseline="0" dirty="0">
                <a:ln>
                  <a:noFill/>
                </a:ln>
                <a:effectLst/>
                <a:latin typeface="+mn-lt"/>
              </a:rPr>
              <a:t> </a:t>
            </a:r>
            <a:r>
              <a:rPr kumimoji="0" lang="es-ES" altLang="es-ES" sz="1400" b="0" i="0" u="none" strike="noStrike" cap="none" normalizeH="0" baseline="0" dirty="0" err="1">
                <a:ln>
                  <a:noFill/>
                </a:ln>
                <a:effectLst/>
                <a:latin typeface="+mn-lt"/>
              </a:rPr>
              <a:t>fingerprint</a:t>
            </a:r>
            <a:r>
              <a:rPr kumimoji="0" lang="es-ES" altLang="es-ES" sz="1400" b="0" i="0" u="none" strike="noStrike" cap="none" normalizeH="0" baseline="0" dirty="0">
                <a:ln>
                  <a:noFill/>
                </a:ln>
                <a:effectLst/>
                <a:latin typeface="+mn-lt"/>
              </a:rPr>
              <a:t> </a:t>
            </a:r>
            <a:r>
              <a:rPr kumimoji="0" lang="es-ES" altLang="es-ES" sz="1400" b="0" i="0" u="none" strike="noStrike" cap="none" normalizeH="0" baseline="0" dirty="0" err="1">
                <a:ln>
                  <a:noFill/>
                </a:ln>
                <a:effectLst/>
                <a:latin typeface="+mn-lt"/>
              </a:rPr>
              <a:t>is</a:t>
            </a:r>
            <a:r>
              <a:rPr kumimoji="0" lang="es-ES" altLang="es-ES" sz="1400" b="0" i="0" u="none" strike="noStrike" cap="none" normalizeH="0" baseline="0" dirty="0">
                <a:ln>
                  <a:noFill/>
                </a:ln>
                <a:effectLst/>
                <a:latin typeface="+mn-lt"/>
              </a:rPr>
              <a:t>: </a:t>
            </a:r>
            <a:endParaRPr kumimoji="0" lang="es-ES" altLang="es-ES" sz="1400" b="0" i="0" u="none" strike="noStrike" cap="none" normalizeH="0" baseline="0" dirty="0">
              <a:ln>
                <a:noFill/>
              </a:ln>
              <a:effectLst/>
              <a:latin typeface="+mn-lt"/>
            </a:endParaRPr>
          </a:p>
          <a:p>
            <a:pPr marL="0" marR="0" lvl="0" indent="0" algn="just" defTabSz="914400" rtl="0" eaLnBrk="0" fontAlgn="base" latinLnBrk="0" hangingPunct="0">
              <a:lnSpc>
                <a:spcPct val="100000"/>
              </a:lnSpc>
              <a:spcBef>
                <a:spcPct val="0"/>
              </a:spcBef>
              <a:spcAft>
                <a:spcPct val="0"/>
              </a:spcAft>
              <a:buClrTx/>
              <a:buSzTx/>
              <a:buFontTx/>
              <a:buNone/>
            </a:pPr>
            <a:r>
              <a:rPr kumimoji="0" lang="es-ES" altLang="es-ES" sz="1400" b="0" i="0" u="none" strike="noStrike" cap="none" normalizeH="0" baseline="0" dirty="0">
                <a:ln>
                  <a:noFill/>
                </a:ln>
                <a:effectLst/>
                <a:latin typeface="+mn-lt"/>
              </a:rPr>
              <a:t> f6:39:23:4e:fa:53:d0:4e:65:7f:3f:fd:a3:f4:8e:2a bean@p64p17bicb3 </a:t>
            </a:r>
            <a:endParaRPr kumimoji="0" lang="es-ES" altLang="es-ES" sz="1400" b="0" i="0" u="none" strike="noStrike" cap="none" normalizeH="0" baseline="0" dirty="0">
              <a:ln>
                <a:noFill/>
              </a:ln>
              <a:effectLst/>
              <a:latin typeface="+mn-lt"/>
            </a:endParaRPr>
          </a:p>
          <a:p>
            <a:pPr marL="0" marR="0" lvl="0" indent="0" algn="just" defTabSz="914400" rtl="0" eaLnBrk="0" fontAlgn="base" latinLnBrk="0" hangingPunct="0">
              <a:lnSpc>
                <a:spcPct val="100000"/>
              </a:lnSpc>
              <a:spcBef>
                <a:spcPct val="0"/>
              </a:spcBef>
              <a:spcAft>
                <a:spcPct val="0"/>
              </a:spcAft>
              <a:buClrTx/>
              <a:buSzTx/>
              <a:buFontTx/>
              <a:buNone/>
            </a:pPr>
            <a:endParaRPr kumimoji="0" lang="es-ES" altLang="es-ES" sz="1400" b="0" i="0" u="none" strike="noStrike" cap="none" normalizeH="0" baseline="0" dirty="0">
              <a:ln>
                <a:noFill/>
              </a:ln>
              <a:effectLst/>
              <a:latin typeface="+mn-lt"/>
            </a:endParaRPr>
          </a:p>
          <a:p>
            <a:pPr marL="0" marR="0" lvl="0" indent="0" algn="just" defTabSz="914400" rtl="0" eaLnBrk="0" fontAlgn="base" latinLnBrk="0" hangingPunct="0">
              <a:lnSpc>
                <a:spcPct val="100000"/>
              </a:lnSpc>
              <a:spcBef>
                <a:spcPct val="0"/>
              </a:spcBef>
              <a:spcAft>
                <a:spcPct val="0"/>
              </a:spcAft>
              <a:buClrTx/>
              <a:buSzTx/>
              <a:buFontTx/>
              <a:buNone/>
            </a:pPr>
            <a:r>
              <a:rPr kumimoji="0" lang="es-ES" altLang="es-ES" sz="1400" b="0" i="0" u="none" strike="noStrike" cap="none" normalizeH="0" baseline="0" dirty="0">
                <a:ln>
                  <a:noFill/>
                </a:ln>
                <a:effectLst/>
                <a:latin typeface="+mn-lt"/>
              </a:rPr>
              <a:t> El directorio del usuario contiene ahora un directorio .</a:t>
            </a:r>
            <a:r>
              <a:rPr kumimoji="0" lang="es-ES" altLang="es-ES" sz="1400" b="0" i="0" u="none" strike="noStrike" cap="none" normalizeH="0" baseline="0" dirty="0" err="1">
                <a:ln>
                  <a:noFill/>
                </a:ln>
                <a:effectLst/>
                <a:latin typeface="+mn-lt"/>
              </a:rPr>
              <a:t>ssh</a:t>
            </a:r>
            <a:r>
              <a:rPr kumimoji="0" lang="es-ES" altLang="es-ES" sz="1400" b="0" i="0" u="none" strike="noStrike" cap="none" normalizeH="0" baseline="0" dirty="0">
                <a:ln>
                  <a:noFill/>
                </a:ln>
                <a:effectLst/>
                <a:latin typeface="+mn-lt"/>
              </a:rPr>
              <a:t>:</a:t>
            </a:r>
            <a:endParaRPr kumimoji="0" lang="es-ES" altLang="es-ES" sz="1400" b="0" i="0" u="none" strike="noStrike" cap="none" normalizeH="0" baseline="0" dirty="0">
              <a:ln>
                <a:noFill/>
              </a:ln>
              <a:effectLst/>
              <a:latin typeface="+mn-lt"/>
            </a:endParaRPr>
          </a:p>
          <a:p>
            <a:pPr marL="292735" lvl="1" indent="0" algn="just">
              <a:buNone/>
            </a:pPr>
            <a:r>
              <a:rPr kumimoji="0" lang="es-ES" altLang="es-ES" sz="1400" b="1" i="0" u="none" strike="noStrike" cap="none" normalizeH="0" baseline="0" dirty="0">
                <a:ln>
                  <a:noFill/>
                </a:ln>
                <a:effectLst/>
                <a:latin typeface="+mn-lt"/>
              </a:rPr>
              <a:t>$ cd .</a:t>
            </a:r>
            <a:r>
              <a:rPr kumimoji="0" lang="es-ES" altLang="es-ES" sz="1400" b="1" i="0" u="none" strike="noStrike" cap="none" normalizeH="0" baseline="0" dirty="0" err="1">
                <a:ln>
                  <a:noFill/>
                </a:ln>
                <a:effectLst/>
                <a:latin typeface="+mn-lt"/>
              </a:rPr>
              <a:t>ssh</a:t>
            </a:r>
            <a:r>
              <a:rPr kumimoji="0" lang="es-ES" altLang="es-ES" sz="1400" b="1" i="0" u="none" strike="noStrike" cap="none" normalizeH="0" baseline="0" dirty="0">
                <a:ln>
                  <a:noFill/>
                </a:ln>
                <a:effectLst/>
                <a:latin typeface="+mn-lt"/>
              </a:rPr>
              <a:t>  </a:t>
            </a:r>
            <a:endParaRPr kumimoji="0" lang="es-ES" altLang="es-ES" sz="1400" b="1" i="0" u="none" strike="noStrike" cap="none" normalizeH="0" baseline="0" dirty="0">
              <a:ln>
                <a:noFill/>
              </a:ln>
              <a:effectLst/>
              <a:latin typeface="+mn-lt"/>
            </a:endParaRPr>
          </a:p>
          <a:p>
            <a:pPr marL="292735" lvl="1" indent="0" algn="just">
              <a:buNone/>
            </a:pPr>
            <a:r>
              <a:rPr kumimoji="0" lang="es-ES" altLang="es-ES" sz="1400" b="1" i="0" u="none" strike="noStrike" cap="none" normalizeH="0" baseline="0" dirty="0">
                <a:ln>
                  <a:noFill/>
                </a:ln>
                <a:effectLst/>
                <a:latin typeface="+mn-lt"/>
              </a:rPr>
              <a:t>$ </a:t>
            </a:r>
            <a:r>
              <a:rPr kumimoji="0" lang="es-ES" altLang="es-ES" sz="1400" b="1" i="0" u="none" strike="noStrike" cap="none" normalizeH="0" baseline="0" dirty="0" err="1">
                <a:ln>
                  <a:noFill/>
                </a:ln>
                <a:effectLst/>
                <a:latin typeface="+mn-lt"/>
              </a:rPr>
              <a:t>ls</a:t>
            </a:r>
            <a:r>
              <a:rPr kumimoji="0" lang="es-ES" altLang="es-ES" sz="1400" b="1" i="0" u="none" strike="noStrike" cap="none" normalizeH="0" baseline="0" dirty="0">
                <a:ln>
                  <a:noFill/>
                </a:ln>
                <a:effectLst/>
                <a:latin typeface="+mn-lt"/>
              </a:rPr>
              <a:t>  </a:t>
            </a:r>
            <a:r>
              <a:rPr kumimoji="0" lang="es-ES" altLang="es-ES" sz="1400" b="1" i="0" u="none" strike="noStrike" cap="none" normalizeH="0" baseline="0" dirty="0" err="1">
                <a:ln>
                  <a:noFill/>
                </a:ln>
                <a:effectLst/>
                <a:latin typeface="+mn-lt"/>
              </a:rPr>
              <a:t>id_rsa</a:t>
            </a:r>
            <a:r>
              <a:rPr kumimoji="0" lang="es-ES" altLang="es-ES" sz="1400" b="1" i="0" u="none" strike="noStrike" cap="none" normalizeH="0" baseline="0" dirty="0">
                <a:ln>
                  <a:noFill/>
                </a:ln>
                <a:effectLst/>
                <a:latin typeface="+mn-lt"/>
              </a:rPr>
              <a:t> id_rsa.pub </a:t>
            </a:r>
            <a:endParaRPr kumimoji="0" lang="es-ES" altLang="es-ES" sz="1400" b="1" i="0" u="none" strike="noStrike" cap="none" normalizeH="0" baseline="0" dirty="0">
              <a:ln>
                <a:noFill/>
              </a:ln>
              <a:effectLst/>
              <a:latin typeface="+mn-lt"/>
            </a:endParaRPr>
          </a:p>
          <a:p>
            <a:pPr marL="0" marR="0" lvl="0" indent="0" algn="just" defTabSz="914400" rtl="0" eaLnBrk="0" fontAlgn="base" latinLnBrk="0" hangingPunct="0">
              <a:lnSpc>
                <a:spcPct val="100000"/>
              </a:lnSpc>
              <a:spcBef>
                <a:spcPct val="0"/>
              </a:spcBef>
              <a:spcAft>
                <a:spcPct val="0"/>
              </a:spcAft>
              <a:buClrTx/>
              <a:buSzTx/>
              <a:buFontTx/>
              <a:buNone/>
            </a:pPr>
            <a:r>
              <a:rPr kumimoji="0" lang="es-ES" altLang="es-ES" sz="1400" b="0" i="0" u="none" strike="noStrike" cap="none" normalizeH="0" baseline="0" dirty="0">
                <a:ln>
                  <a:noFill/>
                </a:ln>
                <a:effectLst/>
                <a:latin typeface="+mn-lt"/>
              </a:rPr>
              <a:t> El archivo id_rsa.pub contiene la clave pública:</a:t>
            </a:r>
            <a:endParaRPr kumimoji="0" lang="es-ES" altLang="es-ES" sz="1400" b="0" i="0" u="none" strike="noStrike" cap="none" normalizeH="0" baseline="0" dirty="0">
              <a:ln>
                <a:noFill/>
              </a:ln>
              <a:effectLst/>
              <a:latin typeface="+mn-lt"/>
            </a:endParaRPr>
          </a:p>
          <a:p>
            <a:pPr marL="292735" lvl="1" indent="0">
              <a:buNone/>
            </a:pPr>
            <a:r>
              <a:rPr kumimoji="0" lang="es-ES" altLang="es-ES" sz="1400" b="1" i="0" u="none" strike="noStrike" cap="none" normalizeH="0" baseline="0" dirty="0">
                <a:ln>
                  <a:noFill/>
                </a:ln>
                <a:effectLst/>
                <a:latin typeface="+mn-lt"/>
              </a:rPr>
              <a:t>$ </a:t>
            </a:r>
            <a:r>
              <a:rPr kumimoji="0" lang="es-ES" altLang="es-ES" sz="1400" b="1" i="0" u="none" strike="noStrike" cap="none" normalizeH="0" baseline="0" dirty="0" err="1">
                <a:ln>
                  <a:noFill/>
                </a:ln>
                <a:effectLst/>
                <a:latin typeface="+mn-lt"/>
              </a:rPr>
              <a:t>cat</a:t>
            </a:r>
            <a:r>
              <a:rPr kumimoji="0" lang="es-ES" altLang="es-ES" sz="1400" b="1" i="0" u="none" strike="noStrike" cap="none" normalizeH="0" baseline="0" dirty="0">
                <a:ln>
                  <a:noFill/>
                </a:ln>
                <a:effectLst/>
                <a:latin typeface="+mn-lt"/>
              </a:rPr>
              <a:t> id_rsa.pub  </a:t>
            </a:r>
            <a:r>
              <a:rPr kumimoji="0" lang="es-ES" altLang="es-ES" sz="1400" b="1" i="0" u="none" strike="noStrike" cap="none" normalizeH="0" baseline="0" dirty="0" err="1">
                <a:ln>
                  <a:noFill/>
                </a:ln>
                <a:effectLst/>
                <a:latin typeface="+mn-lt"/>
              </a:rPr>
              <a:t>ssh-rsa</a:t>
            </a:r>
            <a:r>
              <a:rPr kumimoji="0" lang="es-ES" altLang="es-ES" sz="1400" b="1" i="0" u="none" strike="noStrike" cap="none" normalizeH="0" baseline="0" dirty="0">
                <a:ln>
                  <a:noFill/>
                </a:ln>
                <a:effectLst/>
                <a:latin typeface="+mn-lt"/>
              </a:rPr>
              <a:t> AAAAB3NzaC1yc2EAAAABIwAAAQEArB/VskR9v708J2EDG1LM1Q6HmKJc…</a:t>
            </a:r>
            <a:endParaRPr kumimoji="0" lang="es-ES" altLang="es-ES" sz="1400" b="1" i="0" u="none" strike="noStrike" cap="none" normalizeH="0" baseline="0" dirty="0">
              <a:ln>
                <a:noFill/>
              </a:ln>
              <a:effectLst/>
              <a:latin typeface="+mn-lt"/>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SERVICIOS BÁSICOS</a:t>
            </a:r>
            <a:endParaRPr lang="es-ES" dirty="0"/>
          </a:p>
        </p:txBody>
      </p:sp>
      <p:sp>
        <p:nvSpPr>
          <p:cNvPr id="3" name="Rectangle 1"/>
          <p:cNvSpPr>
            <a:spLocks noGrp="1" noChangeArrowheads="1"/>
          </p:cNvSpPr>
          <p:nvPr>
            <p:ph idx="1"/>
          </p:nvPr>
        </p:nvSpPr>
        <p:spPr bwMode="auto">
          <a:xfrm>
            <a:off x="1174840" y="1975988"/>
            <a:ext cx="9980840" cy="408824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8872" tIns="88872" rIns="0" bIns="88872"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pPr>
            <a:r>
              <a:rPr kumimoji="0" lang="es-ES" altLang="es-ES" sz="1400" b="1" i="0" u="none" strike="noStrike" cap="none" normalizeH="0" baseline="0" dirty="0">
                <a:ln>
                  <a:noFill/>
                </a:ln>
                <a:effectLst/>
                <a:latin typeface="+mn-lt"/>
              </a:rPr>
              <a:t>Lado servidor</a:t>
            </a:r>
            <a:endParaRPr kumimoji="0" lang="es-ES" altLang="es-ES" sz="1400" b="1" i="0" u="none" strike="noStrike" cap="none" normalizeH="0" baseline="0" dirty="0">
              <a:ln>
                <a:noFill/>
              </a:ln>
              <a:effectLst/>
              <a:latin typeface="+mn-lt"/>
            </a:endParaRPr>
          </a:p>
          <a:p>
            <a:pPr marL="0" marR="0" lvl="0" indent="0" defTabSz="914400" rtl="0" eaLnBrk="0" fontAlgn="base" latinLnBrk="0" hangingPunct="0">
              <a:lnSpc>
                <a:spcPct val="100000"/>
              </a:lnSpc>
              <a:spcBef>
                <a:spcPct val="0"/>
              </a:spcBef>
              <a:spcAft>
                <a:spcPct val="0"/>
              </a:spcAft>
              <a:buClrTx/>
              <a:buSzTx/>
              <a:buFontTx/>
              <a:buNone/>
            </a:pPr>
            <a:r>
              <a:rPr kumimoji="0" lang="es-ES" altLang="es-ES" sz="1400" b="0" i="0" u="none" strike="noStrike" cap="none" normalizeH="0" baseline="0" dirty="0">
                <a:ln>
                  <a:noFill/>
                </a:ln>
                <a:effectLst/>
                <a:latin typeface="+mn-lt"/>
              </a:rPr>
              <a:t> Vaya al directorio .</a:t>
            </a:r>
            <a:r>
              <a:rPr kumimoji="0" lang="es-ES" altLang="es-ES" sz="1400" b="0" i="0" u="none" strike="noStrike" cap="none" normalizeH="0" baseline="0" dirty="0" err="1">
                <a:ln>
                  <a:noFill/>
                </a:ln>
                <a:effectLst/>
                <a:latin typeface="+mn-lt"/>
              </a:rPr>
              <a:t>ssh</a:t>
            </a:r>
            <a:r>
              <a:rPr kumimoji="0" lang="es-ES" altLang="es-ES" sz="1400" b="0" i="0" u="none" strike="noStrike" cap="none" normalizeH="0" baseline="0" dirty="0">
                <a:ln>
                  <a:noFill/>
                </a:ln>
                <a:effectLst/>
                <a:latin typeface="+mn-lt"/>
              </a:rPr>
              <a:t> de la cuenta a la cual desea acceder en el servidor (cree una si no existe):</a:t>
            </a:r>
            <a:endParaRPr kumimoji="0" lang="es-ES" altLang="es-ES" sz="1400" b="0" i="0" u="none" strike="noStrike" cap="none" normalizeH="0" baseline="0" dirty="0">
              <a:ln>
                <a:noFill/>
              </a:ln>
              <a:effectLst/>
              <a:latin typeface="+mn-lt"/>
            </a:endParaRPr>
          </a:p>
          <a:p>
            <a:pPr marL="0" marR="0" lvl="0" indent="0" defTabSz="914400" rtl="0" eaLnBrk="0" fontAlgn="base" latinLnBrk="0" hangingPunct="0">
              <a:lnSpc>
                <a:spcPct val="100000"/>
              </a:lnSpc>
              <a:spcBef>
                <a:spcPct val="0"/>
              </a:spcBef>
              <a:spcAft>
                <a:spcPct val="0"/>
              </a:spcAft>
              <a:buClrTx/>
              <a:buSzTx/>
              <a:buFontTx/>
              <a:buNone/>
            </a:pPr>
            <a:endParaRPr kumimoji="0" lang="es-ES" altLang="es-ES" sz="1400" b="0" i="0" u="none" strike="noStrike" cap="none" normalizeH="0" baseline="0" dirty="0">
              <a:ln>
                <a:noFill/>
              </a:ln>
              <a:effectLst/>
              <a:latin typeface="+mn-lt"/>
            </a:endParaRPr>
          </a:p>
          <a:p>
            <a:pPr marL="0" marR="0" lvl="0" indent="0" algn="ctr" defTabSz="914400" rtl="0" eaLnBrk="0" fontAlgn="base" latinLnBrk="0" hangingPunct="0">
              <a:lnSpc>
                <a:spcPct val="100000"/>
              </a:lnSpc>
              <a:spcBef>
                <a:spcPct val="0"/>
              </a:spcBef>
              <a:spcAft>
                <a:spcPct val="0"/>
              </a:spcAft>
              <a:buClrTx/>
              <a:buSzTx/>
              <a:buFontTx/>
              <a:buNone/>
            </a:pPr>
            <a:r>
              <a:rPr kumimoji="0" lang="es-ES" altLang="es-ES" sz="1400" b="1" i="0" u="none" strike="noStrike" cap="none" normalizeH="0" baseline="0" dirty="0">
                <a:ln>
                  <a:noFill/>
                </a:ln>
                <a:effectLst/>
                <a:latin typeface="+mn-lt"/>
              </a:rPr>
              <a:t>$ cd /home/</a:t>
            </a:r>
            <a:r>
              <a:rPr kumimoji="0" lang="es-ES" altLang="es-ES" sz="1400" b="1" i="0" u="none" strike="noStrike" cap="none" normalizeH="0" baseline="0" dirty="0" err="1">
                <a:ln>
                  <a:noFill/>
                </a:ln>
                <a:effectLst/>
                <a:latin typeface="+mn-lt"/>
              </a:rPr>
              <a:t>seb</a:t>
            </a:r>
            <a:r>
              <a:rPr kumimoji="0" lang="es-ES" altLang="es-ES" sz="1400" b="1" i="0" u="none" strike="noStrike" cap="none" normalizeH="0" baseline="0" dirty="0">
                <a:ln>
                  <a:noFill/>
                </a:ln>
                <a:effectLst/>
                <a:latin typeface="+mn-lt"/>
              </a:rPr>
              <a:t>/.</a:t>
            </a:r>
            <a:r>
              <a:rPr kumimoji="0" lang="es-ES" altLang="es-ES" sz="1400" b="1" i="0" u="none" strike="noStrike" cap="none" normalizeH="0" baseline="0" dirty="0" err="1">
                <a:ln>
                  <a:noFill/>
                </a:ln>
                <a:effectLst/>
                <a:latin typeface="+mn-lt"/>
              </a:rPr>
              <a:t>ssh</a:t>
            </a:r>
            <a:r>
              <a:rPr kumimoji="0" lang="es-ES" altLang="es-ES" sz="1400" b="1" i="0" u="none" strike="noStrike" cap="none" normalizeH="0" baseline="0" dirty="0">
                <a:ln>
                  <a:noFill/>
                </a:ln>
                <a:effectLst/>
                <a:latin typeface="+mn-lt"/>
              </a:rPr>
              <a:t> </a:t>
            </a:r>
            <a:endParaRPr kumimoji="0" lang="es-ES" altLang="es-ES" sz="1400" b="1" i="0" u="none" strike="noStrike" cap="none" normalizeH="0" baseline="0" dirty="0">
              <a:ln>
                <a:noFill/>
              </a:ln>
              <a:effectLst/>
              <a:latin typeface="+mn-lt"/>
            </a:endParaRPr>
          </a:p>
          <a:p>
            <a:pPr marL="0" marR="0" lvl="0" indent="0" algn="ctr" defTabSz="914400" rtl="0" eaLnBrk="0" fontAlgn="base" latinLnBrk="0" hangingPunct="0">
              <a:lnSpc>
                <a:spcPct val="100000"/>
              </a:lnSpc>
              <a:spcBef>
                <a:spcPct val="0"/>
              </a:spcBef>
              <a:spcAft>
                <a:spcPct val="0"/>
              </a:spcAft>
              <a:buClrTx/>
              <a:buSzTx/>
              <a:buFontTx/>
              <a:buNone/>
            </a:pPr>
            <a:endParaRPr kumimoji="0" lang="es-ES" altLang="es-ES" sz="1400" b="1" i="0" u="none" strike="noStrike" cap="none" normalizeH="0" baseline="0" dirty="0">
              <a:ln>
                <a:noFill/>
              </a:ln>
              <a:effectLst/>
              <a:latin typeface="+mn-lt"/>
            </a:endParaRPr>
          </a:p>
          <a:p>
            <a:pPr marL="0" marR="0" lvl="0" indent="0" defTabSz="914400" rtl="0" eaLnBrk="0" fontAlgn="base" latinLnBrk="0" hangingPunct="0">
              <a:lnSpc>
                <a:spcPct val="100000"/>
              </a:lnSpc>
              <a:spcBef>
                <a:spcPct val="0"/>
              </a:spcBef>
              <a:spcAft>
                <a:spcPct val="0"/>
              </a:spcAft>
              <a:buClrTx/>
              <a:buSzTx/>
              <a:buFontTx/>
              <a:buNone/>
            </a:pPr>
            <a:r>
              <a:rPr kumimoji="0" lang="es-ES" altLang="es-ES" sz="1400" b="0" i="0" u="none" strike="noStrike" cap="none" normalizeH="0" baseline="0" dirty="0">
                <a:ln>
                  <a:noFill/>
                </a:ln>
                <a:effectLst/>
                <a:latin typeface="+mn-lt"/>
              </a:rPr>
              <a:t> Edite el archivo authorized_keys2 (</a:t>
            </a:r>
            <a:r>
              <a:rPr kumimoji="0" lang="es-ES" altLang="es-ES" sz="1400" b="0" i="0" u="none" strike="noStrike" cap="none" normalizeH="0" baseline="0" dirty="0" err="1">
                <a:ln>
                  <a:noFill/>
                </a:ln>
                <a:effectLst/>
                <a:latin typeface="+mn-lt"/>
              </a:rPr>
              <a:t>creélo</a:t>
            </a:r>
            <a:r>
              <a:rPr kumimoji="0" lang="es-ES" altLang="es-ES" sz="1400" b="0" i="0" u="none" strike="noStrike" cap="none" normalizeH="0" baseline="0" dirty="0">
                <a:ln>
                  <a:noFill/>
                </a:ln>
                <a:effectLst/>
                <a:latin typeface="+mn-lt"/>
              </a:rPr>
              <a:t> si no existe) y copie dentro en una nueva línea el contenido del archivo id_rsa.pub del cliente.</a:t>
            </a:r>
            <a:endParaRPr kumimoji="0" lang="es-ES" altLang="es-ES" sz="1400" b="0" i="0" u="none" strike="noStrike" cap="none" normalizeH="0" baseline="0" dirty="0">
              <a:ln>
                <a:noFill/>
              </a:ln>
              <a:effectLst/>
              <a:latin typeface="+mn-lt"/>
            </a:endParaRPr>
          </a:p>
          <a:p>
            <a:pPr marL="0" marR="0" lvl="0" indent="0" defTabSz="914400" rtl="0" eaLnBrk="0" fontAlgn="base" latinLnBrk="0" hangingPunct="0">
              <a:lnSpc>
                <a:spcPct val="100000"/>
              </a:lnSpc>
              <a:spcBef>
                <a:spcPct val="0"/>
              </a:spcBef>
              <a:spcAft>
                <a:spcPct val="0"/>
              </a:spcAft>
              <a:buClrTx/>
              <a:buSzTx/>
              <a:buFontTx/>
              <a:buNone/>
            </a:pPr>
            <a:endParaRPr lang="es-ES" altLang="es-ES" sz="1400" dirty="0">
              <a:latin typeface="+mn-lt"/>
            </a:endParaRPr>
          </a:p>
          <a:p>
            <a:pPr marL="0" marR="0" lvl="0" indent="0" defTabSz="914400" rtl="0" eaLnBrk="0" fontAlgn="base" latinLnBrk="0" hangingPunct="0">
              <a:lnSpc>
                <a:spcPct val="100000"/>
              </a:lnSpc>
              <a:spcBef>
                <a:spcPct val="0"/>
              </a:spcBef>
              <a:spcAft>
                <a:spcPct val="0"/>
              </a:spcAft>
              <a:buClrTx/>
              <a:buSzTx/>
              <a:buFontTx/>
              <a:buNone/>
            </a:pPr>
            <a:endParaRPr kumimoji="0" lang="es-ES" altLang="es-ES" sz="1400" b="0" i="0" u="none" strike="noStrike" cap="none" normalizeH="0" baseline="0" dirty="0">
              <a:ln>
                <a:noFill/>
              </a:ln>
              <a:effectLst/>
              <a:latin typeface="+mn-lt"/>
            </a:endParaRPr>
          </a:p>
          <a:p>
            <a:pPr marL="0" marR="0" lvl="0" indent="0" defTabSz="914400" rtl="0" eaLnBrk="0" fontAlgn="base" latinLnBrk="0" hangingPunct="0">
              <a:lnSpc>
                <a:spcPct val="100000"/>
              </a:lnSpc>
              <a:spcBef>
                <a:spcPct val="0"/>
              </a:spcBef>
              <a:spcAft>
                <a:spcPct val="0"/>
              </a:spcAft>
              <a:buClrTx/>
              <a:buSzTx/>
              <a:buFontTx/>
              <a:buNone/>
            </a:pPr>
            <a:endParaRPr lang="es-ES" altLang="es-ES" sz="1400" dirty="0">
              <a:latin typeface="+mn-lt"/>
            </a:endParaRPr>
          </a:p>
          <a:p>
            <a:pPr marL="0" marR="0" lvl="0" indent="0" defTabSz="914400" rtl="0" eaLnBrk="0" fontAlgn="base" latinLnBrk="0" hangingPunct="0">
              <a:lnSpc>
                <a:spcPct val="100000"/>
              </a:lnSpc>
              <a:spcBef>
                <a:spcPct val="0"/>
              </a:spcBef>
              <a:spcAft>
                <a:spcPct val="0"/>
              </a:spcAft>
              <a:buClrTx/>
              <a:buSzTx/>
              <a:buFontTx/>
              <a:buNone/>
            </a:pPr>
            <a:endParaRPr kumimoji="0" lang="es-ES" altLang="es-ES" sz="1400" b="0" i="0" u="none" strike="noStrike" cap="none" normalizeH="0" baseline="0" dirty="0">
              <a:ln>
                <a:noFill/>
              </a:ln>
              <a:effectLst/>
              <a:latin typeface="+mn-lt"/>
            </a:endParaRPr>
          </a:p>
          <a:p>
            <a:pPr marL="0" marR="0" lvl="0" indent="0" defTabSz="914400" rtl="0" eaLnBrk="0" fontAlgn="base" latinLnBrk="0" hangingPunct="0">
              <a:lnSpc>
                <a:spcPct val="100000"/>
              </a:lnSpc>
              <a:spcBef>
                <a:spcPct val="0"/>
              </a:spcBef>
              <a:spcAft>
                <a:spcPct val="0"/>
              </a:spcAft>
              <a:buClrTx/>
              <a:buSzTx/>
              <a:buFontTx/>
              <a:buNone/>
            </a:pPr>
            <a:endParaRPr lang="es-ES" altLang="es-ES" sz="1400" dirty="0">
              <a:latin typeface="+mn-lt"/>
            </a:endParaRPr>
          </a:p>
          <a:p>
            <a:pPr marL="0" marR="0" lvl="0" indent="0" defTabSz="914400" rtl="0" eaLnBrk="0" fontAlgn="base" latinLnBrk="0" hangingPunct="0">
              <a:lnSpc>
                <a:spcPct val="100000"/>
              </a:lnSpc>
              <a:spcBef>
                <a:spcPct val="0"/>
              </a:spcBef>
              <a:spcAft>
                <a:spcPct val="0"/>
              </a:spcAft>
              <a:buClrTx/>
              <a:buSzTx/>
              <a:buFontTx/>
              <a:buNone/>
            </a:pPr>
            <a:endParaRPr lang="es-ES" altLang="es-ES" sz="1400" dirty="0">
              <a:latin typeface="+mn-lt"/>
            </a:endParaRPr>
          </a:p>
          <a:p>
            <a:pPr marL="0" marR="0" lvl="0" indent="0" defTabSz="914400" rtl="0" eaLnBrk="0" fontAlgn="base" latinLnBrk="0" hangingPunct="0">
              <a:lnSpc>
                <a:spcPct val="100000"/>
              </a:lnSpc>
              <a:spcBef>
                <a:spcPct val="0"/>
              </a:spcBef>
              <a:spcAft>
                <a:spcPct val="0"/>
              </a:spcAft>
              <a:buClrTx/>
              <a:buSzTx/>
              <a:buFontTx/>
              <a:buNone/>
            </a:pPr>
            <a:endParaRPr lang="es-ES" altLang="es-ES" sz="1400" dirty="0">
              <a:latin typeface="+mn-lt"/>
            </a:endParaRPr>
          </a:p>
          <a:p>
            <a:pPr marL="0" marR="0" lvl="0" indent="0" defTabSz="914400" rtl="0" eaLnBrk="0" fontAlgn="base" latinLnBrk="0" hangingPunct="0">
              <a:lnSpc>
                <a:spcPct val="100000"/>
              </a:lnSpc>
              <a:spcBef>
                <a:spcPct val="0"/>
              </a:spcBef>
              <a:spcAft>
                <a:spcPct val="0"/>
              </a:spcAft>
              <a:buClrTx/>
              <a:buSzTx/>
              <a:buFontTx/>
              <a:buNone/>
            </a:pPr>
            <a:endParaRPr lang="es-ES" altLang="es-ES" sz="1400" dirty="0">
              <a:latin typeface="+mn-lt"/>
            </a:endParaRPr>
          </a:p>
          <a:p>
            <a:pPr marL="0" lvl="0" indent="0" algn="just">
              <a:lnSpc>
                <a:spcPct val="100000"/>
              </a:lnSpc>
              <a:buClrTx/>
              <a:buSzTx/>
              <a:buNone/>
            </a:pPr>
            <a:r>
              <a:rPr lang="es-ES" altLang="es-ES" sz="1400" dirty="0">
                <a:latin typeface="+mn-lt"/>
              </a:rPr>
              <a:t>Intente una conexión; no se requiere la contraseña:</a:t>
            </a:r>
            <a:endParaRPr lang="es-ES" altLang="es-ES" sz="1400" dirty="0">
              <a:latin typeface="+mn-lt"/>
            </a:endParaRPr>
          </a:p>
          <a:p>
            <a:pPr marL="0" lvl="0" indent="0" algn="ctr">
              <a:lnSpc>
                <a:spcPct val="100000"/>
              </a:lnSpc>
              <a:buClrTx/>
              <a:buSzTx/>
              <a:buNone/>
            </a:pPr>
            <a:r>
              <a:rPr lang="es-ES" altLang="es-ES" sz="1600" b="1" dirty="0">
                <a:solidFill>
                  <a:srgbClr val="000000"/>
                </a:solidFill>
                <a:latin typeface="+mn-lt"/>
              </a:rPr>
              <a:t>$ </a:t>
            </a:r>
            <a:r>
              <a:rPr lang="es-ES" altLang="es-ES" sz="1600" b="1" dirty="0" err="1">
                <a:solidFill>
                  <a:srgbClr val="000000"/>
                </a:solidFill>
                <a:latin typeface="+mn-lt"/>
              </a:rPr>
              <a:t>ssh</a:t>
            </a:r>
            <a:r>
              <a:rPr lang="es-ES" altLang="es-ES" sz="1600" b="1" dirty="0">
                <a:solidFill>
                  <a:srgbClr val="000000"/>
                </a:solidFill>
                <a:latin typeface="+mn-lt"/>
              </a:rPr>
              <a:t> </a:t>
            </a:r>
            <a:r>
              <a:rPr lang="es-ES" altLang="es-ES" sz="1600" b="1" dirty="0" err="1">
                <a:solidFill>
                  <a:srgbClr val="000000"/>
                </a:solidFill>
                <a:latin typeface="+mn-lt"/>
              </a:rPr>
              <a:t>seb@slyserver</a:t>
            </a:r>
            <a:endParaRPr lang="es-ES" altLang="es-ES" sz="3600" b="1" dirty="0">
              <a:latin typeface="+mn-lt"/>
            </a:endParaRPr>
          </a:p>
          <a:p>
            <a:pPr marL="0" marR="0" lvl="0" indent="0" defTabSz="914400" rtl="0" eaLnBrk="0" fontAlgn="base" latinLnBrk="0" hangingPunct="0">
              <a:lnSpc>
                <a:spcPct val="100000"/>
              </a:lnSpc>
              <a:spcBef>
                <a:spcPct val="0"/>
              </a:spcBef>
              <a:spcAft>
                <a:spcPct val="0"/>
              </a:spcAft>
              <a:buClrTx/>
              <a:buSzTx/>
              <a:buFontTx/>
              <a:buNone/>
            </a:pPr>
            <a:endParaRPr lang="es-ES" altLang="es-ES" sz="1400" dirty="0">
              <a:latin typeface="+mn-lt"/>
            </a:endParaRPr>
          </a:p>
        </p:txBody>
      </p:sp>
      <p:pic>
        <p:nvPicPr>
          <p:cNvPr id="5" name="Imagen 4"/>
          <p:cNvPicPr>
            <a:picLocks noChangeAspect="1"/>
          </p:cNvPicPr>
          <p:nvPr/>
        </p:nvPicPr>
        <p:blipFill>
          <a:blip r:embed="rId1"/>
          <a:stretch>
            <a:fillRect/>
          </a:stretch>
        </p:blipFill>
        <p:spPr>
          <a:xfrm>
            <a:off x="3867150" y="3567382"/>
            <a:ext cx="4457700" cy="1533525"/>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SERVICIOS BÁSICOS</a:t>
            </a:r>
            <a:endParaRPr lang="es-ES" dirty="0"/>
          </a:p>
        </p:txBody>
      </p:sp>
      <p:sp>
        <p:nvSpPr>
          <p:cNvPr id="3" name="Rectangle 1"/>
          <p:cNvSpPr>
            <a:spLocks noGrp="1" noChangeArrowheads="1"/>
          </p:cNvSpPr>
          <p:nvPr>
            <p:ph idx="1"/>
          </p:nvPr>
        </p:nvSpPr>
        <p:spPr bwMode="auto">
          <a:xfrm>
            <a:off x="1174840" y="2024116"/>
            <a:ext cx="4921160" cy="416210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8872" tIns="88872" rIns="0" bIns="88872"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s-ES" sz="1400" b="1" dirty="0" err="1">
                <a:latin typeface="+mn-lt"/>
              </a:rPr>
              <a:t>Passphrase</a:t>
            </a:r>
            <a:r>
              <a:rPr lang="es-ES" sz="1400" b="1" dirty="0">
                <a:latin typeface="+mn-lt"/>
              </a:rPr>
              <a:t> y agente SSH</a:t>
            </a:r>
            <a:endParaRPr lang="es-ES" sz="1400" b="1" dirty="0">
              <a:latin typeface="+mn-lt"/>
            </a:endParaRPr>
          </a:p>
          <a:p>
            <a:r>
              <a:rPr lang="es-ES" sz="1400" dirty="0">
                <a:latin typeface="+mn-lt"/>
              </a:rPr>
              <a:t>Además de la seguridad de la clave SSH y el cifrado del flujo de datos, debe considerar el uso de una frase de paso, que se solicita durante la conexión SSH. Si su clave pública no es reconocida por el host, se solicitará la frase y contraseña. Si olvidó a introducir una contraseña al crear la clave, o desea cambiarla, utilice la opción -p de </a:t>
            </a:r>
            <a:r>
              <a:rPr lang="es-ES" sz="1400" dirty="0" err="1">
                <a:latin typeface="+mn-lt"/>
              </a:rPr>
              <a:t>ssh-keygen</a:t>
            </a:r>
            <a:r>
              <a:rPr lang="es-ES" sz="1400" dirty="0">
                <a:latin typeface="+mn-lt"/>
              </a:rPr>
              <a:t>:</a:t>
            </a:r>
            <a:endParaRPr lang="es-ES" sz="1400" dirty="0">
              <a:latin typeface="+mn-lt"/>
            </a:endParaRPr>
          </a:p>
          <a:p>
            <a:r>
              <a:rPr lang="es-ES" sz="1400" b="1" dirty="0" err="1">
                <a:latin typeface="+mn-lt"/>
              </a:rPr>
              <a:t>ssh-agent</a:t>
            </a:r>
            <a:r>
              <a:rPr lang="es-ES" sz="1400" b="1" dirty="0">
                <a:latin typeface="+mn-lt"/>
              </a:rPr>
              <a:t> </a:t>
            </a:r>
            <a:r>
              <a:rPr lang="es-ES" sz="1400" dirty="0">
                <a:latin typeface="+mn-lt"/>
              </a:rPr>
              <a:t>es un servicio que almacenará sus claves privadas y las frases correspondientes durante la sesión, o un tiempo delimitado a escoger. Generalmente lo arranca la sesión gráfica, pero también se puede iniciar de forma manual:</a:t>
            </a:r>
            <a:endParaRPr lang="es-ES" sz="1400" dirty="0">
              <a:latin typeface="+mn-lt"/>
            </a:endParaRPr>
          </a:p>
          <a:p>
            <a:endParaRPr lang="es-ES" dirty="0"/>
          </a:p>
          <a:p>
            <a:endParaRPr lang="es-ES" dirty="0"/>
          </a:p>
          <a:p>
            <a:pPr marL="0" marR="0" lvl="0" indent="0" defTabSz="914400" rtl="0" eaLnBrk="0" fontAlgn="base" latinLnBrk="0" hangingPunct="0">
              <a:lnSpc>
                <a:spcPct val="100000"/>
              </a:lnSpc>
              <a:spcBef>
                <a:spcPct val="0"/>
              </a:spcBef>
              <a:spcAft>
                <a:spcPct val="0"/>
              </a:spcAft>
              <a:buClrTx/>
              <a:buSzTx/>
              <a:buFontTx/>
              <a:buNone/>
            </a:pPr>
            <a:endParaRPr lang="es-ES" altLang="es-ES" sz="1400" dirty="0">
              <a:latin typeface="+mn-lt"/>
            </a:endParaRPr>
          </a:p>
        </p:txBody>
      </p:sp>
      <p:pic>
        <p:nvPicPr>
          <p:cNvPr id="4" name="Imagen 3"/>
          <p:cNvPicPr>
            <a:picLocks noChangeAspect="1"/>
          </p:cNvPicPr>
          <p:nvPr/>
        </p:nvPicPr>
        <p:blipFill>
          <a:blip r:embed="rId1"/>
          <a:stretch>
            <a:fillRect/>
          </a:stretch>
        </p:blipFill>
        <p:spPr>
          <a:xfrm>
            <a:off x="6590803" y="2308489"/>
            <a:ext cx="4029075" cy="971550"/>
          </a:xfrm>
          <a:prstGeom prst="rect">
            <a:avLst/>
          </a:prstGeom>
        </p:spPr>
      </p:pic>
      <p:pic>
        <p:nvPicPr>
          <p:cNvPr id="6" name="Imagen 5"/>
          <p:cNvPicPr>
            <a:picLocks noChangeAspect="1"/>
          </p:cNvPicPr>
          <p:nvPr/>
        </p:nvPicPr>
        <p:blipFill>
          <a:blip r:embed="rId2"/>
          <a:stretch>
            <a:fillRect/>
          </a:stretch>
        </p:blipFill>
        <p:spPr>
          <a:xfrm>
            <a:off x="6590803" y="3333918"/>
            <a:ext cx="4686300" cy="762000"/>
          </a:xfrm>
          <a:prstGeom prst="rect">
            <a:avLst/>
          </a:prstGeom>
        </p:spPr>
      </p:pic>
      <p:sp>
        <p:nvSpPr>
          <p:cNvPr id="8" name="Rectangle 1"/>
          <p:cNvSpPr>
            <a:spLocks noChangeArrowheads="1"/>
          </p:cNvSpPr>
          <p:nvPr/>
        </p:nvSpPr>
        <p:spPr bwMode="auto">
          <a:xfrm>
            <a:off x="6590803" y="4095918"/>
            <a:ext cx="4823638" cy="26161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just" defTabSz="914400" rtl="0" eaLnBrk="0" fontAlgn="base" latinLnBrk="0" hangingPunct="0">
              <a:lnSpc>
                <a:spcPct val="100000"/>
              </a:lnSpc>
              <a:spcBef>
                <a:spcPct val="0"/>
              </a:spcBef>
              <a:spcAft>
                <a:spcPct val="0"/>
              </a:spcAft>
              <a:buClrTx/>
              <a:buSzTx/>
              <a:buFontTx/>
              <a:buNone/>
            </a:pPr>
            <a:r>
              <a:rPr kumimoji="0" lang="es-ES" altLang="es-ES" sz="900" b="0" i="0" u="none" strike="noStrike" cap="none" normalizeH="0" baseline="0">
                <a:ln>
                  <a:noFill/>
                </a:ln>
                <a:solidFill>
                  <a:srgbClr val="000000"/>
                </a:solidFill>
                <a:effectLst/>
                <a:latin typeface="Arial Unicode MS" panose="020B0604020202020204" charset="-122"/>
              </a:rPr>
              <a:t>$ SSH_AUTH_SOCK=/tmp/ssh-q0vj5zBtrC1Y/agent.2118; export SSH_AUTH_SOCK;</a:t>
            </a:r>
            <a:r>
              <a:rPr kumimoji="0" lang="es-ES" altLang="es-ES" sz="1100" b="0" i="0" u="none" strike="noStrike" cap="none" normalizeH="0" baseline="0">
                <a:ln>
                  <a:noFill/>
                </a:ln>
                <a:solidFill>
                  <a:schemeClr val="tx1"/>
                </a:solidFill>
                <a:effectLst/>
              </a:rPr>
              <a:t> </a:t>
            </a:r>
            <a:endParaRPr kumimoji="0" lang="es-ES" altLang="es-ES" sz="1800" b="0" i="0" u="none" strike="noStrike" cap="none" normalizeH="0" baseline="0">
              <a:ln>
                <a:noFill/>
              </a:ln>
              <a:solidFill>
                <a:schemeClr val="tx1"/>
              </a:solidFill>
              <a:effectLst/>
              <a:latin typeface="Arial" panose="020B0604020202020204" pitchFamily="34" charset="0"/>
            </a:endParaRPr>
          </a:p>
        </p:txBody>
      </p:sp>
      <p:pic>
        <p:nvPicPr>
          <p:cNvPr id="9" name="Imagen 8"/>
          <p:cNvPicPr>
            <a:picLocks noChangeAspect="1"/>
          </p:cNvPicPr>
          <p:nvPr/>
        </p:nvPicPr>
        <p:blipFill>
          <a:blip r:embed="rId3"/>
          <a:stretch>
            <a:fillRect/>
          </a:stretch>
        </p:blipFill>
        <p:spPr>
          <a:xfrm>
            <a:off x="6657478" y="4469209"/>
            <a:ext cx="4552950" cy="581025"/>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SERVICIOS BÁSICOS</a:t>
            </a:r>
            <a:endParaRPr lang="es-ES" dirty="0"/>
          </a:p>
        </p:txBody>
      </p:sp>
      <p:sp>
        <p:nvSpPr>
          <p:cNvPr id="3" name="Rectangle 1"/>
          <p:cNvSpPr>
            <a:spLocks noGrp="1" noChangeArrowheads="1"/>
          </p:cNvSpPr>
          <p:nvPr>
            <p:ph idx="1"/>
          </p:nvPr>
        </p:nvSpPr>
        <p:spPr bwMode="auto">
          <a:xfrm>
            <a:off x="1097280" y="1951944"/>
            <a:ext cx="10170100" cy="377482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8872" tIns="88872" rIns="0" bIns="88872"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s-ES" sz="1400" b="1" dirty="0">
                <a:latin typeface="+mn-lt"/>
              </a:rPr>
              <a:t>Correo electrónico. </a:t>
            </a:r>
            <a:r>
              <a:rPr lang="es-ES" sz="1400" dirty="0">
                <a:latin typeface="+mn-lt"/>
              </a:rPr>
              <a:t>Fundamentos</a:t>
            </a:r>
            <a:endParaRPr lang="es-ES" sz="1400" dirty="0">
              <a:latin typeface="+mn-lt"/>
            </a:endParaRPr>
          </a:p>
          <a:p>
            <a:pPr marL="342900" indent="-342900">
              <a:buFont typeface="+mj-lt"/>
              <a:buAutoNum type="arabicPeriod"/>
            </a:pPr>
            <a:r>
              <a:rPr lang="es-ES" sz="1400" dirty="0">
                <a:latin typeface="+mn-lt"/>
              </a:rPr>
              <a:t>Cuando un cliente (un usuario) manda un mensaje, utiliza un </a:t>
            </a:r>
            <a:r>
              <a:rPr lang="es-ES" sz="1400" b="1" dirty="0">
                <a:latin typeface="+mn-lt"/>
              </a:rPr>
              <a:t>MUA</a:t>
            </a:r>
            <a:r>
              <a:rPr lang="es-ES" sz="1400" dirty="0">
                <a:latin typeface="+mn-lt"/>
              </a:rPr>
              <a:t> (</a:t>
            </a:r>
            <a:r>
              <a:rPr lang="es-ES" sz="1400" i="1" dirty="0">
                <a:latin typeface="+mn-lt"/>
              </a:rPr>
              <a:t>Mail </a:t>
            </a:r>
            <a:r>
              <a:rPr lang="es-ES" sz="1400" i="1" dirty="0" err="1">
                <a:latin typeface="+mn-lt"/>
              </a:rPr>
              <a:t>User</a:t>
            </a:r>
            <a:r>
              <a:rPr lang="es-ES" sz="1400" i="1" dirty="0">
                <a:latin typeface="+mn-lt"/>
              </a:rPr>
              <a:t> </a:t>
            </a:r>
            <a:r>
              <a:rPr lang="es-ES" sz="1400" i="1" dirty="0" err="1">
                <a:latin typeface="+mn-lt"/>
              </a:rPr>
              <a:t>Agent</a:t>
            </a:r>
            <a:r>
              <a:rPr lang="es-ES" sz="1400" dirty="0">
                <a:latin typeface="+mn-lt"/>
              </a:rPr>
              <a:t>), por ejemplo Outlook Express, </a:t>
            </a:r>
            <a:r>
              <a:rPr lang="es-ES" sz="1400" dirty="0" err="1">
                <a:latin typeface="+mn-lt"/>
              </a:rPr>
              <a:t>Thunderbird</a:t>
            </a:r>
            <a:r>
              <a:rPr lang="es-ES" sz="1400" dirty="0">
                <a:latin typeface="+mn-lt"/>
              </a:rPr>
              <a:t>, </a:t>
            </a:r>
            <a:r>
              <a:rPr lang="es-ES" sz="1400" dirty="0" err="1">
                <a:latin typeface="+mn-lt"/>
              </a:rPr>
              <a:t>Evolution</a:t>
            </a:r>
            <a:r>
              <a:rPr lang="es-ES" sz="1400" dirty="0">
                <a:latin typeface="+mn-lt"/>
              </a:rPr>
              <a:t>, </a:t>
            </a:r>
            <a:r>
              <a:rPr lang="es-ES" sz="1400" dirty="0" err="1">
                <a:latin typeface="+mn-lt"/>
              </a:rPr>
              <a:t>Kmail</a:t>
            </a:r>
            <a:r>
              <a:rPr lang="es-ES" sz="1400" dirty="0">
                <a:latin typeface="+mn-lt"/>
              </a:rPr>
              <a:t>, </a:t>
            </a:r>
            <a:r>
              <a:rPr lang="es-ES" sz="1400" dirty="0" err="1">
                <a:latin typeface="+mn-lt"/>
              </a:rPr>
              <a:t>Mutt</a:t>
            </a:r>
            <a:r>
              <a:rPr lang="es-ES" sz="1400" dirty="0">
                <a:latin typeface="+mn-lt"/>
              </a:rPr>
              <a:t>, etc.</a:t>
            </a:r>
            <a:endParaRPr lang="es-ES" sz="1400" dirty="0">
              <a:latin typeface="+mn-lt"/>
            </a:endParaRPr>
          </a:p>
          <a:p>
            <a:pPr marL="342900" indent="-342900">
              <a:buFont typeface="+mj-lt"/>
              <a:buAutoNum type="arabicPeriod"/>
            </a:pPr>
            <a:r>
              <a:rPr lang="es-ES" sz="1400" dirty="0">
                <a:latin typeface="+mn-lt"/>
              </a:rPr>
              <a:t>El </a:t>
            </a:r>
            <a:r>
              <a:rPr lang="es-ES" sz="1400" b="1" dirty="0">
                <a:latin typeface="+mn-lt"/>
              </a:rPr>
              <a:t>MUA</a:t>
            </a:r>
            <a:r>
              <a:rPr lang="es-ES" sz="1400" dirty="0">
                <a:latin typeface="+mn-lt"/>
              </a:rPr>
              <a:t> envía el mensaje al </a:t>
            </a:r>
            <a:r>
              <a:rPr lang="es-ES" sz="1400" b="1" dirty="0">
                <a:latin typeface="+mn-lt"/>
              </a:rPr>
              <a:t>MTA</a:t>
            </a:r>
            <a:r>
              <a:rPr lang="es-ES" sz="1400" dirty="0">
                <a:latin typeface="+mn-lt"/>
              </a:rPr>
              <a:t> (</a:t>
            </a:r>
            <a:r>
              <a:rPr lang="es-ES" sz="1400" i="1" dirty="0">
                <a:latin typeface="+mn-lt"/>
              </a:rPr>
              <a:t>Mail </a:t>
            </a:r>
            <a:r>
              <a:rPr lang="es-ES" sz="1400" i="1" dirty="0" err="1">
                <a:latin typeface="+mn-lt"/>
              </a:rPr>
              <a:t>Transport</a:t>
            </a:r>
            <a:r>
              <a:rPr lang="es-ES" sz="1400" i="1" dirty="0">
                <a:latin typeface="+mn-lt"/>
              </a:rPr>
              <a:t> </a:t>
            </a:r>
            <a:r>
              <a:rPr lang="es-ES" sz="1400" i="1" dirty="0" err="1">
                <a:latin typeface="+mn-lt"/>
              </a:rPr>
              <a:t>Agent</a:t>
            </a:r>
            <a:r>
              <a:rPr lang="es-ES" sz="1400" dirty="0">
                <a:latin typeface="+mn-lt"/>
              </a:rPr>
              <a:t>). El MTA estudia la dirección electrónica para aislar al usuario y dominio de destino. Luego verifica la información DNS de tipo </a:t>
            </a:r>
            <a:r>
              <a:rPr lang="es-ES" sz="1400" b="1" dirty="0">
                <a:latin typeface="+mn-lt"/>
              </a:rPr>
              <a:t>MX</a:t>
            </a:r>
            <a:r>
              <a:rPr lang="es-ES" sz="1400" dirty="0">
                <a:latin typeface="+mn-lt"/>
              </a:rPr>
              <a:t> (</a:t>
            </a:r>
            <a:r>
              <a:rPr lang="es-ES" sz="1400" i="1" dirty="0">
                <a:latin typeface="+mn-lt"/>
              </a:rPr>
              <a:t>Mail </a:t>
            </a:r>
            <a:r>
              <a:rPr lang="es-ES" sz="1400" i="1" dirty="0" err="1">
                <a:latin typeface="+mn-lt"/>
              </a:rPr>
              <a:t>eXchanger</a:t>
            </a:r>
            <a:r>
              <a:rPr lang="es-ES" sz="1400" dirty="0">
                <a:latin typeface="+mn-lt"/>
              </a:rPr>
              <a:t>) para el dominio elegido, para saber a qué servidor transmitir el correo. Si ningún MTA está disponible, se coloca el mensaje en fila de espera y se reenvía más tarde (el plazo depende de la configuración del MTA).</a:t>
            </a:r>
            <a:endParaRPr lang="es-ES" sz="1400" dirty="0">
              <a:latin typeface="+mn-lt"/>
            </a:endParaRPr>
          </a:p>
          <a:p>
            <a:pPr marL="342900" indent="-342900">
              <a:buFont typeface="+mj-lt"/>
              <a:buAutoNum type="arabicPeriod"/>
            </a:pPr>
            <a:r>
              <a:rPr lang="es-ES" sz="1400" dirty="0">
                <a:latin typeface="+mn-lt"/>
              </a:rPr>
              <a:t>El MX puede ser o bien otro MTA, que tendrá el papel de enrutador (en caso de una redirección hacia un subdominio, por ejemplo) o bien un </a:t>
            </a:r>
            <a:r>
              <a:rPr lang="es-ES" sz="1400" b="1" dirty="0">
                <a:latin typeface="+mn-lt"/>
              </a:rPr>
              <a:t>MDA</a:t>
            </a:r>
            <a:r>
              <a:rPr lang="es-ES" sz="1400" dirty="0">
                <a:latin typeface="+mn-lt"/>
              </a:rPr>
              <a:t> (</a:t>
            </a:r>
            <a:r>
              <a:rPr lang="es-ES" sz="1400" i="1" dirty="0">
                <a:latin typeface="+mn-lt"/>
              </a:rPr>
              <a:t>Mail </a:t>
            </a:r>
            <a:r>
              <a:rPr lang="es-ES" sz="1400" i="1" dirty="0" err="1">
                <a:latin typeface="+mn-lt"/>
              </a:rPr>
              <a:t>Delivery</a:t>
            </a:r>
            <a:r>
              <a:rPr lang="es-ES" sz="1400" i="1" dirty="0">
                <a:latin typeface="+mn-lt"/>
              </a:rPr>
              <a:t> </a:t>
            </a:r>
            <a:r>
              <a:rPr lang="es-ES" sz="1400" i="1" dirty="0" err="1">
                <a:latin typeface="+mn-lt"/>
              </a:rPr>
              <a:t>Agent</a:t>
            </a:r>
            <a:r>
              <a:rPr lang="es-ES" sz="1400" dirty="0">
                <a:latin typeface="+mn-lt"/>
              </a:rPr>
              <a:t>). El MDA coloca el mensaje en un archivo temporal, puede filtrarlo, etc.</a:t>
            </a:r>
            <a:endParaRPr lang="es-ES" sz="1400" dirty="0">
              <a:latin typeface="+mn-lt"/>
            </a:endParaRPr>
          </a:p>
          <a:p>
            <a:pPr marL="342900" indent="-342900">
              <a:buFont typeface="+mj-lt"/>
              <a:buAutoNum type="arabicPeriod"/>
            </a:pPr>
            <a:r>
              <a:rPr lang="es-ES" sz="1400" dirty="0">
                <a:latin typeface="+mn-lt"/>
              </a:rPr>
              <a:t>En este nivel, el destinatario recibe el mensaje: o lo recupera al leer directamente el archivo temporal (caso del comando mail, por ejemplo), o pasa por un protocolo de tipo </a:t>
            </a:r>
            <a:r>
              <a:rPr lang="es-ES" sz="1400" b="1" dirty="0">
                <a:latin typeface="+mn-lt"/>
              </a:rPr>
              <a:t>POP</a:t>
            </a:r>
            <a:r>
              <a:rPr lang="es-ES" sz="1400" dirty="0">
                <a:latin typeface="+mn-lt"/>
              </a:rPr>
              <a:t> o </a:t>
            </a:r>
            <a:r>
              <a:rPr lang="es-ES" sz="1400" b="1" dirty="0">
                <a:latin typeface="+mn-lt"/>
              </a:rPr>
              <a:t>IMAP</a:t>
            </a:r>
            <a:r>
              <a:rPr lang="es-ES" sz="1400" dirty="0">
                <a:latin typeface="+mn-lt"/>
              </a:rPr>
              <a:t>.</a:t>
            </a:r>
            <a:endParaRPr lang="es-ES" sz="1400" dirty="0">
              <a:latin typeface="+mn-lt"/>
            </a:endParaRPr>
          </a:p>
          <a:p>
            <a:pPr marL="342900" indent="-342900">
              <a:buFont typeface="+mj-lt"/>
              <a:buAutoNum type="arabicPeriod"/>
            </a:pPr>
            <a:r>
              <a:rPr lang="es-ES" sz="1400" dirty="0">
                <a:latin typeface="+mn-lt"/>
              </a:rPr>
              <a:t>El protocolo de transporte de mensajes es el </a:t>
            </a:r>
            <a:r>
              <a:rPr lang="es-ES" sz="1400" b="1" dirty="0">
                <a:latin typeface="+mn-lt"/>
              </a:rPr>
              <a:t>SMTP</a:t>
            </a:r>
            <a:r>
              <a:rPr lang="es-ES" sz="1400" dirty="0">
                <a:latin typeface="+mn-lt"/>
              </a:rPr>
              <a:t> (</a:t>
            </a:r>
            <a:r>
              <a:rPr lang="es-ES" sz="1400" i="1" dirty="0">
                <a:latin typeface="+mn-lt"/>
              </a:rPr>
              <a:t>Simple Mail Transfer </a:t>
            </a:r>
            <a:r>
              <a:rPr lang="es-ES" sz="1400" i="1" dirty="0" err="1">
                <a:latin typeface="+mn-lt"/>
              </a:rPr>
              <a:t>Protocol</a:t>
            </a:r>
            <a:r>
              <a:rPr lang="es-ES" sz="1400" dirty="0">
                <a:latin typeface="+mn-lt"/>
              </a:rPr>
              <a:t>) en el puerto 25.</a:t>
            </a:r>
            <a:endParaRPr lang="es-ES" sz="1400" dirty="0">
              <a:latin typeface="+mn-lt"/>
            </a:endParaRPr>
          </a:p>
          <a:p>
            <a:pPr marL="342900" indent="-342900">
              <a:buFont typeface="+mj-lt"/>
              <a:buAutoNum type="arabicPeriod"/>
            </a:pPr>
            <a:r>
              <a:rPr lang="es-ES" sz="1400" dirty="0">
                <a:latin typeface="+mn-lt"/>
              </a:rPr>
              <a:t>Los protocolos de recepción de mensajes son o </a:t>
            </a:r>
            <a:r>
              <a:rPr lang="es-ES" sz="1400" b="1" dirty="0">
                <a:latin typeface="+mn-lt"/>
              </a:rPr>
              <a:t>POP</a:t>
            </a:r>
            <a:r>
              <a:rPr lang="es-ES" sz="1400" dirty="0">
                <a:latin typeface="+mn-lt"/>
              </a:rPr>
              <a:t> (</a:t>
            </a:r>
            <a:r>
              <a:rPr lang="es-ES" sz="1400" i="1" dirty="0">
                <a:latin typeface="+mn-lt"/>
              </a:rPr>
              <a:t>Post Office </a:t>
            </a:r>
            <a:r>
              <a:rPr lang="es-ES" sz="1400" i="1" dirty="0" err="1">
                <a:latin typeface="+mn-lt"/>
              </a:rPr>
              <a:t>Protocol</a:t>
            </a:r>
            <a:r>
              <a:rPr lang="es-ES" sz="1400" dirty="0">
                <a:latin typeface="+mn-lt"/>
              </a:rPr>
              <a:t>) en el puerto 110 (POP3), o </a:t>
            </a:r>
            <a:r>
              <a:rPr lang="es-ES" sz="1400" b="1" dirty="0">
                <a:latin typeface="+mn-lt"/>
              </a:rPr>
              <a:t>IMAP</a:t>
            </a:r>
            <a:r>
              <a:rPr lang="es-ES" sz="1400" dirty="0">
                <a:latin typeface="+mn-lt"/>
              </a:rPr>
              <a:t> (</a:t>
            </a:r>
            <a:r>
              <a:rPr lang="es-ES" sz="1400" i="1" dirty="0">
                <a:latin typeface="+mn-lt"/>
              </a:rPr>
              <a:t>Internet </a:t>
            </a:r>
            <a:r>
              <a:rPr lang="es-ES" sz="1400" i="1" dirty="0" err="1">
                <a:latin typeface="+mn-lt"/>
              </a:rPr>
              <a:t>Message</a:t>
            </a:r>
            <a:r>
              <a:rPr lang="es-ES" sz="1400" i="1" dirty="0">
                <a:latin typeface="+mn-lt"/>
              </a:rPr>
              <a:t> Access </a:t>
            </a:r>
            <a:r>
              <a:rPr lang="es-ES" sz="1400" i="1" dirty="0" err="1">
                <a:latin typeface="+mn-lt"/>
              </a:rPr>
              <a:t>Protocol</a:t>
            </a:r>
            <a:r>
              <a:rPr lang="es-ES" sz="1400" dirty="0">
                <a:latin typeface="+mn-lt"/>
              </a:rPr>
              <a:t>).</a:t>
            </a:r>
            <a:endParaRPr lang="es-ES" sz="1400" dirty="0">
              <a:latin typeface="+mn-lt"/>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SERVICIOS BÁSICOS</a:t>
            </a:r>
            <a:endParaRPr lang="es-ES" dirty="0"/>
          </a:p>
        </p:txBody>
      </p:sp>
      <p:sp>
        <p:nvSpPr>
          <p:cNvPr id="3" name="Rectangle 1"/>
          <p:cNvSpPr>
            <a:spLocks noGrp="1" noChangeArrowheads="1"/>
          </p:cNvSpPr>
          <p:nvPr>
            <p:ph idx="1"/>
          </p:nvPr>
        </p:nvSpPr>
        <p:spPr bwMode="auto">
          <a:xfrm>
            <a:off x="1097280" y="1933734"/>
            <a:ext cx="10170100" cy="381124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8872" tIns="88872" rIns="0" bIns="88872"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s-ES" b="1" dirty="0">
                <a:latin typeface="+mn-lt"/>
              </a:rPr>
              <a:t>Correo electrónico. Fundamentos</a:t>
            </a:r>
            <a:endParaRPr lang="es-ES" b="1" dirty="0">
              <a:latin typeface="+mn-lt"/>
            </a:endParaRPr>
          </a:p>
          <a:p>
            <a:r>
              <a:rPr lang="es-ES" sz="1600" dirty="0">
                <a:latin typeface="+mn-lt"/>
              </a:rPr>
              <a:t>Dos suites de correo electrónico comparten la parte esencial del mercado en Unix: </a:t>
            </a:r>
            <a:r>
              <a:rPr lang="es-ES" sz="1600" b="1" dirty="0" err="1">
                <a:latin typeface="+mn-lt"/>
              </a:rPr>
              <a:t>sendmail</a:t>
            </a:r>
            <a:r>
              <a:rPr lang="es-ES" sz="1600" dirty="0">
                <a:latin typeface="+mn-lt"/>
              </a:rPr>
              <a:t> y </a:t>
            </a:r>
            <a:r>
              <a:rPr lang="es-ES" sz="1600" b="1" dirty="0" err="1">
                <a:latin typeface="+mn-lt"/>
              </a:rPr>
              <a:t>postfix</a:t>
            </a:r>
            <a:r>
              <a:rPr lang="es-ES" sz="1600" dirty="0">
                <a:latin typeface="+mn-lt"/>
              </a:rPr>
              <a:t>.</a:t>
            </a:r>
            <a:endParaRPr lang="es-ES" sz="1600" dirty="0">
              <a:latin typeface="+mn-lt"/>
            </a:endParaRPr>
          </a:p>
          <a:p>
            <a:pPr marL="342900" indent="-342900">
              <a:buFont typeface="+mj-lt"/>
              <a:buAutoNum type="arabicPeriod"/>
            </a:pPr>
            <a:r>
              <a:rPr lang="es-ES" sz="1600" dirty="0">
                <a:latin typeface="+mn-lt"/>
              </a:rPr>
              <a:t>La serie libre </a:t>
            </a:r>
            <a:r>
              <a:rPr lang="es-ES" sz="1600" b="1" dirty="0" err="1">
                <a:latin typeface="+mn-lt"/>
              </a:rPr>
              <a:t>sendmail</a:t>
            </a:r>
            <a:r>
              <a:rPr lang="es-ES" sz="1600" dirty="0">
                <a:latin typeface="+mn-lt"/>
              </a:rPr>
              <a:t> es la más conocida y más utilizada. Eric </a:t>
            </a:r>
            <a:r>
              <a:rPr lang="es-ES" sz="1600" dirty="0" err="1">
                <a:latin typeface="+mn-lt"/>
              </a:rPr>
              <a:t>Allman</a:t>
            </a:r>
            <a:r>
              <a:rPr lang="es-ES" sz="1600" dirty="0">
                <a:latin typeface="+mn-lt"/>
              </a:rPr>
              <a:t> creó </a:t>
            </a:r>
            <a:r>
              <a:rPr lang="es-ES" sz="1600" dirty="0" err="1">
                <a:latin typeface="+mn-lt"/>
              </a:rPr>
              <a:t>Sendmail</a:t>
            </a:r>
            <a:r>
              <a:rPr lang="es-ES" sz="1600" dirty="0">
                <a:latin typeface="+mn-lt"/>
              </a:rPr>
              <a:t> en 1981, que fue integrado en BSD 4.2 en 1983. En 2000 se estimaba que lo usaban a más de 100 millones de servidores de correo electrónico. Mientras no haya que modificar su configuración básica, </a:t>
            </a:r>
            <a:r>
              <a:rPr lang="es-ES" sz="1600" dirty="0" err="1">
                <a:latin typeface="+mn-lt"/>
              </a:rPr>
              <a:t>sendmail</a:t>
            </a:r>
            <a:r>
              <a:rPr lang="es-ES" sz="1600" dirty="0">
                <a:latin typeface="+mn-lt"/>
              </a:rPr>
              <a:t> es idóneo.</a:t>
            </a:r>
            <a:endParaRPr lang="es-ES" sz="1600" dirty="0">
              <a:latin typeface="+mn-lt"/>
            </a:endParaRPr>
          </a:p>
          <a:p>
            <a:pPr marL="342900" indent="-342900">
              <a:buFont typeface="+mj-lt"/>
              <a:buAutoNum type="arabicPeriod"/>
            </a:pPr>
            <a:r>
              <a:rPr lang="es-ES" sz="1600" dirty="0">
                <a:latin typeface="+mn-lt"/>
              </a:rPr>
              <a:t>El producto </a:t>
            </a:r>
            <a:r>
              <a:rPr lang="es-ES" sz="1600" b="1" dirty="0" err="1">
                <a:latin typeface="+mn-lt"/>
              </a:rPr>
              <a:t>postfix</a:t>
            </a:r>
            <a:r>
              <a:rPr lang="es-ES" sz="1600" dirty="0">
                <a:latin typeface="+mn-lt"/>
              </a:rPr>
              <a:t> tiende a ser cada vez más utilizado no tanto por aquellos a quienes </a:t>
            </a:r>
            <a:r>
              <a:rPr lang="es-ES" sz="1600" dirty="0" err="1">
                <a:latin typeface="+mn-lt"/>
              </a:rPr>
              <a:t>sendmail</a:t>
            </a:r>
            <a:r>
              <a:rPr lang="es-ES" sz="1600" dirty="0">
                <a:latin typeface="+mn-lt"/>
              </a:rPr>
              <a:t> ha decepcionado, sino por los que temen no saber configurarlo. Es una alternativa a </a:t>
            </a:r>
            <a:r>
              <a:rPr lang="es-ES" sz="1600" dirty="0" err="1">
                <a:latin typeface="+mn-lt"/>
              </a:rPr>
              <a:t>sendmail</a:t>
            </a:r>
            <a:r>
              <a:rPr lang="es-ES" sz="1600" dirty="0">
                <a:latin typeface="+mn-lt"/>
              </a:rPr>
              <a:t>. Los objetivos de sus desarrolladores (entre los cuales algunos son los de </a:t>
            </a:r>
            <a:r>
              <a:rPr lang="es-ES" sz="1600" dirty="0" err="1">
                <a:latin typeface="+mn-lt"/>
              </a:rPr>
              <a:t>sendmail</a:t>
            </a:r>
            <a:r>
              <a:rPr lang="es-ES" sz="1600" dirty="0">
                <a:latin typeface="+mn-lt"/>
              </a:rPr>
              <a:t>) son:</a:t>
            </a:r>
            <a:endParaRPr lang="es-ES" sz="1600" dirty="0">
              <a:latin typeface="+mn-lt"/>
            </a:endParaRPr>
          </a:p>
          <a:p>
            <a:pPr lvl="2"/>
            <a:r>
              <a:rPr lang="es-ES" sz="1600" dirty="0">
                <a:latin typeface="+mn-lt"/>
              </a:rPr>
              <a:t>la compatibilidad con </a:t>
            </a:r>
            <a:r>
              <a:rPr lang="es-ES" sz="1600" dirty="0" err="1">
                <a:latin typeface="+mn-lt"/>
              </a:rPr>
              <a:t>sendmail</a:t>
            </a:r>
            <a:r>
              <a:rPr lang="es-ES" sz="1600" dirty="0">
                <a:latin typeface="+mn-lt"/>
              </a:rPr>
              <a:t>;</a:t>
            </a:r>
            <a:endParaRPr lang="es-ES" sz="1600" dirty="0">
              <a:latin typeface="+mn-lt"/>
            </a:endParaRPr>
          </a:p>
          <a:p>
            <a:pPr lvl="2"/>
            <a:r>
              <a:rPr lang="es-ES" sz="1600" dirty="0">
                <a:latin typeface="+mn-lt"/>
              </a:rPr>
              <a:t>la rapidez (más de un millón de mensajes al día en un simple Pentium 4);</a:t>
            </a:r>
            <a:endParaRPr lang="es-ES" sz="1600" dirty="0">
              <a:latin typeface="+mn-lt"/>
            </a:endParaRPr>
          </a:p>
          <a:p>
            <a:pPr lvl="2"/>
            <a:r>
              <a:rPr lang="es-ES" sz="1600" dirty="0">
                <a:latin typeface="+mn-lt"/>
              </a:rPr>
              <a:t>la sencillez de administración (archivo de configuración simple y legible);</a:t>
            </a:r>
            <a:endParaRPr lang="es-ES" sz="1600" dirty="0">
              <a:latin typeface="+mn-lt"/>
            </a:endParaRPr>
          </a:p>
          <a:p>
            <a:pPr lvl="2"/>
            <a:r>
              <a:rPr lang="es-ES" sz="1600" dirty="0">
                <a:latin typeface="+mn-lt"/>
              </a:rPr>
              <a:t>la seguridad (se puede </a:t>
            </a:r>
            <a:r>
              <a:rPr lang="es-ES" sz="1600" dirty="0" err="1">
                <a:latin typeface="+mn-lt"/>
              </a:rPr>
              <a:t>chrootear</a:t>
            </a:r>
            <a:r>
              <a:rPr lang="es-ES" sz="1600" dirty="0">
                <a:latin typeface="+mn-lt"/>
              </a:rPr>
              <a:t>);</a:t>
            </a:r>
            <a:endParaRPr lang="es-ES" sz="1600" dirty="0">
              <a:latin typeface="+mn-lt"/>
            </a:endParaRPr>
          </a:p>
          <a:p>
            <a:pPr lvl="2"/>
            <a:r>
              <a:rPr lang="es-ES" sz="1600" dirty="0">
                <a:latin typeface="+mn-lt"/>
              </a:rPr>
              <a:t>la modularidad (descomposición de los tratamientos).</a:t>
            </a:r>
            <a:endParaRPr lang="es-ES" sz="1600" dirty="0">
              <a:latin typeface="+mn-lt"/>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SERVICIOS BÁSICOS</a:t>
            </a:r>
            <a:endParaRPr lang="es-ES" dirty="0"/>
          </a:p>
        </p:txBody>
      </p:sp>
      <p:sp>
        <p:nvSpPr>
          <p:cNvPr id="3" name="Rectangle 1"/>
          <p:cNvSpPr>
            <a:spLocks noGrp="1" noChangeArrowheads="1"/>
          </p:cNvSpPr>
          <p:nvPr>
            <p:ph idx="1"/>
          </p:nvPr>
        </p:nvSpPr>
        <p:spPr bwMode="auto">
          <a:xfrm>
            <a:off x="1097280" y="1933734"/>
            <a:ext cx="10170100" cy="381124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8872" tIns="88872" rIns="0" bIns="88872"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s-ES" b="1" dirty="0">
                <a:latin typeface="+mn-lt"/>
              </a:rPr>
              <a:t>Correo electrónico. Fundamentos</a:t>
            </a:r>
            <a:endParaRPr lang="es-ES" b="1" dirty="0">
              <a:latin typeface="+mn-lt"/>
            </a:endParaRPr>
          </a:p>
          <a:p>
            <a:r>
              <a:rPr lang="es-ES" sz="1600" dirty="0">
                <a:latin typeface="+mn-lt"/>
              </a:rPr>
              <a:t>Dos suites de correo electrónico comparten la parte esencial del mercado en Unix: </a:t>
            </a:r>
            <a:r>
              <a:rPr lang="es-ES" sz="1600" b="1" dirty="0" err="1">
                <a:latin typeface="+mn-lt"/>
              </a:rPr>
              <a:t>sendmail</a:t>
            </a:r>
            <a:r>
              <a:rPr lang="es-ES" sz="1600" dirty="0">
                <a:latin typeface="+mn-lt"/>
              </a:rPr>
              <a:t> y </a:t>
            </a:r>
            <a:r>
              <a:rPr lang="es-ES" sz="1600" b="1" dirty="0" err="1">
                <a:latin typeface="+mn-lt"/>
              </a:rPr>
              <a:t>postfix</a:t>
            </a:r>
            <a:r>
              <a:rPr lang="es-ES" sz="1600" dirty="0">
                <a:latin typeface="+mn-lt"/>
              </a:rPr>
              <a:t>.</a:t>
            </a:r>
            <a:endParaRPr lang="es-ES" sz="1600" dirty="0">
              <a:latin typeface="+mn-lt"/>
            </a:endParaRPr>
          </a:p>
          <a:p>
            <a:pPr marL="342900" indent="-342900">
              <a:buFont typeface="+mj-lt"/>
              <a:buAutoNum type="arabicPeriod"/>
            </a:pPr>
            <a:r>
              <a:rPr lang="es-ES" sz="1600" dirty="0">
                <a:latin typeface="+mn-lt"/>
              </a:rPr>
              <a:t>La serie libre </a:t>
            </a:r>
            <a:r>
              <a:rPr lang="es-ES" sz="1600" b="1" dirty="0" err="1">
                <a:latin typeface="+mn-lt"/>
              </a:rPr>
              <a:t>sendmail</a:t>
            </a:r>
            <a:r>
              <a:rPr lang="es-ES" sz="1600" dirty="0">
                <a:latin typeface="+mn-lt"/>
              </a:rPr>
              <a:t> es la más conocida y más utilizada. En 2000 se estimaba que lo usaban a más de 100 millones de servidores de correo electrónico. Mientras no haya que modificar su configuración básica, </a:t>
            </a:r>
            <a:r>
              <a:rPr lang="es-ES" sz="1600" dirty="0" err="1">
                <a:latin typeface="+mn-lt"/>
              </a:rPr>
              <a:t>sendmail</a:t>
            </a:r>
            <a:r>
              <a:rPr lang="es-ES" sz="1600" dirty="0">
                <a:latin typeface="+mn-lt"/>
              </a:rPr>
              <a:t> es idóneo.</a:t>
            </a:r>
            <a:endParaRPr lang="es-ES" sz="1600" dirty="0">
              <a:latin typeface="+mn-lt"/>
            </a:endParaRPr>
          </a:p>
          <a:p>
            <a:pPr marL="342900" indent="-342900">
              <a:buFont typeface="+mj-lt"/>
              <a:buAutoNum type="arabicPeriod"/>
            </a:pPr>
            <a:r>
              <a:rPr lang="es-ES" sz="1600" dirty="0">
                <a:latin typeface="+mn-lt"/>
              </a:rPr>
              <a:t>El producto </a:t>
            </a:r>
            <a:r>
              <a:rPr lang="es-ES" sz="1600" b="1" dirty="0" err="1">
                <a:latin typeface="+mn-lt"/>
              </a:rPr>
              <a:t>postfix</a:t>
            </a:r>
            <a:r>
              <a:rPr lang="es-ES" sz="1600" dirty="0">
                <a:latin typeface="+mn-lt"/>
              </a:rPr>
              <a:t> tiende a ser cada vez más utilizado no tanto por aquellos a quienes </a:t>
            </a:r>
            <a:r>
              <a:rPr lang="es-ES" sz="1600" dirty="0" err="1">
                <a:latin typeface="+mn-lt"/>
              </a:rPr>
              <a:t>sendmail</a:t>
            </a:r>
            <a:r>
              <a:rPr lang="es-ES" sz="1600" dirty="0">
                <a:latin typeface="+mn-lt"/>
              </a:rPr>
              <a:t> ha decepcionado, sino por los que temen no saber configurarlo. Es una alternativa a </a:t>
            </a:r>
            <a:r>
              <a:rPr lang="es-ES" sz="1600" dirty="0" err="1">
                <a:latin typeface="+mn-lt"/>
              </a:rPr>
              <a:t>sendmail</a:t>
            </a:r>
            <a:r>
              <a:rPr lang="es-ES" sz="1600" dirty="0">
                <a:latin typeface="+mn-lt"/>
              </a:rPr>
              <a:t>. Los objetivos de sus desarrolladores (entre los cuales algunos son los de </a:t>
            </a:r>
            <a:r>
              <a:rPr lang="es-ES" sz="1600" dirty="0" err="1">
                <a:latin typeface="+mn-lt"/>
              </a:rPr>
              <a:t>sendmail</a:t>
            </a:r>
            <a:r>
              <a:rPr lang="es-ES" sz="1600" dirty="0">
                <a:latin typeface="+mn-lt"/>
              </a:rPr>
              <a:t>) son:</a:t>
            </a:r>
            <a:endParaRPr lang="es-ES" sz="1600" dirty="0">
              <a:latin typeface="+mn-lt"/>
            </a:endParaRPr>
          </a:p>
          <a:p>
            <a:pPr lvl="2"/>
            <a:r>
              <a:rPr lang="es-ES" sz="1600" dirty="0">
                <a:latin typeface="+mn-lt"/>
              </a:rPr>
              <a:t>la compatibilidad con </a:t>
            </a:r>
            <a:r>
              <a:rPr lang="es-ES" sz="1600" dirty="0" err="1">
                <a:latin typeface="+mn-lt"/>
              </a:rPr>
              <a:t>sendmail</a:t>
            </a:r>
            <a:r>
              <a:rPr lang="es-ES" sz="1600" dirty="0">
                <a:latin typeface="+mn-lt"/>
              </a:rPr>
              <a:t>;</a:t>
            </a:r>
            <a:endParaRPr lang="es-ES" sz="1600" dirty="0">
              <a:latin typeface="+mn-lt"/>
            </a:endParaRPr>
          </a:p>
          <a:p>
            <a:pPr lvl="2"/>
            <a:r>
              <a:rPr lang="es-ES" sz="1600" dirty="0">
                <a:latin typeface="+mn-lt"/>
              </a:rPr>
              <a:t>la rapidez (más de un millón de mensajes al día en un simple Pentium 4);</a:t>
            </a:r>
            <a:endParaRPr lang="es-ES" sz="1600" dirty="0">
              <a:latin typeface="+mn-lt"/>
            </a:endParaRPr>
          </a:p>
          <a:p>
            <a:pPr lvl="2"/>
            <a:r>
              <a:rPr lang="es-ES" sz="1600" dirty="0">
                <a:latin typeface="+mn-lt"/>
              </a:rPr>
              <a:t>la sencillez de administración (archivo de configuración simple y legible);</a:t>
            </a:r>
            <a:endParaRPr lang="es-ES" sz="1600" dirty="0">
              <a:latin typeface="+mn-lt"/>
            </a:endParaRPr>
          </a:p>
          <a:p>
            <a:pPr lvl="2"/>
            <a:r>
              <a:rPr lang="es-ES" sz="1600" dirty="0">
                <a:latin typeface="+mn-lt"/>
              </a:rPr>
              <a:t>la seguridad (se puede </a:t>
            </a:r>
            <a:r>
              <a:rPr lang="es-ES" sz="1600" dirty="0" err="1">
                <a:latin typeface="+mn-lt"/>
              </a:rPr>
              <a:t>chrootear</a:t>
            </a:r>
            <a:r>
              <a:rPr lang="es-ES" sz="1600" dirty="0">
                <a:latin typeface="+mn-lt"/>
              </a:rPr>
              <a:t>);</a:t>
            </a:r>
            <a:endParaRPr lang="es-ES" sz="1600" dirty="0">
              <a:latin typeface="+mn-lt"/>
            </a:endParaRPr>
          </a:p>
          <a:p>
            <a:pPr lvl="2"/>
            <a:r>
              <a:rPr lang="es-ES" sz="1600" dirty="0">
                <a:latin typeface="+mn-lt"/>
              </a:rPr>
              <a:t>la modularidad (descomposición de los tratamientos).</a:t>
            </a:r>
            <a:endParaRPr lang="es-ES" sz="1600" dirty="0">
              <a:latin typeface="+mn-lt"/>
            </a:endParaRPr>
          </a:p>
        </p:txBody>
      </p:sp>
      <p:pic>
        <p:nvPicPr>
          <p:cNvPr id="4198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3825" y="-854075"/>
            <a:ext cx="400050" cy="4381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SERVICIOS BÁSICOS</a:t>
            </a:r>
            <a:endParaRPr lang="es-ES" dirty="0"/>
          </a:p>
        </p:txBody>
      </p:sp>
      <p:sp>
        <p:nvSpPr>
          <p:cNvPr id="3" name="Rectangle 1"/>
          <p:cNvSpPr>
            <a:spLocks noGrp="1" noChangeArrowheads="1"/>
          </p:cNvSpPr>
          <p:nvPr>
            <p:ph idx="1"/>
          </p:nvPr>
        </p:nvSpPr>
        <p:spPr bwMode="auto">
          <a:xfrm>
            <a:off x="1239817" y="1943775"/>
            <a:ext cx="7208295" cy="438659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8872" tIns="88872" rIns="0" bIns="88872"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s-ES" b="1" dirty="0">
                <a:latin typeface="+mn-lt"/>
              </a:rPr>
              <a:t>Correo electrónico. </a:t>
            </a:r>
            <a:r>
              <a:rPr lang="es-ES" b="1" dirty="0" err="1">
                <a:latin typeface="+mn-lt"/>
              </a:rPr>
              <a:t>Postfix</a:t>
            </a:r>
            <a:endParaRPr lang="es-ES" b="1" dirty="0">
              <a:latin typeface="+mn-lt"/>
            </a:endParaRPr>
          </a:p>
          <a:p>
            <a:r>
              <a:rPr lang="es-ES" sz="1600" b="1" dirty="0">
                <a:latin typeface="+mn-lt"/>
              </a:rPr>
              <a:t>Configuración sencilla</a:t>
            </a:r>
            <a:endParaRPr lang="es-ES" sz="1600" b="1" dirty="0">
              <a:latin typeface="+mn-lt"/>
            </a:endParaRPr>
          </a:p>
          <a:p>
            <a:pPr lvl="1">
              <a:spcBef>
                <a:spcPts val="600"/>
              </a:spcBef>
            </a:pPr>
            <a:r>
              <a:rPr lang="es-ES" sz="1800" dirty="0">
                <a:latin typeface="+mn-lt"/>
              </a:rPr>
              <a:t>La configuración de </a:t>
            </a:r>
            <a:r>
              <a:rPr lang="es-ES" sz="1800" dirty="0" err="1">
                <a:latin typeface="+mn-lt"/>
              </a:rPr>
              <a:t>postfix</a:t>
            </a:r>
            <a:r>
              <a:rPr lang="es-ES" sz="1800" dirty="0">
                <a:latin typeface="+mn-lt"/>
              </a:rPr>
              <a:t> se encuentra en /</a:t>
            </a:r>
            <a:r>
              <a:rPr lang="es-ES" sz="1800" dirty="0" err="1">
                <a:latin typeface="+mn-lt"/>
              </a:rPr>
              <a:t>etc</a:t>
            </a:r>
            <a:r>
              <a:rPr lang="es-ES" sz="1800" dirty="0">
                <a:latin typeface="+mn-lt"/>
              </a:rPr>
              <a:t>/</a:t>
            </a:r>
            <a:r>
              <a:rPr lang="es-ES" sz="1800" dirty="0" err="1">
                <a:latin typeface="+mn-lt"/>
              </a:rPr>
              <a:t>postfix</a:t>
            </a:r>
            <a:r>
              <a:rPr lang="es-ES" sz="1800" dirty="0">
                <a:latin typeface="+mn-lt"/>
              </a:rPr>
              <a:t>/main.cf. Se modifican sus valores o bien manualmente, o con la ayuda del comando </a:t>
            </a:r>
            <a:r>
              <a:rPr lang="es-ES" sz="1800" dirty="0" err="1">
                <a:latin typeface="+mn-lt"/>
              </a:rPr>
              <a:t>postconf</a:t>
            </a:r>
            <a:r>
              <a:rPr lang="es-ES" sz="1800" dirty="0">
                <a:latin typeface="+mn-lt"/>
              </a:rPr>
              <a:t>.</a:t>
            </a:r>
            <a:endParaRPr lang="es-ES" sz="1800" dirty="0">
              <a:latin typeface="+mn-lt"/>
            </a:endParaRPr>
          </a:p>
          <a:p>
            <a:pPr lvl="1">
              <a:spcBef>
                <a:spcPts val="600"/>
              </a:spcBef>
            </a:pPr>
            <a:r>
              <a:rPr lang="es-ES" sz="1800" dirty="0" err="1">
                <a:latin typeface="+mn-lt"/>
              </a:rPr>
              <a:t>Postfix</a:t>
            </a:r>
            <a:r>
              <a:rPr lang="es-ES" sz="1800" dirty="0">
                <a:latin typeface="+mn-lt"/>
              </a:rPr>
              <a:t> inicia primero un servicio maestro, master, encargado de los procesos secundarios </a:t>
            </a:r>
            <a:r>
              <a:rPr lang="es-ES" sz="1800" dirty="0" err="1">
                <a:latin typeface="+mn-lt"/>
              </a:rPr>
              <a:t>smtpd</a:t>
            </a:r>
            <a:r>
              <a:rPr lang="es-ES" sz="1800" dirty="0">
                <a:latin typeface="+mn-lt"/>
              </a:rPr>
              <a:t>, pickup y </a:t>
            </a:r>
            <a:r>
              <a:rPr lang="es-ES" sz="1800" dirty="0" err="1">
                <a:latin typeface="+mn-lt"/>
              </a:rPr>
              <a:t>nqmgr</a:t>
            </a:r>
            <a:r>
              <a:rPr lang="es-ES" sz="1800" dirty="0">
                <a:latin typeface="+mn-lt"/>
              </a:rPr>
              <a:t>.</a:t>
            </a:r>
            <a:endParaRPr lang="es-ES" sz="1800" dirty="0">
              <a:latin typeface="+mn-lt"/>
            </a:endParaRPr>
          </a:p>
          <a:p>
            <a:pPr marL="0" indent="0">
              <a:spcBef>
                <a:spcPts val="600"/>
              </a:spcBef>
              <a:buNone/>
            </a:pPr>
            <a:r>
              <a:rPr lang="es-ES" dirty="0">
                <a:latin typeface="+mn-lt"/>
              </a:rPr>
              <a:t>En algunas distribuciones, hay que modificar la configuración por defecto que utiliza la serie </a:t>
            </a:r>
            <a:r>
              <a:rPr lang="es-ES" dirty="0" err="1">
                <a:latin typeface="+mn-lt"/>
              </a:rPr>
              <a:t>sendmail</a:t>
            </a:r>
            <a:r>
              <a:rPr lang="es-ES" dirty="0">
                <a:latin typeface="+mn-lt"/>
              </a:rPr>
              <a:t>. Por ejemplo, en Red </a:t>
            </a:r>
            <a:r>
              <a:rPr lang="es-ES" dirty="0" err="1">
                <a:latin typeface="+mn-lt"/>
              </a:rPr>
              <a:t>Hat</a:t>
            </a:r>
            <a:r>
              <a:rPr lang="es-ES" dirty="0">
                <a:latin typeface="+mn-lt"/>
              </a:rPr>
              <a:t> debe indicar que se utilice </a:t>
            </a:r>
            <a:r>
              <a:rPr lang="es-ES" dirty="0" err="1">
                <a:latin typeface="+mn-lt"/>
              </a:rPr>
              <a:t>postfix</a:t>
            </a:r>
            <a:r>
              <a:rPr lang="es-ES" dirty="0">
                <a:latin typeface="+mn-lt"/>
              </a:rPr>
              <a:t> en lugar de </a:t>
            </a:r>
            <a:r>
              <a:rPr lang="es-ES" dirty="0" err="1">
                <a:latin typeface="+mn-lt"/>
              </a:rPr>
              <a:t>sendmail</a:t>
            </a:r>
            <a:r>
              <a:rPr lang="es-ES" dirty="0">
                <a:latin typeface="+mn-lt"/>
              </a:rPr>
              <a:t> con el comando </a:t>
            </a:r>
            <a:r>
              <a:rPr lang="es-ES" dirty="0" err="1">
                <a:latin typeface="+mn-lt"/>
              </a:rPr>
              <a:t>alternatives</a:t>
            </a:r>
            <a:r>
              <a:rPr lang="es-ES" dirty="0">
                <a:latin typeface="+mn-lt"/>
              </a:rPr>
              <a:t>.</a:t>
            </a:r>
            <a:endParaRPr lang="es-ES" dirty="0">
              <a:latin typeface="+mn-lt"/>
            </a:endParaRPr>
          </a:p>
          <a:p>
            <a:endParaRPr lang="es-ES" dirty="0">
              <a:latin typeface="+mn-lt"/>
            </a:endParaRPr>
          </a:p>
          <a:p>
            <a:pPr algn="ctr"/>
            <a:r>
              <a:rPr lang="es-ES" b="1" dirty="0">
                <a:latin typeface="+mn-lt"/>
              </a:rPr>
              <a:t>#</a:t>
            </a:r>
            <a:r>
              <a:rPr lang="es-ES" b="1" dirty="0" err="1">
                <a:latin typeface="+mn-lt"/>
              </a:rPr>
              <a:t>alternatives</a:t>
            </a:r>
            <a:r>
              <a:rPr lang="es-ES" b="1" dirty="0">
                <a:latin typeface="+mn-lt"/>
              </a:rPr>
              <a:t> --set </a:t>
            </a:r>
            <a:r>
              <a:rPr lang="es-ES" b="1" dirty="0" err="1">
                <a:latin typeface="+mn-lt"/>
              </a:rPr>
              <a:t>mta</a:t>
            </a:r>
            <a:r>
              <a:rPr lang="es-ES" b="1" dirty="0">
                <a:latin typeface="+mn-lt"/>
              </a:rPr>
              <a:t> /</a:t>
            </a:r>
            <a:r>
              <a:rPr lang="es-ES" b="1" dirty="0" err="1">
                <a:latin typeface="+mn-lt"/>
              </a:rPr>
              <a:t>usr</a:t>
            </a:r>
            <a:r>
              <a:rPr lang="es-ES" b="1" dirty="0">
                <a:latin typeface="+mn-lt"/>
              </a:rPr>
              <a:t>/</a:t>
            </a:r>
            <a:r>
              <a:rPr lang="es-ES" b="1" dirty="0" err="1">
                <a:latin typeface="+mn-lt"/>
              </a:rPr>
              <a:t>sbin</a:t>
            </a:r>
            <a:r>
              <a:rPr lang="es-ES" b="1" dirty="0">
                <a:latin typeface="+mn-lt"/>
              </a:rPr>
              <a:t>/</a:t>
            </a:r>
            <a:r>
              <a:rPr lang="es-ES" b="1" dirty="0" err="1">
                <a:latin typeface="+mn-lt"/>
              </a:rPr>
              <a:t>sendmail.postfix</a:t>
            </a:r>
            <a:endParaRPr lang="es-ES" b="1" dirty="0">
              <a:latin typeface="+mn-lt"/>
            </a:endParaRPr>
          </a:p>
        </p:txBody>
      </p:sp>
      <p:pic>
        <p:nvPicPr>
          <p:cNvPr id="4198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3825" y="-854075"/>
            <a:ext cx="400050" cy="438150"/>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Postfix (software) - Wikipedi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59128" y="2903317"/>
            <a:ext cx="2707567" cy="189542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SERVICIOS BÁSICOS</a:t>
            </a:r>
            <a:endParaRPr lang="es-ES" dirty="0"/>
          </a:p>
        </p:txBody>
      </p:sp>
      <p:sp>
        <p:nvSpPr>
          <p:cNvPr id="3" name="Rectangle 1"/>
          <p:cNvSpPr>
            <a:spLocks noGrp="1" noChangeArrowheads="1"/>
          </p:cNvSpPr>
          <p:nvPr>
            <p:ph idx="1"/>
          </p:nvPr>
        </p:nvSpPr>
        <p:spPr bwMode="auto">
          <a:xfrm>
            <a:off x="1097280" y="2025150"/>
            <a:ext cx="10170100" cy="28077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8872" tIns="88872" rIns="0" bIns="88872"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s-ES" b="1" dirty="0">
                <a:latin typeface="+mn-lt"/>
              </a:rPr>
              <a:t>Correo electrónico. </a:t>
            </a:r>
            <a:r>
              <a:rPr lang="es-ES" b="1" dirty="0" err="1">
                <a:latin typeface="+mn-lt"/>
              </a:rPr>
              <a:t>Postfix</a:t>
            </a:r>
            <a:endParaRPr lang="es-ES" b="1" dirty="0">
              <a:latin typeface="+mn-lt"/>
            </a:endParaRPr>
          </a:p>
          <a:p>
            <a:r>
              <a:rPr lang="es-ES" dirty="0">
                <a:latin typeface="+mn-lt"/>
              </a:rPr>
              <a:t>Aplique una configuración básica con el comando </a:t>
            </a:r>
            <a:r>
              <a:rPr lang="es-ES" dirty="0" err="1">
                <a:latin typeface="+mn-lt"/>
              </a:rPr>
              <a:t>postconf</a:t>
            </a:r>
            <a:r>
              <a:rPr lang="es-ES" dirty="0">
                <a:latin typeface="+mn-lt"/>
              </a:rPr>
              <a:t>.</a:t>
            </a:r>
            <a:endParaRPr lang="es-ES" dirty="0">
              <a:latin typeface="+mn-lt"/>
            </a:endParaRPr>
          </a:p>
          <a:p>
            <a:endParaRPr lang="es-ES" dirty="0">
              <a:latin typeface="+mn-lt"/>
            </a:endParaRPr>
          </a:p>
          <a:p>
            <a:r>
              <a:rPr lang="es-ES" dirty="0">
                <a:latin typeface="+mn-lt"/>
              </a:rPr>
              <a:t>Dominio de origen de los mensajes: </a:t>
            </a:r>
            <a:r>
              <a:rPr lang="es-ES" b="1" dirty="0">
                <a:latin typeface="+mn-lt"/>
              </a:rPr>
              <a:t>#</a:t>
            </a:r>
            <a:r>
              <a:rPr lang="es-ES" b="1" dirty="0" err="1">
                <a:latin typeface="+mn-lt"/>
              </a:rPr>
              <a:t>postconf</a:t>
            </a:r>
            <a:r>
              <a:rPr lang="es-ES" b="1" dirty="0">
                <a:latin typeface="+mn-lt"/>
              </a:rPr>
              <a:t> -e "</a:t>
            </a:r>
            <a:r>
              <a:rPr lang="es-ES" b="1" dirty="0" err="1">
                <a:latin typeface="+mn-lt"/>
              </a:rPr>
              <a:t>myorigin</a:t>
            </a:r>
            <a:r>
              <a:rPr lang="es-ES" b="1" dirty="0">
                <a:latin typeface="+mn-lt"/>
              </a:rPr>
              <a:t> = midominio.org"</a:t>
            </a:r>
            <a:endParaRPr lang="es-ES" b="1" dirty="0">
              <a:latin typeface="+mn-lt"/>
            </a:endParaRPr>
          </a:p>
          <a:p>
            <a:r>
              <a:rPr lang="es-ES" dirty="0">
                <a:latin typeface="+mn-lt"/>
              </a:rPr>
              <a:t>De qué dominio recibir el correo: </a:t>
            </a:r>
            <a:r>
              <a:rPr lang="es-ES" b="1" dirty="0">
                <a:latin typeface="+mn-lt"/>
              </a:rPr>
              <a:t>#</a:t>
            </a:r>
            <a:r>
              <a:rPr lang="es-ES" b="1" dirty="0" err="1">
                <a:latin typeface="+mn-lt"/>
              </a:rPr>
              <a:t>postconf</a:t>
            </a:r>
            <a:r>
              <a:rPr lang="es-ES" b="1" dirty="0">
                <a:latin typeface="+mn-lt"/>
              </a:rPr>
              <a:t> -e "</a:t>
            </a:r>
            <a:r>
              <a:rPr lang="es-ES" b="1" dirty="0" err="1">
                <a:latin typeface="+mn-lt"/>
              </a:rPr>
              <a:t>mydestination</a:t>
            </a:r>
            <a:r>
              <a:rPr lang="es-ES" b="1" dirty="0">
                <a:latin typeface="+mn-lt"/>
              </a:rPr>
              <a:t> = midominio.org"</a:t>
            </a:r>
            <a:endParaRPr lang="es-ES" b="1" dirty="0">
              <a:latin typeface="+mn-lt"/>
            </a:endParaRPr>
          </a:p>
          <a:p>
            <a:r>
              <a:rPr lang="es-ES" dirty="0">
                <a:latin typeface="+mn-lt"/>
              </a:rPr>
              <a:t>De qué clientes transmitir el correo: </a:t>
            </a:r>
            <a:r>
              <a:rPr lang="es-ES" b="1" dirty="0">
                <a:latin typeface="+mn-lt"/>
              </a:rPr>
              <a:t>#</a:t>
            </a:r>
            <a:r>
              <a:rPr lang="es-ES" b="1" dirty="0" err="1">
                <a:latin typeface="+mn-lt"/>
              </a:rPr>
              <a:t>postconf</a:t>
            </a:r>
            <a:r>
              <a:rPr lang="es-ES" b="1" dirty="0">
                <a:latin typeface="+mn-lt"/>
              </a:rPr>
              <a:t> -e "</a:t>
            </a:r>
            <a:r>
              <a:rPr lang="es-ES" b="1" dirty="0" err="1">
                <a:latin typeface="+mn-lt"/>
              </a:rPr>
              <a:t>mynetworks</a:t>
            </a:r>
            <a:r>
              <a:rPr lang="es-ES" b="1" dirty="0">
                <a:latin typeface="+mn-lt"/>
              </a:rPr>
              <a:t> = 192.168.1.0/24, 127.0.0.1"</a:t>
            </a:r>
            <a:endParaRPr lang="es-ES" b="1" dirty="0">
              <a:latin typeface="+mn-lt"/>
            </a:endParaRPr>
          </a:p>
          <a:p>
            <a:r>
              <a:rPr lang="es-ES" dirty="0">
                <a:latin typeface="+mn-lt"/>
              </a:rPr>
              <a:t>En qué interfaces escuchar: </a:t>
            </a:r>
            <a:r>
              <a:rPr lang="es-ES" b="1" dirty="0">
                <a:latin typeface="+mn-lt"/>
              </a:rPr>
              <a:t>#</a:t>
            </a:r>
            <a:r>
              <a:rPr lang="es-ES" b="1" dirty="0" err="1">
                <a:latin typeface="+mn-lt"/>
              </a:rPr>
              <a:t>postconf</a:t>
            </a:r>
            <a:r>
              <a:rPr lang="es-ES" b="1" dirty="0">
                <a:latin typeface="+mn-lt"/>
              </a:rPr>
              <a:t> -e "</a:t>
            </a:r>
            <a:r>
              <a:rPr lang="es-ES" b="1" dirty="0" err="1">
                <a:latin typeface="+mn-lt"/>
              </a:rPr>
              <a:t>inet_interface</a:t>
            </a:r>
            <a:r>
              <a:rPr lang="es-ES" b="1" dirty="0">
                <a:latin typeface="+mn-lt"/>
              </a:rPr>
              <a:t> = </a:t>
            </a:r>
            <a:r>
              <a:rPr lang="es-ES" b="1" dirty="0" err="1">
                <a:latin typeface="+mn-lt"/>
              </a:rPr>
              <a:t>all</a:t>
            </a:r>
            <a:r>
              <a:rPr lang="es-ES" b="1" dirty="0">
                <a:latin typeface="+mn-lt"/>
              </a:rPr>
              <a:t>"</a:t>
            </a:r>
            <a:endParaRPr lang="es-ES" b="1" dirty="0">
              <a:latin typeface="+mn-lt"/>
            </a:endParaRPr>
          </a:p>
          <a:p>
            <a:r>
              <a:rPr lang="es-ES" dirty="0">
                <a:latin typeface="+mn-lt"/>
              </a:rPr>
              <a:t>Inicie el servicio: </a:t>
            </a:r>
            <a:r>
              <a:rPr lang="es-ES" b="1" dirty="0">
                <a:latin typeface="+mn-lt"/>
              </a:rPr>
              <a:t>#</a:t>
            </a:r>
            <a:r>
              <a:rPr lang="es-ES" b="1" dirty="0" err="1">
                <a:latin typeface="+mn-lt"/>
              </a:rPr>
              <a:t>service</a:t>
            </a:r>
            <a:r>
              <a:rPr lang="es-ES" b="1" dirty="0">
                <a:latin typeface="+mn-lt"/>
              </a:rPr>
              <a:t> </a:t>
            </a:r>
            <a:r>
              <a:rPr lang="es-ES" b="1" dirty="0" err="1">
                <a:latin typeface="+mn-lt"/>
              </a:rPr>
              <a:t>postfix</a:t>
            </a:r>
            <a:r>
              <a:rPr lang="es-ES" b="1" dirty="0">
                <a:latin typeface="+mn-lt"/>
              </a:rPr>
              <a:t> </a:t>
            </a:r>
            <a:r>
              <a:rPr lang="es-ES" b="1" dirty="0" err="1">
                <a:latin typeface="+mn-lt"/>
              </a:rPr>
              <a:t>start</a:t>
            </a:r>
            <a:r>
              <a:rPr lang="es-ES" b="1" dirty="0">
                <a:latin typeface="+mn-lt"/>
              </a:rPr>
              <a:t> </a:t>
            </a:r>
            <a:r>
              <a:rPr lang="es-ES" dirty="0">
                <a:latin typeface="+mn-lt"/>
              </a:rPr>
              <a:t>o</a:t>
            </a:r>
            <a:r>
              <a:rPr lang="es-ES" b="1" dirty="0">
                <a:latin typeface="+mn-lt"/>
              </a:rPr>
              <a:t>: #/</a:t>
            </a:r>
            <a:r>
              <a:rPr lang="es-ES" b="1" dirty="0" err="1">
                <a:latin typeface="+mn-lt"/>
              </a:rPr>
              <a:t>etc</a:t>
            </a:r>
            <a:r>
              <a:rPr lang="es-ES" b="1" dirty="0">
                <a:latin typeface="+mn-lt"/>
              </a:rPr>
              <a:t>/</a:t>
            </a:r>
            <a:r>
              <a:rPr lang="es-ES" b="1" dirty="0" err="1">
                <a:latin typeface="+mn-lt"/>
              </a:rPr>
              <a:t>init.d</a:t>
            </a:r>
            <a:r>
              <a:rPr lang="es-ES" b="1" dirty="0">
                <a:latin typeface="+mn-lt"/>
              </a:rPr>
              <a:t>/</a:t>
            </a:r>
            <a:r>
              <a:rPr lang="es-ES" b="1" dirty="0" err="1">
                <a:latin typeface="+mn-lt"/>
              </a:rPr>
              <a:t>postfix</a:t>
            </a:r>
            <a:r>
              <a:rPr lang="es-ES" b="1" dirty="0">
                <a:latin typeface="+mn-lt"/>
              </a:rPr>
              <a:t> </a:t>
            </a:r>
            <a:r>
              <a:rPr lang="es-ES" b="1" dirty="0" err="1">
                <a:latin typeface="+mn-lt"/>
              </a:rPr>
              <a:t>start</a:t>
            </a:r>
            <a:endParaRPr lang="es-ES" b="1" dirty="0">
              <a:latin typeface="+mn-lt"/>
            </a:endParaRPr>
          </a:p>
        </p:txBody>
      </p:sp>
      <p:pic>
        <p:nvPicPr>
          <p:cNvPr id="4198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3825" y="-854075"/>
            <a:ext cx="400050" cy="4381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SERVICIOS BÁSICOS</a:t>
            </a:r>
            <a:endParaRPr lang="es-ES" dirty="0"/>
          </a:p>
        </p:txBody>
      </p:sp>
      <p:sp>
        <p:nvSpPr>
          <p:cNvPr id="3" name="Rectangle 1"/>
          <p:cNvSpPr>
            <a:spLocks noGrp="1" noChangeArrowheads="1"/>
          </p:cNvSpPr>
          <p:nvPr>
            <p:ph idx="1"/>
          </p:nvPr>
        </p:nvSpPr>
        <p:spPr bwMode="auto">
          <a:xfrm>
            <a:off x="1097280" y="2041823"/>
            <a:ext cx="10170100" cy="347249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8872" tIns="88872" rIns="0" bIns="88872"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s-ES" b="1" dirty="0">
                <a:latin typeface="+mn-lt"/>
              </a:rPr>
              <a:t>Correo electrónico. </a:t>
            </a:r>
            <a:r>
              <a:rPr lang="es-ES" b="1" dirty="0" err="1">
                <a:latin typeface="+mn-lt"/>
              </a:rPr>
              <a:t>Postfix</a:t>
            </a:r>
            <a:endParaRPr lang="es-ES" b="1" dirty="0">
              <a:latin typeface="+mn-lt"/>
            </a:endParaRPr>
          </a:p>
          <a:p>
            <a:r>
              <a:rPr lang="es-ES" b="1" dirty="0">
                <a:latin typeface="+mn-lt"/>
              </a:rPr>
              <a:t>Alias de usuarios</a:t>
            </a:r>
            <a:endParaRPr lang="es-ES" b="1" dirty="0">
              <a:latin typeface="+mn-lt"/>
            </a:endParaRPr>
          </a:p>
          <a:p>
            <a:r>
              <a:rPr lang="es-ES" dirty="0">
                <a:latin typeface="+mn-lt"/>
              </a:rPr>
              <a:t>Es posible ubicar alias para los usuarios locales en el archivo </a:t>
            </a:r>
            <a:r>
              <a:rPr lang="es-ES" b="1" dirty="0">
                <a:latin typeface="+mn-lt"/>
              </a:rPr>
              <a:t>/</a:t>
            </a:r>
            <a:r>
              <a:rPr lang="es-ES" b="1" dirty="0" err="1">
                <a:latin typeface="+mn-lt"/>
              </a:rPr>
              <a:t>etc</a:t>
            </a:r>
            <a:r>
              <a:rPr lang="es-ES" b="1" dirty="0">
                <a:latin typeface="+mn-lt"/>
              </a:rPr>
              <a:t>/aliases. </a:t>
            </a:r>
            <a:r>
              <a:rPr lang="es-ES" dirty="0">
                <a:latin typeface="+mn-lt"/>
              </a:rPr>
              <a:t>Por ejemplo, si los mensajes de </a:t>
            </a:r>
            <a:r>
              <a:rPr lang="es-ES" dirty="0" err="1">
                <a:latin typeface="+mn-lt"/>
              </a:rPr>
              <a:t>webmaster</a:t>
            </a:r>
            <a:r>
              <a:rPr lang="es-ES" dirty="0">
                <a:latin typeface="+mn-lt"/>
              </a:rPr>
              <a:t>, </a:t>
            </a:r>
            <a:r>
              <a:rPr lang="es-ES" dirty="0" err="1">
                <a:latin typeface="+mn-lt"/>
              </a:rPr>
              <a:t>admin</a:t>
            </a:r>
            <a:r>
              <a:rPr lang="es-ES" dirty="0">
                <a:latin typeface="+mn-lt"/>
              </a:rPr>
              <a:t> y </a:t>
            </a:r>
            <a:r>
              <a:rPr lang="es-ES" dirty="0" err="1">
                <a:latin typeface="+mn-lt"/>
              </a:rPr>
              <a:t>root</a:t>
            </a:r>
            <a:r>
              <a:rPr lang="es-ES" dirty="0">
                <a:latin typeface="+mn-lt"/>
              </a:rPr>
              <a:t> se deben redireccionar hacia </a:t>
            </a:r>
            <a:r>
              <a:rPr lang="es-ES" dirty="0" err="1">
                <a:latin typeface="+mn-lt"/>
              </a:rPr>
              <a:t>manuel</a:t>
            </a:r>
            <a:r>
              <a:rPr lang="es-ES" dirty="0">
                <a:latin typeface="+mn-lt"/>
              </a:rPr>
              <a:t>:</a:t>
            </a:r>
            <a:endParaRPr lang="es-ES" dirty="0">
              <a:latin typeface="+mn-lt"/>
            </a:endParaRPr>
          </a:p>
          <a:p>
            <a:endParaRPr lang="es-ES" dirty="0">
              <a:latin typeface="+mn-lt"/>
            </a:endParaRPr>
          </a:p>
          <a:p>
            <a:pPr algn="ctr"/>
            <a:r>
              <a:rPr lang="es-ES" b="1" dirty="0" err="1">
                <a:latin typeface="+mn-lt"/>
              </a:rPr>
              <a:t>manuel</a:t>
            </a:r>
            <a:r>
              <a:rPr lang="es-ES" b="1" dirty="0">
                <a:latin typeface="+mn-lt"/>
              </a:rPr>
              <a:t>: </a:t>
            </a:r>
            <a:r>
              <a:rPr lang="es-ES" b="1" dirty="0" err="1">
                <a:latin typeface="+mn-lt"/>
              </a:rPr>
              <a:t>webmaster</a:t>
            </a:r>
            <a:r>
              <a:rPr lang="es-ES" b="1" dirty="0">
                <a:latin typeface="+mn-lt"/>
              </a:rPr>
              <a:t>, </a:t>
            </a:r>
            <a:r>
              <a:rPr lang="es-ES" b="1" dirty="0" err="1">
                <a:latin typeface="+mn-lt"/>
              </a:rPr>
              <a:t>admin</a:t>
            </a:r>
            <a:r>
              <a:rPr lang="es-ES" b="1" dirty="0">
                <a:latin typeface="+mn-lt"/>
              </a:rPr>
              <a:t>, </a:t>
            </a:r>
            <a:r>
              <a:rPr lang="es-ES" b="1" dirty="0" err="1">
                <a:latin typeface="+mn-lt"/>
              </a:rPr>
              <a:t>root</a:t>
            </a:r>
            <a:endParaRPr lang="es-ES" b="1" dirty="0">
              <a:latin typeface="+mn-lt"/>
            </a:endParaRPr>
          </a:p>
          <a:p>
            <a:pPr algn="ctr"/>
            <a:endParaRPr lang="es-ES" b="1" dirty="0">
              <a:latin typeface="+mn-lt"/>
            </a:endParaRPr>
          </a:p>
          <a:p>
            <a:r>
              <a:rPr lang="es-ES" dirty="0">
                <a:latin typeface="+mn-lt"/>
              </a:rPr>
              <a:t>La carpeta personal del usuario puede también contener un archivo </a:t>
            </a:r>
            <a:r>
              <a:rPr lang="es-ES" b="1" dirty="0">
                <a:latin typeface="+mn-lt"/>
              </a:rPr>
              <a:t>.forward (~/.forward)</a:t>
            </a:r>
            <a:r>
              <a:rPr lang="es-ES" dirty="0">
                <a:latin typeface="+mn-lt"/>
              </a:rPr>
              <a:t>. Este archivo puede contener una lista de usuarios o sus direcciones. Cuando el usuario recibe un mail, se reenviará (forward) a todos los destinatarios indicados en este archivo</a:t>
            </a:r>
            <a:endParaRPr lang="es-ES" dirty="0">
              <a:latin typeface="+mn-lt"/>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SERVICIOS BÁSICOS</a:t>
            </a:r>
            <a:endParaRPr lang="es-ES" dirty="0"/>
          </a:p>
        </p:txBody>
      </p:sp>
      <p:sp>
        <p:nvSpPr>
          <p:cNvPr id="3" name="Rectangle 1"/>
          <p:cNvSpPr>
            <a:spLocks noGrp="1" noChangeArrowheads="1"/>
          </p:cNvSpPr>
          <p:nvPr>
            <p:ph idx="1"/>
          </p:nvPr>
        </p:nvSpPr>
        <p:spPr bwMode="auto">
          <a:xfrm>
            <a:off x="1097280" y="1963432"/>
            <a:ext cx="10170100" cy="429188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8872" tIns="88872" rIns="0" bIns="88872"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s-ES" b="1" dirty="0">
                <a:latin typeface="+mn-lt"/>
              </a:rPr>
              <a:t>Correo electrónico. </a:t>
            </a:r>
            <a:r>
              <a:rPr lang="es-ES" b="1" dirty="0" err="1">
                <a:latin typeface="+mn-lt"/>
              </a:rPr>
              <a:t>Postfix</a:t>
            </a:r>
            <a:endParaRPr lang="es-ES" b="1" dirty="0">
              <a:latin typeface="+mn-lt"/>
            </a:endParaRPr>
          </a:p>
          <a:p>
            <a:r>
              <a:rPr lang="es-ES" b="1" dirty="0">
                <a:latin typeface="+mn-lt"/>
              </a:rPr>
              <a:t>Prueba</a:t>
            </a:r>
            <a:endParaRPr lang="es-ES" b="1" dirty="0">
              <a:latin typeface="+mn-lt"/>
            </a:endParaRPr>
          </a:p>
          <a:p>
            <a:r>
              <a:rPr lang="es-ES" dirty="0">
                <a:latin typeface="+mn-lt"/>
              </a:rPr>
              <a:t>El registro se ubica en </a:t>
            </a:r>
            <a:r>
              <a:rPr lang="es-ES" b="1" i="1" dirty="0">
                <a:latin typeface="+mn-lt"/>
              </a:rPr>
              <a:t>/</a:t>
            </a:r>
            <a:r>
              <a:rPr lang="es-ES" b="1" i="1" dirty="0" err="1">
                <a:latin typeface="+mn-lt"/>
              </a:rPr>
              <a:t>var</a:t>
            </a:r>
            <a:r>
              <a:rPr lang="es-ES" b="1" i="1" dirty="0">
                <a:latin typeface="+mn-lt"/>
              </a:rPr>
              <a:t>/log/</a:t>
            </a:r>
            <a:r>
              <a:rPr lang="es-ES" b="1" i="1" dirty="0" err="1">
                <a:latin typeface="+mn-lt"/>
              </a:rPr>
              <a:t>maillog</a:t>
            </a:r>
            <a:r>
              <a:rPr lang="es-ES" dirty="0">
                <a:latin typeface="+mn-lt"/>
              </a:rPr>
              <a:t>. Pruebe el servidor de la manera siguiente (por ejemplo):</a:t>
            </a:r>
            <a:endParaRPr lang="es-ES" dirty="0">
              <a:latin typeface="+mn-lt"/>
            </a:endParaRPr>
          </a:p>
          <a:p>
            <a:endParaRPr lang="es-ES" dirty="0">
              <a:latin typeface="+mn-lt"/>
            </a:endParaRPr>
          </a:p>
          <a:p>
            <a:pPr algn="ctr"/>
            <a:r>
              <a:rPr lang="es-ES" b="1" dirty="0">
                <a:latin typeface="+mn-lt"/>
              </a:rPr>
              <a:t>mail -s `echo $USER` root@server1 &lt; /</a:t>
            </a:r>
            <a:r>
              <a:rPr lang="es-ES" b="1" dirty="0" err="1">
                <a:latin typeface="+mn-lt"/>
              </a:rPr>
              <a:t>etc</a:t>
            </a:r>
            <a:r>
              <a:rPr lang="es-ES" b="1" dirty="0">
                <a:latin typeface="+mn-lt"/>
              </a:rPr>
              <a:t>/</a:t>
            </a:r>
            <a:r>
              <a:rPr lang="es-ES" b="1" dirty="0" err="1">
                <a:latin typeface="+mn-lt"/>
              </a:rPr>
              <a:t>passwd</a:t>
            </a:r>
            <a:endParaRPr lang="es-ES" b="1" dirty="0">
              <a:latin typeface="+mn-lt"/>
            </a:endParaRPr>
          </a:p>
          <a:p>
            <a:r>
              <a:rPr lang="es-ES" dirty="0">
                <a:latin typeface="+mn-lt"/>
              </a:rPr>
              <a:t>Si todo funciona, obtendrá trazas:</a:t>
            </a:r>
            <a:endParaRPr lang="es-ES" dirty="0">
              <a:latin typeface="+mn-lt"/>
            </a:endParaRPr>
          </a:p>
          <a:p>
            <a:endParaRPr lang="es-ES" dirty="0">
              <a:latin typeface="+mn-lt"/>
            </a:endParaRPr>
          </a:p>
          <a:p>
            <a:r>
              <a:rPr lang="es-ES" sz="1400" dirty="0" err="1">
                <a:latin typeface="+mn-lt"/>
              </a:rPr>
              <a:t>Fri</a:t>
            </a:r>
            <a:r>
              <a:rPr lang="es-ES" sz="1400" dirty="0">
                <a:latin typeface="+mn-lt"/>
              </a:rPr>
              <a:t> 26 11:38:18 estacion1 </a:t>
            </a:r>
            <a:r>
              <a:rPr lang="es-ES" sz="1400" dirty="0" err="1">
                <a:latin typeface="+mn-lt"/>
              </a:rPr>
              <a:t>postfix</a:t>
            </a:r>
            <a:r>
              <a:rPr lang="es-ES" sz="1400" dirty="0">
                <a:latin typeface="+mn-lt"/>
              </a:rPr>
              <a:t>/pickup[12357] : F145040154: </a:t>
            </a:r>
            <a:r>
              <a:rPr lang="es-ES" sz="1400" dirty="0" err="1">
                <a:latin typeface="+mn-lt"/>
              </a:rPr>
              <a:t>uid</a:t>
            </a:r>
            <a:r>
              <a:rPr lang="es-ES" sz="1400" dirty="0">
                <a:latin typeface="+mn-lt"/>
              </a:rPr>
              <a:t>=0 </a:t>
            </a:r>
            <a:endParaRPr lang="es-ES" sz="1400" dirty="0">
              <a:latin typeface="+mn-lt"/>
            </a:endParaRPr>
          </a:p>
          <a:p>
            <a:r>
              <a:rPr lang="es-ES" sz="1400" dirty="0" err="1">
                <a:latin typeface="+mn-lt"/>
              </a:rPr>
              <a:t>from</a:t>
            </a:r>
            <a:r>
              <a:rPr lang="es-ES" sz="1400" dirty="0">
                <a:latin typeface="+mn-lt"/>
              </a:rPr>
              <a:t> &lt;</a:t>
            </a:r>
            <a:r>
              <a:rPr lang="es-ES" sz="1400" dirty="0" err="1">
                <a:latin typeface="+mn-lt"/>
              </a:rPr>
              <a:t>root</a:t>
            </a:r>
            <a:r>
              <a:rPr lang="es-ES" sz="1400" dirty="0">
                <a:latin typeface="+mn-lt"/>
              </a:rPr>
              <a:t>&gt; </a:t>
            </a:r>
            <a:endParaRPr lang="es-ES" sz="1400" dirty="0">
              <a:latin typeface="+mn-lt"/>
            </a:endParaRPr>
          </a:p>
          <a:p>
            <a:r>
              <a:rPr lang="es-ES" sz="1400" dirty="0" err="1">
                <a:latin typeface="+mn-lt"/>
              </a:rPr>
              <a:t>Fri</a:t>
            </a:r>
            <a:r>
              <a:rPr lang="es-ES" sz="1400" dirty="0">
                <a:latin typeface="+mn-lt"/>
              </a:rPr>
              <a:t> 26 11:38:18 estacion1 </a:t>
            </a:r>
            <a:r>
              <a:rPr lang="es-ES" sz="1400" dirty="0" err="1">
                <a:latin typeface="+mn-lt"/>
              </a:rPr>
              <a:t>postfix</a:t>
            </a:r>
            <a:r>
              <a:rPr lang="es-ES" sz="1400" dirty="0">
                <a:latin typeface="+mn-lt"/>
              </a:rPr>
              <a:t>/</a:t>
            </a:r>
            <a:r>
              <a:rPr lang="es-ES" sz="1400" dirty="0" err="1">
                <a:latin typeface="+mn-lt"/>
              </a:rPr>
              <a:t>cleanup</a:t>
            </a:r>
            <a:r>
              <a:rPr lang="es-ES" sz="1400" dirty="0">
                <a:latin typeface="+mn-lt"/>
              </a:rPr>
              <a:t>[12318] : F145040154: </a:t>
            </a:r>
            <a:endParaRPr lang="es-ES" sz="1400" dirty="0">
              <a:latin typeface="+mn-lt"/>
            </a:endParaRPr>
          </a:p>
          <a:p>
            <a:r>
              <a:rPr lang="es-ES" sz="1400" dirty="0" err="1">
                <a:latin typeface="+mn-lt"/>
              </a:rPr>
              <a:t>message</a:t>
            </a:r>
            <a:r>
              <a:rPr lang="es-ES" sz="1400" dirty="0">
                <a:latin typeface="+mn-lt"/>
              </a:rPr>
              <a:t>-id=&lt;20060126113017.F145040154:@estacion1.midominio.org&gt; </a:t>
            </a:r>
            <a:endParaRPr lang="es-ES" sz="1400" dirty="0">
              <a:latin typeface="+mn-lt"/>
            </a:endParaRPr>
          </a:p>
          <a:p>
            <a:r>
              <a:rPr lang="es-ES" sz="1400" dirty="0" err="1">
                <a:latin typeface="+mn-lt"/>
              </a:rPr>
              <a:t>Fri</a:t>
            </a:r>
            <a:r>
              <a:rPr lang="es-ES" sz="1400" dirty="0">
                <a:latin typeface="+mn-lt"/>
              </a:rPr>
              <a:t> 26 11:38:26 estacion1 </a:t>
            </a:r>
            <a:r>
              <a:rPr lang="es-ES" sz="1400" dirty="0" err="1">
                <a:latin typeface="+mn-lt"/>
              </a:rPr>
              <a:t>postfix</a:t>
            </a:r>
            <a:r>
              <a:rPr lang="es-ES" sz="1400" dirty="0">
                <a:latin typeface="+mn-lt"/>
              </a:rPr>
              <a:t>/</a:t>
            </a:r>
            <a:r>
              <a:rPr lang="es-ES" sz="1400" dirty="0" err="1">
                <a:latin typeface="+mn-lt"/>
              </a:rPr>
              <a:t>nqmgr</a:t>
            </a:r>
            <a:r>
              <a:rPr lang="es-ES" sz="1400" dirty="0">
                <a:latin typeface="+mn-lt"/>
              </a:rPr>
              <a:t>[3469] : F145040154: </a:t>
            </a:r>
            <a:endParaRPr lang="es-ES" sz="1400" dirty="0">
              <a:latin typeface="+mn-lt"/>
            </a:endParaRPr>
          </a:p>
          <a:p>
            <a:r>
              <a:rPr lang="es-ES" sz="1400" dirty="0" err="1">
                <a:latin typeface="+mn-lt"/>
              </a:rPr>
              <a:t>from</a:t>
            </a:r>
            <a:r>
              <a:rPr lang="es-ES" sz="1400" dirty="0">
                <a:latin typeface="+mn-lt"/>
              </a:rPr>
              <a:t>=&lt;root@estacion1.example.com&gt;, </a:t>
            </a:r>
            <a:r>
              <a:rPr lang="es-ES" sz="1400" dirty="0" err="1">
                <a:latin typeface="+mn-lt"/>
              </a:rPr>
              <a:t>size</a:t>
            </a:r>
            <a:r>
              <a:rPr lang="es-ES" sz="1400" dirty="0">
                <a:latin typeface="+mn-lt"/>
              </a:rPr>
              <a:t>=314, </a:t>
            </a:r>
            <a:r>
              <a:rPr lang="es-ES" sz="1400" dirty="0" err="1">
                <a:latin typeface="+mn-lt"/>
              </a:rPr>
              <a:t>nrcpt</a:t>
            </a:r>
            <a:r>
              <a:rPr lang="es-ES" sz="1400" dirty="0">
                <a:latin typeface="+mn-lt"/>
              </a:rPr>
              <a:t>=1 (</a:t>
            </a:r>
            <a:r>
              <a:rPr lang="es-ES" sz="1400" dirty="0" err="1">
                <a:latin typeface="+mn-lt"/>
              </a:rPr>
              <a:t>queue</a:t>
            </a:r>
            <a:r>
              <a:rPr lang="es-ES" sz="1400" dirty="0">
                <a:latin typeface="+mn-lt"/>
              </a:rPr>
              <a:t> active) </a:t>
            </a:r>
            <a:endParaRPr lang="es-ES" sz="1400" dirty="0">
              <a:latin typeface="+mn-lt"/>
            </a:endParaRPr>
          </a:p>
          <a:p>
            <a:r>
              <a:rPr lang="es-ES" sz="1400" dirty="0">
                <a:latin typeface="+mn-lt"/>
              </a:rPr>
              <a:t>……</a:t>
            </a:r>
            <a:endParaRPr lang="es-ES" sz="1400" dirty="0">
              <a:latin typeface="+mn-lt"/>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SEGURIDAD</a:t>
            </a:r>
            <a:endParaRPr lang="es-ES" dirty="0"/>
          </a:p>
        </p:txBody>
      </p:sp>
      <p:sp>
        <p:nvSpPr>
          <p:cNvPr id="3" name="Rectangle 1"/>
          <p:cNvSpPr>
            <a:spLocks noGrp="1" noChangeArrowheads="1"/>
          </p:cNvSpPr>
          <p:nvPr>
            <p:ph idx="1"/>
          </p:nvPr>
        </p:nvSpPr>
        <p:spPr bwMode="auto">
          <a:xfrm>
            <a:off x="1097280" y="1914902"/>
            <a:ext cx="10170100" cy="232160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8872" tIns="88872" rIns="0" bIns="88872"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s-ES" b="1" dirty="0">
                <a:latin typeface="+mn-lt"/>
              </a:rPr>
              <a:t>Seguridad informática</a:t>
            </a:r>
            <a:endParaRPr lang="es-ES" b="1" dirty="0">
              <a:latin typeface="+mn-lt"/>
            </a:endParaRPr>
          </a:p>
          <a:p>
            <a:r>
              <a:rPr lang="es-ES" dirty="0">
                <a:latin typeface="+mn-lt"/>
              </a:rPr>
              <a:t>Los principales objetivos de la seguridad informática conciernen a:</a:t>
            </a:r>
            <a:endParaRPr lang="es-ES" dirty="0">
              <a:latin typeface="+mn-lt"/>
            </a:endParaRPr>
          </a:p>
          <a:p>
            <a:pPr lvl="1"/>
            <a:r>
              <a:rPr lang="es-ES" b="1" dirty="0">
                <a:latin typeface="+mn-lt"/>
              </a:rPr>
              <a:t>La seguridad de la conexión: </a:t>
            </a:r>
            <a:r>
              <a:rPr lang="es-ES" dirty="0">
                <a:latin typeface="+mn-lt"/>
              </a:rPr>
              <a:t>se trata de controlar que los usuarios que se conectan dispongan efectivamente de la autorización para ello y de prohibirles el acceso al sistema en caso contrario.</a:t>
            </a:r>
            <a:endParaRPr lang="es-ES" dirty="0">
              <a:latin typeface="+mn-lt"/>
            </a:endParaRPr>
          </a:p>
          <a:p>
            <a:pPr lvl="1"/>
            <a:r>
              <a:rPr lang="es-ES" b="1" dirty="0">
                <a:latin typeface="+mn-lt"/>
              </a:rPr>
              <a:t>La integridad de los datos</a:t>
            </a:r>
            <a:r>
              <a:rPr lang="es-ES" dirty="0">
                <a:latin typeface="+mn-lt"/>
              </a:rPr>
              <a:t>: se trata de conseguir que los archivos y las bases de datos no estén corruptas y de mantener la coherencia entre los datos.</a:t>
            </a:r>
            <a:endParaRPr lang="es-ES" dirty="0">
              <a:latin typeface="+mn-lt"/>
            </a:endParaRPr>
          </a:p>
          <a:p>
            <a:pPr lvl="1"/>
            <a:r>
              <a:rPr lang="es-ES" b="1" dirty="0">
                <a:latin typeface="+mn-lt"/>
              </a:rPr>
              <a:t>La confidencialidad de los datos: </a:t>
            </a:r>
            <a:r>
              <a:rPr lang="es-ES" dirty="0">
                <a:latin typeface="+mn-lt"/>
              </a:rPr>
              <a:t>el acceso a los datos para consulta y modificación se debe limitar únicamente a usuarios autorizados.</a:t>
            </a:r>
            <a:r>
              <a:rPr lang="es-ES" sz="1200" dirty="0">
                <a:latin typeface="+mn-lt"/>
              </a:rPr>
              <a:t>……</a:t>
            </a:r>
            <a:endParaRPr lang="es-ES" sz="1200" dirty="0">
              <a:latin typeface="+mn-lt"/>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SEGURIDAD</a:t>
            </a:r>
            <a:endParaRPr lang="es-ES" dirty="0"/>
          </a:p>
        </p:txBody>
      </p:sp>
      <p:sp>
        <p:nvSpPr>
          <p:cNvPr id="3" name="Rectangle 1"/>
          <p:cNvSpPr>
            <a:spLocks noGrp="1" noChangeArrowheads="1"/>
          </p:cNvSpPr>
          <p:nvPr>
            <p:ph idx="1"/>
          </p:nvPr>
        </p:nvSpPr>
        <p:spPr bwMode="auto">
          <a:xfrm>
            <a:off x="1097280" y="2140441"/>
            <a:ext cx="10170100" cy="380534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8872" tIns="88872" rIns="0" bIns="88872"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s-ES" b="1" dirty="0"/>
              <a:t>Prohibir las conexiones</a:t>
            </a:r>
            <a:endParaRPr lang="es-ES" b="1" dirty="0"/>
          </a:p>
          <a:p>
            <a:pPr marL="342900" indent="-342900">
              <a:buFont typeface="+mj-lt"/>
              <a:buAutoNum type="arabicPeriod"/>
            </a:pPr>
            <a:r>
              <a:rPr lang="es-ES" b="1" dirty="0"/>
              <a:t>/</a:t>
            </a:r>
            <a:r>
              <a:rPr lang="es-ES" b="1" dirty="0" err="1"/>
              <a:t>bin</a:t>
            </a:r>
            <a:r>
              <a:rPr lang="es-ES" b="1" dirty="0"/>
              <a:t>/false</a:t>
            </a:r>
            <a:endParaRPr lang="es-ES" b="1" dirty="0"/>
          </a:p>
          <a:p>
            <a:r>
              <a:rPr lang="es-ES" dirty="0"/>
              <a:t>Algunas cuentas no deben ser interactivas: se deben prohibir las conexiones desde una consola. Se pueden asignar estas cuentas a una aplicación, a un servicio, a una conexión FTP, etc., pero se debería rechazar la conexión: ¡no </a:t>
            </a:r>
            <a:r>
              <a:rPr lang="es-ES" dirty="0" err="1"/>
              <a:t>shell</a:t>
            </a:r>
            <a:r>
              <a:rPr lang="es-ES" dirty="0"/>
              <a:t>!</a:t>
            </a:r>
            <a:endParaRPr lang="es-ES" dirty="0"/>
          </a:p>
          <a:p>
            <a:r>
              <a:rPr lang="es-ES" dirty="0"/>
              <a:t>En las lista de los </a:t>
            </a:r>
            <a:r>
              <a:rPr lang="es-ES" dirty="0" err="1"/>
              <a:t>shells</a:t>
            </a:r>
            <a:r>
              <a:rPr lang="es-ES" dirty="0"/>
              <a:t> autorizados, uno llama la atención:</a:t>
            </a:r>
            <a:endParaRPr lang="es-ES" dirty="0"/>
          </a:p>
          <a:p>
            <a:pPr marL="0" indent="0">
              <a:buNone/>
            </a:pPr>
            <a:endParaRPr lang="es-ES" dirty="0"/>
          </a:p>
          <a:p>
            <a:r>
              <a:rPr lang="es-ES" dirty="0"/>
              <a:t>$ </a:t>
            </a:r>
            <a:r>
              <a:rPr lang="es-ES" dirty="0" err="1"/>
              <a:t>cat</a:t>
            </a:r>
            <a:r>
              <a:rPr lang="es-ES" dirty="0"/>
              <a:t> /</a:t>
            </a:r>
            <a:r>
              <a:rPr lang="es-ES" dirty="0" err="1"/>
              <a:t>etc</a:t>
            </a:r>
            <a:r>
              <a:rPr lang="es-ES" dirty="0"/>
              <a:t>/</a:t>
            </a:r>
            <a:r>
              <a:rPr lang="es-ES" dirty="0" err="1"/>
              <a:t>shells</a:t>
            </a:r>
            <a:r>
              <a:rPr lang="es-ES" dirty="0"/>
              <a:t> </a:t>
            </a:r>
            <a:endParaRPr lang="es-ES" dirty="0"/>
          </a:p>
          <a:p>
            <a:r>
              <a:rPr lang="es-ES" dirty="0"/>
              <a:t>…</a:t>
            </a:r>
            <a:endParaRPr lang="es-ES" dirty="0"/>
          </a:p>
          <a:p>
            <a:r>
              <a:rPr lang="es-ES" dirty="0"/>
              <a:t>/</a:t>
            </a:r>
            <a:r>
              <a:rPr lang="es-ES" dirty="0" err="1"/>
              <a:t>bin</a:t>
            </a:r>
            <a:r>
              <a:rPr lang="es-ES" dirty="0"/>
              <a:t>/false </a:t>
            </a:r>
            <a:endParaRPr lang="es-ES" dirty="0"/>
          </a:p>
          <a:p>
            <a:r>
              <a:rPr lang="es-ES" dirty="0"/>
              <a:t>..</a:t>
            </a:r>
            <a:endParaRPr lang="es-E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SEGURIDAD</a:t>
            </a:r>
            <a:endParaRPr lang="es-ES" dirty="0"/>
          </a:p>
        </p:txBody>
      </p:sp>
      <p:sp>
        <p:nvSpPr>
          <p:cNvPr id="3" name="Rectangle 1"/>
          <p:cNvSpPr>
            <a:spLocks noGrp="1" noChangeArrowheads="1"/>
          </p:cNvSpPr>
          <p:nvPr>
            <p:ph idx="1"/>
          </p:nvPr>
        </p:nvSpPr>
        <p:spPr bwMode="auto">
          <a:xfrm>
            <a:off x="1097280" y="1986146"/>
            <a:ext cx="10170100" cy="331880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8872" tIns="88872" rIns="0" bIns="88872"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s-ES" b="1" dirty="0"/>
              <a:t>Prohibir las conexiones</a:t>
            </a:r>
            <a:endParaRPr lang="es-ES" b="1" dirty="0"/>
          </a:p>
          <a:p>
            <a:r>
              <a:rPr lang="es-ES" dirty="0"/>
              <a:t>La </a:t>
            </a:r>
            <a:r>
              <a:rPr lang="es-ES" dirty="0" err="1"/>
              <a:t>shell</a:t>
            </a:r>
            <a:r>
              <a:rPr lang="es-ES" dirty="0"/>
              <a:t> /</a:t>
            </a:r>
            <a:r>
              <a:rPr lang="es-ES" dirty="0" err="1"/>
              <a:t>bin</a:t>
            </a:r>
            <a:r>
              <a:rPr lang="es-ES" dirty="0"/>
              <a:t>/false no es realmente un </a:t>
            </a:r>
            <a:r>
              <a:rPr lang="es-ES" dirty="0" err="1"/>
              <a:t>shell</a:t>
            </a:r>
            <a:r>
              <a:rPr lang="es-ES" dirty="0"/>
              <a:t>. Prohíbe las conexiones interactivas. Ya hemos encontrado este comando false en el capítulo El </a:t>
            </a:r>
            <a:r>
              <a:rPr lang="es-ES" dirty="0" err="1"/>
              <a:t>shell</a:t>
            </a:r>
            <a:r>
              <a:rPr lang="es-ES" dirty="0"/>
              <a:t> y los comandos GNU: devuelve siempre falso. En cuanto </a:t>
            </a:r>
            <a:r>
              <a:rPr lang="es-ES" dirty="0" err="1"/>
              <a:t>login</a:t>
            </a:r>
            <a:r>
              <a:rPr lang="es-ES" dirty="0"/>
              <a:t> intenta ejecutar el </a:t>
            </a:r>
            <a:r>
              <a:rPr lang="es-ES" dirty="0" err="1"/>
              <a:t>shell</a:t>
            </a:r>
            <a:r>
              <a:rPr lang="es-ES" dirty="0"/>
              <a:t> de conexión, se rechaza al usuario.</a:t>
            </a:r>
            <a:endParaRPr lang="es-ES" dirty="0"/>
          </a:p>
          <a:p>
            <a:endParaRPr lang="es-ES" dirty="0"/>
          </a:p>
          <a:p>
            <a:pPr lvl="1"/>
            <a:r>
              <a:rPr lang="es-ES" dirty="0"/>
              <a:t>El comando /</a:t>
            </a:r>
            <a:r>
              <a:rPr lang="es-ES" dirty="0" err="1"/>
              <a:t>sbin</a:t>
            </a:r>
            <a:r>
              <a:rPr lang="es-ES" dirty="0"/>
              <a:t>/</a:t>
            </a:r>
            <a:r>
              <a:rPr lang="es-ES" dirty="0" err="1"/>
              <a:t>nologin</a:t>
            </a:r>
            <a:r>
              <a:rPr lang="es-ES" dirty="0"/>
              <a:t> hace casi la misma cosa, mostrando el contenido del archivo /</a:t>
            </a:r>
            <a:r>
              <a:rPr lang="es-ES" dirty="0" err="1"/>
              <a:t>etc</a:t>
            </a:r>
            <a:r>
              <a:rPr lang="es-ES" dirty="0"/>
              <a:t>/nologin.txt si existe.</a:t>
            </a:r>
            <a:endParaRPr lang="es-ES" dirty="0"/>
          </a:p>
          <a:p>
            <a:pPr lvl="1"/>
            <a:endParaRPr lang="es-ES" dirty="0"/>
          </a:p>
          <a:p>
            <a:pPr marL="201295" lvl="1" indent="0">
              <a:buNone/>
            </a:pPr>
            <a:r>
              <a:rPr lang="es-ES" b="1" i="1" dirty="0"/>
              <a:t># </a:t>
            </a:r>
            <a:r>
              <a:rPr lang="es-ES" b="1" i="1" dirty="0" err="1"/>
              <a:t>egrep</a:t>
            </a:r>
            <a:r>
              <a:rPr lang="es-ES" b="1" i="1" dirty="0"/>
              <a:t> "(</a:t>
            </a:r>
            <a:r>
              <a:rPr lang="es-ES" b="1" i="1" dirty="0" err="1"/>
              <a:t>false|nologin</a:t>
            </a:r>
            <a:r>
              <a:rPr lang="es-ES" b="1" i="1" dirty="0"/>
              <a:t>)$" /</a:t>
            </a:r>
            <a:r>
              <a:rPr lang="es-ES" b="1" i="1" dirty="0" err="1"/>
              <a:t>etc</a:t>
            </a:r>
            <a:r>
              <a:rPr lang="es-ES" b="1" i="1" dirty="0"/>
              <a:t>/</a:t>
            </a:r>
            <a:r>
              <a:rPr lang="es-ES" b="1" i="1" dirty="0" err="1"/>
              <a:t>passwd</a:t>
            </a:r>
            <a:r>
              <a:rPr lang="es-ES" b="1" i="1" dirty="0"/>
              <a:t>  </a:t>
            </a:r>
            <a:endParaRPr lang="es-ES" b="1" i="1" dirty="0"/>
          </a:p>
          <a:p>
            <a:pPr marL="201295" lvl="1" indent="0">
              <a:buNone/>
            </a:pPr>
            <a:r>
              <a:rPr lang="es-ES" i="1" dirty="0"/>
              <a:t>bin:x:1:1:bin:/</a:t>
            </a:r>
            <a:r>
              <a:rPr lang="es-ES" i="1" dirty="0" err="1"/>
              <a:t>bin</a:t>
            </a:r>
            <a:r>
              <a:rPr lang="es-ES" i="1" dirty="0"/>
              <a:t>:/</a:t>
            </a:r>
            <a:r>
              <a:rPr lang="es-ES" i="1" dirty="0" err="1"/>
              <a:t>sbin</a:t>
            </a:r>
            <a:r>
              <a:rPr lang="es-ES" i="1" dirty="0"/>
              <a:t>/</a:t>
            </a:r>
            <a:r>
              <a:rPr lang="es-ES" i="1" dirty="0" err="1"/>
              <a:t>nologin</a:t>
            </a:r>
            <a:r>
              <a:rPr lang="es-ES" i="1" dirty="0"/>
              <a:t>  </a:t>
            </a:r>
            <a:endParaRPr lang="es-ES" i="1" dirty="0"/>
          </a:p>
          <a:p>
            <a:pPr marL="201295" lvl="1" indent="0">
              <a:buNone/>
            </a:pPr>
            <a:r>
              <a:rPr lang="es-ES" i="1" dirty="0"/>
              <a:t>daemon:x:2:2:daemon:/</a:t>
            </a:r>
            <a:r>
              <a:rPr lang="es-ES" i="1" dirty="0" err="1"/>
              <a:t>sbin</a:t>
            </a:r>
            <a:r>
              <a:rPr lang="es-ES" i="1" dirty="0"/>
              <a:t>:/</a:t>
            </a:r>
            <a:r>
              <a:rPr lang="es-ES" i="1" dirty="0" err="1"/>
              <a:t>sbin</a:t>
            </a:r>
            <a:r>
              <a:rPr lang="es-ES" i="1" dirty="0"/>
              <a:t>/</a:t>
            </a:r>
            <a:r>
              <a:rPr lang="es-ES" i="1" dirty="0" err="1"/>
              <a:t>nologin</a:t>
            </a:r>
            <a:endParaRPr lang="es-ES" i="1"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SEGURIDAD</a:t>
            </a:r>
            <a:endParaRPr lang="es-ES" dirty="0"/>
          </a:p>
        </p:txBody>
      </p:sp>
      <p:sp>
        <p:nvSpPr>
          <p:cNvPr id="3" name="Rectangle 1"/>
          <p:cNvSpPr>
            <a:spLocks noGrp="1" noChangeArrowheads="1"/>
          </p:cNvSpPr>
          <p:nvPr>
            <p:ph idx="1"/>
          </p:nvPr>
        </p:nvSpPr>
        <p:spPr bwMode="auto">
          <a:xfrm>
            <a:off x="1097280" y="1962807"/>
            <a:ext cx="10170100" cy="336548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8872" tIns="88872" rIns="0" bIns="88872"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s-ES" b="1" dirty="0"/>
              <a:t>Prohibir las conexiones</a:t>
            </a:r>
            <a:endParaRPr lang="es-ES" dirty="0"/>
          </a:p>
          <a:p>
            <a:pPr marL="342900" indent="-342900">
              <a:buFont typeface="+mj-lt"/>
              <a:buAutoNum type="arabicPeriod" startAt="2"/>
            </a:pPr>
            <a:r>
              <a:rPr lang="es-ES" b="1" dirty="0"/>
              <a:t>/</a:t>
            </a:r>
            <a:r>
              <a:rPr lang="es-ES" b="1" dirty="0" err="1"/>
              <a:t>etc</a:t>
            </a:r>
            <a:r>
              <a:rPr lang="es-ES" b="1" dirty="0"/>
              <a:t>/</a:t>
            </a:r>
            <a:r>
              <a:rPr lang="es-ES" b="1" dirty="0" err="1"/>
              <a:t>nologin</a:t>
            </a:r>
            <a:endParaRPr lang="es-ES" b="1" dirty="0"/>
          </a:p>
          <a:p>
            <a:r>
              <a:rPr lang="es-ES" dirty="0"/>
              <a:t>Antes de pasar por un </a:t>
            </a:r>
            <a:r>
              <a:rPr lang="es-ES" dirty="0" err="1"/>
              <a:t>seudoshell</a:t>
            </a:r>
            <a:r>
              <a:rPr lang="es-ES" dirty="0"/>
              <a:t> de conexión, los módulos PAM permiten aplicar numerosas limitaciones. Entre ellas, el módulo </a:t>
            </a:r>
            <a:r>
              <a:rPr lang="es-ES" dirty="0" err="1"/>
              <a:t>pam_nologin</a:t>
            </a:r>
            <a:r>
              <a:rPr lang="es-ES" dirty="0"/>
              <a:t>, que le permite prohibir la conexión de los usuarios excepto </a:t>
            </a:r>
            <a:r>
              <a:rPr lang="es-ES" dirty="0" err="1"/>
              <a:t>root</a:t>
            </a:r>
            <a:r>
              <a:rPr lang="es-ES" dirty="0"/>
              <a:t>. Este módulo monitoriza si un usuario intenta conectarse al archivo /</a:t>
            </a:r>
            <a:r>
              <a:rPr lang="es-ES" dirty="0" err="1"/>
              <a:t>etc</a:t>
            </a:r>
            <a:r>
              <a:rPr lang="es-ES" dirty="0"/>
              <a:t>/</a:t>
            </a:r>
            <a:r>
              <a:rPr lang="es-ES" dirty="0" err="1"/>
              <a:t>nologin</a:t>
            </a:r>
            <a:r>
              <a:rPr lang="es-ES" dirty="0"/>
              <a:t>. Es útil para tareas de mantenimiento, ya que sólo </a:t>
            </a:r>
            <a:r>
              <a:rPr lang="es-ES" dirty="0" err="1"/>
              <a:t>root</a:t>
            </a:r>
            <a:r>
              <a:rPr lang="es-ES" dirty="0"/>
              <a:t> se puede conectar.</a:t>
            </a:r>
            <a:endParaRPr lang="es-ES" dirty="0"/>
          </a:p>
          <a:p>
            <a:endParaRPr lang="es-ES" dirty="0"/>
          </a:p>
          <a:p>
            <a:r>
              <a:rPr lang="es-ES" sz="1600" i="1" dirty="0"/>
              <a:t>grep </a:t>
            </a:r>
            <a:r>
              <a:rPr lang="es-ES" sz="1600" i="1" dirty="0" err="1"/>
              <a:t>nologin</a:t>
            </a:r>
            <a:r>
              <a:rPr lang="es-ES" sz="1600" i="1" dirty="0"/>
              <a:t> /</a:t>
            </a:r>
            <a:r>
              <a:rPr lang="es-ES" sz="1600" i="1" dirty="0" err="1"/>
              <a:t>etc</a:t>
            </a:r>
            <a:r>
              <a:rPr lang="es-ES" sz="1600" i="1" dirty="0"/>
              <a:t>/</a:t>
            </a:r>
            <a:r>
              <a:rPr lang="es-ES" sz="1600" i="1" dirty="0" err="1"/>
              <a:t>pam.d</a:t>
            </a:r>
            <a:r>
              <a:rPr lang="es-ES" sz="1600" i="1" dirty="0"/>
              <a:t>/*  </a:t>
            </a:r>
            <a:endParaRPr lang="es-ES" sz="1600" i="1" dirty="0"/>
          </a:p>
          <a:p>
            <a:r>
              <a:rPr lang="es-ES" sz="1600" i="1" dirty="0"/>
              <a:t>/</a:t>
            </a:r>
            <a:r>
              <a:rPr lang="es-ES" sz="1600" i="1" dirty="0" err="1"/>
              <a:t>etc</a:t>
            </a:r>
            <a:r>
              <a:rPr lang="es-ES" sz="1600" i="1" dirty="0"/>
              <a:t>/</a:t>
            </a:r>
            <a:r>
              <a:rPr lang="es-ES" sz="1600" i="1" dirty="0" err="1"/>
              <a:t>pam.d</a:t>
            </a:r>
            <a:r>
              <a:rPr lang="es-ES" sz="1600" i="1" dirty="0"/>
              <a:t>/</a:t>
            </a:r>
            <a:r>
              <a:rPr lang="es-ES" sz="1600" i="1" dirty="0" err="1"/>
              <a:t>gdm-autologin:account</a:t>
            </a:r>
            <a:r>
              <a:rPr lang="es-ES" sz="1600" i="1" dirty="0"/>
              <a:t>    </a:t>
            </a:r>
            <a:r>
              <a:rPr lang="es-ES" sz="1600" i="1" dirty="0" err="1"/>
              <a:t>required</a:t>
            </a:r>
            <a:r>
              <a:rPr lang="es-ES" sz="1600" i="1" dirty="0"/>
              <a:t>    pam_nologin.so  </a:t>
            </a:r>
            <a:endParaRPr lang="es-ES" sz="1600" i="1" dirty="0"/>
          </a:p>
          <a:p>
            <a:r>
              <a:rPr lang="es-ES" sz="1600" i="1" dirty="0"/>
              <a:t>/</a:t>
            </a:r>
            <a:r>
              <a:rPr lang="es-ES" sz="1600" i="1" dirty="0" err="1"/>
              <a:t>etc</a:t>
            </a:r>
            <a:r>
              <a:rPr lang="es-ES" sz="1600" i="1" dirty="0"/>
              <a:t>/</a:t>
            </a:r>
            <a:r>
              <a:rPr lang="es-ES" sz="1600" i="1" dirty="0" err="1"/>
              <a:t>pam.d</a:t>
            </a:r>
            <a:r>
              <a:rPr lang="es-ES" sz="1600" i="1" dirty="0"/>
              <a:t>/</a:t>
            </a:r>
            <a:r>
              <a:rPr lang="es-ES" sz="1600" i="1" dirty="0" err="1"/>
              <a:t>gdm-fingerprint:account</a:t>
            </a:r>
            <a:r>
              <a:rPr lang="es-ES" sz="1600" i="1" dirty="0"/>
              <a:t>     </a:t>
            </a:r>
            <a:r>
              <a:rPr lang="es-ES" sz="1600" i="1" dirty="0" err="1"/>
              <a:t>required</a:t>
            </a:r>
            <a:r>
              <a:rPr lang="es-ES" sz="1600" i="1" dirty="0"/>
              <a:t>      </a:t>
            </a:r>
            <a:r>
              <a:rPr lang="es-ES" sz="1600" i="1" dirty="0" err="1"/>
              <a:t>pam_nologin</a:t>
            </a:r>
            <a:r>
              <a:rPr lang="es-ES" sz="1600" i="1" dirty="0"/>
              <a:t>.</a:t>
            </a:r>
            <a:endParaRPr lang="es-ES" sz="1600" i="1"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SEGURIDAD</a:t>
            </a:r>
            <a:endParaRPr lang="es-ES" dirty="0"/>
          </a:p>
        </p:txBody>
      </p:sp>
      <p:sp>
        <p:nvSpPr>
          <p:cNvPr id="3" name="Rectangle 1"/>
          <p:cNvSpPr>
            <a:spLocks noGrp="1" noChangeArrowheads="1"/>
          </p:cNvSpPr>
          <p:nvPr>
            <p:ph idx="1"/>
          </p:nvPr>
        </p:nvSpPr>
        <p:spPr bwMode="auto">
          <a:xfrm>
            <a:off x="1041430" y="2064131"/>
            <a:ext cx="10170100" cy="37989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8872" tIns="88872" rIns="0" bIns="88872"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s-ES" b="1" dirty="0"/>
              <a:t>Prohibir las conexiones</a:t>
            </a:r>
            <a:endParaRPr lang="es-ES" dirty="0"/>
          </a:p>
          <a:p>
            <a:pPr marL="342900" indent="-342900">
              <a:buFont typeface="+mj-lt"/>
              <a:buAutoNum type="arabicPeriod" startAt="3"/>
            </a:pPr>
            <a:r>
              <a:rPr lang="es-ES" b="1" dirty="0"/>
              <a:t>/</a:t>
            </a:r>
            <a:r>
              <a:rPr lang="es-ES" b="1" dirty="0" err="1"/>
              <a:t>etc</a:t>
            </a:r>
            <a:r>
              <a:rPr lang="es-ES" b="1" dirty="0"/>
              <a:t>/</a:t>
            </a:r>
            <a:r>
              <a:rPr lang="es-ES" b="1" dirty="0" err="1"/>
              <a:t>securetty</a:t>
            </a:r>
            <a:endParaRPr lang="es-ES" b="1" dirty="0"/>
          </a:p>
          <a:p>
            <a:r>
              <a:rPr lang="es-ES" dirty="0"/>
              <a:t>En el mismo estilo, el archivo /</a:t>
            </a:r>
            <a:r>
              <a:rPr lang="es-ES" dirty="0" err="1"/>
              <a:t>etc</a:t>
            </a:r>
            <a:r>
              <a:rPr lang="es-ES" dirty="0"/>
              <a:t>/</a:t>
            </a:r>
            <a:r>
              <a:rPr lang="es-ES" dirty="0" err="1"/>
              <a:t>securetty</a:t>
            </a:r>
            <a:r>
              <a:rPr lang="es-ES" dirty="0"/>
              <a:t> contiene la lista de los terminales considerados como seguros. Para el servicio dado, se prohibirá la conexión si el terminal de la persona que intenta conectarse no está incluido. En el ejemplo siguiente, se autorizan los </a:t>
            </a:r>
            <a:r>
              <a:rPr lang="es-ES" dirty="0" err="1"/>
              <a:t>logins</a:t>
            </a:r>
            <a:r>
              <a:rPr lang="es-ES" dirty="0"/>
              <a:t> (mediante el comando </a:t>
            </a:r>
            <a:r>
              <a:rPr lang="es-ES" dirty="0" err="1"/>
              <a:t>login</a:t>
            </a:r>
            <a:r>
              <a:rPr lang="es-ES" dirty="0"/>
              <a:t>) únicamente desde los </a:t>
            </a:r>
            <a:r>
              <a:rPr lang="es-ES" dirty="0" err="1"/>
              <a:t>seudoterminales</a:t>
            </a:r>
            <a:r>
              <a:rPr lang="es-ES" dirty="0"/>
              <a:t> locales, es decir, sólo desde las consolas directamente accesibles en el ordenador mediante las combinaciones [Alt][F1] a [Alt][F7].</a:t>
            </a:r>
            <a:endParaRPr lang="es-ES" dirty="0"/>
          </a:p>
          <a:p>
            <a:pPr marL="201295" lvl="1" indent="0">
              <a:buNone/>
            </a:pPr>
            <a:r>
              <a:rPr lang="es-ES" sz="1200" i="1" dirty="0"/>
              <a:t># grep </a:t>
            </a:r>
            <a:r>
              <a:rPr lang="es-ES" sz="1200" i="1" dirty="0" err="1"/>
              <a:t>securetty</a:t>
            </a:r>
            <a:r>
              <a:rPr lang="es-ES" sz="1200" i="1" dirty="0"/>
              <a:t> /</a:t>
            </a:r>
            <a:r>
              <a:rPr lang="es-ES" sz="1200" i="1" dirty="0" err="1"/>
              <a:t>etc</a:t>
            </a:r>
            <a:r>
              <a:rPr lang="es-ES" sz="1200" i="1" dirty="0"/>
              <a:t>/</a:t>
            </a:r>
            <a:r>
              <a:rPr lang="es-ES" sz="1200" i="1" dirty="0" err="1"/>
              <a:t>pam.d</a:t>
            </a:r>
            <a:r>
              <a:rPr lang="es-ES" sz="1200" i="1" dirty="0"/>
              <a:t>/*  </a:t>
            </a:r>
            <a:endParaRPr lang="es-ES" sz="1200" i="1" dirty="0"/>
          </a:p>
          <a:p>
            <a:pPr marL="201295" lvl="1" indent="0">
              <a:buNone/>
            </a:pPr>
            <a:r>
              <a:rPr lang="es-ES" sz="1200" i="1" dirty="0"/>
              <a:t>/</a:t>
            </a:r>
            <a:r>
              <a:rPr lang="es-ES" sz="1200" i="1" dirty="0" err="1"/>
              <a:t>etc</a:t>
            </a:r>
            <a:r>
              <a:rPr lang="es-ES" sz="1200" i="1" dirty="0"/>
              <a:t>/</a:t>
            </a:r>
            <a:r>
              <a:rPr lang="es-ES" sz="1200" i="1" dirty="0" err="1"/>
              <a:t>pam.d</a:t>
            </a:r>
            <a:r>
              <a:rPr lang="es-ES" sz="1200" i="1" dirty="0"/>
              <a:t>/</a:t>
            </a:r>
            <a:r>
              <a:rPr lang="es-ES" sz="1200" i="1" dirty="0" err="1"/>
              <a:t>login:auth</a:t>
            </a:r>
            <a:r>
              <a:rPr lang="es-ES" sz="1200" i="1" dirty="0"/>
              <a:t> [</a:t>
            </a:r>
            <a:r>
              <a:rPr lang="es-ES" sz="1200" i="1" dirty="0" err="1"/>
              <a:t>user_unknown</a:t>
            </a:r>
            <a:r>
              <a:rPr lang="es-ES" sz="1200" i="1" dirty="0"/>
              <a:t>=ignore </a:t>
            </a:r>
            <a:r>
              <a:rPr lang="es-ES" sz="1200" i="1" dirty="0" err="1"/>
              <a:t>success</a:t>
            </a:r>
            <a:r>
              <a:rPr lang="es-ES" sz="1200" i="1" dirty="0"/>
              <a:t>=ok ignore=ignore  </a:t>
            </a:r>
            <a:endParaRPr lang="es-ES" sz="1200" i="1" dirty="0"/>
          </a:p>
          <a:p>
            <a:pPr marL="201295" lvl="1" indent="0">
              <a:buNone/>
            </a:pPr>
            <a:r>
              <a:rPr lang="es-ES" sz="1200" i="1" dirty="0"/>
              <a:t>default=</a:t>
            </a:r>
            <a:r>
              <a:rPr lang="es-ES" sz="1200" i="1" dirty="0" err="1"/>
              <a:t>bad</a:t>
            </a:r>
            <a:r>
              <a:rPr lang="es-ES" sz="1200" i="1" dirty="0"/>
              <a:t>] pam_securetty.so  </a:t>
            </a:r>
            <a:endParaRPr lang="es-ES" sz="1200" i="1" dirty="0"/>
          </a:p>
          <a:p>
            <a:pPr marL="201295" lvl="1" indent="0">
              <a:buNone/>
            </a:pPr>
            <a:r>
              <a:rPr lang="es-ES" sz="1200" i="1" dirty="0"/>
              <a:t>/</a:t>
            </a:r>
            <a:r>
              <a:rPr lang="es-ES" sz="1200" i="1" dirty="0" err="1"/>
              <a:t>etc</a:t>
            </a:r>
            <a:r>
              <a:rPr lang="es-ES" sz="1200" i="1" dirty="0"/>
              <a:t>/</a:t>
            </a:r>
            <a:r>
              <a:rPr lang="es-ES" sz="1200" i="1" dirty="0" err="1"/>
              <a:t>pam.d</a:t>
            </a:r>
            <a:r>
              <a:rPr lang="es-ES" sz="1200" i="1" dirty="0"/>
              <a:t>/</a:t>
            </a:r>
            <a:r>
              <a:rPr lang="es-ES" sz="1200" i="1" dirty="0" err="1"/>
              <a:t>remote:auth</a:t>
            </a:r>
            <a:r>
              <a:rPr lang="es-ES" sz="1200" i="1" dirty="0"/>
              <a:t>       </a:t>
            </a:r>
            <a:r>
              <a:rPr lang="es-ES" sz="1200" i="1" dirty="0" err="1"/>
              <a:t>required</a:t>
            </a:r>
            <a:r>
              <a:rPr lang="es-ES" sz="1200" i="1" dirty="0"/>
              <a:t>     pam_securetty.so  </a:t>
            </a:r>
            <a:endParaRPr lang="es-ES" sz="1200" i="1" dirty="0"/>
          </a:p>
          <a:p>
            <a:pPr marL="201295" lvl="1" indent="0">
              <a:buNone/>
            </a:pPr>
            <a:r>
              <a:rPr lang="es-ES" sz="1200" i="1" dirty="0"/>
              <a:t>  </a:t>
            </a:r>
            <a:endParaRPr lang="es-ES" sz="1200" i="1" dirty="0"/>
          </a:p>
          <a:p>
            <a:pPr marL="201295" lvl="1" indent="0">
              <a:buNone/>
            </a:pPr>
            <a:r>
              <a:rPr lang="es-ES" sz="1200" i="1" dirty="0"/>
              <a:t>$ </a:t>
            </a:r>
            <a:r>
              <a:rPr lang="es-ES" sz="1200" i="1" dirty="0" err="1"/>
              <a:t>cat</a:t>
            </a:r>
            <a:r>
              <a:rPr lang="es-ES" sz="1200" i="1" dirty="0"/>
              <a:t> /</a:t>
            </a:r>
            <a:r>
              <a:rPr lang="es-ES" sz="1200" i="1" dirty="0" err="1"/>
              <a:t>etc</a:t>
            </a:r>
            <a:r>
              <a:rPr lang="es-ES" sz="1200" i="1" dirty="0"/>
              <a:t>/</a:t>
            </a:r>
            <a:r>
              <a:rPr lang="es-ES" sz="1200" i="1" dirty="0" err="1"/>
              <a:t>securetty</a:t>
            </a:r>
            <a:r>
              <a:rPr lang="es-ES" sz="1200" i="1" dirty="0"/>
              <a:t>  </a:t>
            </a:r>
            <a:endParaRPr lang="es-ES" sz="1200" i="1" dirty="0"/>
          </a:p>
          <a:p>
            <a:pPr marL="201295" lvl="1" indent="0">
              <a:buNone/>
            </a:pPr>
            <a:r>
              <a:rPr lang="es-ES" sz="1200" i="1" dirty="0"/>
              <a:t>tty1 </a:t>
            </a:r>
            <a:endParaRPr lang="es-ES" sz="1200" i="1"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SEGURIDAD</a:t>
            </a:r>
            <a:endParaRPr lang="es-ES" dirty="0"/>
          </a:p>
        </p:txBody>
      </p:sp>
      <p:sp>
        <p:nvSpPr>
          <p:cNvPr id="3" name="Rectangle 1"/>
          <p:cNvSpPr>
            <a:spLocks noGrp="1" noChangeArrowheads="1"/>
          </p:cNvSpPr>
          <p:nvPr>
            <p:ph idx="1"/>
          </p:nvPr>
        </p:nvSpPr>
        <p:spPr bwMode="auto">
          <a:xfrm>
            <a:off x="1097280" y="2159846"/>
            <a:ext cx="10170100" cy="379303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8872" tIns="88872" rIns="0" bIns="88872"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s-ES" b="1" dirty="0"/>
              <a:t>Limitar al usuario</a:t>
            </a:r>
            <a:endParaRPr lang="es-ES" b="1" dirty="0"/>
          </a:p>
          <a:p>
            <a:r>
              <a:rPr lang="es-ES" dirty="0"/>
              <a:t>El campo de acción de los PAM es más amplio que la simple conexión, ya que gestiona también el entorno del usuario. Incluso antes de ver el módulo en cuestión, el comando </a:t>
            </a:r>
            <a:r>
              <a:rPr lang="es-ES" dirty="0" err="1"/>
              <a:t>ulimit</a:t>
            </a:r>
            <a:r>
              <a:rPr lang="es-ES" dirty="0"/>
              <a:t> permite actuar en el entorno del </a:t>
            </a:r>
            <a:r>
              <a:rPr lang="es-ES" dirty="0" err="1"/>
              <a:t>shell</a:t>
            </a:r>
            <a:r>
              <a:rPr lang="es-ES" dirty="0"/>
              <a:t> y de los procesos que controla. El parámetro -a muestra las opciones controladas por </a:t>
            </a:r>
            <a:r>
              <a:rPr lang="es-ES" dirty="0" err="1"/>
              <a:t>ulimit</a:t>
            </a:r>
            <a:r>
              <a:rPr lang="es-ES" dirty="0"/>
              <a:t>:</a:t>
            </a:r>
            <a:endParaRPr lang="es-ES" dirty="0"/>
          </a:p>
          <a:p>
            <a:r>
              <a:rPr lang="es-ES" dirty="0"/>
              <a:t>Las líneas en negrita merecen su atención.</a:t>
            </a:r>
            <a:endParaRPr lang="es-ES" dirty="0"/>
          </a:p>
          <a:p>
            <a:pPr lvl="1"/>
            <a:r>
              <a:rPr lang="es-ES" dirty="0" err="1"/>
              <a:t>max</a:t>
            </a:r>
            <a:r>
              <a:rPr lang="es-ES" dirty="0"/>
              <a:t> </a:t>
            </a:r>
            <a:r>
              <a:rPr lang="es-ES" dirty="0" err="1"/>
              <a:t>memory</a:t>
            </a:r>
            <a:r>
              <a:rPr lang="es-ES" dirty="0"/>
              <a:t> </a:t>
            </a:r>
            <a:r>
              <a:rPr lang="es-ES" dirty="0" err="1"/>
              <a:t>size</a:t>
            </a:r>
            <a:r>
              <a:rPr lang="es-ES" dirty="0"/>
              <a:t>: el tamaño de memoria máximo que puede ocupar el usuario;</a:t>
            </a:r>
            <a:endParaRPr lang="es-ES" dirty="0"/>
          </a:p>
          <a:p>
            <a:pPr lvl="1"/>
            <a:r>
              <a:rPr lang="es-ES" dirty="0"/>
              <a:t>open files: el número máximo de descriptores de archivos; por lo tanto, el número máximo de archivos que se pueden abrir;</a:t>
            </a:r>
            <a:endParaRPr lang="es-ES" dirty="0"/>
          </a:p>
          <a:p>
            <a:pPr lvl="1"/>
            <a:r>
              <a:rPr lang="es-ES" dirty="0" err="1"/>
              <a:t>max</a:t>
            </a:r>
            <a:r>
              <a:rPr lang="es-ES" dirty="0"/>
              <a:t> </a:t>
            </a:r>
            <a:r>
              <a:rPr lang="es-ES" dirty="0" err="1"/>
              <a:t>user</a:t>
            </a:r>
            <a:r>
              <a:rPr lang="es-ES" dirty="0"/>
              <a:t> </a:t>
            </a:r>
            <a:r>
              <a:rPr lang="es-ES" dirty="0" err="1"/>
              <a:t>processes</a:t>
            </a:r>
            <a:r>
              <a:rPr lang="es-ES" dirty="0"/>
              <a:t>: el número máximo de procesos que puede iniciar un usuario.</a:t>
            </a:r>
            <a:endParaRPr lang="es-ES" dirty="0"/>
          </a:p>
          <a:p>
            <a:endParaRPr lang="es-ES" dirty="0"/>
          </a:p>
          <a:p>
            <a:pPr marL="0" indent="0">
              <a:buNone/>
            </a:pPr>
            <a:endParaRPr lang="es-E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SEGURIDAD</a:t>
            </a:r>
            <a:endParaRPr lang="es-ES" dirty="0"/>
          </a:p>
        </p:txBody>
      </p:sp>
      <p:sp>
        <p:nvSpPr>
          <p:cNvPr id="3" name="Rectangle 1"/>
          <p:cNvSpPr>
            <a:spLocks noGrp="1" noChangeArrowheads="1"/>
          </p:cNvSpPr>
          <p:nvPr>
            <p:ph idx="1"/>
          </p:nvPr>
        </p:nvSpPr>
        <p:spPr bwMode="auto">
          <a:xfrm>
            <a:off x="985580" y="2081665"/>
            <a:ext cx="10170100" cy="413492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8872" tIns="88872" rIns="0" bIns="88872"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s-ES" b="1" dirty="0"/>
              <a:t>Limitar al usuario</a:t>
            </a:r>
            <a:endParaRPr lang="es-ES" b="1" dirty="0"/>
          </a:p>
          <a:p>
            <a:r>
              <a:rPr lang="es-ES" sz="1600" dirty="0"/>
              <a:t>Se pueden cambiar estos valores según ciertos límites impuestos por el administrador. Existen límites </a:t>
            </a:r>
            <a:r>
              <a:rPr lang="es-ES" sz="1600" dirty="0" err="1"/>
              <a:t>soft</a:t>
            </a:r>
            <a:r>
              <a:rPr lang="es-ES" sz="1600" dirty="0"/>
              <a:t> (suaves o bajos) que son los valores por defecto devueltos por </a:t>
            </a:r>
            <a:r>
              <a:rPr lang="es-ES" sz="1600" dirty="0" err="1"/>
              <a:t>ulimit</a:t>
            </a:r>
            <a:r>
              <a:rPr lang="es-ES" sz="1600" dirty="0"/>
              <a:t>, y límites </a:t>
            </a:r>
            <a:r>
              <a:rPr lang="es-ES" sz="1600" dirty="0" err="1"/>
              <a:t>hard</a:t>
            </a:r>
            <a:r>
              <a:rPr lang="es-ES" sz="1600" dirty="0"/>
              <a:t> (duros, altos), que no se pueden superar.</a:t>
            </a:r>
            <a:endParaRPr lang="es-ES" sz="1600" dirty="0"/>
          </a:p>
          <a:p>
            <a:r>
              <a:rPr lang="es-ES" sz="1600" dirty="0"/>
              <a:t>Para pasar el número máximo de archivos abiertos a 2048:</a:t>
            </a:r>
            <a:endParaRPr lang="es-ES" sz="1600" dirty="0"/>
          </a:p>
          <a:p>
            <a:pPr marL="292735" lvl="1" indent="0">
              <a:buNone/>
            </a:pPr>
            <a:r>
              <a:rPr lang="es-ES" b="1" dirty="0"/>
              <a:t>$ </a:t>
            </a:r>
            <a:r>
              <a:rPr lang="es-ES" b="1" dirty="0" err="1"/>
              <a:t>ulimit</a:t>
            </a:r>
            <a:r>
              <a:rPr lang="es-ES" b="1" dirty="0"/>
              <a:t> -n 2048 </a:t>
            </a:r>
            <a:endParaRPr lang="es-ES" b="1" dirty="0"/>
          </a:p>
          <a:p>
            <a:pPr marL="292735" lvl="1" indent="0">
              <a:buNone/>
            </a:pPr>
            <a:r>
              <a:rPr lang="es-ES" b="1" dirty="0"/>
              <a:t>$ </a:t>
            </a:r>
            <a:r>
              <a:rPr lang="es-ES" b="1" dirty="0" err="1"/>
              <a:t>ulimit</a:t>
            </a:r>
            <a:r>
              <a:rPr lang="es-ES" b="1" dirty="0"/>
              <a:t> -n </a:t>
            </a:r>
            <a:endParaRPr lang="es-ES" b="1" dirty="0"/>
          </a:p>
          <a:p>
            <a:pPr marL="201295" lvl="1" indent="0">
              <a:buNone/>
            </a:pPr>
            <a:r>
              <a:rPr lang="es-ES" b="1" dirty="0"/>
              <a:t>  2048</a:t>
            </a:r>
            <a:endParaRPr lang="es-ES" b="1" dirty="0"/>
          </a:p>
          <a:p>
            <a:pPr marL="201295" lvl="1" indent="0">
              <a:buNone/>
            </a:pPr>
            <a:r>
              <a:rPr lang="es-ES" dirty="0"/>
              <a:t>El administrador </a:t>
            </a:r>
            <a:r>
              <a:rPr lang="es-ES" dirty="0" err="1"/>
              <a:t>root</a:t>
            </a:r>
            <a:r>
              <a:rPr lang="es-ES" dirty="0"/>
              <a:t> puede controlar los valores por defecto gracias al archivo </a:t>
            </a:r>
            <a:r>
              <a:rPr lang="es-ES" b="1" dirty="0"/>
              <a:t>/</a:t>
            </a:r>
            <a:r>
              <a:rPr lang="es-ES" b="1" dirty="0" err="1"/>
              <a:t>etc</a:t>
            </a:r>
            <a:r>
              <a:rPr lang="es-ES" b="1" dirty="0"/>
              <a:t>/</a:t>
            </a:r>
            <a:r>
              <a:rPr lang="es-ES" b="1" dirty="0" err="1"/>
              <a:t>security</a:t>
            </a:r>
            <a:r>
              <a:rPr lang="es-ES" b="1" dirty="0"/>
              <a:t>/</a:t>
            </a:r>
            <a:r>
              <a:rPr lang="es-ES" b="1" dirty="0" err="1"/>
              <a:t>limits.conf</a:t>
            </a:r>
            <a:r>
              <a:rPr lang="es-ES" b="1" dirty="0"/>
              <a:t>.</a:t>
            </a:r>
            <a:endParaRPr lang="es-ES" b="1" dirty="0"/>
          </a:p>
          <a:p>
            <a:pPr marL="201295" lvl="1" indent="0">
              <a:buNone/>
            </a:pPr>
            <a:endParaRPr lang="es-ES" b="1" dirty="0"/>
          </a:p>
          <a:p>
            <a:pPr marL="292735" lvl="1" indent="0">
              <a:buNone/>
            </a:pPr>
            <a:r>
              <a:rPr lang="es-ES" sz="1400" b="1" i="1" dirty="0"/>
              <a:t>$ grep </a:t>
            </a:r>
            <a:r>
              <a:rPr lang="es-ES" sz="1400" b="1" i="1" dirty="0" err="1"/>
              <a:t>seb</a:t>
            </a:r>
            <a:r>
              <a:rPr lang="es-ES" sz="1400" b="1" i="1" dirty="0"/>
              <a:t> /</a:t>
            </a:r>
            <a:r>
              <a:rPr lang="es-ES" sz="1400" b="1" i="1" dirty="0" err="1"/>
              <a:t>etc</a:t>
            </a:r>
            <a:r>
              <a:rPr lang="es-ES" sz="1400" b="1" i="1" dirty="0"/>
              <a:t>/</a:t>
            </a:r>
            <a:r>
              <a:rPr lang="es-ES" sz="1400" b="1" i="1" dirty="0" err="1"/>
              <a:t>security</a:t>
            </a:r>
            <a:r>
              <a:rPr lang="es-ES" sz="1400" b="1" i="1" dirty="0"/>
              <a:t>/</a:t>
            </a:r>
            <a:r>
              <a:rPr lang="es-ES" sz="1400" b="1" i="1" dirty="0" err="1"/>
              <a:t>limits.conf</a:t>
            </a:r>
            <a:r>
              <a:rPr lang="es-ES" sz="1400" b="1" i="1" dirty="0"/>
              <a:t> </a:t>
            </a:r>
            <a:endParaRPr lang="es-ES" sz="1400" b="1" i="1" dirty="0"/>
          </a:p>
          <a:p>
            <a:pPr marL="201295" lvl="1" indent="0">
              <a:buNone/>
            </a:pPr>
            <a:r>
              <a:rPr lang="es-ES" sz="1400" b="1" i="1" dirty="0"/>
              <a:t>    </a:t>
            </a:r>
            <a:r>
              <a:rPr lang="es-ES" sz="1400" b="1" i="1" dirty="0" err="1"/>
              <a:t>seb</a:t>
            </a:r>
            <a:r>
              <a:rPr lang="es-ES" sz="1400" b="1" i="1" dirty="0"/>
              <a:t>             </a:t>
            </a:r>
            <a:r>
              <a:rPr lang="es-ES" sz="1400" b="1" i="1" dirty="0" err="1"/>
              <a:t>hard</a:t>
            </a:r>
            <a:r>
              <a:rPr lang="es-ES" sz="1400" b="1" i="1" dirty="0"/>
              <a:t>    </a:t>
            </a:r>
            <a:r>
              <a:rPr lang="es-ES" sz="1400" b="1" i="1" dirty="0" err="1"/>
              <a:t>nproc</a:t>
            </a:r>
            <a:r>
              <a:rPr lang="es-ES" sz="1400" b="1" i="1" dirty="0"/>
              <a:t>         32768 </a:t>
            </a:r>
            <a:endParaRPr lang="es-ES" sz="1400" b="1" i="1" dirty="0"/>
          </a:p>
          <a:p>
            <a:pPr marL="201295" lvl="1" indent="0">
              <a:buNone/>
            </a:pPr>
            <a:endParaRPr lang="es-ES" sz="1400" b="1" i="1" dirty="0"/>
          </a:p>
          <a:p>
            <a:r>
              <a:rPr lang="es-ES" sz="1600" dirty="0"/>
              <a:t>En este ejemplo, el usuario </a:t>
            </a:r>
            <a:r>
              <a:rPr lang="es-ES" sz="1600" dirty="0" err="1"/>
              <a:t>Seb</a:t>
            </a:r>
            <a:r>
              <a:rPr lang="es-ES" sz="1600" dirty="0"/>
              <a:t> está limitado a un máximo de 32.768 procesos, puede abrir por defecto 1.024 archivos, pero puede montar 4.096 mediante una acción </a:t>
            </a:r>
            <a:r>
              <a:rPr lang="es-ES" sz="1600" dirty="0" err="1"/>
              <a:t>ulimit</a:t>
            </a:r>
            <a:r>
              <a:rPr lang="es-ES" sz="1600" dirty="0"/>
              <a:t> por su parte.</a:t>
            </a:r>
            <a:endParaRPr lang="es-ES" sz="16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SEGURIDAD</a:t>
            </a:r>
            <a:endParaRPr lang="es-ES" dirty="0"/>
          </a:p>
        </p:txBody>
      </p:sp>
      <p:sp>
        <p:nvSpPr>
          <p:cNvPr id="3" name="Rectangle 1"/>
          <p:cNvSpPr>
            <a:spLocks noGrp="1" noChangeArrowheads="1"/>
          </p:cNvSpPr>
          <p:nvPr>
            <p:ph idx="1"/>
          </p:nvPr>
        </p:nvSpPr>
        <p:spPr bwMode="auto">
          <a:xfrm>
            <a:off x="985580" y="2066275"/>
            <a:ext cx="10170100" cy="41656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8872" tIns="88872" rIns="0" bIns="88872"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s-ES" b="1" dirty="0"/>
              <a:t>Privilegios de usuario</a:t>
            </a:r>
            <a:endParaRPr lang="es-ES" b="1" dirty="0"/>
          </a:p>
          <a:p>
            <a:r>
              <a:rPr lang="es-ES" sz="1600" dirty="0"/>
              <a:t>Los archivos de configuración de sudo son /</a:t>
            </a:r>
            <a:r>
              <a:rPr lang="es-ES" sz="1600" dirty="0" err="1"/>
              <a:t>etc</a:t>
            </a:r>
            <a:r>
              <a:rPr lang="es-ES" sz="1600" dirty="0"/>
              <a:t>/</a:t>
            </a:r>
            <a:r>
              <a:rPr lang="es-ES" sz="1600" dirty="0" err="1"/>
              <a:t>sudoers</a:t>
            </a:r>
            <a:r>
              <a:rPr lang="es-ES" sz="1600" dirty="0"/>
              <a:t> y los archivos en /</a:t>
            </a:r>
            <a:r>
              <a:rPr lang="es-ES" sz="1600" dirty="0" err="1"/>
              <a:t>etc</a:t>
            </a:r>
            <a:r>
              <a:rPr lang="es-ES" sz="1600" dirty="0"/>
              <a:t>/</a:t>
            </a:r>
            <a:r>
              <a:rPr lang="es-ES" sz="1600" dirty="0" err="1"/>
              <a:t>sudoers.d</a:t>
            </a:r>
            <a:r>
              <a:rPr lang="es-ES" sz="1600" dirty="0"/>
              <a:t>/*. Es posible editarlos a mano o con el comando </a:t>
            </a:r>
            <a:r>
              <a:rPr lang="es-ES" sz="1600" b="1" dirty="0" err="1"/>
              <a:t>visudo</a:t>
            </a:r>
            <a:r>
              <a:rPr lang="es-ES" sz="1600" dirty="0"/>
              <a:t>. Este último comando comprueba la sintaxis del archivo en el momento de guardar. La clásica sintaxis de una línea sudo es la siguiente:</a:t>
            </a:r>
            <a:endParaRPr lang="es-ES" sz="1600" dirty="0"/>
          </a:p>
          <a:p>
            <a:pPr algn="ctr"/>
            <a:r>
              <a:rPr lang="es-ES" b="1" dirty="0" err="1"/>
              <a:t>user</a:t>
            </a:r>
            <a:r>
              <a:rPr lang="es-ES" b="1" dirty="0"/>
              <a:t>    máquina = (user2) comando</a:t>
            </a:r>
            <a:endParaRPr lang="es-ES" b="1" dirty="0"/>
          </a:p>
          <a:p>
            <a:pPr lvl="1"/>
            <a:r>
              <a:rPr lang="es-ES" b="1" dirty="0" err="1"/>
              <a:t>user</a:t>
            </a:r>
            <a:r>
              <a:rPr lang="es-ES" dirty="0"/>
              <a:t>: el usuario (o alias) al cual se aplica la regla.</a:t>
            </a:r>
            <a:endParaRPr lang="es-ES" dirty="0"/>
          </a:p>
          <a:p>
            <a:pPr lvl="1"/>
            <a:r>
              <a:rPr lang="es-ES" b="1" dirty="0"/>
              <a:t>máquina</a:t>
            </a:r>
            <a:r>
              <a:rPr lang="es-ES" dirty="0"/>
              <a:t>: la máquina (o el alias) en la cual se aplica la regla.</a:t>
            </a:r>
            <a:endParaRPr lang="es-ES" dirty="0"/>
          </a:p>
          <a:p>
            <a:pPr lvl="1"/>
            <a:r>
              <a:rPr lang="es-ES" b="1" dirty="0"/>
              <a:t>user2</a:t>
            </a:r>
            <a:r>
              <a:rPr lang="es-ES" dirty="0"/>
              <a:t>: la cuenta con la cual el usuario ejecutará el comando.</a:t>
            </a:r>
            <a:endParaRPr lang="es-ES" dirty="0"/>
          </a:p>
          <a:p>
            <a:pPr lvl="1"/>
            <a:r>
              <a:rPr lang="es-ES" b="1" dirty="0"/>
              <a:t>comando</a:t>
            </a:r>
            <a:r>
              <a:rPr lang="es-ES" dirty="0"/>
              <a:t>: el comando que se va a ejecutar.</a:t>
            </a:r>
            <a:endParaRPr lang="es-ES" dirty="0"/>
          </a:p>
          <a:p>
            <a:endParaRPr lang="es-ES" sz="1600" dirty="0"/>
          </a:p>
          <a:p>
            <a:r>
              <a:rPr lang="es-ES" sz="1600" dirty="0"/>
              <a:t>Por ejemplo, la línea siguiente va a autorizar al usuario </a:t>
            </a:r>
            <a:r>
              <a:rPr lang="es-ES" sz="1600" dirty="0" err="1"/>
              <a:t>Seb</a:t>
            </a:r>
            <a:r>
              <a:rPr lang="es-ES" sz="1600" dirty="0"/>
              <a:t> a ejecutar el comando </a:t>
            </a:r>
            <a:r>
              <a:rPr lang="es-ES" sz="1600" dirty="0" err="1"/>
              <a:t>fsck</a:t>
            </a:r>
            <a:r>
              <a:rPr lang="es-ES" sz="1600" dirty="0"/>
              <a:t> y sus parámetros con los derechos </a:t>
            </a:r>
            <a:r>
              <a:rPr lang="es-ES" sz="1600" dirty="0" err="1"/>
              <a:t>root</a:t>
            </a:r>
            <a:r>
              <a:rPr lang="es-ES" sz="1600" dirty="0"/>
              <a:t> sobre cualquier máquina (donde esté presente esta regla):</a:t>
            </a:r>
            <a:endParaRPr lang="es-ES" sz="1600" dirty="0"/>
          </a:p>
          <a:p>
            <a:endParaRPr lang="es-ES" sz="1600" dirty="0"/>
          </a:p>
          <a:p>
            <a:pPr algn="ctr"/>
            <a:r>
              <a:rPr lang="es-ES" sz="1600" b="1" dirty="0" err="1"/>
              <a:t>seb</a:t>
            </a:r>
            <a:r>
              <a:rPr lang="es-ES" sz="1600" b="1" dirty="0"/>
              <a:t>        ALL = /</a:t>
            </a:r>
            <a:r>
              <a:rPr lang="es-ES" sz="1600" b="1" dirty="0" err="1"/>
              <a:t>sbin</a:t>
            </a:r>
            <a:r>
              <a:rPr lang="es-ES" sz="1600" b="1" dirty="0"/>
              <a:t>/</a:t>
            </a:r>
            <a:r>
              <a:rPr lang="es-ES" sz="1600" b="1" dirty="0" err="1"/>
              <a:t>fsck</a:t>
            </a:r>
            <a:endParaRPr lang="es-ES" sz="1600" b="1"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SEGURIDAD</a:t>
            </a:r>
            <a:endParaRPr lang="es-ES" dirty="0"/>
          </a:p>
        </p:txBody>
      </p:sp>
      <p:sp>
        <p:nvSpPr>
          <p:cNvPr id="3" name="Rectangle 1"/>
          <p:cNvSpPr>
            <a:spLocks noGrp="1" noChangeArrowheads="1"/>
          </p:cNvSpPr>
          <p:nvPr>
            <p:ph idx="1"/>
          </p:nvPr>
        </p:nvSpPr>
        <p:spPr bwMode="auto">
          <a:xfrm>
            <a:off x="1097280" y="2135256"/>
            <a:ext cx="10170100" cy="363016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8872" tIns="88872" rIns="0" bIns="88872"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s-ES" b="1" dirty="0"/>
              <a:t>Privilegios de usuario</a:t>
            </a:r>
            <a:endParaRPr lang="es-ES" b="1" dirty="0"/>
          </a:p>
          <a:p>
            <a:r>
              <a:rPr lang="es-ES" sz="1600" dirty="0"/>
              <a:t>Sintaxis de /</a:t>
            </a:r>
            <a:r>
              <a:rPr lang="es-ES" sz="1600" dirty="0" err="1"/>
              <a:t>etc</a:t>
            </a:r>
            <a:r>
              <a:rPr lang="es-ES" sz="1600" dirty="0"/>
              <a:t>/</a:t>
            </a:r>
            <a:r>
              <a:rPr lang="es-ES" sz="1600" dirty="0" err="1"/>
              <a:t>sudoers</a:t>
            </a:r>
            <a:endParaRPr lang="es-ES" sz="1600" dirty="0"/>
          </a:p>
          <a:p>
            <a:pPr marL="0" indent="0">
              <a:buNone/>
            </a:pPr>
            <a:r>
              <a:rPr lang="es-ES" sz="1600" dirty="0"/>
              <a:t> Es posible:</a:t>
            </a:r>
            <a:endParaRPr lang="es-ES" sz="1600" dirty="0"/>
          </a:p>
          <a:p>
            <a:pPr lvl="1"/>
            <a:r>
              <a:rPr lang="es-ES" sz="1400" dirty="0"/>
              <a:t>crear grupos de usuarios,</a:t>
            </a:r>
            <a:endParaRPr lang="es-ES" sz="1400" dirty="0"/>
          </a:p>
          <a:p>
            <a:pPr lvl="1"/>
            <a:r>
              <a:rPr lang="es-ES" sz="1400" dirty="0"/>
              <a:t>crear grupos de máquinas,</a:t>
            </a:r>
            <a:endParaRPr lang="es-ES" sz="1400" dirty="0"/>
          </a:p>
          <a:p>
            <a:pPr lvl="1"/>
            <a:r>
              <a:rPr lang="es-ES" sz="1400" dirty="0"/>
              <a:t>crear grupos de comandos,</a:t>
            </a:r>
            <a:endParaRPr lang="es-ES" sz="1400" dirty="0"/>
          </a:p>
          <a:p>
            <a:pPr lvl="1"/>
            <a:r>
              <a:rPr lang="es-ES" sz="1400" dirty="0"/>
              <a:t>forzar o no el uso de una contraseña,</a:t>
            </a:r>
            <a:endParaRPr lang="es-ES" sz="1400" dirty="0"/>
          </a:p>
          <a:p>
            <a:pPr lvl="1"/>
            <a:r>
              <a:rPr lang="es-ES" sz="1400" dirty="0"/>
              <a:t>forzar la ejecución de un comando bajo un usuario distinto de </a:t>
            </a:r>
            <a:r>
              <a:rPr lang="es-ES" sz="1400" dirty="0" err="1"/>
              <a:t>root</a:t>
            </a:r>
            <a:r>
              <a:rPr lang="es-ES" sz="1400" dirty="0"/>
              <a:t>.</a:t>
            </a:r>
            <a:endParaRPr lang="es-ES" sz="1400" dirty="0"/>
          </a:p>
          <a:p>
            <a:endParaRPr lang="es-ES" sz="1600" dirty="0"/>
          </a:p>
          <a:p>
            <a:r>
              <a:rPr lang="es-ES" sz="1600" dirty="0"/>
              <a:t>Los grupos se llaman alias. Para crear alias de usuarios, utilice esta sintaxis:</a:t>
            </a:r>
            <a:endParaRPr lang="es-ES" sz="1600" dirty="0"/>
          </a:p>
          <a:p>
            <a:pPr algn="ctr"/>
            <a:r>
              <a:rPr lang="es-ES" sz="1600" b="1" dirty="0" err="1"/>
              <a:t>User_Alias</a:t>
            </a:r>
            <a:r>
              <a:rPr lang="es-ES" sz="1600" b="1" dirty="0"/>
              <a:t> ADMINS = </a:t>
            </a:r>
            <a:r>
              <a:rPr lang="es-ES" sz="1600" b="1" dirty="0" err="1"/>
              <a:t>seb</a:t>
            </a:r>
            <a:r>
              <a:rPr lang="es-ES" sz="1600" b="1" dirty="0"/>
              <a:t>, esteban, enrique</a:t>
            </a:r>
            <a:endParaRPr lang="es-ES" sz="1600" b="1" dirty="0"/>
          </a:p>
          <a:p>
            <a:r>
              <a:rPr lang="es-ES" sz="1600" dirty="0"/>
              <a:t>Si todos los administradores deben poder utilizar el comando </a:t>
            </a:r>
            <a:r>
              <a:rPr lang="es-ES" sz="1600" dirty="0" err="1"/>
              <a:t>fsck</a:t>
            </a:r>
            <a:r>
              <a:rPr lang="es-ES" sz="1600" dirty="0"/>
              <a:t>, la línea se convierte en:</a:t>
            </a:r>
            <a:endParaRPr lang="es-ES" sz="1600" dirty="0"/>
          </a:p>
          <a:p>
            <a:pPr algn="ctr"/>
            <a:r>
              <a:rPr lang="es-ES" sz="1600" b="1" dirty="0"/>
              <a:t>ADMINS ALL= /</a:t>
            </a:r>
            <a:r>
              <a:rPr lang="es-ES" sz="1600" b="1" dirty="0" err="1"/>
              <a:t>sbin</a:t>
            </a:r>
            <a:r>
              <a:rPr lang="es-ES" sz="1600" b="1" dirty="0"/>
              <a:t>/</a:t>
            </a:r>
            <a:r>
              <a:rPr lang="es-ES" sz="1600" b="1" dirty="0" err="1"/>
              <a:t>fsck</a:t>
            </a:r>
            <a:endParaRPr lang="es-ES" sz="1600" b="1" dirty="0"/>
          </a:p>
        </p:txBody>
      </p:sp>
    </p:spTree>
  </p:cSld>
  <p:clrMapOvr>
    <a:masterClrMapping/>
  </p:clrMapOvr>
</p:sld>
</file>

<file path=ppt/theme/theme1.xml><?xml version="1.0" encoding="utf-8"?>
<a:theme xmlns:a="http://schemas.openxmlformats.org/drawingml/2006/main" name="RetrospectVTI">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Arial Nova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Nova"/>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37016</Words>
  <Application>WPS Presentation</Application>
  <PresentationFormat>Panorámica</PresentationFormat>
  <Paragraphs>592</Paragraphs>
  <Slides>55</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55</vt:i4>
      </vt:variant>
    </vt:vector>
  </HeadingPairs>
  <TitlesOfParts>
    <vt:vector size="65" baseType="lpstr">
      <vt:lpstr>Arial</vt:lpstr>
      <vt:lpstr>SimSun</vt:lpstr>
      <vt:lpstr>Wingdings</vt:lpstr>
      <vt:lpstr>Calibri</vt:lpstr>
      <vt:lpstr>Arial Nova</vt:lpstr>
      <vt:lpstr>Arial Nova Light</vt:lpstr>
      <vt:lpstr>Microsoft YaHei</vt:lpstr>
      <vt:lpstr>Arial Unicode MS</vt:lpstr>
      <vt:lpstr>Courier New</vt:lpstr>
      <vt:lpstr>RetrospectVTI</vt:lpstr>
      <vt:lpstr>Certificación LPI LPIC-1:  Linux Administrator  </vt:lpstr>
      <vt:lpstr>LA RED</vt:lpstr>
      <vt:lpstr>LA RED</vt:lpstr>
      <vt:lpstr>LA RED</vt:lpstr>
      <vt:lpstr>LA RED</vt:lpstr>
      <vt:lpstr>LA RED</vt:lpstr>
      <vt:lpstr>LA RED</vt:lpstr>
      <vt:lpstr>LA RED</vt:lpstr>
      <vt:lpstr>LA RED</vt:lpstr>
      <vt:lpstr>LA RED</vt:lpstr>
      <vt:lpstr>LA RED</vt:lpstr>
      <vt:lpstr>LA RED</vt:lpstr>
      <vt:lpstr>LA RED</vt:lpstr>
      <vt:lpstr>LA RED</vt:lpstr>
      <vt:lpstr>LA RED</vt:lpstr>
      <vt:lpstr>LA RED</vt:lpstr>
      <vt:lpstr>LA RED</vt:lpstr>
      <vt:lpstr>LA RED</vt:lpstr>
      <vt:lpstr>LA RED</vt:lpstr>
      <vt:lpstr>LA RED</vt:lpstr>
      <vt:lpstr>LA RED</vt:lpstr>
      <vt:lpstr>LA RED</vt:lpstr>
      <vt:lpstr>LA RED</vt:lpstr>
      <vt:lpstr>LA RED</vt:lpstr>
      <vt:lpstr>LA RED</vt:lpstr>
      <vt:lpstr>LA RED</vt:lpstr>
      <vt:lpstr>LA RED</vt:lpstr>
      <vt:lpstr>LA RED</vt:lpstr>
      <vt:lpstr>LA RED</vt:lpstr>
      <vt:lpstr>LA RED</vt:lpstr>
      <vt:lpstr>LA RED</vt:lpstr>
      <vt:lpstr>LA RED</vt:lpstr>
      <vt:lpstr>LA RED</vt:lpstr>
      <vt:lpstr>LA RED</vt:lpstr>
      <vt:lpstr>SERVICIOS BÁSICOS</vt:lpstr>
      <vt:lpstr>SERVICIOS BÁSICOS</vt:lpstr>
      <vt:lpstr>SERVICIOS BÁSICOS</vt:lpstr>
      <vt:lpstr>SERVICIOS BÁSICOS</vt:lpstr>
      <vt:lpstr>SERVICIOS BÁSICOS</vt:lpstr>
      <vt:lpstr>SERVICIOS BÁSICOS</vt:lpstr>
      <vt:lpstr>SERVICIOS BÁSICOS</vt:lpstr>
      <vt:lpstr>SERVICIOS BÁSICOS</vt:lpstr>
      <vt:lpstr>SERVICIOS BÁSICOS</vt:lpstr>
      <vt:lpstr>SERVICIOS BÁSICOS</vt:lpstr>
      <vt:lpstr>SERVICIOS BÁSICOS</vt:lpstr>
      <vt:lpstr>SERVICIOS BÁSICOS</vt:lpstr>
      <vt:lpstr>SEGURIDAD</vt:lpstr>
      <vt:lpstr>SEGURIDAD</vt:lpstr>
      <vt:lpstr>SEGURIDAD</vt:lpstr>
      <vt:lpstr>SEGURIDAD</vt:lpstr>
      <vt:lpstr>SEGURIDAD</vt:lpstr>
      <vt:lpstr>SEGURIDAD</vt:lpstr>
      <vt:lpstr>SEGURIDAD</vt:lpstr>
      <vt:lpstr>SEGURIDAD</vt:lpstr>
      <vt:lpstr>SEGURIDAD</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Certificación LPI LPIC-1:  Linux Administrator</dc:title>
  <dc:creator>Sonia Fernandez</dc:creator>
  <cp:lastModifiedBy>paz13</cp:lastModifiedBy>
  <cp:revision>334</cp:revision>
  <dcterms:created xsi:type="dcterms:W3CDTF">2020-02-24T09:11:00Z</dcterms:created>
  <dcterms:modified xsi:type="dcterms:W3CDTF">2025-04-02T18:28:48Z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B33D388E05424D0D8A15AC71A1AD8CC0_13</vt:lpwstr>
  </property>
  <property fmtid="{D5CDD505-2E9C-101B-9397-08002B2CF9AE}" pid="3" name="KSOProductBuildVer">
    <vt:lpwstr>3082-12.2.0.20348</vt:lpwstr>
  </property>
</Properties>
</file>